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4.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5.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52"/>
  </p:notesMasterIdLst>
  <p:sldIdLst>
    <p:sldId id="289" r:id="rId3"/>
    <p:sldId id="290" r:id="rId4"/>
    <p:sldId id="291" r:id="rId5"/>
    <p:sldId id="292" r:id="rId6"/>
    <p:sldId id="293" r:id="rId7"/>
    <p:sldId id="294" r:id="rId8"/>
    <p:sldId id="296" r:id="rId9"/>
    <p:sldId id="299" r:id="rId10"/>
    <p:sldId id="300" r:id="rId11"/>
    <p:sldId id="365" r:id="rId12"/>
    <p:sldId id="295" r:id="rId13"/>
    <p:sldId id="312" r:id="rId14"/>
    <p:sldId id="313" r:id="rId15"/>
    <p:sldId id="301" r:id="rId16"/>
    <p:sldId id="349" r:id="rId17"/>
    <p:sldId id="297" r:id="rId18"/>
    <p:sldId id="355" r:id="rId19"/>
    <p:sldId id="357" r:id="rId20"/>
    <p:sldId id="358" r:id="rId21"/>
    <p:sldId id="298" r:id="rId22"/>
    <p:sldId id="348" r:id="rId23"/>
    <p:sldId id="269" r:id="rId24"/>
    <p:sldId id="341" r:id="rId25"/>
    <p:sldId id="344" r:id="rId26"/>
    <p:sldId id="347" r:id="rId27"/>
    <p:sldId id="366" r:id="rId28"/>
    <p:sldId id="275" r:id="rId29"/>
    <p:sldId id="277" r:id="rId30"/>
    <p:sldId id="281" r:id="rId31"/>
    <p:sldId id="279" r:id="rId32"/>
    <p:sldId id="280" r:id="rId33"/>
    <p:sldId id="282" r:id="rId34"/>
    <p:sldId id="306" r:id="rId35"/>
    <p:sldId id="367" r:id="rId36"/>
    <p:sldId id="285" r:id="rId37"/>
    <p:sldId id="286" r:id="rId38"/>
    <p:sldId id="288" r:id="rId39"/>
    <p:sldId id="287" r:id="rId40"/>
    <p:sldId id="361" r:id="rId41"/>
    <p:sldId id="314" r:id="rId42"/>
    <p:sldId id="315" r:id="rId43"/>
    <p:sldId id="316" r:id="rId44"/>
    <p:sldId id="317" r:id="rId45"/>
    <p:sldId id="318" r:id="rId46"/>
    <p:sldId id="339" r:id="rId47"/>
    <p:sldId id="363" r:id="rId48"/>
    <p:sldId id="368" r:id="rId49"/>
    <p:sldId id="319" r:id="rId50"/>
    <p:sldId id="320" r:id="rId5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B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300"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26306F"/>
            </a:solidFill>
            <a:ln>
              <a:noFill/>
            </a:ln>
          </c:spPr>
          <c:invertIfNegative val="1"/>
          <c:dPt>
            <c:idx val="1"/>
            <c:invertIfNegative val="1"/>
            <c:bubble3D val="0"/>
            <c:spPr>
              <a:solidFill>
                <a:srgbClr val="2F7D3A"/>
              </a:solidFill>
              <a:ln>
                <a:noFill/>
              </a:ln>
            </c:spPr>
            <c:extLst>
              <c:ext xmlns:c16="http://schemas.microsoft.com/office/drawing/2014/chart" uri="{C3380CC4-5D6E-409C-BE32-E72D297353CC}">
                <c16:uniqueId val="{00000001-588F-43BB-9A08-5304D8B1A52A}"/>
              </c:ext>
            </c:extLst>
          </c:dPt>
          <c:dLbls>
            <c:numFmt formatCode="&quot;₹&quot;#,##0.00&quot; Cr&quot;" sourceLinked="0"/>
            <c:spPr>
              <a:noFill/>
              <a:ln>
                <a:noFill/>
              </a:ln>
              <a:effectLst/>
            </c:spPr>
            <c:txPr>
              <a:bodyPr/>
              <a:lstStyle/>
              <a:p>
                <a:pPr>
                  <a:defRPr sz="1400" b="1">
                    <a:solidFill>
                      <a:srgbClr val="1D1F20"/>
                    </a:solidFill>
                    <a:latin typeface="Barlow"/>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In force today</c:v>
              </c:pt>
              <c:pt idx="1">
                <c:v>Recommended cover</c:v>
              </c:pt>
            </c:strLit>
          </c:cat>
          <c:val>
            <c:numLit>
              <c:formatCode>General</c:formatCode>
              <c:ptCount val="2"/>
              <c:pt idx="0">
                <c:v>2.25</c:v>
              </c:pt>
              <c:pt idx="1">
                <c:v>5.4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588F-43BB-9A08-5304D8B1A52A}"/>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1D1F20"/>
                </a:solidFill>
                <a:latin typeface="Barlow"/>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v>Interest</c:v>
          </c:tx>
          <c:spPr>
            <a:solidFill>
              <a:srgbClr val="26306F"/>
            </a:solidFill>
            <a:ln>
              <a:noFill/>
            </a:ln>
          </c:spPr>
          <c:invertIfNegative val="1"/>
          <c:dLbls>
            <c:numFmt formatCode="#,##0.0" sourceLinked="0"/>
            <c:spPr>
              <a:noFill/>
              <a:ln>
                <a:noFill/>
              </a:ln>
              <a:effectLst/>
            </c:spPr>
            <c:txPr>
              <a:bodyPr/>
              <a:lstStyle/>
              <a:p>
                <a:pPr>
                  <a:defRPr sz="1400" b="0">
                    <a:solidFill>
                      <a:srgbClr val="FFFFFF"/>
                    </a:solidFill>
                    <a:latin typeface="Barlow"/>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2038</c:v>
              </c:pt>
            </c:strLit>
          </c:cat>
          <c:val>
            <c:numLit>
              <c:formatCode>General</c:formatCode>
              <c:ptCount val="7"/>
              <c:pt idx="0">
                <c:v>26.6</c:v>
              </c:pt>
              <c:pt idx="1">
                <c:v>23.7</c:v>
              </c:pt>
              <c:pt idx="2">
                <c:v>20.3</c:v>
              </c:pt>
              <c:pt idx="3">
                <c:v>16.2</c:v>
              </c:pt>
              <c:pt idx="4">
                <c:v>11.4</c:v>
              </c:pt>
              <c:pt idx="5">
                <c:v>5.8</c:v>
              </c:pt>
              <c:pt idx="6">
                <c:v>1.1000000000000001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CAD5-4552-BB46-C8A70658A05E}"/>
            </c:ext>
          </c:extLst>
        </c:ser>
        <c:ser>
          <c:idx val="1"/>
          <c:order val="1"/>
          <c:tx>
            <c:v>Principal</c:v>
          </c:tx>
          <c:spPr>
            <a:solidFill>
              <a:srgbClr val="2F7D3A"/>
            </a:solidFill>
            <a:ln>
              <a:noFill/>
            </a:ln>
          </c:spPr>
          <c:invertIfNegative val="1"/>
          <c:dLbls>
            <c:numFmt formatCode="#,##0.0" sourceLinked="0"/>
            <c:spPr>
              <a:noFill/>
              <a:ln>
                <a:noFill/>
              </a:ln>
              <a:effectLst/>
            </c:spPr>
            <c:txPr>
              <a:bodyPr/>
              <a:lstStyle/>
              <a:p>
                <a:pPr>
                  <a:defRPr sz="1400" b="0">
                    <a:solidFill>
                      <a:srgbClr val="FFFFFF"/>
                    </a:solidFill>
                    <a:latin typeface="Barlow"/>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2038</c:v>
              </c:pt>
            </c:strLit>
          </c:cat>
          <c:val>
            <c:numLit>
              <c:formatCode>General</c:formatCode>
              <c:ptCount val="7"/>
              <c:pt idx="0">
                <c:v>15.9</c:v>
              </c:pt>
              <c:pt idx="1">
                <c:v>18.8</c:v>
              </c:pt>
              <c:pt idx="2">
                <c:v>22.2</c:v>
              </c:pt>
              <c:pt idx="3">
                <c:v>26.3</c:v>
              </c:pt>
              <c:pt idx="4">
                <c:v>31.1</c:v>
              </c:pt>
              <c:pt idx="5">
                <c:v>36.700000000000003</c:v>
              </c:pt>
              <c:pt idx="6">
                <c:v>41.4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CAD5-4552-BB46-C8A70658A05E}"/>
            </c:ext>
          </c:extLst>
        </c:ser>
        <c:ser>
          <c:idx val="2"/>
          <c:order val="2"/>
          <c:tx>
            <c:v>Totals</c:v>
          </c:tx>
          <c:spPr>
            <a:noFill/>
            <a:ln>
              <a:noFill/>
            </a:ln>
          </c:spPr>
          <c:invertIfNegative val="1"/>
          <c:dLbls>
            <c:numFmt formatCode="&quot;₹&quot;#,##0.0&quot;k&quot;" sourceLinked="0"/>
            <c:spPr>
              <a:noFill/>
              <a:ln>
                <a:noFill/>
              </a:ln>
              <a:effectLst/>
            </c:spPr>
            <c:txPr>
              <a:bodyPr/>
              <a:lstStyle/>
              <a:p>
                <a:pPr>
                  <a:defRPr sz="1400" b="1">
                    <a:solidFill>
                      <a:srgbClr val="1D1F20"/>
                    </a:solidFill>
                    <a:latin typeface="Barlow"/>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2038</c:v>
              </c:pt>
            </c:strLit>
          </c:cat>
          <c:val>
            <c:numLit>
              <c:formatCode>General</c:formatCode>
              <c:ptCount val="7"/>
              <c:pt idx="0">
                <c:v>42.5</c:v>
              </c:pt>
              <c:pt idx="1">
                <c:v>42.5</c:v>
              </c:pt>
              <c:pt idx="2">
                <c:v>42.5</c:v>
              </c:pt>
              <c:pt idx="3">
                <c:v>42.5</c:v>
              </c:pt>
              <c:pt idx="4">
                <c:v>42.5</c:v>
              </c:pt>
              <c:pt idx="5">
                <c:v>42.5</c:v>
              </c:pt>
              <c:pt idx="6">
                <c:v>42.5</c:v>
              </c:pt>
            </c:numLit>
          </c:val>
          <c:extLst>
            <c:ext xmlns:c16="http://schemas.microsoft.com/office/drawing/2014/chart" uri="{C3380CC4-5D6E-409C-BE32-E72D297353CC}">
              <c16:uniqueId val="{00000002-CAD5-4552-BB46-C8A70658A05E}"/>
            </c:ext>
          </c:extLst>
        </c:ser>
        <c:dLbls>
          <c:showLegendKey val="0"/>
          <c:showVal val="0"/>
          <c:showCatName val="0"/>
          <c:showSerName val="0"/>
          <c:showPercent val="0"/>
          <c:showBubbleSize val="0"/>
        </c:dLbls>
        <c:gapWidth val="50"/>
        <c:overlap val="10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1D1F20"/>
                </a:solidFill>
                <a:latin typeface="Barlow"/>
              </a:defRPr>
            </a:pPr>
            <a:endParaRPr lang="en-US"/>
          </a:p>
        </c:txPr>
        <c:crossAx val="2"/>
        <c:crosses val="autoZero"/>
        <c:auto val="1"/>
        <c:lblAlgn val="ctr"/>
        <c:lblOffset val="100"/>
        <c:noMultiLvlLbl val="1"/>
      </c:catAx>
      <c:valAx>
        <c:axId val="2"/>
        <c:scaling>
          <c:orientation val="minMax"/>
          <c:max val="53.2"/>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26306F"/>
            </a:solidFill>
            <a:ln>
              <a:noFill/>
            </a:ln>
          </c:spPr>
          <c:invertIfNegative val="1"/>
          <c:dPt>
            <c:idx val="1"/>
            <c:invertIfNegative val="1"/>
            <c:bubble3D val="0"/>
            <c:spPr>
              <a:solidFill>
                <a:srgbClr val="2F7D3A"/>
              </a:solidFill>
              <a:ln>
                <a:noFill/>
              </a:ln>
            </c:spPr>
            <c:extLst>
              <c:ext xmlns:c16="http://schemas.microsoft.com/office/drawing/2014/chart" uri="{C3380CC4-5D6E-409C-BE32-E72D297353CC}">
                <c16:uniqueId val="{00000001-C3B8-448E-9061-EAD6D6E4C1DB}"/>
              </c:ext>
            </c:extLst>
          </c:dPt>
          <c:dLbls>
            <c:numFmt formatCode="&quot;₹&quot;#,##0.0&quot; L&quot;" sourceLinked="0"/>
            <c:spPr>
              <a:noFill/>
              <a:ln>
                <a:noFill/>
              </a:ln>
              <a:effectLst/>
            </c:spPr>
            <c:txPr>
              <a:bodyPr/>
              <a:lstStyle/>
              <a:p>
                <a:pPr>
                  <a:defRPr sz="1400" b="1">
                    <a:solidFill>
                      <a:srgbClr val="1D1F20"/>
                    </a:solidFill>
                    <a:latin typeface="Barlow"/>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Continue as it is</c:v>
              </c:pt>
              <c:pt idx="1">
                <c:v>Prepay ₹5 L in 2026</c:v>
              </c:pt>
            </c:strLit>
          </c:cat>
          <c:val>
            <c:numLit>
              <c:formatCode>General</c:formatCode>
              <c:ptCount val="2"/>
              <c:pt idx="0">
                <c:v>27.4</c:v>
              </c:pt>
              <c:pt idx="1">
                <c:v>16.2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C3B8-448E-9061-EAD6D6E4C1DB}"/>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1D1F20"/>
                </a:solidFill>
                <a:latin typeface="Barlow"/>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6"/>
              <c:pt idx="0">
                <c:v>2026 today</c:v>
              </c:pt>
              <c:pt idx="1">
                <c:v>2029 car loan ends</c:v>
              </c:pt>
              <c:pt idx="2">
                <c:v>2031 renovation funded</c:v>
              </c:pt>
              <c:pt idx="3">
                <c:v>2034 home loan closes</c:v>
              </c:pt>
              <c:pt idx="4">
                <c:v>2035 education funded</c:v>
              </c:pt>
              <c:pt idx="5">
                <c:v>2035 onward</c:v>
              </c:pt>
            </c:strLit>
          </c:cat>
          <c:val>
            <c:numLit>
              <c:formatCode>General</c:formatCode>
              <c:ptCount val="6"/>
              <c:pt idx="0">
                <c:v>0</c:v>
              </c:pt>
              <c:pt idx="1">
                <c:v>30000</c:v>
              </c:pt>
              <c:pt idx="2">
                <c:v>45800</c:v>
              </c:pt>
              <c:pt idx="3">
                <c:v>65800</c:v>
              </c:pt>
              <c:pt idx="4">
                <c:v>108300</c:v>
              </c:pt>
              <c:pt idx="5">
                <c:v>0</c:v>
              </c:pt>
            </c:numLit>
          </c:val>
          <c:extLst>
            <c:ext xmlns:c16="http://schemas.microsoft.com/office/drawing/2014/chart" uri="{C3380CC4-5D6E-409C-BE32-E72D297353CC}">
              <c16:uniqueId val="{00000000-97C1-4CFA-BED3-A26FE517F82A}"/>
            </c:ext>
          </c:extLst>
        </c:ser>
        <c:ser>
          <c:idx val="1"/>
          <c:order val="1"/>
          <c:tx>
            <c:v>Increase</c:v>
          </c:tx>
          <c:spPr>
            <a:solidFill>
              <a:srgbClr val="2F7D3A"/>
            </a:solidFill>
            <a:ln>
              <a:noFill/>
            </a:ln>
          </c:spPr>
          <c:invertIfNegative val="1"/>
          <c:cat>
            <c:strLit>
              <c:ptCount val="6"/>
              <c:pt idx="0">
                <c:v>2026 today</c:v>
              </c:pt>
              <c:pt idx="1">
                <c:v>2029 car loan ends</c:v>
              </c:pt>
              <c:pt idx="2">
                <c:v>2031 renovation funded</c:v>
              </c:pt>
              <c:pt idx="3">
                <c:v>2034 home loan closes</c:v>
              </c:pt>
              <c:pt idx="4">
                <c:v>2035 education funded</c:v>
              </c:pt>
              <c:pt idx="5">
                <c:v>2035 onward</c:v>
              </c:pt>
            </c:strLit>
          </c:cat>
          <c:val>
            <c:numLit>
              <c:formatCode>General</c:formatCode>
              <c:ptCount val="6"/>
              <c:pt idx="1">
                <c:v>15800</c:v>
              </c:pt>
              <c:pt idx="2">
                <c:v>20000</c:v>
              </c:pt>
              <c:pt idx="3">
                <c:v>42500</c:v>
              </c:pt>
              <c:pt idx="4">
                <c:v>77000</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97C1-4CFA-BED3-A26FE517F82A}"/>
            </c:ext>
          </c:extLst>
        </c:ser>
        <c:ser>
          <c:idx val="2"/>
          <c:order val="2"/>
          <c:tx>
            <c:v>Decrease</c:v>
          </c:tx>
          <c:spPr>
            <a:solidFill>
              <a:srgbClr val="E07B39"/>
            </a:solidFill>
            <a:ln>
              <a:noFill/>
            </a:ln>
          </c:spPr>
          <c:invertIfNegative val="1"/>
          <c:cat>
            <c:strLit>
              <c:ptCount val="6"/>
              <c:pt idx="0">
                <c:v>2026 today</c:v>
              </c:pt>
              <c:pt idx="1">
                <c:v>2029 car loan ends</c:v>
              </c:pt>
              <c:pt idx="2">
                <c:v>2031 renovation funded</c:v>
              </c:pt>
              <c:pt idx="3">
                <c:v>2034 home loan closes</c:v>
              </c:pt>
              <c:pt idx="4">
                <c:v>2035 education funded</c:v>
              </c:pt>
              <c:pt idx="5">
                <c:v>2035 onward</c:v>
              </c:pt>
            </c:strLit>
          </c:cat>
          <c:val>
            <c:numLit>
              <c:formatCode>General</c:formatCode>
              <c:ptCount val="6"/>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97C1-4CFA-BED3-A26FE517F82A}"/>
            </c:ext>
          </c:extLst>
        </c:ser>
        <c:ser>
          <c:idx val="3"/>
          <c:order val="3"/>
          <c:tx>
            <c:v>Total</c:v>
          </c:tx>
          <c:spPr>
            <a:solidFill>
              <a:srgbClr val="26306F"/>
            </a:solidFill>
            <a:ln>
              <a:noFill/>
            </a:ln>
          </c:spPr>
          <c:invertIfNegative val="1"/>
          <c:cat>
            <c:strLit>
              <c:ptCount val="6"/>
              <c:pt idx="0">
                <c:v>2026 today</c:v>
              </c:pt>
              <c:pt idx="1">
                <c:v>2029 car loan ends</c:v>
              </c:pt>
              <c:pt idx="2">
                <c:v>2031 renovation funded</c:v>
              </c:pt>
              <c:pt idx="3">
                <c:v>2034 home loan closes</c:v>
              </c:pt>
              <c:pt idx="4">
                <c:v>2035 education funded</c:v>
              </c:pt>
              <c:pt idx="5">
                <c:v>2035 onward</c:v>
              </c:pt>
            </c:strLit>
          </c:cat>
          <c:val>
            <c:numLit>
              <c:formatCode>General</c:formatCode>
              <c:ptCount val="6"/>
              <c:pt idx="0">
                <c:v>30000</c:v>
              </c:pt>
              <c:pt idx="5">
                <c:v>185300</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97C1-4CFA-BED3-A26FE517F82A}"/>
            </c:ext>
          </c:extLst>
        </c:ser>
        <c:ser>
          <c:idx val="4"/>
          <c:order val="4"/>
          <c:tx>
            <c:v>Labels</c:v>
          </c:tx>
          <c:spPr>
            <a:noFill/>
            <a:ln>
              <a:noFill/>
            </a:ln>
          </c:spPr>
          <c:invertIfNegative val="1"/>
          <c:dLbls>
            <c:dLbl>
              <c:idx val="0"/>
              <c:tx>
                <c:rich>
                  <a:bodyPr/>
                  <a:lstStyle/>
                  <a:p>
                    <a:r>
                      <a:rPr lang="en-US" sz="1400" b="1">
                        <a:solidFill>
                          <a:srgbClr val="26306F"/>
                        </a:solidFill>
                        <a:latin typeface="Barlow"/>
                      </a:rPr>
                      <a:t>₹30,000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7C1-4CFA-BED3-A26FE517F82A}"/>
                </c:ext>
              </c:extLst>
            </c:dLbl>
            <c:dLbl>
              <c:idx val="1"/>
              <c:tx>
                <c:rich>
                  <a:bodyPr/>
                  <a:lstStyle/>
                  <a:p>
                    <a:r>
                      <a:rPr lang="en-US" sz="1400" b="0">
                        <a:solidFill>
                          <a:srgbClr val="2F7D3A"/>
                        </a:solidFill>
                        <a:latin typeface="Barlow"/>
                      </a:rPr>
                      <a:t>+15,800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7C1-4CFA-BED3-A26FE517F82A}"/>
                </c:ext>
              </c:extLst>
            </c:dLbl>
            <c:dLbl>
              <c:idx val="2"/>
              <c:tx>
                <c:rich>
                  <a:bodyPr/>
                  <a:lstStyle/>
                  <a:p>
                    <a:r>
                      <a:rPr lang="en-US" sz="1400" b="0">
                        <a:solidFill>
                          <a:srgbClr val="2F7D3A"/>
                        </a:solidFill>
                        <a:latin typeface="Barlow"/>
                      </a:rPr>
                      <a:t>+20,000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97C1-4CFA-BED3-A26FE517F82A}"/>
                </c:ext>
              </c:extLst>
            </c:dLbl>
            <c:dLbl>
              <c:idx val="3"/>
              <c:tx>
                <c:rich>
                  <a:bodyPr/>
                  <a:lstStyle/>
                  <a:p>
                    <a:r>
                      <a:rPr lang="en-US" sz="1400" b="0">
                        <a:solidFill>
                          <a:srgbClr val="2F7D3A"/>
                        </a:solidFill>
                        <a:latin typeface="Barlow"/>
                      </a:rPr>
                      <a:t>+42,500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7C1-4CFA-BED3-A26FE517F82A}"/>
                </c:ext>
              </c:extLst>
            </c:dLbl>
            <c:dLbl>
              <c:idx val="4"/>
              <c:tx>
                <c:rich>
                  <a:bodyPr/>
                  <a:lstStyle/>
                  <a:p>
                    <a:r>
                      <a:rPr lang="en-US" sz="1400" b="0">
                        <a:solidFill>
                          <a:srgbClr val="2F7D3A"/>
                        </a:solidFill>
                        <a:latin typeface="Barlow"/>
                      </a:rPr>
                      <a:t>+77,000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7C1-4CFA-BED3-A26FE517F82A}"/>
                </c:ext>
              </c:extLst>
            </c:dLbl>
            <c:dLbl>
              <c:idx val="5"/>
              <c:tx>
                <c:rich>
                  <a:bodyPr/>
                  <a:lstStyle/>
                  <a:p>
                    <a:r>
                      <a:rPr lang="en-US" sz="1400" b="1">
                        <a:solidFill>
                          <a:srgbClr val="26306F"/>
                        </a:solidFill>
                        <a:latin typeface="Barlow"/>
                      </a:rPr>
                      <a:t>₹1,85,300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7C1-4CFA-BED3-A26FE517F82A}"/>
                </c:ext>
              </c:extLst>
            </c:dLbl>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2026 today</c:v>
              </c:pt>
              <c:pt idx="1">
                <c:v>2029 car loan ends</c:v>
              </c:pt>
              <c:pt idx="2">
                <c:v>2031 renovation funded</c:v>
              </c:pt>
              <c:pt idx="3">
                <c:v>2034 home loan closes</c:v>
              </c:pt>
              <c:pt idx="4">
                <c:v>2035 education funded</c:v>
              </c:pt>
              <c:pt idx="5">
                <c:v>2035 onward</c:v>
              </c:pt>
            </c:strLit>
          </c:cat>
          <c:val>
            <c:numLit>
              <c:formatCode>General</c:formatCode>
              <c:ptCount val="6"/>
              <c:pt idx="0">
                <c:v>1853</c:v>
              </c:pt>
              <c:pt idx="1">
                <c:v>1853</c:v>
              </c:pt>
              <c:pt idx="2">
                <c:v>1853</c:v>
              </c:pt>
              <c:pt idx="3">
                <c:v>1853</c:v>
              </c:pt>
              <c:pt idx="4">
                <c:v>1853</c:v>
              </c:pt>
              <c:pt idx="5">
                <c:v>1853</c:v>
              </c:pt>
            </c:numLit>
          </c:val>
          <c:extLst>
            <c:ext xmlns:c16="http://schemas.microsoft.com/office/drawing/2014/chart" uri="{C3380CC4-5D6E-409C-BE32-E72D297353CC}">
              <c16:uniqueId val="{0000000A-97C1-4CFA-BED3-A26FE517F82A}"/>
            </c:ext>
          </c:extLst>
        </c:ser>
        <c:dLbls>
          <c:showLegendKey val="0"/>
          <c:showVal val="0"/>
          <c:showCatName val="0"/>
          <c:showSerName val="0"/>
          <c:showPercent val="0"/>
          <c:showBubbleSize val="0"/>
        </c:dLbls>
        <c:gapWidth val="50"/>
        <c:overlap val="10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1D1F20"/>
                </a:solidFill>
                <a:latin typeface="Barlow"/>
              </a:defRPr>
            </a:pPr>
            <a:endParaRPr lang="en-US"/>
          </a:p>
        </c:txPr>
        <c:crossAx val="2"/>
        <c:crosses val="autoZero"/>
        <c:auto val="1"/>
        <c:lblAlgn val="ctr"/>
        <c:lblOffset val="100"/>
        <c:noMultiLvlLbl val="1"/>
      </c:catAx>
      <c:valAx>
        <c:axId val="2"/>
        <c:scaling>
          <c:orientation val="minMax"/>
          <c:max val="232000"/>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26306F"/>
            </a:solidFill>
            <a:ln>
              <a:noFill/>
            </a:ln>
          </c:spPr>
          <c:invertIfNegative val="1"/>
          <c:dPt>
            <c:idx val="2"/>
            <c:invertIfNegative val="1"/>
            <c:bubble3D val="0"/>
            <c:spPr>
              <a:solidFill>
                <a:srgbClr val="2F7D3A"/>
              </a:solidFill>
              <a:ln>
                <a:noFill/>
              </a:ln>
            </c:spPr>
            <c:extLst>
              <c:ext xmlns:c16="http://schemas.microsoft.com/office/drawing/2014/chart" uri="{C3380CC4-5D6E-409C-BE32-E72D297353CC}">
                <c16:uniqueId val="{00000001-38FA-4BA7-AF3C-4573DB221B2D}"/>
              </c:ext>
            </c:extLst>
          </c:dPt>
          <c:dLbls>
            <c:numFmt formatCode="&quot;₹&quot;#,##0.00&quot; Cr&quot;" sourceLinked="0"/>
            <c:spPr>
              <a:noFill/>
              <a:ln>
                <a:noFill/>
              </a:ln>
              <a:effectLst/>
            </c:spPr>
            <c:txPr>
              <a:bodyPr/>
              <a:lstStyle/>
              <a:p>
                <a:pPr>
                  <a:defRPr sz="1400" b="1">
                    <a:solidFill>
                      <a:srgbClr val="1D1F20"/>
                    </a:solidFill>
                    <a:latin typeface="Barlow"/>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Current path</c:v>
              </c:pt>
              <c:pt idx="1">
                <c:v>Corpus required</c:v>
              </c:pt>
              <c:pt idx="2">
                <c:v>With the plan</c:v>
              </c:pt>
            </c:strLit>
          </c:cat>
          <c:val>
            <c:numLit>
              <c:formatCode>General</c:formatCode>
              <c:ptCount val="3"/>
              <c:pt idx="0">
                <c:v>5.5</c:v>
              </c:pt>
              <c:pt idx="1">
                <c:v>6.25</c:v>
              </c:pt>
              <c:pt idx="2">
                <c:v>6.31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8FA-4BA7-AF3C-4573DB221B2D}"/>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1D1F20"/>
                </a:solidFill>
                <a:latin typeface="Barlow"/>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4735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purpose: this is a goal-linked view of where they stand and what each goal needs. Confirm the household details on the next slide before going further.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household back to the client and correct anything on the spot. Flag that retirement age 55 is the assumption everything downstream runs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whole plan here: what comes in, what goes out, and what is left to invest. Every SIP later in the deck is funded from this ₹2.20 lakh.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The point of the quote: allocation, not product selection, is what decides the outcome. Then move straight into the numbers.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land: real estate is 40% of the balance sheet, and the financial side is where every goal has to be funded from. Do not debate products yet.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buckets matter more than the product names: fixed assets cannot be spent in instalments, liquid assets fund the near goals, retirement assets are locked by design.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is a summary, not a verdict. Point at the two components dragging it down: property concentration and the single-income dependency.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prepayment case: ₹5 lakh now plus a 5% annual EMI step-up closes the loan five years early and frees the EMI before retirement.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balance, high rate. Clear it from cash flow rather than from investments.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EF425-2F67-2A98-B3EF-DEC13859A4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9A6354-B203-196D-A85E-6F09F05B51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3CCDBE-CD55-823B-C225-A363D68BD919}"/>
              </a:ext>
            </a:extLst>
          </p:cNvPr>
          <p:cNvSpPr>
            <a:spLocks noGrp="1"/>
          </p:cNvSpPr>
          <p:nvPr>
            <p:ph type="body" idx="1"/>
          </p:nvPr>
        </p:nvSpPr>
        <p:spPr/>
        <p:txBody>
          <a:bodyPr/>
          <a:lstStyle/>
          <a:p>
            <a:r>
              <a:rPr lang="en-US" dirty="0"/>
              <a:t>Section break. The point of the quote: allocation, not product selection, is what decides the outcome. Then move straight into the numbers.</a:t>
            </a:r>
          </a:p>
        </p:txBody>
      </p:sp>
      <p:sp>
        <p:nvSpPr>
          <p:cNvPr id="4" name="Slide Number Placeholder 3">
            <a:extLst>
              <a:ext uri="{FF2B5EF4-FFF2-40B4-BE49-F238E27FC236}">
                <a16:creationId xmlns:a16="http://schemas.microsoft.com/office/drawing/2014/main" id="{203F1DB1-C8CE-138D-4AFC-9ED54758371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5227631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crowded year is 2036: retirement and the second child's undergraduate course land together. That is the constraint the rest of the plan works around.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operative slide: every asset now has a job. Anything unallocated is what the action plan moves.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number the client should remember: ₹2.20 lakh a month, and what each rupee is for. Read the largest three and stop.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needs a rupee of new saving. As each commitment ends, its instalment is already assigned to retirement. Agree the redirections now so they happen automatically.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Protection first: the term cover is adequate, the health cover is not. The endowment policy is the one product decision to revisit.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lakh in deposits against a ₹12 lakh emergency need. The excess is the first thing the action plan moves.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9" name="Google Shape;559;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Section break. The single largest and most controllable cost in the plan.</a:t>
            </a:r>
            <a:endParaRPr/>
          </a:p>
        </p:txBody>
      </p:sp>
      <p:sp>
        <p:nvSpPr>
          <p:cNvPr id="560" name="Google Shape;560;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2E3DB-1A1F-F305-A25B-237C15825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951C0-4582-6766-08BA-D660FCF704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3A2025-8A2B-8429-0BC5-7F31E76B81C2}"/>
              </a:ext>
            </a:extLst>
          </p:cNvPr>
          <p:cNvSpPr>
            <a:spLocks noGrp="1"/>
          </p:cNvSpPr>
          <p:nvPr>
            <p:ph type="body" idx="1"/>
          </p:nvPr>
        </p:nvSpPr>
        <p:spPr/>
        <p:txBody>
          <a:bodyPr/>
          <a:lstStyle/>
          <a:p>
            <a:r>
              <a:rPr lang="en-US" dirty="0"/>
              <a:t>Section break. The point of the quote: allocation, not product selection, is what decides the outcome. Then move straight into the numbers.</a:t>
            </a:r>
          </a:p>
        </p:txBody>
      </p:sp>
      <p:sp>
        <p:nvSpPr>
          <p:cNvPr id="4" name="Slide Number Placeholder 3">
            <a:extLst>
              <a:ext uri="{FF2B5EF4-FFF2-40B4-BE49-F238E27FC236}">
                <a16:creationId xmlns:a16="http://schemas.microsoft.com/office/drawing/2014/main" id="{8B29421C-FFA4-F9CD-6E1D-30D89DFE4590}"/>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6053239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0" name="Google Shape;850;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0" name="Google Shape;940;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6" name="Google Shape;1116;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6" name="Google Shape;1026;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9" name="Google Shape;1069;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7" name="Google Shape;1167;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 tax-free is the best fixed-income rate available to the household. Keep contributing to the fifteen-year limit.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6DEF6-4F8A-20FE-F8F1-B20E7E014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8C3768-7ADD-05B3-2557-AF71F4292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91CEB-AC59-82DE-BC16-AD4C7EBB5797}"/>
              </a:ext>
            </a:extLst>
          </p:cNvPr>
          <p:cNvSpPr>
            <a:spLocks noGrp="1"/>
          </p:cNvSpPr>
          <p:nvPr>
            <p:ph type="body" idx="1"/>
          </p:nvPr>
        </p:nvSpPr>
        <p:spPr/>
        <p:txBody>
          <a:bodyPr/>
          <a:lstStyle/>
          <a:p>
            <a:r>
              <a:rPr lang="en-US" dirty="0"/>
              <a:t>Section break. The point of the quote: allocation, not product selection, is what decides the outcome. Then move straight into the numbers.</a:t>
            </a:r>
          </a:p>
        </p:txBody>
      </p:sp>
      <p:sp>
        <p:nvSpPr>
          <p:cNvPr id="4" name="Slide Number Placeholder 3">
            <a:extLst>
              <a:ext uri="{FF2B5EF4-FFF2-40B4-BE49-F238E27FC236}">
                <a16:creationId xmlns:a16="http://schemas.microsoft.com/office/drawing/2014/main" id="{92CFFAEE-F970-B4C0-FE9D-EE309E48DD63}"/>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6357588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4"/>
        <p:cNvGrpSpPr/>
        <p:nvPr/>
      </p:nvGrpSpPr>
      <p:grpSpPr>
        <a:xfrm>
          <a:off x="0" y="0"/>
          <a:ext cx="0" cy="0"/>
          <a:chOff x="0" y="0"/>
          <a:chExt cx="0" cy="0"/>
        </a:xfrm>
      </p:grpSpPr>
      <p:sp>
        <p:nvSpPr>
          <p:cNvPr id="1265" name="Google Shape;1265;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6" name="Google Shape;1266;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5"/>
        <p:cNvGrpSpPr/>
        <p:nvPr/>
      </p:nvGrpSpPr>
      <p:grpSpPr>
        <a:xfrm>
          <a:off x="0" y="0"/>
          <a:ext cx="0" cy="0"/>
          <a:chOff x="0" y="0"/>
          <a:chExt cx="0" cy="0"/>
        </a:xfrm>
      </p:grpSpPr>
      <p:sp>
        <p:nvSpPr>
          <p:cNvPr id="1306" name="Google Shape;1306;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7" name="Google Shape;1307;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0"/>
        <p:cNvGrpSpPr/>
        <p:nvPr/>
      </p:nvGrpSpPr>
      <p:grpSpPr>
        <a:xfrm>
          <a:off x="0" y="0"/>
          <a:ext cx="0" cy="0"/>
          <a:chOff x="0" y="0"/>
          <a:chExt cx="0" cy="0"/>
        </a:xfrm>
      </p:grpSpPr>
      <p:sp>
        <p:nvSpPr>
          <p:cNvPr id="1391" name="Google Shape;1391;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2" name="Google Shape;1392;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5" name="Google Shape;1355;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up what is actually available at 55, and separate out what is not: NPS pays at 60, and the second property only counts if they are willing to sell 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the ₹0.75 crore gap and then give the three levers. Any two of them close it; none of them requires a change in lifestyle today.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where the corpus comes from. Right: why the withdrawal cannot be flat — the same lifestyle costs four times as much at 80 as at 55.</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Cheapest part of the plan and the most often skipped. Four documents, one afternoon.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Agree owners and dates for the first three before the meeting ends. The rest can wait for the next review.</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56396-1659-A1F4-21C6-949DB26A84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70E5DD-1BAB-DD95-29DD-55456822EC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CA863B-0CCC-B996-7DF9-07899A7F73E0}"/>
              </a:ext>
            </a:extLst>
          </p:cNvPr>
          <p:cNvSpPr>
            <a:spLocks noGrp="1"/>
          </p:cNvSpPr>
          <p:nvPr>
            <p:ph type="body" idx="1"/>
          </p:nvPr>
        </p:nvSpPr>
        <p:spPr/>
        <p:txBody>
          <a:bodyPr/>
          <a:lstStyle/>
          <a:p>
            <a:r>
              <a:rPr lang="en-US" dirty="0"/>
              <a:t>Section break. The point of the quote: allocation, not product selection, is what decides the outcome. Then move straight into the numbers.</a:t>
            </a:r>
          </a:p>
        </p:txBody>
      </p:sp>
      <p:sp>
        <p:nvSpPr>
          <p:cNvPr id="4" name="Slide Number Placeholder 3">
            <a:extLst>
              <a:ext uri="{FF2B5EF4-FFF2-40B4-BE49-F238E27FC236}">
                <a16:creationId xmlns:a16="http://schemas.microsoft.com/office/drawing/2014/main" id="{AAD2A966-84CA-8AAC-29E1-2B18B0FF387F}"/>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28185892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assumptions column aloud. Every number in the deck moves if these move.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next action: confirm the figures, then implement the first three steps.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27807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26656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57662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21732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067182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06553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148922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134517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26314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134780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835494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822071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11695307"/>
      </p:ext>
    </p:extLst>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1.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sv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1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1.jpeg"/><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33.svg"/><Relationship Id="rId4" Type="http://schemas.openxmlformats.org/officeDocument/2006/relationships/image" Target="../media/image32.sv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4.jpe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5.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7E7E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372" y="1077136"/>
            <a:ext cx="8346169" cy="2106695"/>
          </a:xfrm>
          <a:prstGeom prst="rect">
            <a:avLst/>
          </a:prstGeom>
        </p:spPr>
      </p:pic>
      <p:sp>
        <p:nvSpPr>
          <p:cNvPr id="4" name="Text 1"/>
          <p:cNvSpPr/>
          <p:nvPr/>
        </p:nvSpPr>
        <p:spPr>
          <a:xfrm>
            <a:off x="914372" y="3917157"/>
            <a:ext cx="10222112" cy="1221071"/>
          </a:xfrm>
          <a:prstGeom prst="rect">
            <a:avLst/>
          </a:prstGeom>
          <a:noFill/>
          <a:ln/>
        </p:spPr>
        <p:txBody>
          <a:bodyPr wrap="square" lIns="25400" tIns="25400" rIns="25400" bIns="25400" rtlCol="0" anchor="t">
            <a:normAutofit/>
          </a:bodyPr>
          <a:lstStyle/>
          <a:p>
            <a:pPr marL="0" indent="0" algn="l">
              <a:lnSpc>
                <a:spcPct val="74948"/>
              </a:lnSpc>
              <a:buNone/>
            </a:pPr>
            <a:r>
              <a:rPr lang="en-US" sz="9900" b="1" kern="0" spc="-259" dirty="0">
                <a:solidFill>
                  <a:srgbClr val="1D1F20"/>
                </a:solidFill>
                <a:latin typeface="Barlow Condensed" pitchFamily="34" charset="0"/>
                <a:ea typeface="Barlow Condensed" pitchFamily="34" charset="-122"/>
                <a:cs typeface="Barlow Condensed" pitchFamily="34" charset="-120"/>
              </a:rPr>
              <a:t>Goal Based Planning</a:t>
            </a:r>
            <a:endParaRPr lang="en-US" sz="9900" dirty="0"/>
          </a:p>
        </p:txBody>
      </p:sp>
      <p:sp>
        <p:nvSpPr>
          <p:cNvPr id="5" name="Shape 2"/>
          <p:cNvSpPr/>
          <p:nvPr/>
        </p:nvSpPr>
        <p:spPr>
          <a:xfrm>
            <a:off x="914372" y="5519185"/>
            <a:ext cx="7810430" cy="9525"/>
          </a:xfrm>
          <a:prstGeom prst="rect">
            <a:avLst/>
          </a:prstGeom>
          <a:solidFill>
            <a:srgbClr val="1D1F20">
              <a:alpha val="28000"/>
            </a:srgbClr>
          </a:solidFill>
          <a:ln/>
        </p:spPr>
        <p:txBody>
          <a:bodyPr/>
          <a:lstStyle/>
          <a:p>
            <a:endParaRPr lang="en-US"/>
          </a:p>
        </p:txBody>
      </p:sp>
      <p:sp>
        <p:nvSpPr>
          <p:cNvPr id="6" name="Text 3"/>
          <p:cNvSpPr/>
          <p:nvPr/>
        </p:nvSpPr>
        <p:spPr>
          <a:xfrm>
            <a:off x="914372" y="5871553"/>
            <a:ext cx="8240958" cy="1363946"/>
          </a:xfrm>
          <a:prstGeom prst="rect">
            <a:avLst/>
          </a:prstGeom>
          <a:noFill/>
          <a:ln/>
        </p:spPr>
        <p:txBody>
          <a:bodyPr wrap="square" lIns="25400" tIns="25400" rIns="25400" bIns="25400" rtlCol="0" anchor="t">
            <a:normAutofit/>
          </a:bodyPr>
          <a:lstStyle/>
          <a:p>
            <a:pPr marL="0" indent="0" algn="l">
              <a:lnSpc>
                <a:spcPct val="121800"/>
              </a:lnSpc>
              <a:buNone/>
            </a:pPr>
            <a:r>
              <a:rPr lang="en-US" sz="2400" dirty="0">
                <a:solidFill>
                  <a:srgbClr val="1D1F20">
                    <a:alpha val="90000"/>
                  </a:srgbClr>
                </a:solidFill>
                <a:latin typeface="Barlow" pitchFamily="34" charset="0"/>
                <a:ea typeface="Barlow" pitchFamily="34" charset="-122"/>
                <a:cs typeface="Barlow" pitchFamily="34" charset="-120"/>
              </a:rPr>
              <a:t>Prepared for you by Armstrong Capital — a goal-linked view of your assets, liabilities and the savings required to fund what matters.</a:t>
            </a:r>
            <a:endParaRPr lang="en-US" sz="2400" dirty="0"/>
          </a:p>
        </p:txBody>
      </p:sp>
      <p:sp>
        <p:nvSpPr>
          <p:cNvPr id="7" name="Text 4"/>
          <p:cNvSpPr/>
          <p:nvPr/>
        </p:nvSpPr>
        <p:spPr>
          <a:xfrm>
            <a:off x="914372" y="7692643"/>
            <a:ext cx="2832901"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273" dirty="0">
                <a:solidFill>
                  <a:srgbClr val="1D1F20">
                    <a:alpha val="90000"/>
                  </a:srgbClr>
                </a:solidFill>
                <a:latin typeface="Barlow" pitchFamily="34" charset="0"/>
                <a:ea typeface="Barlow" pitchFamily="34" charset="-122"/>
                <a:cs typeface="Barlow" pitchFamily="34" charset="-120"/>
              </a:rPr>
              <a:t>PREPARED FOR</a:t>
            </a:r>
            <a:endParaRPr lang="en-US" sz="2100" dirty="0"/>
          </a:p>
        </p:txBody>
      </p:sp>
      <p:sp>
        <p:nvSpPr>
          <p:cNvPr id="8" name="Text 5"/>
          <p:cNvSpPr/>
          <p:nvPr/>
        </p:nvSpPr>
        <p:spPr>
          <a:xfrm>
            <a:off x="914372" y="8152592"/>
            <a:ext cx="2832901" cy="599040"/>
          </a:xfrm>
          <a:prstGeom prst="rect">
            <a:avLst/>
          </a:prstGeom>
          <a:noFill/>
          <a:ln/>
        </p:spPr>
        <p:txBody>
          <a:bodyPr wrap="square" lIns="25400" tIns="25400" rIns="25400" bIns="25400" rtlCol="0" anchor="t">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Mr. &amp; Mrs. Rohan Iyer</a:t>
            </a:r>
            <a:endParaRPr lang="en-US" sz="2850" dirty="0"/>
          </a:p>
        </p:txBody>
      </p:sp>
      <p:sp>
        <p:nvSpPr>
          <p:cNvPr id="9" name="Text 6"/>
          <p:cNvSpPr/>
          <p:nvPr/>
        </p:nvSpPr>
        <p:spPr>
          <a:xfrm>
            <a:off x="4099294" y="7692643"/>
            <a:ext cx="2210643"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273" dirty="0">
                <a:solidFill>
                  <a:srgbClr val="1D1F20">
                    <a:alpha val="90000"/>
                  </a:srgbClr>
                </a:solidFill>
                <a:latin typeface="Barlow" pitchFamily="34" charset="0"/>
                <a:ea typeface="Barlow" pitchFamily="34" charset="-122"/>
                <a:cs typeface="Barlow" pitchFamily="34" charset="-120"/>
              </a:rPr>
              <a:t>REVIEW DATE</a:t>
            </a:r>
            <a:endParaRPr lang="en-US" sz="2100" dirty="0"/>
          </a:p>
        </p:txBody>
      </p:sp>
      <p:sp>
        <p:nvSpPr>
          <p:cNvPr id="10" name="Text 7"/>
          <p:cNvSpPr/>
          <p:nvPr/>
        </p:nvSpPr>
        <p:spPr>
          <a:xfrm>
            <a:off x="4099294" y="8152592"/>
            <a:ext cx="2210643" cy="599040"/>
          </a:xfrm>
          <a:prstGeom prst="rect">
            <a:avLst/>
          </a:prstGeom>
          <a:noFill/>
          <a:ln/>
        </p:spPr>
        <p:txBody>
          <a:bodyPr wrap="square" lIns="25400" tIns="25400" rIns="25400" bIns="25400" rtlCol="0" anchor="t">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September 2026</a:t>
            </a:r>
            <a:endParaRPr lang="en-US" sz="2850" dirty="0"/>
          </a:p>
        </p:txBody>
      </p:sp>
      <p:sp>
        <p:nvSpPr>
          <p:cNvPr id="11" name="Text 8"/>
          <p:cNvSpPr/>
          <p:nvPr/>
        </p:nvSpPr>
        <p:spPr>
          <a:xfrm>
            <a:off x="914372" y="9323090"/>
            <a:ext cx="10222112"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360" dirty="0">
                <a:solidFill>
                  <a:srgbClr val="1D1F20">
                    <a:alpha val="90000"/>
                  </a:srgbClr>
                </a:solidFill>
                <a:latin typeface="Barlow" pitchFamily="34" charset="0"/>
                <a:ea typeface="Barlow" pitchFamily="34" charset="-122"/>
                <a:cs typeface="Barlow" pitchFamily="34" charset="-120"/>
              </a:rPr>
              <a:t>STRONG VALUES · WWW.ARMSTRONG-CAP.COM</a:t>
            </a:r>
            <a:endParaRPr lang="en-US" sz="2100" dirty="0"/>
          </a:p>
        </p:txBody>
      </p:sp>
      <p:sp>
        <p:nvSpPr>
          <p:cNvPr id="12" name="Shape 9"/>
          <p:cNvSpPr/>
          <p:nvPr/>
        </p:nvSpPr>
        <p:spPr>
          <a:xfrm>
            <a:off x="10207200" y="0"/>
            <a:ext cx="8080730" cy="10287001"/>
          </a:xfrm>
          <a:prstGeom prst="rect">
            <a:avLst/>
          </a:prstGeom>
          <a:solidFill>
            <a:srgbClr val="DEDEDF"/>
          </a:solidFill>
          <a:ln/>
        </p:spPr>
        <p:txBody>
          <a:bodyPr/>
          <a:lstStyle/>
          <a:p>
            <a:endParaRPr lang="en-US"/>
          </a:p>
        </p:txBody>
      </p:sp>
      <p:pic>
        <p:nvPicPr>
          <p:cNvPr id="13" name="Image 1" descr="preencoded.png"/>
          <p:cNvPicPr>
            <a:picLocks noChangeAspect="1"/>
          </p:cNvPicPr>
          <p:nvPr/>
        </p:nvPicPr>
        <p:blipFill>
          <a:blip r:embed="rId4"/>
          <a:srcRect l="10724" r="10724"/>
          <a:stretch/>
        </p:blipFill>
        <p:spPr>
          <a:xfrm>
            <a:off x="10207200" y="0"/>
            <a:ext cx="8080730" cy="10287001"/>
          </a:xfrm>
          <a:prstGeom prst="rect">
            <a:avLst/>
          </a:prstGeom>
        </p:spPr>
      </p:pic>
      <p:sp>
        <p:nvSpPr>
          <p:cNvPr id="14" name="Shape 10"/>
          <p:cNvSpPr/>
          <p:nvPr/>
        </p:nvSpPr>
        <p:spPr>
          <a:xfrm>
            <a:off x="10207200" y="0"/>
            <a:ext cx="8080730" cy="10287001"/>
          </a:xfrm>
          <a:prstGeom prst="rect">
            <a:avLst/>
          </a:prstGeom>
          <a:solidFill>
            <a:srgbClr val="26306F">
              <a:alpha val="32000"/>
            </a:srgbClr>
          </a:solidFill>
          <a:ln/>
        </p:spPr>
        <p:txBody>
          <a:bodyPr/>
          <a:lstStyle/>
          <a:p>
            <a:endParaRPr lang="en-US"/>
          </a:p>
        </p:txBody>
      </p:sp>
      <p:sp>
        <p:nvSpPr>
          <p:cNvPr id="15" name="Shape 11"/>
          <p:cNvSpPr/>
          <p:nvPr/>
        </p:nvSpPr>
        <p:spPr>
          <a:xfrm>
            <a:off x="10207200" y="0"/>
            <a:ext cx="8080730" cy="10287001"/>
          </a:xfrm>
          <a:prstGeom prst="rect">
            <a:avLst/>
          </a:prstGeom>
          <a:gradFill rotWithShape="1">
            <a:gsLst>
              <a:gs pos="0">
                <a:srgbClr val="E7E7EA">
                  <a:alpha val="100000"/>
                </a:srgbClr>
              </a:gs>
              <a:gs pos="26000">
                <a:srgbClr val="E7E7EA">
                  <a:alpha val="0"/>
                </a:srgbClr>
              </a:gs>
            </a:gsLst>
            <a:lin ang="0" scaled="0"/>
          </a:gradFill>
          <a:ln/>
        </p:spPr>
        <p:txBody>
          <a:bodyPr/>
          <a:lstStyle/>
          <a:p>
            <a:endParaRPr lang="en-US"/>
          </a:p>
        </p:txBody>
      </p:sp>
    </p:spTree>
    <p:extLst>
      <p:ext uri="{BB962C8B-B14F-4D97-AF65-F5344CB8AC3E}">
        <p14:creationId xmlns:p14="http://schemas.microsoft.com/office/powerpoint/2010/main" val="2733308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3"/>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7000"/>
            <a:duotone>
              <a:prstClr val="black"/>
              <a:schemeClr val="accent5">
                <a:tint val="45000"/>
                <a:satMod val="400000"/>
              </a:schemeClr>
            </a:duotone>
          </a:blip>
          <a:srcRect/>
          <a:stretch/>
        </p:blipFill>
        <p:spPr>
          <a:xfrm>
            <a:off x="0" y="0"/>
            <a:ext cx="18288000" cy="10287001"/>
          </a:xfrm>
          <a:prstGeom prst="rect">
            <a:avLst/>
          </a:prstGeom>
        </p:spPr>
      </p:pic>
      <p:sp>
        <p:nvSpPr>
          <p:cNvPr id="3" name="Text 0"/>
          <p:cNvSpPr/>
          <p:nvPr/>
        </p:nvSpPr>
        <p:spPr>
          <a:xfrm>
            <a:off x="914372" y="571429"/>
            <a:ext cx="6268960"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WHOM WE ARE PLANNING FOR</a:t>
            </a:r>
            <a:endParaRPr lang="en-US" sz="2100" b="1" dirty="0">
              <a:solidFill>
                <a:srgbClr val="2A3480"/>
              </a:solidFill>
              <a:latin typeface="Barlow"/>
            </a:endParaRPr>
          </a:p>
        </p:txBody>
      </p:sp>
      <p:sp>
        <p:nvSpPr>
          <p:cNvPr id="4" name="Text 1"/>
          <p:cNvSpPr/>
          <p:nvPr/>
        </p:nvSpPr>
        <p:spPr>
          <a:xfrm>
            <a:off x="842453" y="1269482"/>
            <a:ext cx="6268960"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Client Personal Details</a:t>
            </a:r>
            <a:endParaRPr lang="en-US" sz="6000" dirty="0"/>
          </a:p>
        </p:txBody>
      </p:sp>
      <p:pic>
        <p:nvPicPr>
          <p:cNvPr id="5" name="Image 1" descr="preencoded.png"/>
          <p:cNvPicPr>
            <a:picLocks noChangeAspect="1"/>
          </p:cNvPicPr>
          <p:nvPr/>
        </p:nvPicPr>
        <p:blipFill>
          <a:blip r:embed="rId4"/>
          <a:stretch>
            <a:fillRect/>
          </a:stretch>
        </p:blipFill>
        <p:spPr>
          <a:xfrm>
            <a:off x="15297193" y="571429"/>
            <a:ext cx="2076365" cy="590493"/>
          </a:xfrm>
          <a:prstGeom prst="rect">
            <a:avLst/>
          </a:prstGeom>
        </p:spPr>
      </p:pic>
      <p:sp>
        <p:nvSpPr>
          <p:cNvPr id="6" name="Shape 2"/>
          <p:cNvSpPr/>
          <p:nvPr/>
        </p:nvSpPr>
        <p:spPr>
          <a:xfrm>
            <a:off x="914372" y="2086641"/>
            <a:ext cx="16459187" cy="9525"/>
          </a:xfrm>
          <a:prstGeom prst="rect">
            <a:avLst/>
          </a:prstGeom>
          <a:solidFill>
            <a:srgbClr val="1D1F20">
              <a:alpha val="90000"/>
            </a:srgbClr>
          </a:solidFill>
          <a:ln/>
        </p:spPr>
        <p:txBody>
          <a:bodyPr/>
          <a:lstStyle/>
          <a:p>
            <a:endParaRPr lang="en-US"/>
          </a:p>
        </p:txBody>
      </p:sp>
      <p:sp>
        <p:nvSpPr>
          <p:cNvPr id="7" name="Shape 3"/>
          <p:cNvSpPr/>
          <p:nvPr/>
        </p:nvSpPr>
        <p:spPr>
          <a:xfrm>
            <a:off x="914372" y="2926670"/>
            <a:ext cx="8805310" cy="9525"/>
          </a:xfrm>
          <a:prstGeom prst="rect">
            <a:avLst/>
          </a:prstGeom>
          <a:solidFill>
            <a:srgbClr val="1D1F20">
              <a:alpha val="90000"/>
            </a:srgbClr>
          </a:solidFill>
          <a:ln/>
        </p:spPr>
        <p:txBody>
          <a:bodyPr/>
          <a:lstStyle/>
          <a:p>
            <a:endParaRPr lang="en-US"/>
          </a:p>
        </p:txBody>
      </p:sp>
      <p:sp>
        <p:nvSpPr>
          <p:cNvPr id="8" name="Text 4"/>
          <p:cNvSpPr/>
          <p:nvPr/>
        </p:nvSpPr>
        <p:spPr>
          <a:xfrm>
            <a:off x="914372" y="2439010"/>
            <a:ext cx="4842882"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b="1" kern="0" spc="252" dirty="0">
                <a:solidFill>
                  <a:schemeClr val="accent6">
                    <a:lumMod val="50000"/>
                  </a:schemeClr>
                </a:solidFill>
                <a:latin typeface="Barlow" pitchFamily="34" charset="0"/>
                <a:ea typeface="Barlow" pitchFamily="34" charset="-122"/>
                <a:cs typeface="Barlow" pitchFamily="34" charset="-120"/>
              </a:rPr>
              <a:t>PARTICULARS</a:t>
            </a:r>
            <a:endParaRPr lang="en-US" sz="2100" b="1" dirty="0">
              <a:solidFill>
                <a:schemeClr val="accent6">
                  <a:lumMod val="50000"/>
                </a:schemeClr>
              </a:solidFill>
            </a:endParaRPr>
          </a:p>
        </p:txBody>
      </p:sp>
      <p:sp>
        <p:nvSpPr>
          <p:cNvPr id="9" name="Text 5"/>
          <p:cNvSpPr/>
          <p:nvPr/>
        </p:nvSpPr>
        <p:spPr>
          <a:xfrm>
            <a:off x="5316991" y="2439010"/>
            <a:ext cx="484296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b="1" kern="0" spc="252" dirty="0">
                <a:solidFill>
                  <a:schemeClr val="accent6">
                    <a:lumMod val="50000"/>
                  </a:schemeClr>
                </a:solidFill>
                <a:latin typeface="Barlow" pitchFamily="34" charset="0"/>
                <a:ea typeface="Barlow" pitchFamily="34" charset="-122"/>
                <a:cs typeface="Barlow" pitchFamily="34" charset="-120"/>
              </a:rPr>
              <a:t>DETAILS</a:t>
            </a:r>
            <a:endParaRPr lang="en-US" sz="2100" b="1" dirty="0">
              <a:solidFill>
                <a:schemeClr val="accent6">
                  <a:lumMod val="50000"/>
                </a:schemeClr>
              </a:solidFill>
            </a:endParaRPr>
          </a:p>
        </p:txBody>
      </p:sp>
      <p:sp>
        <p:nvSpPr>
          <p:cNvPr id="10" name="Shape 6"/>
          <p:cNvSpPr/>
          <p:nvPr/>
        </p:nvSpPr>
        <p:spPr>
          <a:xfrm>
            <a:off x="761972" y="2779031"/>
            <a:ext cx="4402620" cy="9525"/>
          </a:xfrm>
          <a:prstGeom prst="rect">
            <a:avLst/>
          </a:prstGeom>
          <a:solidFill>
            <a:srgbClr val="1D1F20">
              <a:alpha val="10000"/>
            </a:srgbClr>
          </a:solidFill>
          <a:ln/>
        </p:spPr>
        <p:txBody>
          <a:bodyPr/>
          <a:lstStyle/>
          <a:p>
            <a:endParaRPr lang="en-US"/>
          </a:p>
        </p:txBody>
      </p:sp>
      <p:sp>
        <p:nvSpPr>
          <p:cNvPr id="11" name="Text 7"/>
          <p:cNvSpPr/>
          <p:nvPr/>
        </p:nvSpPr>
        <p:spPr>
          <a:xfrm>
            <a:off x="914372" y="3126241"/>
            <a:ext cx="4534698"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Client’s Name</a:t>
            </a:r>
            <a:endParaRPr lang="en-US" sz="2175" dirty="0"/>
          </a:p>
        </p:txBody>
      </p:sp>
      <p:sp>
        <p:nvSpPr>
          <p:cNvPr id="13" name="Text 9"/>
          <p:cNvSpPr/>
          <p:nvPr/>
        </p:nvSpPr>
        <p:spPr>
          <a:xfrm>
            <a:off x="5316991" y="3126241"/>
            <a:ext cx="4534771"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Mr. Rohan Iyer</a:t>
            </a:r>
            <a:endParaRPr lang="en-US" sz="2175" dirty="0"/>
          </a:p>
        </p:txBody>
      </p:sp>
      <p:sp>
        <p:nvSpPr>
          <p:cNvPr id="14" name="Shape 10"/>
          <p:cNvSpPr/>
          <p:nvPr/>
        </p:nvSpPr>
        <p:spPr>
          <a:xfrm>
            <a:off x="914372" y="4563071"/>
            <a:ext cx="4402620" cy="9525"/>
          </a:xfrm>
          <a:prstGeom prst="rect">
            <a:avLst/>
          </a:prstGeom>
          <a:solidFill>
            <a:srgbClr val="1D1F20">
              <a:alpha val="90000"/>
            </a:srgbClr>
          </a:solidFill>
          <a:ln/>
        </p:spPr>
        <p:txBody>
          <a:bodyPr/>
          <a:lstStyle/>
          <a:p>
            <a:endParaRPr lang="en-US"/>
          </a:p>
        </p:txBody>
      </p:sp>
      <p:sp>
        <p:nvSpPr>
          <p:cNvPr id="15" name="Text 11"/>
          <p:cNvSpPr/>
          <p:nvPr/>
        </p:nvSpPr>
        <p:spPr>
          <a:xfrm>
            <a:off x="914372" y="3944442"/>
            <a:ext cx="4534698"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Date of Birth</a:t>
            </a:r>
            <a:endParaRPr lang="en-US" sz="2175" dirty="0"/>
          </a:p>
        </p:txBody>
      </p:sp>
      <p:sp>
        <p:nvSpPr>
          <p:cNvPr id="16" name="Shape 12"/>
          <p:cNvSpPr/>
          <p:nvPr/>
        </p:nvSpPr>
        <p:spPr>
          <a:xfrm>
            <a:off x="5316991" y="4563071"/>
            <a:ext cx="4402691" cy="9525"/>
          </a:xfrm>
          <a:prstGeom prst="rect">
            <a:avLst/>
          </a:prstGeom>
          <a:solidFill>
            <a:srgbClr val="1D1F20">
              <a:alpha val="90000"/>
            </a:srgbClr>
          </a:solidFill>
          <a:ln/>
        </p:spPr>
        <p:txBody>
          <a:bodyPr/>
          <a:lstStyle/>
          <a:p>
            <a:endParaRPr lang="en-US"/>
          </a:p>
        </p:txBody>
      </p:sp>
      <p:sp>
        <p:nvSpPr>
          <p:cNvPr id="17" name="Text 13"/>
          <p:cNvSpPr/>
          <p:nvPr/>
        </p:nvSpPr>
        <p:spPr>
          <a:xfrm>
            <a:off x="5316991" y="3944442"/>
            <a:ext cx="4534771"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12 March 1981</a:t>
            </a:r>
            <a:endParaRPr lang="en-US" sz="2175" dirty="0"/>
          </a:p>
        </p:txBody>
      </p:sp>
      <p:sp>
        <p:nvSpPr>
          <p:cNvPr id="18" name="Shape 14"/>
          <p:cNvSpPr/>
          <p:nvPr/>
        </p:nvSpPr>
        <p:spPr>
          <a:xfrm>
            <a:off x="914372" y="5381271"/>
            <a:ext cx="4402620" cy="9525"/>
          </a:xfrm>
          <a:prstGeom prst="rect">
            <a:avLst/>
          </a:prstGeom>
          <a:solidFill>
            <a:srgbClr val="1D1F20">
              <a:alpha val="90000"/>
            </a:srgbClr>
          </a:solidFill>
          <a:ln/>
        </p:spPr>
        <p:txBody>
          <a:bodyPr/>
          <a:lstStyle/>
          <a:p>
            <a:endParaRPr lang="en-US"/>
          </a:p>
        </p:txBody>
      </p:sp>
      <p:sp>
        <p:nvSpPr>
          <p:cNvPr id="19" name="Text 15"/>
          <p:cNvSpPr/>
          <p:nvPr/>
        </p:nvSpPr>
        <p:spPr>
          <a:xfrm>
            <a:off x="914372" y="4762642"/>
            <a:ext cx="4534698"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Current Age</a:t>
            </a:r>
            <a:endParaRPr lang="en-US" sz="2175" dirty="0"/>
          </a:p>
        </p:txBody>
      </p:sp>
      <p:sp>
        <p:nvSpPr>
          <p:cNvPr id="20" name="Shape 16"/>
          <p:cNvSpPr/>
          <p:nvPr/>
        </p:nvSpPr>
        <p:spPr>
          <a:xfrm>
            <a:off x="5316991" y="5381271"/>
            <a:ext cx="4402691" cy="9525"/>
          </a:xfrm>
          <a:prstGeom prst="rect">
            <a:avLst/>
          </a:prstGeom>
          <a:solidFill>
            <a:srgbClr val="1D1F20">
              <a:alpha val="90000"/>
            </a:srgbClr>
          </a:solidFill>
          <a:ln/>
        </p:spPr>
        <p:txBody>
          <a:bodyPr/>
          <a:lstStyle/>
          <a:p>
            <a:endParaRPr lang="en-US"/>
          </a:p>
        </p:txBody>
      </p:sp>
      <p:sp>
        <p:nvSpPr>
          <p:cNvPr id="21" name="Text 17"/>
          <p:cNvSpPr/>
          <p:nvPr/>
        </p:nvSpPr>
        <p:spPr>
          <a:xfrm>
            <a:off x="5316991" y="4762642"/>
            <a:ext cx="4534771"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45 years</a:t>
            </a:r>
            <a:endParaRPr lang="en-US" sz="2175" dirty="0"/>
          </a:p>
        </p:txBody>
      </p:sp>
      <p:sp>
        <p:nvSpPr>
          <p:cNvPr id="22" name="Shape 18"/>
          <p:cNvSpPr/>
          <p:nvPr/>
        </p:nvSpPr>
        <p:spPr>
          <a:xfrm>
            <a:off x="914372" y="6199471"/>
            <a:ext cx="4402620" cy="9525"/>
          </a:xfrm>
          <a:prstGeom prst="rect">
            <a:avLst/>
          </a:prstGeom>
          <a:solidFill>
            <a:srgbClr val="1D1F20">
              <a:alpha val="90000"/>
            </a:srgbClr>
          </a:solidFill>
          <a:ln/>
        </p:spPr>
        <p:txBody>
          <a:bodyPr/>
          <a:lstStyle/>
          <a:p>
            <a:endParaRPr lang="en-US"/>
          </a:p>
        </p:txBody>
      </p:sp>
      <p:sp>
        <p:nvSpPr>
          <p:cNvPr id="23" name="Text 19"/>
          <p:cNvSpPr/>
          <p:nvPr/>
        </p:nvSpPr>
        <p:spPr>
          <a:xfrm>
            <a:off x="914372" y="5580842"/>
            <a:ext cx="4534698"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Desired Retirement Age</a:t>
            </a:r>
            <a:endParaRPr lang="en-US" sz="2175" dirty="0"/>
          </a:p>
        </p:txBody>
      </p:sp>
      <p:sp>
        <p:nvSpPr>
          <p:cNvPr id="24" name="Shape 20"/>
          <p:cNvSpPr/>
          <p:nvPr/>
        </p:nvSpPr>
        <p:spPr>
          <a:xfrm>
            <a:off x="5316991" y="6199471"/>
            <a:ext cx="4402691" cy="9525"/>
          </a:xfrm>
          <a:prstGeom prst="rect">
            <a:avLst/>
          </a:prstGeom>
          <a:solidFill>
            <a:srgbClr val="1D1F20">
              <a:alpha val="90000"/>
            </a:srgbClr>
          </a:solidFill>
          <a:ln/>
        </p:spPr>
        <p:txBody>
          <a:bodyPr/>
          <a:lstStyle/>
          <a:p>
            <a:endParaRPr lang="en-US"/>
          </a:p>
        </p:txBody>
      </p:sp>
      <p:sp>
        <p:nvSpPr>
          <p:cNvPr id="25" name="Text 21"/>
          <p:cNvSpPr/>
          <p:nvPr/>
        </p:nvSpPr>
        <p:spPr>
          <a:xfrm>
            <a:off x="5316991" y="5580842"/>
            <a:ext cx="4534771"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55 years — 2036</a:t>
            </a:r>
            <a:endParaRPr lang="en-US" sz="2175" dirty="0"/>
          </a:p>
        </p:txBody>
      </p:sp>
      <p:sp>
        <p:nvSpPr>
          <p:cNvPr id="26" name="Shape 22"/>
          <p:cNvSpPr/>
          <p:nvPr/>
        </p:nvSpPr>
        <p:spPr>
          <a:xfrm>
            <a:off x="914372" y="7017672"/>
            <a:ext cx="4402620" cy="9525"/>
          </a:xfrm>
          <a:prstGeom prst="rect">
            <a:avLst/>
          </a:prstGeom>
          <a:solidFill>
            <a:srgbClr val="1D1F20">
              <a:alpha val="90000"/>
            </a:srgbClr>
          </a:solidFill>
          <a:ln/>
        </p:spPr>
        <p:txBody>
          <a:bodyPr/>
          <a:lstStyle/>
          <a:p>
            <a:endParaRPr lang="en-US"/>
          </a:p>
        </p:txBody>
      </p:sp>
      <p:sp>
        <p:nvSpPr>
          <p:cNvPr id="27" name="Text 23"/>
          <p:cNvSpPr/>
          <p:nvPr/>
        </p:nvSpPr>
        <p:spPr>
          <a:xfrm>
            <a:off x="914372" y="6399043"/>
            <a:ext cx="4534698"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Spouse’s Name</a:t>
            </a:r>
            <a:endParaRPr lang="en-US" sz="2175" dirty="0"/>
          </a:p>
        </p:txBody>
      </p:sp>
      <p:sp>
        <p:nvSpPr>
          <p:cNvPr id="28" name="Shape 24"/>
          <p:cNvSpPr/>
          <p:nvPr/>
        </p:nvSpPr>
        <p:spPr>
          <a:xfrm>
            <a:off x="5316991" y="7017672"/>
            <a:ext cx="4402691" cy="9525"/>
          </a:xfrm>
          <a:prstGeom prst="rect">
            <a:avLst/>
          </a:prstGeom>
          <a:solidFill>
            <a:srgbClr val="1D1F20">
              <a:alpha val="90000"/>
            </a:srgbClr>
          </a:solidFill>
          <a:ln/>
        </p:spPr>
        <p:txBody>
          <a:bodyPr/>
          <a:lstStyle/>
          <a:p>
            <a:endParaRPr lang="en-US"/>
          </a:p>
        </p:txBody>
      </p:sp>
      <p:sp>
        <p:nvSpPr>
          <p:cNvPr id="29" name="Text 25"/>
          <p:cNvSpPr/>
          <p:nvPr/>
        </p:nvSpPr>
        <p:spPr>
          <a:xfrm>
            <a:off x="5316991" y="6399043"/>
            <a:ext cx="4534771"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Mrs. Aditi Iyer</a:t>
            </a:r>
            <a:endParaRPr lang="en-US" sz="2175" dirty="0"/>
          </a:p>
        </p:txBody>
      </p:sp>
      <p:sp>
        <p:nvSpPr>
          <p:cNvPr id="30" name="Shape 26"/>
          <p:cNvSpPr/>
          <p:nvPr/>
        </p:nvSpPr>
        <p:spPr>
          <a:xfrm>
            <a:off x="914372" y="7835872"/>
            <a:ext cx="4402620" cy="9525"/>
          </a:xfrm>
          <a:prstGeom prst="rect">
            <a:avLst/>
          </a:prstGeom>
          <a:solidFill>
            <a:srgbClr val="1D1F20">
              <a:alpha val="90000"/>
            </a:srgbClr>
          </a:solidFill>
          <a:ln/>
        </p:spPr>
        <p:txBody>
          <a:bodyPr/>
          <a:lstStyle/>
          <a:p>
            <a:endParaRPr lang="en-US"/>
          </a:p>
        </p:txBody>
      </p:sp>
      <p:sp>
        <p:nvSpPr>
          <p:cNvPr id="31" name="Text 27"/>
          <p:cNvSpPr/>
          <p:nvPr/>
        </p:nvSpPr>
        <p:spPr>
          <a:xfrm>
            <a:off x="914372" y="7217243"/>
            <a:ext cx="4534698"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Date of Birth</a:t>
            </a:r>
            <a:endParaRPr lang="en-US" sz="2175" dirty="0"/>
          </a:p>
        </p:txBody>
      </p:sp>
      <p:sp>
        <p:nvSpPr>
          <p:cNvPr id="32" name="Shape 28"/>
          <p:cNvSpPr/>
          <p:nvPr/>
        </p:nvSpPr>
        <p:spPr>
          <a:xfrm>
            <a:off x="5316991" y="7835872"/>
            <a:ext cx="4402691" cy="9525"/>
          </a:xfrm>
          <a:prstGeom prst="rect">
            <a:avLst/>
          </a:prstGeom>
          <a:solidFill>
            <a:srgbClr val="1D1F20">
              <a:alpha val="90000"/>
            </a:srgbClr>
          </a:solidFill>
          <a:ln/>
        </p:spPr>
        <p:txBody>
          <a:bodyPr/>
          <a:lstStyle/>
          <a:p>
            <a:endParaRPr lang="en-US"/>
          </a:p>
        </p:txBody>
      </p:sp>
      <p:sp>
        <p:nvSpPr>
          <p:cNvPr id="33" name="Text 29"/>
          <p:cNvSpPr/>
          <p:nvPr/>
        </p:nvSpPr>
        <p:spPr>
          <a:xfrm>
            <a:off x="5316991" y="7217243"/>
            <a:ext cx="4534771"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04 August 1983</a:t>
            </a:r>
            <a:endParaRPr lang="en-US" sz="2175" dirty="0"/>
          </a:p>
        </p:txBody>
      </p:sp>
      <p:sp>
        <p:nvSpPr>
          <p:cNvPr id="34" name="Text 30"/>
          <p:cNvSpPr/>
          <p:nvPr/>
        </p:nvSpPr>
        <p:spPr>
          <a:xfrm>
            <a:off x="914372" y="8035444"/>
            <a:ext cx="4534698"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Children’s Name &amp; Age</a:t>
            </a:r>
            <a:endParaRPr lang="en-US" sz="2175" dirty="0"/>
          </a:p>
        </p:txBody>
      </p:sp>
      <p:sp>
        <p:nvSpPr>
          <p:cNvPr id="35" name="Text 31"/>
          <p:cNvSpPr/>
          <p:nvPr/>
        </p:nvSpPr>
        <p:spPr>
          <a:xfrm>
            <a:off x="5316991" y="8035444"/>
            <a:ext cx="4534771"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1. Aarav, 13       2. Isha, 8</a:t>
            </a:r>
            <a:endParaRPr lang="en-US" sz="2175" dirty="0"/>
          </a:p>
        </p:txBody>
      </p:sp>
      <p:sp>
        <p:nvSpPr>
          <p:cNvPr id="36" name="Shape 32"/>
          <p:cNvSpPr/>
          <p:nvPr/>
        </p:nvSpPr>
        <p:spPr>
          <a:xfrm>
            <a:off x="10329239" y="2439010"/>
            <a:ext cx="3369752" cy="1711524"/>
          </a:xfrm>
          <a:prstGeom prst="rect">
            <a:avLst/>
          </a:prstGeom>
          <a:ln w="9071">
            <a:solidFill>
              <a:srgbClr val="1F1F1F">
                <a:alpha val="90000"/>
              </a:srgbClr>
            </a:solidFill>
            <a:prstDash val="solid"/>
          </a:ln>
        </p:spPr>
        <p:txBody>
          <a:bodyPr/>
          <a:lstStyle/>
          <a:p>
            <a:endParaRPr lang="en-US"/>
          </a:p>
        </p:txBody>
      </p:sp>
      <p:sp>
        <p:nvSpPr>
          <p:cNvPr id="37" name="Text 33"/>
          <p:cNvSpPr/>
          <p:nvPr/>
        </p:nvSpPr>
        <p:spPr>
          <a:xfrm>
            <a:off x="10547804" y="2600453"/>
            <a:ext cx="3225885"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b="1" kern="0" spc="216" dirty="0">
                <a:solidFill>
                  <a:schemeClr val="accent6">
                    <a:lumMod val="50000"/>
                  </a:schemeClr>
                </a:solidFill>
                <a:latin typeface="Barlow" pitchFamily="34" charset="0"/>
                <a:ea typeface="Barlow" pitchFamily="34" charset="-122"/>
                <a:cs typeface="Barlow" pitchFamily="34" charset="-120"/>
              </a:rPr>
              <a:t>INVESTMENT HORIZON</a:t>
            </a:r>
            <a:endParaRPr lang="en-US" sz="2100" b="1" dirty="0">
              <a:solidFill>
                <a:schemeClr val="accent6">
                  <a:lumMod val="50000"/>
                </a:schemeClr>
              </a:solidFill>
            </a:endParaRPr>
          </a:p>
        </p:txBody>
      </p:sp>
      <p:sp>
        <p:nvSpPr>
          <p:cNvPr id="38" name="Text 34"/>
          <p:cNvSpPr/>
          <p:nvPr/>
        </p:nvSpPr>
        <p:spPr>
          <a:xfrm>
            <a:off x="10547804" y="3069049"/>
            <a:ext cx="3225885" cy="498121"/>
          </a:xfrm>
          <a:prstGeom prst="rect">
            <a:avLst/>
          </a:prstGeom>
          <a:noFill/>
          <a:ln/>
        </p:spPr>
        <p:txBody>
          <a:bodyPr wrap="square" lIns="25400" tIns="25400" rIns="25400" bIns="25400" rtlCol="0" anchor="t">
            <a:normAutofit lnSpcReduction="10000"/>
          </a:bodyPr>
          <a:lstStyle/>
          <a:p>
            <a:pPr marL="0" indent="0" algn="l">
              <a:lnSpc>
                <a:spcPct val="87440"/>
              </a:lnSpc>
              <a:buNone/>
            </a:pPr>
            <a:r>
              <a:rPr lang="en-US" sz="3450" dirty="0">
                <a:solidFill>
                  <a:srgbClr val="1D1F20"/>
                </a:solidFill>
                <a:latin typeface="Barlow Condensed" pitchFamily="34" charset="0"/>
                <a:ea typeface="Barlow Condensed" pitchFamily="34" charset="-122"/>
                <a:cs typeface="Barlow Condensed" pitchFamily="34" charset="-120"/>
              </a:rPr>
              <a:t>10 yrs to retirement</a:t>
            </a:r>
            <a:endParaRPr lang="en-US" sz="3450" dirty="0"/>
          </a:p>
        </p:txBody>
      </p:sp>
      <p:sp>
        <p:nvSpPr>
          <p:cNvPr id="39" name="Shape 35"/>
          <p:cNvSpPr/>
          <p:nvPr/>
        </p:nvSpPr>
        <p:spPr>
          <a:xfrm>
            <a:off x="14003735" y="2439010"/>
            <a:ext cx="3369823" cy="1711524"/>
          </a:xfrm>
          <a:prstGeom prst="rect">
            <a:avLst/>
          </a:prstGeom>
          <a:ln w="9071">
            <a:solidFill>
              <a:srgbClr val="1F1F1F">
                <a:alpha val="90000"/>
              </a:srgbClr>
            </a:solidFill>
            <a:prstDash val="solid"/>
          </a:ln>
        </p:spPr>
        <p:txBody>
          <a:bodyPr/>
          <a:lstStyle/>
          <a:p>
            <a:endParaRPr lang="en-US"/>
          </a:p>
        </p:txBody>
      </p:sp>
      <p:sp>
        <p:nvSpPr>
          <p:cNvPr id="40" name="Text 36"/>
          <p:cNvSpPr/>
          <p:nvPr/>
        </p:nvSpPr>
        <p:spPr>
          <a:xfrm>
            <a:off x="14222300" y="2600453"/>
            <a:ext cx="3225963"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b="1" kern="0" spc="216" dirty="0">
                <a:solidFill>
                  <a:schemeClr val="accent6">
                    <a:lumMod val="50000"/>
                  </a:schemeClr>
                </a:solidFill>
                <a:latin typeface="Barlow" pitchFamily="34" charset="0"/>
                <a:ea typeface="Barlow" pitchFamily="34" charset="-122"/>
                <a:cs typeface="Barlow" pitchFamily="34" charset="-120"/>
              </a:rPr>
              <a:t>RISK APPETITE</a:t>
            </a:r>
            <a:endParaRPr lang="en-US" sz="2100" b="1" dirty="0">
              <a:solidFill>
                <a:schemeClr val="accent6">
                  <a:lumMod val="50000"/>
                </a:schemeClr>
              </a:solidFill>
            </a:endParaRPr>
          </a:p>
        </p:txBody>
      </p:sp>
      <p:sp>
        <p:nvSpPr>
          <p:cNvPr id="41" name="Text 37"/>
          <p:cNvSpPr/>
          <p:nvPr/>
        </p:nvSpPr>
        <p:spPr>
          <a:xfrm>
            <a:off x="14222300" y="3069049"/>
            <a:ext cx="3020675" cy="958141"/>
          </a:xfrm>
          <a:prstGeom prst="rect">
            <a:avLst/>
          </a:prstGeom>
          <a:noFill/>
          <a:ln/>
        </p:spPr>
        <p:txBody>
          <a:bodyPr wrap="square" lIns="25400" tIns="25400" rIns="25400" bIns="25400" rtlCol="0" anchor="t">
            <a:normAutofit lnSpcReduction="10000"/>
          </a:bodyPr>
          <a:lstStyle/>
          <a:p>
            <a:pPr marL="0" indent="0" algn="l">
              <a:lnSpc>
                <a:spcPct val="87440"/>
              </a:lnSpc>
              <a:buNone/>
            </a:pPr>
            <a:r>
              <a:rPr lang="en-US" sz="3450" dirty="0">
                <a:solidFill>
                  <a:srgbClr val="1D1F20"/>
                </a:solidFill>
                <a:latin typeface="Barlow Condensed" pitchFamily="34" charset="0"/>
                <a:ea typeface="Barlow Condensed" pitchFamily="34" charset="-122"/>
                <a:cs typeface="Barlow Condensed" pitchFamily="34" charset="-120"/>
              </a:rPr>
              <a:t>Moderately aggressive</a:t>
            </a:r>
            <a:endParaRPr lang="en-US" sz="3450" dirty="0"/>
          </a:p>
        </p:txBody>
      </p:sp>
      <p:sp>
        <p:nvSpPr>
          <p:cNvPr id="42" name="Shape 38"/>
          <p:cNvSpPr/>
          <p:nvPr/>
        </p:nvSpPr>
        <p:spPr>
          <a:xfrm>
            <a:off x="10329239" y="4531533"/>
            <a:ext cx="7044319" cy="4753429"/>
          </a:xfrm>
          <a:prstGeom prst="rect">
            <a:avLst/>
          </a:prstGeom>
          <a:ln w="9071">
            <a:solidFill>
              <a:srgbClr val="1F1F1F">
                <a:alpha val="16000"/>
              </a:srgbClr>
            </a:solidFill>
            <a:prstDash val="solid"/>
          </a:ln>
        </p:spPr>
        <p:txBody>
          <a:bodyPr/>
          <a:lstStyle/>
          <a:p>
            <a:endParaRPr lang="en-US"/>
          </a:p>
        </p:txBody>
      </p:sp>
      <p:sp>
        <p:nvSpPr>
          <p:cNvPr id="43" name="Text 39"/>
          <p:cNvSpPr/>
          <p:nvPr/>
        </p:nvSpPr>
        <p:spPr>
          <a:xfrm>
            <a:off x="10700247" y="4883476"/>
            <a:ext cx="6932535"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b="1" kern="0" spc="351" dirty="0">
                <a:solidFill>
                  <a:srgbClr val="2A3480"/>
                </a:solidFill>
                <a:latin typeface="Barlow" pitchFamily="34" charset="0"/>
                <a:ea typeface="Barlow" pitchFamily="34" charset="-122"/>
                <a:cs typeface="Barlow" pitchFamily="34" charset="-120"/>
              </a:rPr>
              <a:t>FINANCIAL GOALS</a:t>
            </a:r>
            <a:endParaRPr lang="en-US" sz="2100" b="1" dirty="0"/>
          </a:p>
        </p:txBody>
      </p:sp>
      <p:sp>
        <p:nvSpPr>
          <p:cNvPr id="44" name="Shape 40"/>
          <p:cNvSpPr/>
          <p:nvPr/>
        </p:nvSpPr>
        <p:spPr>
          <a:xfrm>
            <a:off x="10700247" y="6484300"/>
            <a:ext cx="6302304" cy="9525"/>
          </a:xfrm>
          <a:prstGeom prst="rect">
            <a:avLst/>
          </a:prstGeom>
          <a:solidFill>
            <a:srgbClr val="1D1F20">
              <a:alpha val="12000"/>
            </a:srgbClr>
          </a:solidFill>
          <a:ln/>
        </p:spPr>
        <p:txBody>
          <a:bodyPr/>
          <a:lstStyle/>
          <a:p>
            <a:endParaRPr lang="en-US"/>
          </a:p>
        </p:txBody>
      </p:sp>
      <p:sp>
        <p:nvSpPr>
          <p:cNvPr id="45" name="Text 41"/>
          <p:cNvSpPr/>
          <p:nvPr/>
        </p:nvSpPr>
        <p:spPr>
          <a:xfrm>
            <a:off x="10700247" y="5743419"/>
            <a:ext cx="1927502"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Kid’s Education</a:t>
            </a:r>
            <a:endParaRPr lang="en-US" sz="2700" dirty="0"/>
          </a:p>
        </p:txBody>
      </p:sp>
      <p:sp>
        <p:nvSpPr>
          <p:cNvPr id="46" name="Text 42"/>
          <p:cNvSpPr/>
          <p:nvPr/>
        </p:nvSpPr>
        <p:spPr>
          <a:xfrm>
            <a:off x="14599851" y="5856812"/>
            <a:ext cx="2586957" cy="421864"/>
          </a:xfrm>
          <a:prstGeom prst="rect">
            <a:avLst/>
          </a:prstGeom>
          <a:noFill/>
          <a:ln/>
        </p:spPr>
        <p:txBody>
          <a:bodyPr wrap="square" lIns="25400" tIns="25400" rIns="25400" bIns="25400" rtlCol="0" anchor="t">
            <a:noAutofit/>
          </a:bodyPr>
          <a:lstStyle/>
          <a:p>
            <a:pPr marL="0" indent="0" algn="l">
              <a:lnSpc>
                <a:spcPct val="128227"/>
              </a:lnSpc>
              <a:buNone/>
            </a:pPr>
            <a:r>
              <a:rPr lang="en-US" sz="2400" dirty="0">
                <a:latin typeface="Barlow" pitchFamily="34" charset="0"/>
                <a:ea typeface="Barlow" pitchFamily="34" charset="-122"/>
                <a:cs typeface="Barlow" pitchFamily="34" charset="-120"/>
              </a:rPr>
              <a:t>2031 · 2035 · 2036</a:t>
            </a:r>
            <a:endParaRPr lang="en-US" sz="2400" dirty="0"/>
          </a:p>
        </p:txBody>
      </p:sp>
      <p:sp>
        <p:nvSpPr>
          <p:cNvPr id="47" name="Shape 43"/>
          <p:cNvSpPr/>
          <p:nvPr/>
        </p:nvSpPr>
        <p:spPr>
          <a:xfrm>
            <a:off x="10700247" y="7443746"/>
            <a:ext cx="6302304" cy="9525"/>
          </a:xfrm>
          <a:prstGeom prst="rect">
            <a:avLst/>
          </a:prstGeom>
          <a:solidFill>
            <a:srgbClr val="1D1F20">
              <a:alpha val="12000"/>
            </a:srgbClr>
          </a:solidFill>
          <a:ln/>
        </p:spPr>
        <p:txBody>
          <a:bodyPr/>
          <a:lstStyle/>
          <a:p>
            <a:endParaRPr lang="en-US"/>
          </a:p>
        </p:txBody>
      </p:sp>
      <p:sp>
        <p:nvSpPr>
          <p:cNvPr id="48" name="Text 44"/>
          <p:cNvSpPr/>
          <p:nvPr/>
        </p:nvSpPr>
        <p:spPr>
          <a:xfrm>
            <a:off x="10700247" y="6702865"/>
            <a:ext cx="1419062"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Retirement</a:t>
            </a:r>
            <a:endParaRPr lang="en-US" sz="2700" dirty="0"/>
          </a:p>
        </p:txBody>
      </p:sp>
      <p:sp>
        <p:nvSpPr>
          <p:cNvPr id="49" name="Text 45"/>
          <p:cNvSpPr/>
          <p:nvPr/>
        </p:nvSpPr>
        <p:spPr>
          <a:xfrm>
            <a:off x="16079056" y="6816258"/>
            <a:ext cx="999695" cy="421864"/>
          </a:xfrm>
          <a:prstGeom prst="rect">
            <a:avLst/>
          </a:prstGeom>
          <a:noFill/>
          <a:ln/>
        </p:spPr>
        <p:txBody>
          <a:bodyPr wrap="square" lIns="25400" tIns="25400" rIns="25400" bIns="25400" rtlCol="0" anchor="t">
            <a:noAutofit/>
          </a:bodyPr>
          <a:lstStyle/>
          <a:p>
            <a:pPr marL="0" indent="0" algn="l">
              <a:lnSpc>
                <a:spcPct val="128227"/>
              </a:lnSpc>
              <a:buNone/>
            </a:pPr>
            <a:r>
              <a:rPr lang="en-US" sz="2400" dirty="0">
                <a:latin typeface="Barlow" pitchFamily="34" charset="0"/>
                <a:ea typeface="Barlow" pitchFamily="34" charset="-122"/>
                <a:cs typeface="Barlow" pitchFamily="34" charset="-120"/>
              </a:rPr>
              <a:t>2036</a:t>
            </a:r>
            <a:endParaRPr lang="en-US" sz="2400" dirty="0"/>
          </a:p>
        </p:txBody>
      </p:sp>
      <p:sp>
        <p:nvSpPr>
          <p:cNvPr id="50" name="Text 46"/>
          <p:cNvSpPr/>
          <p:nvPr/>
        </p:nvSpPr>
        <p:spPr>
          <a:xfrm>
            <a:off x="10700247" y="7662310"/>
            <a:ext cx="2299359"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Vacation Planning</a:t>
            </a:r>
            <a:endParaRPr lang="en-US" sz="2700" dirty="0"/>
          </a:p>
        </p:txBody>
      </p:sp>
      <p:sp>
        <p:nvSpPr>
          <p:cNvPr id="51" name="Text 47"/>
          <p:cNvSpPr/>
          <p:nvPr/>
        </p:nvSpPr>
        <p:spPr>
          <a:xfrm>
            <a:off x="16079057" y="7775703"/>
            <a:ext cx="999696" cy="421864"/>
          </a:xfrm>
          <a:prstGeom prst="rect">
            <a:avLst/>
          </a:prstGeom>
          <a:noFill/>
          <a:ln/>
        </p:spPr>
        <p:txBody>
          <a:bodyPr wrap="square" lIns="25400" tIns="25400" rIns="25400" bIns="25400" rtlCol="0" anchor="t">
            <a:noAutofit/>
          </a:bodyPr>
          <a:lstStyle/>
          <a:p>
            <a:pPr marL="0" indent="0" algn="l">
              <a:lnSpc>
                <a:spcPct val="128227"/>
              </a:lnSpc>
              <a:buNone/>
            </a:pPr>
            <a:r>
              <a:rPr lang="en-US" sz="2400" dirty="0">
                <a:latin typeface="Barlow" pitchFamily="34" charset="0"/>
                <a:ea typeface="Barlow" pitchFamily="34" charset="-122"/>
                <a:cs typeface="Barlow" pitchFamily="34" charset="-120"/>
              </a:rPr>
              <a:t>2029</a:t>
            </a:r>
            <a:endParaRPr lang="en-US" sz="2400" dirty="0"/>
          </a:p>
        </p:txBody>
      </p:sp>
      <p:sp>
        <p:nvSpPr>
          <p:cNvPr id="52" name="Text 48"/>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53" name="Text 49"/>
          <p:cNvSpPr/>
          <p:nvPr/>
        </p:nvSpPr>
        <p:spPr>
          <a:xfrm>
            <a:off x="16698730" y="9475462"/>
            <a:ext cx="751029"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02 / 32</a:t>
            </a:r>
            <a:endParaRPr lang="en-US" sz="2100" dirty="0"/>
          </a:p>
        </p:txBody>
      </p:sp>
      <p:sp>
        <p:nvSpPr>
          <p:cNvPr id="55" name="Shape 10">
            <a:extLst>
              <a:ext uri="{FF2B5EF4-FFF2-40B4-BE49-F238E27FC236}">
                <a16:creationId xmlns:a16="http://schemas.microsoft.com/office/drawing/2014/main" id="{A2C57EDA-44F6-CCBB-8746-5ABD3E5B4CF0}"/>
              </a:ext>
            </a:extLst>
          </p:cNvPr>
          <p:cNvSpPr/>
          <p:nvPr/>
        </p:nvSpPr>
        <p:spPr>
          <a:xfrm>
            <a:off x="914372" y="3749632"/>
            <a:ext cx="4402620" cy="9525"/>
          </a:xfrm>
          <a:prstGeom prst="rect">
            <a:avLst/>
          </a:prstGeom>
          <a:solidFill>
            <a:srgbClr val="1D1F20">
              <a:alpha val="90000"/>
            </a:srgbClr>
          </a:solidFill>
          <a:ln/>
        </p:spPr>
        <p:txBody>
          <a:bodyPr/>
          <a:lstStyle/>
          <a:p>
            <a:endParaRPr lang="en-US"/>
          </a:p>
        </p:txBody>
      </p:sp>
      <p:sp>
        <p:nvSpPr>
          <p:cNvPr id="57" name="Shape 12">
            <a:extLst>
              <a:ext uri="{FF2B5EF4-FFF2-40B4-BE49-F238E27FC236}">
                <a16:creationId xmlns:a16="http://schemas.microsoft.com/office/drawing/2014/main" id="{19AD6770-23AD-B4E7-5BCC-E7A85E4D3BA5}"/>
              </a:ext>
            </a:extLst>
          </p:cNvPr>
          <p:cNvSpPr/>
          <p:nvPr/>
        </p:nvSpPr>
        <p:spPr>
          <a:xfrm>
            <a:off x="5316991" y="3749632"/>
            <a:ext cx="4402691" cy="9525"/>
          </a:xfrm>
          <a:prstGeom prst="rect">
            <a:avLst/>
          </a:prstGeom>
          <a:solidFill>
            <a:srgbClr val="1D1F20">
              <a:alpha val="90000"/>
            </a:srgbClr>
          </a:solidFill>
          <a:ln/>
        </p:spPr>
        <p:txBody>
          <a:bodyPr/>
          <a:lstStyle/>
          <a:p>
            <a:endParaRPr lang="en-US"/>
          </a:p>
        </p:txBody>
      </p:sp>
    </p:spTree>
    <p:extLst>
      <p:ext uri="{BB962C8B-B14F-4D97-AF65-F5344CB8AC3E}">
        <p14:creationId xmlns:p14="http://schemas.microsoft.com/office/powerpoint/2010/main" val="4132493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3"/>
        </a:solidFill>
        <a:effectLst/>
      </p:bgPr>
    </p:bg>
    <p:spTree>
      <p:nvGrpSpPr>
        <p:cNvPr id="1" name=""/>
        <p:cNvGrpSpPr/>
        <p:nvPr/>
      </p:nvGrpSpPr>
      <p:grpSpPr>
        <a:xfrm>
          <a:off x="0" y="0"/>
          <a:ext cx="0" cy="0"/>
          <a:chOff x="0" y="0"/>
          <a:chExt cx="0" cy="0"/>
        </a:xfrm>
      </p:grpSpPr>
      <p:pic>
        <p:nvPicPr>
          <p:cNvPr id="2" name="Image 0" descr="Money and passport"/>
          <p:cNvPicPr>
            <a:picLocks noChangeAspect="1"/>
          </p:cNvPicPr>
          <p:nvPr/>
        </p:nvPicPr>
        <p:blipFill>
          <a:blip r:embed="rId3">
            <a:alphaModFix amt="7000"/>
          </a:blip>
          <a:srcRect l="2621" r="2621"/>
          <a:stretch/>
        </p:blipFill>
        <p:spPr>
          <a:xfrm>
            <a:off x="0" y="-26501"/>
            <a:ext cx="18287930" cy="10287001"/>
          </a:xfrm>
          <a:prstGeom prst="rect">
            <a:avLst/>
          </a:prstGeom>
        </p:spPr>
      </p:pic>
      <p:sp>
        <p:nvSpPr>
          <p:cNvPr id="3" name="Text 0"/>
          <p:cNvSpPr/>
          <p:nvPr/>
        </p:nvSpPr>
        <p:spPr>
          <a:xfrm>
            <a:off x="914372" y="571429"/>
            <a:ext cx="7294024"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CASH FLOW</a:t>
            </a:r>
            <a:endParaRPr lang="en-US" sz="2100" b="1" dirty="0">
              <a:solidFill>
                <a:srgbClr val="2A3480"/>
              </a:solidFill>
              <a:latin typeface="Barlow"/>
            </a:endParaRPr>
          </a:p>
        </p:txBody>
      </p:sp>
      <p:sp>
        <p:nvSpPr>
          <p:cNvPr id="4" name="Text 1"/>
          <p:cNvSpPr/>
          <p:nvPr/>
        </p:nvSpPr>
        <p:spPr>
          <a:xfrm>
            <a:off x="914372" y="1178526"/>
            <a:ext cx="7294024" cy="769555"/>
          </a:xfrm>
          <a:prstGeom prst="rect">
            <a:avLst/>
          </a:prstGeom>
          <a:noFill/>
          <a:ln/>
        </p:spPr>
        <p:txBody>
          <a:bodyPr wrap="square" lIns="25400" tIns="25400" rIns="25400" bIns="25400" rtlCol="0" anchor="ctr">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Monthly Income &amp; Surplus</a:t>
            </a:r>
            <a:endParaRPr lang="en-US" sz="6000" dirty="0"/>
          </a:p>
        </p:txBody>
      </p:sp>
      <p:pic>
        <p:nvPicPr>
          <p:cNvPr id="5" name="Image 1" descr="preencoded.png"/>
          <p:cNvPicPr>
            <a:picLocks noChangeAspect="1"/>
          </p:cNvPicPr>
          <p:nvPr/>
        </p:nvPicPr>
        <p:blipFill>
          <a:blip r:embed="rId4"/>
          <a:stretch>
            <a:fillRect/>
          </a:stretch>
        </p:blipFill>
        <p:spPr>
          <a:xfrm>
            <a:off x="15297193" y="571429"/>
            <a:ext cx="2076365" cy="590493"/>
          </a:xfrm>
          <a:prstGeom prst="rect">
            <a:avLst/>
          </a:prstGeom>
        </p:spPr>
      </p:pic>
      <p:sp>
        <p:nvSpPr>
          <p:cNvPr id="6" name="Shape 2"/>
          <p:cNvSpPr/>
          <p:nvPr/>
        </p:nvSpPr>
        <p:spPr>
          <a:xfrm>
            <a:off x="914372" y="2086641"/>
            <a:ext cx="16459187" cy="9525"/>
          </a:xfrm>
          <a:prstGeom prst="rect">
            <a:avLst/>
          </a:prstGeom>
          <a:solidFill>
            <a:srgbClr val="1D1F20">
              <a:alpha val="18000"/>
            </a:srgbClr>
          </a:solidFill>
          <a:ln/>
        </p:spPr>
        <p:txBody>
          <a:bodyPr/>
          <a:lstStyle/>
          <a:p>
            <a:endParaRPr lang="en-US" b="1"/>
          </a:p>
        </p:txBody>
      </p:sp>
      <p:sp>
        <p:nvSpPr>
          <p:cNvPr id="7" name="Shape 3"/>
          <p:cNvSpPr/>
          <p:nvPr/>
        </p:nvSpPr>
        <p:spPr>
          <a:xfrm>
            <a:off x="914372" y="2419945"/>
            <a:ext cx="3943378" cy="1789198"/>
          </a:xfrm>
          <a:prstGeom prst="rect">
            <a:avLst/>
          </a:prstGeom>
          <a:ln w="9071">
            <a:solidFill>
              <a:srgbClr val="1F1F1F">
                <a:alpha val="16000"/>
              </a:srgbClr>
            </a:solidFill>
            <a:prstDash val="solid"/>
          </a:ln>
        </p:spPr>
        <p:txBody>
          <a:bodyPr/>
          <a:lstStyle/>
          <a:p>
            <a:endParaRPr lang="en-US" b="1"/>
          </a:p>
        </p:txBody>
      </p:sp>
      <p:sp>
        <p:nvSpPr>
          <p:cNvPr id="8" name="Text 4"/>
          <p:cNvSpPr/>
          <p:nvPr/>
        </p:nvSpPr>
        <p:spPr>
          <a:xfrm>
            <a:off x="1171065" y="2638510"/>
            <a:ext cx="3772992"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b="1" kern="0" spc="216" dirty="0">
                <a:solidFill>
                  <a:srgbClr val="1D1F20">
                    <a:alpha val="90000"/>
                  </a:srgbClr>
                </a:solidFill>
                <a:latin typeface="Barlow" pitchFamily="34" charset="0"/>
                <a:ea typeface="Barlow" pitchFamily="34" charset="-122"/>
                <a:cs typeface="Barlow" pitchFamily="34" charset="-120"/>
              </a:rPr>
              <a:t>GROSS INCOME</a:t>
            </a:r>
            <a:endParaRPr lang="en-US" sz="2100" b="1" dirty="0"/>
          </a:p>
        </p:txBody>
      </p:sp>
      <p:sp>
        <p:nvSpPr>
          <p:cNvPr id="9" name="Text 5"/>
          <p:cNvSpPr/>
          <p:nvPr/>
        </p:nvSpPr>
        <p:spPr>
          <a:xfrm>
            <a:off x="1171065" y="3110415"/>
            <a:ext cx="3772992" cy="51435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3750" b="1" dirty="0">
                <a:solidFill>
                  <a:schemeClr val="accent6">
                    <a:lumMod val="50000"/>
                  </a:schemeClr>
                </a:solidFill>
                <a:latin typeface="Barlow Condensed" pitchFamily="34" charset="0"/>
                <a:ea typeface="Barlow Condensed" pitchFamily="34" charset="-122"/>
                <a:cs typeface="Barlow Condensed" pitchFamily="34" charset="-120"/>
              </a:rPr>
              <a:t>₹4,50,000</a:t>
            </a:r>
            <a:endParaRPr lang="en-US" sz="3750" b="1" dirty="0">
              <a:solidFill>
                <a:schemeClr val="accent6">
                  <a:lumMod val="50000"/>
                </a:schemeClr>
              </a:solidFill>
            </a:endParaRPr>
          </a:p>
        </p:txBody>
      </p:sp>
      <p:sp>
        <p:nvSpPr>
          <p:cNvPr id="10" name="Text 6"/>
          <p:cNvSpPr/>
          <p:nvPr/>
        </p:nvSpPr>
        <p:spPr>
          <a:xfrm>
            <a:off x="1171065" y="3621484"/>
            <a:ext cx="3772992" cy="407194"/>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b="1" dirty="0">
                <a:solidFill>
                  <a:srgbClr val="1D1F20">
                    <a:alpha val="90000"/>
                  </a:srgbClr>
                </a:solidFill>
                <a:latin typeface="Barlow" pitchFamily="34" charset="0"/>
                <a:ea typeface="Barlow" pitchFamily="34" charset="-122"/>
                <a:cs typeface="Barlow" pitchFamily="34" charset="-120"/>
              </a:rPr>
              <a:t>a month, household</a:t>
            </a:r>
            <a:endParaRPr lang="en-US" sz="2100" b="1" dirty="0"/>
          </a:p>
        </p:txBody>
      </p:sp>
      <p:sp>
        <p:nvSpPr>
          <p:cNvPr id="11" name="Shape 7"/>
          <p:cNvSpPr/>
          <p:nvPr/>
        </p:nvSpPr>
        <p:spPr>
          <a:xfrm>
            <a:off x="5086308" y="2419945"/>
            <a:ext cx="3943378" cy="1789198"/>
          </a:xfrm>
          <a:prstGeom prst="rect">
            <a:avLst/>
          </a:prstGeom>
          <a:ln w="9071">
            <a:solidFill>
              <a:srgbClr val="1F1F1F">
                <a:alpha val="16000"/>
              </a:srgbClr>
            </a:solidFill>
            <a:prstDash val="solid"/>
          </a:ln>
        </p:spPr>
        <p:txBody>
          <a:bodyPr/>
          <a:lstStyle/>
          <a:p>
            <a:endParaRPr lang="en-US" b="1"/>
          </a:p>
        </p:txBody>
      </p:sp>
      <p:sp>
        <p:nvSpPr>
          <p:cNvPr id="12" name="Text 8"/>
          <p:cNvSpPr/>
          <p:nvPr/>
        </p:nvSpPr>
        <p:spPr>
          <a:xfrm>
            <a:off x="5343001" y="2638510"/>
            <a:ext cx="3772992"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b="1" kern="0" spc="216" dirty="0">
                <a:solidFill>
                  <a:srgbClr val="1D1F20">
                    <a:alpha val="90000"/>
                  </a:srgbClr>
                </a:solidFill>
                <a:latin typeface="Barlow" pitchFamily="34" charset="0"/>
                <a:ea typeface="Barlow" pitchFamily="34" charset="-122"/>
                <a:cs typeface="Barlow" pitchFamily="34" charset="-120"/>
              </a:rPr>
              <a:t>HOUSEHOLD EXPENSES</a:t>
            </a:r>
            <a:endParaRPr lang="en-US" sz="2100" b="1" dirty="0"/>
          </a:p>
        </p:txBody>
      </p:sp>
      <p:sp>
        <p:nvSpPr>
          <p:cNvPr id="13" name="Text 9"/>
          <p:cNvSpPr/>
          <p:nvPr/>
        </p:nvSpPr>
        <p:spPr>
          <a:xfrm>
            <a:off x="5343001" y="3110415"/>
            <a:ext cx="3772992" cy="51435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3750" b="1" dirty="0">
                <a:solidFill>
                  <a:schemeClr val="accent6">
                    <a:lumMod val="50000"/>
                  </a:schemeClr>
                </a:solidFill>
                <a:latin typeface="Barlow Condensed" pitchFamily="34" charset="0"/>
                <a:ea typeface="Barlow Condensed" pitchFamily="34" charset="-122"/>
                <a:cs typeface="Barlow Condensed" pitchFamily="34" charset="-120"/>
              </a:rPr>
              <a:t>₹1,50,000</a:t>
            </a:r>
            <a:endParaRPr lang="en-US" sz="3750" b="1" dirty="0">
              <a:solidFill>
                <a:schemeClr val="accent6">
                  <a:lumMod val="50000"/>
                </a:schemeClr>
              </a:solidFill>
            </a:endParaRPr>
          </a:p>
        </p:txBody>
      </p:sp>
      <p:sp>
        <p:nvSpPr>
          <p:cNvPr id="14" name="Text 10"/>
          <p:cNvSpPr/>
          <p:nvPr/>
        </p:nvSpPr>
        <p:spPr>
          <a:xfrm>
            <a:off x="5343001" y="3621484"/>
            <a:ext cx="3772992" cy="407194"/>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b="1" dirty="0">
                <a:solidFill>
                  <a:srgbClr val="1D1F20">
                    <a:alpha val="90000"/>
                  </a:srgbClr>
                </a:solidFill>
                <a:latin typeface="Barlow" pitchFamily="34" charset="0"/>
                <a:ea typeface="Barlow" pitchFamily="34" charset="-122"/>
                <a:cs typeface="Barlow" pitchFamily="34" charset="-120"/>
              </a:rPr>
              <a:t>33% of income</a:t>
            </a:r>
            <a:endParaRPr lang="en-US" sz="2100" b="1" dirty="0"/>
          </a:p>
        </p:txBody>
      </p:sp>
      <p:sp>
        <p:nvSpPr>
          <p:cNvPr id="15" name="Shape 11"/>
          <p:cNvSpPr/>
          <p:nvPr/>
        </p:nvSpPr>
        <p:spPr>
          <a:xfrm>
            <a:off x="9258244" y="2419945"/>
            <a:ext cx="3943378" cy="1789198"/>
          </a:xfrm>
          <a:prstGeom prst="rect">
            <a:avLst/>
          </a:prstGeom>
          <a:ln w="9071">
            <a:solidFill>
              <a:srgbClr val="1F1F1F">
                <a:alpha val="16000"/>
              </a:srgbClr>
            </a:solidFill>
            <a:prstDash val="solid"/>
          </a:ln>
        </p:spPr>
        <p:txBody>
          <a:bodyPr/>
          <a:lstStyle/>
          <a:p>
            <a:endParaRPr lang="en-US" b="1"/>
          </a:p>
        </p:txBody>
      </p:sp>
      <p:sp>
        <p:nvSpPr>
          <p:cNvPr id="16" name="Text 12"/>
          <p:cNvSpPr/>
          <p:nvPr/>
        </p:nvSpPr>
        <p:spPr>
          <a:xfrm>
            <a:off x="9514937" y="2638510"/>
            <a:ext cx="3772992"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b="1" kern="0" spc="216" dirty="0">
                <a:solidFill>
                  <a:srgbClr val="1D1F20">
                    <a:alpha val="90000"/>
                  </a:srgbClr>
                </a:solidFill>
                <a:latin typeface="Barlow" pitchFamily="34" charset="0"/>
                <a:ea typeface="Barlow" pitchFamily="34" charset="-122"/>
                <a:cs typeface="Barlow" pitchFamily="34" charset="-120"/>
              </a:rPr>
              <a:t>LOAN EMIS</a:t>
            </a:r>
            <a:endParaRPr lang="en-US" sz="2100" b="1" dirty="0"/>
          </a:p>
        </p:txBody>
      </p:sp>
      <p:sp>
        <p:nvSpPr>
          <p:cNvPr id="17" name="Text 13"/>
          <p:cNvSpPr/>
          <p:nvPr/>
        </p:nvSpPr>
        <p:spPr>
          <a:xfrm>
            <a:off x="9514937" y="3110415"/>
            <a:ext cx="3772992" cy="51435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3750" b="1" dirty="0">
                <a:solidFill>
                  <a:schemeClr val="accent6">
                    <a:lumMod val="50000"/>
                  </a:schemeClr>
                </a:solidFill>
                <a:latin typeface="Barlow Condensed" pitchFamily="34" charset="0"/>
                <a:ea typeface="Barlow Condensed" pitchFamily="34" charset="-122"/>
                <a:cs typeface="Barlow Condensed" pitchFamily="34" charset="-120"/>
              </a:rPr>
              <a:t>₹58,300</a:t>
            </a:r>
            <a:endParaRPr lang="en-US" sz="3750" b="1" dirty="0">
              <a:solidFill>
                <a:schemeClr val="accent6">
                  <a:lumMod val="50000"/>
                </a:schemeClr>
              </a:solidFill>
            </a:endParaRPr>
          </a:p>
        </p:txBody>
      </p:sp>
      <p:sp>
        <p:nvSpPr>
          <p:cNvPr id="18" name="Text 14"/>
          <p:cNvSpPr/>
          <p:nvPr/>
        </p:nvSpPr>
        <p:spPr>
          <a:xfrm>
            <a:off x="9514937" y="3621484"/>
            <a:ext cx="3772992" cy="407194"/>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b="1" dirty="0">
                <a:solidFill>
                  <a:srgbClr val="1D1F20">
                    <a:alpha val="90000"/>
                  </a:srgbClr>
                </a:solidFill>
                <a:latin typeface="Barlow" pitchFamily="34" charset="0"/>
                <a:ea typeface="Barlow" pitchFamily="34" charset="-122"/>
                <a:cs typeface="Barlow" pitchFamily="34" charset="-120"/>
              </a:rPr>
              <a:t>home and car</a:t>
            </a:r>
            <a:endParaRPr lang="en-US" sz="2100" b="1" dirty="0"/>
          </a:p>
        </p:txBody>
      </p:sp>
      <p:sp>
        <p:nvSpPr>
          <p:cNvPr id="19" name="Shape 15"/>
          <p:cNvSpPr/>
          <p:nvPr/>
        </p:nvSpPr>
        <p:spPr>
          <a:xfrm>
            <a:off x="13430180" y="2419945"/>
            <a:ext cx="3943378" cy="1789198"/>
          </a:xfrm>
          <a:prstGeom prst="rect">
            <a:avLst/>
          </a:prstGeom>
          <a:ln w="9071">
            <a:solidFill>
              <a:srgbClr val="1F1F1F">
                <a:alpha val="16000"/>
              </a:srgbClr>
            </a:solidFill>
            <a:prstDash val="solid"/>
          </a:ln>
        </p:spPr>
        <p:txBody>
          <a:bodyPr/>
          <a:lstStyle/>
          <a:p>
            <a:endParaRPr lang="en-US" b="1"/>
          </a:p>
        </p:txBody>
      </p:sp>
      <p:sp>
        <p:nvSpPr>
          <p:cNvPr id="20" name="Text 16"/>
          <p:cNvSpPr/>
          <p:nvPr/>
        </p:nvSpPr>
        <p:spPr>
          <a:xfrm>
            <a:off x="13686873" y="2638510"/>
            <a:ext cx="3772992"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b="1" kern="0" spc="216" dirty="0">
                <a:solidFill>
                  <a:srgbClr val="1D1F20">
                    <a:alpha val="90000"/>
                  </a:srgbClr>
                </a:solidFill>
                <a:latin typeface="Barlow" pitchFamily="34" charset="0"/>
                <a:ea typeface="Barlow" pitchFamily="34" charset="-122"/>
                <a:cs typeface="Barlow" pitchFamily="34" charset="-120"/>
              </a:rPr>
              <a:t>COMMITTED SAVINGS</a:t>
            </a:r>
            <a:endParaRPr lang="en-US" sz="2100" b="1" dirty="0"/>
          </a:p>
        </p:txBody>
      </p:sp>
      <p:sp>
        <p:nvSpPr>
          <p:cNvPr id="21" name="Text 17"/>
          <p:cNvSpPr/>
          <p:nvPr/>
        </p:nvSpPr>
        <p:spPr>
          <a:xfrm>
            <a:off x="13686873" y="3110415"/>
            <a:ext cx="3772992" cy="51435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3750" b="1" dirty="0">
                <a:solidFill>
                  <a:schemeClr val="accent6">
                    <a:lumMod val="50000"/>
                  </a:schemeClr>
                </a:solidFill>
                <a:latin typeface="Barlow Condensed" pitchFamily="34" charset="0"/>
                <a:ea typeface="Barlow Condensed" pitchFamily="34" charset="-122"/>
                <a:cs typeface="Barlow Condensed" pitchFamily="34" charset="-120"/>
              </a:rPr>
              <a:t>₹2,20,000</a:t>
            </a:r>
            <a:endParaRPr lang="en-US" sz="3750" b="1" dirty="0">
              <a:solidFill>
                <a:schemeClr val="accent6">
                  <a:lumMod val="50000"/>
                </a:schemeClr>
              </a:solidFill>
            </a:endParaRPr>
          </a:p>
        </p:txBody>
      </p:sp>
      <p:sp>
        <p:nvSpPr>
          <p:cNvPr id="22" name="Text 18"/>
          <p:cNvSpPr/>
          <p:nvPr/>
        </p:nvSpPr>
        <p:spPr>
          <a:xfrm>
            <a:off x="13686873" y="3621484"/>
            <a:ext cx="3772992" cy="407194"/>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b="1" dirty="0">
                <a:solidFill>
                  <a:srgbClr val="1D1F20">
                    <a:alpha val="90000"/>
                  </a:srgbClr>
                </a:solidFill>
                <a:latin typeface="Barlow" pitchFamily="34" charset="0"/>
                <a:ea typeface="Barlow" pitchFamily="34" charset="-122"/>
                <a:cs typeface="Barlow" pitchFamily="34" charset="-120"/>
              </a:rPr>
              <a:t>49% of income</a:t>
            </a:r>
            <a:endParaRPr lang="en-US" sz="2100" b="1" dirty="0"/>
          </a:p>
        </p:txBody>
      </p:sp>
      <p:sp>
        <p:nvSpPr>
          <p:cNvPr id="23" name="Shape 19"/>
          <p:cNvSpPr/>
          <p:nvPr/>
        </p:nvSpPr>
        <p:spPr>
          <a:xfrm>
            <a:off x="914372" y="4552015"/>
            <a:ext cx="5465323" cy="838186"/>
          </a:xfrm>
          <a:prstGeom prst="rect">
            <a:avLst/>
          </a:prstGeom>
          <a:solidFill>
            <a:srgbClr val="5980A6"/>
          </a:solidFill>
          <a:ln/>
        </p:spPr>
        <p:txBody>
          <a:bodyPr/>
          <a:lstStyle/>
          <a:p>
            <a:endParaRPr lang="en-US"/>
          </a:p>
        </p:txBody>
      </p:sp>
      <p:sp>
        <p:nvSpPr>
          <p:cNvPr id="24" name="Text 20"/>
          <p:cNvSpPr/>
          <p:nvPr/>
        </p:nvSpPr>
        <p:spPr>
          <a:xfrm>
            <a:off x="1181072" y="4552015"/>
            <a:ext cx="5362583" cy="876286"/>
          </a:xfrm>
          <a:prstGeom prst="rect">
            <a:avLst/>
          </a:prstGeom>
          <a:noFill/>
          <a:ln/>
        </p:spPr>
        <p:txBody>
          <a:bodyPr wrap="square" lIns="25400" tIns="25400" rIns="25400" bIns="25400" rtlCol="0" anchor="ctr">
            <a:normAutofit/>
          </a:bodyPr>
          <a:lstStyle/>
          <a:p>
            <a:pPr marL="0" indent="0" algn="l">
              <a:lnSpc>
                <a:spcPct val="128911"/>
              </a:lnSpc>
              <a:buNone/>
            </a:pPr>
            <a:r>
              <a:rPr lang="en-US" sz="3000" dirty="0">
                <a:solidFill>
                  <a:srgbClr val="F2F2F3"/>
                </a:solidFill>
                <a:latin typeface="Barlow Condensed" pitchFamily="34" charset="0"/>
                <a:ea typeface="Barlow Condensed" pitchFamily="34" charset="-122"/>
                <a:cs typeface="Barlow Condensed" pitchFamily="34" charset="-120"/>
              </a:rPr>
              <a:t>33%</a:t>
            </a:r>
            <a:endParaRPr lang="en-US" sz="3000" dirty="0"/>
          </a:p>
        </p:txBody>
      </p:sp>
      <p:sp>
        <p:nvSpPr>
          <p:cNvPr id="25" name="Shape 21"/>
          <p:cNvSpPr/>
          <p:nvPr/>
        </p:nvSpPr>
        <p:spPr>
          <a:xfrm>
            <a:off x="6408256" y="4552015"/>
            <a:ext cx="2258077" cy="838186"/>
          </a:xfrm>
          <a:prstGeom prst="rect">
            <a:avLst/>
          </a:prstGeom>
          <a:solidFill>
            <a:srgbClr val="B7B7BA"/>
          </a:solidFill>
          <a:ln/>
        </p:spPr>
        <p:txBody>
          <a:bodyPr/>
          <a:lstStyle/>
          <a:p>
            <a:endParaRPr lang="en-US"/>
          </a:p>
        </p:txBody>
      </p:sp>
      <p:sp>
        <p:nvSpPr>
          <p:cNvPr id="26" name="Text 22"/>
          <p:cNvSpPr/>
          <p:nvPr/>
        </p:nvSpPr>
        <p:spPr>
          <a:xfrm>
            <a:off x="6636856" y="4552015"/>
            <a:ext cx="2105677" cy="876286"/>
          </a:xfrm>
          <a:prstGeom prst="rect">
            <a:avLst/>
          </a:prstGeom>
          <a:noFill/>
          <a:ln/>
        </p:spPr>
        <p:txBody>
          <a:bodyPr wrap="square" lIns="25400" tIns="25400" rIns="25400" bIns="25400" rtlCol="0" anchor="ctr">
            <a:normAutofit/>
          </a:bodyPr>
          <a:lstStyle/>
          <a:p>
            <a:pPr marL="0" indent="0" algn="l">
              <a:lnSpc>
                <a:spcPct val="128911"/>
              </a:lnSpc>
              <a:buNone/>
            </a:pPr>
            <a:r>
              <a:rPr lang="en-US" sz="3000" dirty="0">
                <a:solidFill>
                  <a:srgbClr val="1D1F20"/>
                </a:solidFill>
                <a:latin typeface="Barlow Condensed" pitchFamily="34" charset="0"/>
                <a:ea typeface="Barlow Condensed" pitchFamily="34" charset="-122"/>
                <a:cs typeface="Barlow Condensed" pitchFamily="34" charset="-120"/>
              </a:rPr>
              <a:t>13%</a:t>
            </a:r>
            <a:endParaRPr lang="en-US" sz="3000" dirty="0"/>
          </a:p>
        </p:txBody>
      </p:sp>
      <p:sp>
        <p:nvSpPr>
          <p:cNvPr id="27" name="Shape 23"/>
          <p:cNvSpPr/>
          <p:nvPr/>
        </p:nvSpPr>
        <p:spPr>
          <a:xfrm>
            <a:off x="8694894" y="4552015"/>
            <a:ext cx="7900719" cy="838186"/>
          </a:xfrm>
          <a:prstGeom prst="rect">
            <a:avLst/>
          </a:prstGeom>
          <a:solidFill>
            <a:srgbClr val="26306F"/>
          </a:solidFill>
          <a:ln/>
        </p:spPr>
        <p:txBody>
          <a:bodyPr/>
          <a:lstStyle/>
          <a:p>
            <a:endParaRPr lang="en-US"/>
          </a:p>
        </p:txBody>
      </p:sp>
      <p:sp>
        <p:nvSpPr>
          <p:cNvPr id="28" name="Text 24"/>
          <p:cNvSpPr/>
          <p:nvPr/>
        </p:nvSpPr>
        <p:spPr>
          <a:xfrm>
            <a:off x="8961594" y="4552015"/>
            <a:ext cx="7871040" cy="876286"/>
          </a:xfrm>
          <a:prstGeom prst="rect">
            <a:avLst/>
          </a:prstGeom>
          <a:noFill/>
          <a:ln/>
        </p:spPr>
        <p:txBody>
          <a:bodyPr wrap="square" lIns="25400" tIns="25400" rIns="25400" bIns="25400" rtlCol="0" anchor="ctr">
            <a:normAutofit/>
          </a:bodyPr>
          <a:lstStyle/>
          <a:p>
            <a:pPr marL="0" indent="0" algn="l">
              <a:lnSpc>
                <a:spcPct val="128911"/>
              </a:lnSpc>
              <a:buNone/>
            </a:pPr>
            <a:r>
              <a:rPr lang="en-US" sz="3000" dirty="0">
                <a:solidFill>
                  <a:srgbClr val="F2F2F3"/>
                </a:solidFill>
                <a:latin typeface="Barlow Condensed" pitchFamily="34" charset="0"/>
                <a:ea typeface="Barlow Condensed" pitchFamily="34" charset="-122"/>
                <a:cs typeface="Barlow Condensed" pitchFamily="34" charset="-120"/>
              </a:rPr>
              <a:t>49%</a:t>
            </a:r>
            <a:endParaRPr lang="en-US" sz="3000" dirty="0"/>
          </a:p>
        </p:txBody>
      </p:sp>
      <p:sp>
        <p:nvSpPr>
          <p:cNvPr id="29" name="Shape 25"/>
          <p:cNvSpPr/>
          <p:nvPr/>
        </p:nvSpPr>
        <p:spPr>
          <a:xfrm>
            <a:off x="16624174" y="4552015"/>
            <a:ext cx="749385" cy="838186"/>
          </a:xfrm>
          <a:prstGeom prst="rect">
            <a:avLst/>
          </a:prstGeom>
          <a:solidFill>
            <a:srgbClr val="2F7D3A"/>
          </a:solidFill>
          <a:ln/>
        </p:spPr>
        <p:txBody>
          <a:bodyPr/>
          <a:lstStyle/>
          <a:p>
            <a:endParaRPr lang="en-US"/>
          </a:p>
        </p:txBody>
      </p:sp>
      <p:sp>
        <p:nvSpPr>
          <p:cNvPr id="30" name="Shape 26"/>
          <p:cNvSpPr/>
          <p:nvPr/>
        </p:nvSpPr>
        <p:spPr>
          <a:xfrm>
            <a:off x="914372" y="5686865"/>
            <a:ext cx="171436" cy="171436"/>
          </a:xfrm>
          <a:prstGeom prst="rect">
            <a:avLst/>
          </a:prstGeom>
          <a:solidFill>
            <a:srgbClr val="5980A6"/>
          </a:solidFill>
          <a:ln/>
        </p:spPr>
        <p:txBody>
          <a:bodyPr/>
          <a:lstStyle/>
          <a:p>
            <a:endParaRPr lang="en-US" b="1"/>
          </a:p>
        </p:txBody>
      </p:sp>
      <p:sp>
        <p:nvSpPr>
          <p:cNvPr id="31" name="Text 27"/>
          <p:cNvSpPr/>
          <p:nvPr/>
        </p:nvSpPr>
        <p:spPr>
          <a:xfrm>
            <a:off x="1200051" y="5621522"/>
            <a:ext cx="1112682" cy="337457"/>
          </a:xfrm>
          <a:prstGeom prst="rect">
            <a:avLst/>
          </a:prstGeom>
          <a:noFill/>
          <a:ln/>
        </p:spPr>
        <p:txBody>
          <a:bodyPr wrap="square" lIns="0" tIns="0" rIns="0" bIns="0" rtlCol="0" anchor="t">
            <a:normAutofit fontScale="92500" lnSpcReduction="10000"/>
          </a:bodyPr>
          <a:lstStyle/>
          <a:p>
            <a:pPr marL="0" indent="0" algn="l">
              <a:lnSpc>
                <a:spcPct val="128227"/>
              </a:lnSpc>
              <a:buNone/>
            </a:pPr>
            <a:r>
              <a:rPr lang="en-US" sz="2100" b="1" dirty="0">
                <a:solidFill>
                  <a:srgbClr val="1D1F20"/>
                </a:solidFill>
                <a:latin typeface="Barlow" pitchFamily="34" charset="0"/>
                <a:ea typeface="Barlow" pitchFamily="34" charset="-122"/>
                <a:cs typeface="Barlow" pitchFamily="34" charset="-120"/>
              </a:rPr>
              <a:t>Expenses</a:t>
            </a:r>
            <a:endParaRPr lang="en-US" sz="2100" b="1" dirty="0"/>
          </a:p>
        </p:txBody>
      </p:sp>
      <p:sp>
        <p:nvSpPr>
          <p:cNvPr id="32" name="Shape 28"/>
          <p:cNvSpPr/>
          <p:nvPr/>
        </p:nvSpPr>
        <p:spPr>
          <a:xfrm>
            <a:off x="2655590" y="5686865"/>
            <a:ext cx="171436" cy="171436"/>
          </a:xfrm>
          <a:prstGeom prst="rect">
            <a:avLst/>
          </a:prstGeom>
          <a:solidFill>
            <a:srgbClr val="B7B7BA"/>
          </a:solidFill>
          <a:ln/>
        </p:spPr>
        <p:txBody>
          <a:bodyPr/>
          <a:lstStyle/>
          <a:p>
            <a:endParaRPr lang="en-US" b="1"/>
          </a:p>
        </p:txBody>
      </p:sp>
      <p:sp>
        <p:nvSpPr>
          <p:cNvPr id="33" name="Text 29"/>
          <p:cNvSpPr/>
          <p:nvPr/>
        </p:nvSpPr>
        <p:spPr>
          <a:xfrm>
            <a:off x="2941269" y="5621522"/>
            <a:ext cx="1171575" cy="337457"/>
          </a:xfrm>
          <a:prstGeom prst="rect">
            <a:avLst/>
          </a:prstGeom>
          <a:noFill/>
          <a:ln/>
        </p:spPr>
        <p:txBody>
          <a:bodyPr wrap="square" lIns="0" tIns="0" rIns="0" bIns="0" rtlCol="0" anchor="t">
            <a:normAutofit fontScale="92500" lnSpcReduction="10000"/>
          </a:bodyPr>
          <a:lstStyle/>
          <a:p>
            <a:pPr marL="0" indent="0" algn="l">
              <a:lnSpc>
                <a:spcPct val="128227"/>
              </a:lnSpc>
              <a:buNone/>
            </a:pPr>
            <a:r>
              <a:rPr lang="en-US" sz="2100" b="1" dirty="0">
                <a:solidFill>
                  <a:srgbClr val="1D1F20"/>
                </a:solidFill>
                <a:latin typeface="Barlow" pitchFamily="34" charset="0"/>
                <a:ea typeface="Barlow" pitchFamily="34" charset="-122"/>
                <a:cs typeface="Barlow" pitchFamily="34" charset="-120"/>
              </a:rPr>
              <a:t>Loan EMIs</a:t>
            </a:r>
            <a:endParaRPr lang="en-US" sz="2100" b="1" dirty="0"/>
          </a:p>
        </p:txBody>
      </p:sp>
      <p:sp>
        <p:nvSpPr>
          <p:cNvPr id="34" name="Shape 30"/>
          <p:cNvSpPr/>
          <p:nvPr/>
        </p:nvSpPr>
        <p:spPr>
          <a:xfrm>
            <a:off x="4455702" y="5686865"/>
            <a:ext cx="171436" cy="171436"/>
          </a:xfrm>
          <a:prstGeom prst="rect">
            <a:avLst/>
          </a:prstGeom>
          <a:solidFill>
            <a:srgbClr val="26306F"/>
          </a:solidFill>
          <a:ln/>
        </p:spPr>
        <p:txBody>
          <a:bodyPr/>
          <a:lstStyle/>
          <a:p>
            <a:endParaRPr lang="en-US"/>
          </a:p>
        </p:txBody>
      </p:sp>
      <p:sp>
        <p:nvSpPr>
          <p:cNvPr id="35" name="Text 31"/>
          <p:cNvSpPr/>
          <p:nvPr/>
        </p:nvSpPr>
        <p:spPr>
          <a:xfrm>
            <a:off x="4741381" y="5621522"/>
            <a:ext cx="2729929" cy="337457"/>
          </a:xfrm>
          <a:prstGeom prst="rect">
            <a:avLst/>
          </a:prstGeom>
          <a:noFill/>
          <a:ln/>
        </p:spPr>
        <p:txBody>
          <a:bodyPr wrap="square" lIns="0" tIns="0" rIns="0" bIns="0" rtlCol="0" anchor="t">
            <a:normAutofit fontScale="92500" lnSpcReduction="10000"/>
          </a:bodyPr>
          <a:lstStyle/>
          <a:p>
            <a:pPr marL="0" indent="0" algn="l">
              <a:lnSpc>
                <a:spcPct val="128227"/>
              </a:lnSpc>
              <a:buNone/>
            </a:pPr>
            <a:r>
              <a:rPr lang="en-US" sz="2100" b="1" dirty="0">
                <a:solidFill>
                  <a:srgbClr val="1D1F20"/>
                </a:solidFill>
                <a:latin typeface="Barlow" pitchFamily="34" charset="0"/>
                <a:ea typeface="Barlow" pitchFamily="34" charset="-122"/>
                <a:cs typeface="Barlow" pitchFamily="34" charset="-120"/>
              </a:rPr>
              <a:t>Savings and investments</a:t>
            </a:r>
            <a:endParaRPr lang="en-US" sz="2100" b="1" dirty="0"/>
          </a:p>
        </p:txBody>
      </p:sp>
      <p:sp>
        <p:nvSpPr>
          <p:cNvPr id="36" name="Shape 32"/>
          <p:cNvSpPr/>
          <p:nvPr/>
        </p:nvSpPr>
        <p:spPr>
          <a:xfrm>
            <a:off x="7810855" y="5686865"/>
            <a:ext cx="171436" cy="171436"/>
          </a:xfrm>
          <a:prstGeom prst="rect">
            <a:avLst/>
          </a:prstGeom>
          <a:solidFill>
            <a:srgbClr val="2F7D3A"/>
          </a:solidFill>
          <a:ln/>
        </p:spPr>
        <p:txBody>
          <a:bodyPr/>
          <a:lstStyle/>
          <a:p>
            <a:endParaRPr lang="en-US"/>
          </a:p>
        </p:txBody>
      </p:sp>
      <p:sp>
        <p:nvSpPr>
          <p:cNvPr id="37" name="Text 33"/>
          <p:cNvSpPr/>
          <p:nvPr/>
        </p:nvSpPr>
        <p:spPr>
          <a:xfrm>
            <a:off x="8096534" y="5621522"/>
            <a:ext cx="3069436" cy="337457"/>
          </a:xfrm>
          <a:prstGeom prst="rect">
            <a:avLst/>
          </a:prstGeom>
          <a:noFill/>
          <a:ln/>
        </p:spPr>
        <p:txBody>
          <a:bodyPr wrap="square" lIns="0" tIns="0" rIns="0" bIns="0" rtlCol="0" anchor="t">
            <a:normAutofit fontScale="92500" lnSpcReduction="10000"/>
          </a:bodyPr>
          <a:lstStyle/>
          <a:p>
            <a:pPr marL="0" indent="0" algn="l">
              <a:lnSpc>
                <a:spcPct val="128227"/>
              </a:lnSpc>
              <a:buNone/>
            </a:pPr>
            <a:r>
              <a:rPr lang="en-US" sz="2100" b="1" dirty="0">
                <a:solidFill>
                  <a:srgbClr val="1D1F20"/>
                </a:solidFill>
                <a:latin typeface="Barlow" pitchFamily="34" charset="0"/>
                <a:ea typeface="Barlow" pitchFamily="34" charset="-122"/>
                <a:cs typeface="Barlow" pitchFamily="34" charset="-120"/>
              </a:rPr>
              <a:t>Unallocated surplus ₹21,700</a:t>
            </a:r>
            <a:endParaRPr lang="en-US" sz="2100" b="1" dirty="0"/>
          </a:p>
        </p:txBody>
      </p:sp>
      <p:sp>
        <p:nvSpPr>
          <p:cNvPr id="38" name="Shape 34"/>
          <p:cNvSpPr/>
          <p:nvPr/>
        </p:nvSpPr>
        <p:spPr>
          <a:xfrm>
            <a:off x="914372" y="7169264"/>
            <a:ext cx="16459187" cy="9525"/>
          </a:xfrm>
          <a:prstGeom prst="rect">
            <a:avLst/>
          </a:prstGeom>
          <a:solidFill>
            <a:srgbClr val="1D1F20">
              <a:alpha val="18000"/>
            </a:srgbClr>
          </a:solidFill>
          <a:ln/>
        </p:spPr>
        <p:txBody>
          <a:bodyPr/>
          <a:lstStyle/>
          <a:p>
            <a:endParaRPr lang="en-US"/>
          </a:p>
        </p:txBody>
      </p:sp>
      <p:sp>
        <p:nvSpPr>
          <p:cNvPr id="39" name="Text 35"/>
          <p:cNvSpPr/>
          <p:nvPr/>
        </p:nvSpPr>
        <p:spPr>
          <a:xfrm>
            <a:off x="914372" y="7406934"/>
            <a:ext cx="1981129" cy="73039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ADVISOR COMMENT</a:t>
            </a:r>
            <a:endParaRPr lang="en-US" sz="2100" dirty="0"/>
          </a:p>
        </p:txBody>
      </p:sp>
      <p:sp>
        <p:nvSpPr>
          <p:cNvPr id="40" name="Text 36"/>
          <p:cNvSpPr/>
          <p:nvPr/>
        </p:nvSpPr>
        <p:spPr>
          <a:xfrm>
            <a:off x="3276487" y="7368835"/>
            <a:ext cx="13347687" cy="768492"/>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A 49% savings rate is the single strongest number in this plan — it is what makes retirement at 55 discussable at all. The unallocated ₹21,700 is deliberately left free; it absorbs a bad month before any goal has to be paused.</a:t>
            </a:r>
            <a:endParaRPr lang="en-US" sz="2100" dirty="0"/>
          </a:p>
        </p:txBody>
      </p:sp>
      <p:sp>
        <p:nvSpPr>
          <p:cNvPr id="41" name="Text 37"/>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42" name="Text 38"/>
          <p:cNvSpPr/>
          <p:nvPr/>
        </p:nvSpPr>
        <p:spPr>
          <a:xfrm>
            <a:off x="16703478" y="9475462"/>
            <a:ext cx="746281"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03 / 32</a:t>
            </a:r>
            <a:endParaRPr lang="en-US" sz="2100" dirty="0"/>
          </a:p>
        </p:txBody>
      </p:sp>
    </p:spTree>
    <p:extLst>
      <p:ext uri="{BB962C8B-B14F-4D97-AF65-F5344CB8AC3E}">
        <p14:creationId xmlns:p14="http://schemas.microsoft.com/office/powerpoint/2010/main" val="3488554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A45"/>
        </a:solidFill>
        <a:effectLst/>
      </p:bgPr>
    </p:bg>
    <p:spTree>
      <p:nvGrpSpPr>
        <p:cNvPr id="1" name=""/>
        <p:cNvGrpSpPr/>
        <p:nvPr/>
      </p:nvGrpSpPr>
      <p:grpSpPr>
        <a:xfrm>
          <a:off x="0" y="0"/>
          <a:ext cx="0" cy="0"/>
          <a:chOff x="0" y="0"/>
          <a:chExt cx="0" cy="0"/>
        </a:xfrm>
      </p:grpSpPr>
      <p:sp>
        <p:nvSpPr>
          <p:cNvPr id="2" name="Text 0"/>
          <p:cNvSpPr/>
          <p:nvPr/>
        </p:nvSpPr>
        <p:spPr>
          <a:xfrm>
            <a:off x="914372" y="762000"/>
            <a:ext cx="9088530"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429" dirty="0">
                <a:solidFill>
                  <a:srgbClr val="8B96D2"/>
                </a:solidFill>
                <a:latin typeface="Barlow"/>
                <a:ea typeface="Barlow" pitchFamily="34" charset="-122"/>
                <a:cs typeface="Barlow" pitchFamily="34" charset="-120"/>
              </a:rPr>
              <a:t>WHERE YOU STAND TODAY</a:t>
            </a:r>
            <a:endParaRPr lang="en-US" sz="2100" b="1" dirty="0">
              <a:latin typeface="Barlow"/>
            </a:endParaRPr>
          </a:p>
        </p:txBody>
      </p:sp>
      <p:sp>
        <p:nvSpPr>
          <p:cNvPr id="3" name="Text 1"/>
          <p:cNvSpPr/>
          <p:nvPr/>
        </p:nvSpPr>
        <p:spPr>
          <a:xfrm>
            <a:off x="914372" y="1374321"/>
            <a:ext cx="9575543" cy="1756994"/>
          </a:xfrm>
          <a:prstGeom prst="rect">
            <a:avLst/>
          </a:prstGeom>
          <a:noFill/>
          <a:ln/>
        </p:spPr>
        <p:txBody>
          <a:bodyPr wrap="square" lIns="25400" tIns="25400" rIns="25400" bIns="25400" rtlCol="0" anchor="t">
            <a:normAutofit/>
          </a:bodyPr>
          <a:lstStyle/>
          <a:p>
            <a:pPr marL="0" indent="0" algn="l">
              <a:lnSpc>
                <a:spcPct val="78307"/>
              </a:lnSpc>
              <a:buNone/>
            </a:pPr>
            <a:r>
              <a:rPr lang="en-US" sz="6000" b="1" kern="0" spc="-144" dirty="0">
                <a:solidFill>
                  <a:srgbClr val="F2F2F3"/>
                </a:solidFill>
                <a:latin typeface="Barlow Condensed" pitchFamily="34" charset="0"/>
                <a:ea typeface="Barlow Condensed" pitchFamily="34" charset="-122"/>
                <a:cs typeface="Barlow Condensed" pitchFamily="34" charset="-120"/>
              </a:rPr>
              <a:t>Current Assets &amp; Liabilities</a:t>
            </a:r>
            <a:endParaRPr lang="en-US" sz="6000" dirty="0"/>
          </a:p>
        </p:txBody>
      </p:sp>
      <p:sp>
        <p:nvSpPr>
          <p:cNvPr id="4" name="Text 2"/>
          <p:cNvSpPr/>
          <p:nvPr/>
        </p:nvSpPr>
        <p:spPr>
          <a:xfrm>
            <a:off x="914372" y="7787680"/>
            <a:ext cx="2061277"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TOTAL ASSETS</a:t>
            </a:r>
            <a:endParaRPr lang="en-US" sz="2100" dirty="0"/>
          </a:p>
        </p:txBody>
      </p:sp>
      <p:sp>
        <p:nvSpPr>
          <p:cNvPr id="5" name="Text 3"/>
          <p:cNvSpPr/>
          <p:nvPr/>
        </p:nvSpPr>
        <p:spPr>
          <a:xfrm>
            <a:off x="914372" y="8237283"/>
            <a:ext cx="2061277" cy="628664"/>
          </a:xfrm>
          <a:prstGeom prst="rect">
            <a:avLst/>
          </a:prstGeom>
          <a:noFill/>
          <a:ln/>
        </p:spPr>
        <p:txBody>
          <a:bodyPr wrap="square" lIns="25400" tIns="25400" rIns="25400" bIns="25400" rtlCol="0" anchor="t">
            <a:normAutofit lnSpcReduction="10000"/>
          </a:bodyPr>
          <a:lstStyle/>
          <a:p>
            <a:pPr marL="0" indent="0" algn="l">
              <a:lnSpc>
                <a:spcPct val="83462"/>
              </a:lnSpc>
              <a:buNone/>
            </a:pPr>
            <a:r>
              <a:rPr lang="en-US" sz="4650" dirty="0">
                <a:solidFill>
                  <a:srgbClr val="F2F2F3"/>
                </a:solidFill>
                <a:latin typeface="Barlow Condensed" pitchFamily="34" charset="0"/>
                <a:ea typeface="Barlow Condensed" pitchFamily="34" charset="-122"/>
                <a:cs typeface="Barlow Condensed" pitchFamily="34" charset="-120"/>
              </a:rPr>
              <a:t>₹3.64 Cr</a:t>
            </a:r>
            <a:endParaRPr lang="en-US" sz="4650" dirty="0"/>
          </a:p>
        </p:txBody>
      </p:sp>
      <p:sp>
        <p:nvSpPr>
          <p:cNvPr id="6" name="Text 4"/>
          <p:cNvSpPr/>
          <p:nvPr/>
        </p:nvSpPr>
        <p:spPr>
          <a:xfrm>
            <a:off x="3321631" y="7787680"/>
            <a:ext cx="1685833"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LIABILITIES</a:t>
            </a:r>
            <a:endParaRPr lang="en-US" sz="2100" dirty="0"/>
          </a:p>
        </p:txBody>
      </p:sp>
      <p:sp>
        <p:nvSpPr>
          <p:cNvPr id="7" name="Text 5"/>
          <p:cNvSpPr/>
          <p:nvPr/>
        </p:nvSpPr>
        <p:spPr>
          <a:xfrm>
            <a:off x="3321631" y="8237283"/>
            <a:ext cx="1685833" cy="628664"/>
          </a:xfrm>
          <a:prstGeom prst="rect">
            <a:avLst/>
          </a:prstGeom>
          <a:noFill/>
          <a:ln/>
        </p:spPr>
        <p:txBody>
          <a:bodyPr wrap="square" lIns="25400" tIns="25400" rIns="25400" bIns="25400" rtlCol="0" anchor="t">
            <a:normAutofit lnSpcReduction="10000"/>
          </a:bodyPr>
          <a:lstStyle/>
          <a:p>
            <a:pPr marL="0" indent="0" algn="l">
              <a:lnSpc>
                <a:spcPct val="83462"/>
              </a:lnSpc>
              <a:buNone/>
            </a:pPr>
            <a:r>
              <a:rPr lang="en-US" sz="4650" dirty="0">
                <a:solidFill>
                  <a:srgbClr val="F2F2F3"/>
                </a:solidFill>
                <a:latin typeface="Barlow Condensed" pitchFamily="34" charset="0"/>
                <a:ea typeface="Barlow Condensed" pitchFamily="34" charset="-122"/>
                <a:cs typeface="Barlow Condensed" pitchFamily="34" charset="-120"/>
              </a:rPr>
              <a:t>₹44.2 L</a:t>
            </a:r>
            <a:endParaRPr lang="en-US" sz="4650" dirty="0"/>
          </a:p>
        </p:txBody>
      </p:sp>
      <p:sp>
        <p:nvSpPr>
          <p:cNvPr id="8" name="Text 6"/>
          <p:cNvSpPr/>
          <p:nvPr/>
        </p:nvSpPr>
        <p:spPr>
          <a:xfrm>
            <a:off x="5387579" y="7787680"/>
            <a:ext cx="1908714"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NET WORTH</a:t>
            </a:r>
            <a:endParaRPr lang="en-US" sz="2100" dirty="0"/>
          </a:p>
        </p:txBody>
      </p:sp>
      <p:sp>
        <p:nvSpPr>
          <p:cNvPr id="9" name="Text 7"/>
          <p:cNvSpPr/>
          <p:nvPr/>
        </p:nvSpPr>
        <p:spPr>
          <a:xfrm>
            <a:off x="5387579" y="8237283"/>
            <a:ext cx="1908714" cy="628664"/>
          </a:xfrm>
          <a:prstGeom prst="rect">
            <a:avLst/>
          </a:prstGeom>
          <a:noFill/>
          <a:ln/>
        </p:spPr>
        <p:txBody>
          <a:bodyPr wrap="square" lIns="25400" tIns="25400" rIns="25400" bIns="25400" rtlCol="0" anchor="t">
            <a:normAutofit lnSpcReduction="10000"/>
          </a:bodyPr>
          <a:lstStyle/>
          <a:p>
            <a:pPr marL="0" indent="0" algn="l">
              <a:lnSpc>
                <a:spcPct val="83462"/>
              </a:lnSpc>
              <a:buNone/>
            </a:pPr>
            <a:r>
              <a:rPr lang="en-US" sz="4650" dirty="0">
                <a:solidFill>
                  <a:srgbClr val="94BCE3"/>
                </a:solidFill>
                <a:latin typeface="Barlow Condensed" pitchFamily="34" charset="0"/>
                <a:ea typeface="Barlow Condensed" pitchFamily="34" charset="-122"/>
                <a:cs typeface="Barlow Condensed" pitchFamily="34" charset="-120"/>
              </a:rPr>
              <a:t>₹3.20 Cr</a:t>
            </a:r>
            <a:endParaRPr lang="en-US" sz="4650" dirty="0"/>
          </a:p>
        </p:txBody>
      </p:sp>
      <p:sp>
        <p:nvSpPr>
          <p:cNvPr id="10" name="Text 8"/>
          <p:cNvSpPr/>
          <p:nvPr/>
        </p:nvSpPr>
        <p:spPr>
          <a:xfrm>
            <a:off x="914372" y="9323090"/>
            <a:ext cx="908853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360" dirty="0">
                <a:solidFill>
                  <a:srgbClr val="F2F2F3">
                    <a:alpha val="90000"/>
                  </a:srgbClr>
                </a:solidFill>
                <a:latin typeface="Barlow" pitchFamily="34" charset="0"/>
                <a:ea typeface="Barlow" pitchFamily="34" charset="-122"/>
                <a:cs typeface="Barlow" pitchFamily="34" charset="-120"/>
              </a:rPr>
              <a:t>04 / 32</a:t>
            </a:r>
            <a:endParaRPr lang="en-US" sz="2100" dirty="0"/>
          </a:p>
        </p:txBody>
      </p:sp>
      <p:pic>
        <p:nvPicPr>
          <p:cNvPr id="11" name="Image 0" descr="preencoded.png"/>
          <p:cNvPicPr>
            <a:picLocks noChangeAspect="1"/>
          </p:cNvPicPr>
          <p:nvPr/>
        </p:nvPicPr>
        <p:blipFill>
          <a:blip r:embed="rId3">
            <a:alphaModFix amt="50000"/>
          </a:blip>
          <a:srcRect l="26964" r="26964"/>
          <a:stretch/>
        </p:blipFill>
        <p:spPr>
          <a:xfrm>
            <a:off x="9862415" y="0"/>
            <a:ext cx="8425515" cy="10287001"/>
          </a:xfrm>
          <a:prstGeom prst="rect">
            <a:avLst/>
          </a:prstGeom>
        </p:spPr>
      </p:pic>
      <p:sp>
        <p:nvSpPr>
          <p:cNvPr id="12" name="Shape 9"/>
          <p:cNvSpPr/>
          <p:nvPr/>
        </p:nvSpPr>
        <p:spPr>
          <a:xfrm>
            <a:off x="9862485" y="0"/>
            <a:ext cx="8425515" cy="10287001"/>
          </a:xfrm>
          <a:prstGeom prst="rect">
            <a:avLst/>
          </a:prstGeom>
          <a:gradFill rotWithShape="1">
            <a:gsLst>
              <a:gs pos="0">
                <a:srgbClr val="141A45">
                  <a:alpha val="100000"/>
                </a:srgbClr>
              </a:gs>
              <a:gs pos="55000">
                <a:srgbClr val="141A45">
                  <a:alpha val="72000"/>
                </a:srgbClr>
              </a:gs>
              <a:gs pos="100000">
                <a:srgbClr val="141A45">
                  <a:alpha val="86000"/>
                </a:srgbClr>
              </a:gs>
            </a:gsLst>
            <a:lin ang="0" scaled="0"/>
          </a:gradFill>
          <a:ln/>
        </p:spPr>
        <p:txBody>
          <a:bodyPr/>
          <a:lstStyle/>
          <a:p>
            <a:endParaRPr lang="en-US"/>
          </a:p>
        </p:txBody>
      </p:sp>
      <p:sp>
        <p:nvSpPr>
          <p:cNvPr id="13" name="Text 10"/>
          <p:cNvSpPr/>
          <p:nvPr/>
        </p:nvSpPr>
        <p:spPr>
          <a:xfrm>
            <a:off x="9862415" y="6977630"/>
            <a:ext cx="7736478" cy="2116875"/>
          </a:xfrm>
          <a:prstGeom prst="rect">
            <a:avLst/>
          </a:prstGeom>
          <a:noFill/>
          <a:ln/>
        </p:spPr>
        <p:txBody>
          <a:bodyPr wrap="square" lIns="25400" tIns="25400" rIns="25400" bIns="25400" rtlCol="0" anchor="t">
            <a:normAutofit lnSpcReduction="10000"/>
          </a:bodyPr>
          <a:lstStyle/>
          <a:p>
            <a:pPr marL="0" indent="0" algn="l">
              <a:lnSpc>
                <a:spcPct val="104160"/>
              </a:lnSpc>
              <a:buNone/>
            </a:pPr>
            <a:r>
              <a:rPr lang="en-US" sz="3300" dirty="0">
                <a:solidFill>
                  <a:srgbClr val="F2F2F3"/>
                </a:solidFill>
                <a:latin typeface="Barlow Condensed" pitchFamily="34" charset="0"/>
                <a:ea typeface="Barlow Condensed" pitchFamily="34" charset="-122"/>
                <a:cs typeface="Barlow Condensed" pitchFamily="34" charset="-120"/>
              </a:rPr>
              <a:t>“Your asset allocation is more than just a combination of stocks and bonds. It’s the single most important factor determining your long-term investment success.”</a:t>
            </a:r>
            <a:endParaRPr lang="en-US" sz="3300" dirty="0"/>
          </a:p>
        </p:txBody>
      </p:sp>
      <p:sp>
        <p:nvSpPr>
          <p:cNvPr id="14" name="Text 11"/>
          <p:cNvSpPr/>
          <p:nvPr/>
        </p:nvSpPr>
        <p:spPr>
          <a:xfrm>
            <a:off x="9862415" y="9323090"/>
            <a:ext cx="826225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360" dirty="0">
                <a:solidFill>
                  <a:srgbClr val="8B96D2"/>
                </a:solidFill>
                <a:latin typeface="Barlow" pitchFamily="34" charset="0"/>
                <a:ea typeface="Barlow" pitchFamily="34" charset="-122"/>
                <a:cs typeface="Barlow" pitchFamily="34" charset="-120"/>
              </a:rPr>
              <a:t>— WILLIAM BERNSTEIN</a:t>
            </a:r>
            <a:endParaRPr lang="en-US" sz="2100" dirty="0"/>
          </a:p>
        </p:txBody>
      </p:sp>
    </p:spTree>
    <p:extLst>
      <p:ext uri="{BB962C8B-B14F-4D97-AF65-F5344CB8AC3E}">
        <p14:creationId xmlns:p14="http://schemas.microsoft.com/office/powerpoint/2010/main" val="699326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alphaModFix amt="20000"/>
            <a:duotone>
              <a:schemeClr val="accent3">
                <a:shade val="45000"/>
                <a:satMod val="135000"/>
              </a:schemeClr>
              <a:prstClr val="white"/>
            </a:duotone>
            <a:lum/>
            <a:extLst>
              <a:ext uri="{BEBA8EAE-BF5A-486C-A8C5-ECC9F3942E4B}">
                <a14:imgProps xmlns:a14="http://schemas.microsoft.com/office/drawing/2010/main">
                  <a14:imgLayer r:embed="rId4">
                    <a14:imgEffect>
                      <a14:saturation sat="129000"/>
                    </a14:imgEffect>
                  </a14:imgLayer>
                </a14:imgProps>
              </a:ext>
            </a:extLst>
          </a:blip>
          <a:srcRect/>
          <a:stretch>
            <a:fillRect l="-5000" r="-5000"/>
          </a:stretch>
        </a:blipFill>
        <a:effectLst/>
      </p:bgPr>
    </p:bg>
    <p:spTree>
      <p:nvGrpSpPr>
        <p:cNvPr id="1" name=""/>
        <p:cNvGrpSpPr/>
        <p:nvPr/>
      </p:nvGrpSpPr>
      <p:grpSpPr>
        <a:xfrm>
          <a:off x="0" y="0"/>
          <a:ext cx="0" cy="0"/>
          <a:chOff x="0" y="0"/>
          <a:chExt cx="0" cy="0"/>
        </a:xfrm>
      </p:grpSpPr>
      <p:sp>
        <p:nvSpPr>
          <p:cNvPr id="2" name="Text 0"/>
          <p:cNvSpPr/>
          <p:nvPr/>
        </p:nvSpPr>
        <p:spPr>
          <a:xfrm>
            <a:off x="914372" y="571429"/>
            <a:ext cx="4123177"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ALLOCATION SNAPSHOT</a:t>
            </a:r>
            <a:endParaRPr lang="en-US" sz="2100" b="1" dirty="0">
              <a:solidFill>
                <a:srgbClr val="2A3480"/>
              </a:solidFill>
              <a:latin typeface="Barlow"/>
            </a:endParaRPr>
          </a:p>
        </p:txBody>
      </p:sp>
      <p:sp>
        <p:nvSpPr>
          <p:cNvPr id="3" name="Text 1"/>
          <p:cNvSpPr/>
          <p:nvPr/>
        </p:nvSpPr>
        <p:spPr>
          <a:xfrm>
            <a:off x="896442" y="1124361"/>
            <a:ext cx="4123177"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Current Assets</a:t>
            </a:r>
            <a:endParaRPr lang="en-US" sz="6000" dirty="0"/>
          </a:p>
        </p:txBody>
      </p:sp>
      <p:pic>
        <p:nvPicPr>
          <p:cNvPr id="4" name="Image 0" descr="preencoded.png"/>
          <p:cNvPicPr>
            <a:picLocks noChangeAspect="1"/>
          </p:cNvPicPr>
          <p:nvPr/>
        </p:nvPicPr>
        <p:blipFill>
          <a:blip r:embed="rId5"/>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pic>
        <p:nvPicPr>
          <p:cNvPr id="6" name="Image 1"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4372" y="3004486"/>
            <a:ext cx="5715001" cy="5715001"/>
          </a:xfrm>
          <a:prstGeom prst="rect">
            <a:avLst/>
          </a:prstGeom>
        </p:spPr>
      </p:pic>
      <p:sp>
        <p:nvSpPr>
          <p:cNvPr id="7" name="Shape 3"/>
          <p:cNvSpPr/>
          <p:nvPr/>
        </p:nvSpPr>
        <p:spPr>
          <a:xfrm>
            <a:off x="7315116" y="3485201"/>
            <a:ext cx="4762500" cy="9525"/>
          </a:xfrm>
          <a:prstGeom prst="rect">
            <a:avLst/>
          </a:prstGeom>
          <a:solidFill>
            <a:srgbClr val="1D1F20">
              <a:alpha val="12000"/>
            </a:srgbClr>
          </a:solidFill>
          <a:ln/>
        </p:spPr>
        <p:txBody>
          <a:bodyPr/>
          <a:lstStyle/>
          <a:p>
            <a:endParaRPr lang="en-US"/>
          </a:p>
        </p:txBody>
      </p:sp>
      <p:sp>
        <p:nvSpPr>
          <p:cNvPr id="8" name="Shape 4"/>
          <p:cNvSpPr/>
          <p:nvPr/>
        </p:nvSpPr>
        <p:spPr>
          <a:xfrm>
            <a:off x="7315116" y="3083506"/>
            <a:ext cx="171436" cy="171436"/>
          </a:xfrm>
          <a:prstGeom prst="rect">
            <a:avLst/>
          </a:prstGeom>
          <a:solidFill>
            <a:srgbClr val="141A45"/>
          </a:solidFill>
          <a:ln/>
        </p:spPr>
        <p:txBody>
          <a:bodyPr/>
          <a:lstStyle/>
          <a:p>
            <a:endParaRPr lang="en-US"/>
          </a:p>
        </p:txBody>
      </p:sp>
      <p:sp>
        <p:nvSpPr>
          <p:cNvPr id="9" name="Text 5"/>
          <p:cNvSpPr/>
          <p:nvPr/>
        </p:nvSpPr>
        <p:spPr>
          <a:xfrm>
            <a:off x="7657987" y="2941978"/>
            <a:ext cx="2747771"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Real Estate</a:t>
            </a:r>
            <a:endParaRPr lang="en-US" sz="2100" dirty="0"/>
          </a:p>
        </p:txBody>
      </p:sp>
      <p:sp>
        <p:nvSpPr>
          <p:cNvPr id="10" name="Text 6"/>
          <p:cNvSpPr/>
          <p:nvPr/>
        </p:nvSpPr>
        <p:spPr>
          <a:xfrm>
            <a:off x="10327396" y="2878478"/>
            <a:ext cx="607304" cy="540076"/>
          </a:xfrm>
          <a:prstGeom prst="rect">
            <a:avLst/>
          </a:prstGeom>
          <a:noFill/>
          <a:ln/>
        </p:spPr>
        <p:txBody>
          <a:bodyPr wrap="square" lIns="25400" tIns="25400" rIns="25400" bIns="25400" rtlCol="0" anchor="t">
            <a:normAutofit/>
          </a:bodyPr>
          <a:lstStyle/>
          <a:p>
            <a:pPr marL="0" indent="0" algn="l">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40%</a:t>
            </a:r>
            <a:endParaRPr lang="en-US" sz="2550" dirty="0"/>
          </a:p>
        </p:txBody>
      </p:sp>
      <p:sp>
        <p:nvSpPr>
          <p:cNvPr id="11" name="Text 7"/>
          <p:cNvSpPr/>
          <p:nvPr/>
        </p:nvSpPr>
        <p:spPr>
          <a:xfrm>
            <a:off x="10953736" y="2978264"/>
            <a:ext cx="1123879" cy="407194"/>
          </a:xfrm>
          <a:prstGeom prst="rect">
            <a:avLst/>
          </a:prstGeom>
          <a:noFill/>
          <a:ln/>
        </p:spPr>
        <p:txBody>
          <a:bodyPr wrap="squar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₹1.47 Cr</a:t>
            </a:r>
            <a:endParaRPr lang="en-US" sz="2100" b="1" dirty="0">
              <a:solidFill>
                <a:srgbClr val="0070C0"/>
              </a:solidFill>
            </a:endParaRPr>
          </a:p>
        </p:txBody>
      </p:sp>
      <p:sp>
        <p:nvSpPr>
          <p:cNvPr id="12" name="Shape 8"/>
          <p:cNvSpPr/>
          <p:nvPr/>
        </p:nvSpPr>
        <p:spPr>
          <a:xfrm>
            <a:off x="12610987" y="3485201"/>
            <a:ext cx="4762571" cy="9525"/>
          </a:xfrm>
          <a:prstGeom prst="rect">
            <a:avLst/>
          </a:prstGeom>
          <a:solidFill>
            <a:srgbClr val="1D1F20">
              <a:alpha val="12000"/>
            </a:srgbClr>
          </a:solidFill>
          <a:ln/>
        </p:spPr>
        <p:txBody>
          <a:bodyPr/>
          <a:lstStyle/>
          <a:p>
            <a:endParaRPr lang="en-US"/>
          </a:p>
        </p:txBody>
      </p:sp>
      <p:sp>
        <p:nvSpPr>
          <p:cNvPr id="13" name="Shape 9"/>
          <p:cNvSpPr/>
          <p:nvPr/>
        </p:nvSpPr>
        <p:spPr>
          <a:xfrm>
            <a:off x="12610987" y="3083506"/>
            <a:ext cx="171436" cy="171436"/>
          </a:xfrm>
          <a:prstGeom prst="rect">
            <a:avLst/>
          </a:prstGeom>
          <a:solidFill>
            <a:srgbClr val="4A9C55"/>
          </a:solidFill>
          <a:ln/>
        </p:spPr>
        <p:txBody>
          <a:bodyPr/>
          <a:lstStyle/>
          <a:p>
            <a:endParaRPr lang="en-US"/>
          </a:p>
        </p:txBody>
      </p:sp>
      <p:sp>
        <p:nvSpPr>
          <p:cNvPr id="14" name="Text 10"/>
          <p:cNvSpPr/>
          <p:nvPr/>
        </p:nvSpPr>
        <p:spPr>
          <a:xfrm>
            <a:off x="12953859" y="2941978"/>
            <a:ext cx="2907818"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PPF</a:t>
            </a:r>
            <a:endParaRPr lang="en-US" sz="2100" dirty="0"/>
          </a:p>
        </p:txBody>
      </p:sp>
      <p:sp>
        <p:nvSpPr>
          <p:cNvPr id="15" name="Text 11"/>
          <p:cNvSpPr/>
          <p:nvPr/>
        </p:nvSpPr>
        <p:spPr>
          <a:xfrm>
            <a:off x="15768767" y="2878478"/>
            <a:ext cx="461877" cy="540076"/>
          </a:xfrm>
          <a:prstGeom prst="rect">
            <a:avLst/>
          </a:prstGeom>
          <a:noFill/>
          <a:ln/>
        </p:spPr>
        <p:txBody>
          <a:bodyPr wrap="square" lIns="25400" tIns="25400" rIns="25400" bIns="25400" rtlCol="0" anchor="t">
            <a:normAutofit/>
          </a:bodyPr>
          <a:lstStyle/>
          <a:p>
            <a:pPr marL="0" indent="0" algn="l">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6%</a:t>
            </a:r>
            <a:endParaRPr lang="en-US" sz="2550" dirty="0"/>
          </a:p>
        </p:txBody>
      </p:sp>
      <p:sp>
        <p:nvSpPr>
          <p:cNvPr id="16" name="Text 12"/>
          <p:cNvSpPr/>
          <p:nvPr/>
        </p:nvSpPr>
        <p:spPr>
          <a:xfrm>
            <a:off x="16249679" y="2978264"/>
            <a:ext cx="1123879" cy="407194"/>
          </a:xfrm>
          <a:prstGeom prst="rect">
            <a:avLst/>
          </a:prstGeom>
          <a:noFill/>
          <a:ln/>
        </p:spPr>
        <p:txBody>
          <a:bodyPr wrap="squar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₹21.0 L</a:t>
            </a:r>
            <a:endParaRPr lang="en-US" sz="2100" b="1" dirty="0">
              <a:solidFill>
                <a:srgbClr val="0070C0"/>
              </a:solidFill>
            </a:endParaRPr>
          </a:p>
        </p:txBody>
      </p:sp>
      <p:sp>
        <p:nvSpPr>
          <p:cNvPr id="17" name="Shape 13"/>
          <p:cNvSpPr/>
          <p:nvPr/>
        </p:nvSpPr>
        <p:spPr>
          <a:xfrm>
            <a:off x="7315116" y="4205741"/>
            <a:ext cx="4762500" cy="9525"/>
          </a:xfrm>
          <a:prstGeom prst="rect">
            <a:avLst/>
          </a:prstGeom>
          <a:solidFill>
            <a:srgbClr val="1D1F20">
              <a:alpha val="12000"/>
            </a:srgbClr>
          </a:solidFill>
          <a:ln/>
        </p:spPr>
        <p:txBody>
          <a:bodyPr/>
          <a:lstStyle/>
          <a:p>
            <a:endParaRPr lang="en-US"/>
          </a:p>
        </p:txBody>
      </p:sp>
      <p:sp>
        <p:nvSpPr>
          <p:cNvPr id="18" name="Shape 14"/>
          <p:cNvSpPr/>
          <p:nvPr/>
        </p:nvSpPr>
        <p:spPr>
          <a:xfrm>
            <a:off x="7315116" y="3804047"/>
            <a:ext cx="171436" cy="171436"/>
          </a:xfrm>
          <a:prstGeom prst="rect">
            <a:avLst/>
          </a:prstGeom>
          <a:solidFill>
            <a:srgbClr val="26306F"/>
          </a:solidFill>
          <a:ln/>
        </p:spPr>
        <p:txBody>
          <a:bodyPr/>
          <a:lstStyle/>
          <a:p>
            <a:endParaRPr lang="en-US"/>
          </a:p>
        </p:txBody>
      </p:sp>
      <p:sp>
        <p:nvSpPr>
          <p:cNvPr id="19" name="Text 15"/>
          <p:cNvSpPr/>
          <p:nvPr/>
        </p:nvSpPr>
        <p:spPr>
          <a:xfrm>
            <a:off x="7657987" y="3662519"/>
            <a:ext cx="2819025"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Mutual Funds</a:t>
            </a:r>
            <a:endParaRPr lang="en-US" sz="2100" dirty="0"/>
          </a:p>
        </p:txBody>
      </p:sp>
      <p:sp>
        <p:nvSpPr>
          <p:cNvPr id="20" name="Text 16"/>
          <p:cNvSpPr/>
          <p:nvPr/>
        </p:nvSpPr>
        <p:spPr>
          <a:xfrm>
            <a:off x="10392173" y="3599019"/>
            <a:ext cx="542528" cy="540076"/>
          </a:xfrm>
          <a:prstGeom prst="rect">
            <a:avLst/>
          </a:prstGeom>
          <a:noFill/>
          <a:ln/>
        </p:spPr>
        <p:txBody>
          <a:bodyPr wrap="square" lIns="25400" tIns="25400" rIns="25400" bIns="25400" rtlCol="0" anchor="t">
            <a:normAutofit/>
          </a:bodyPr>
          <a:lstStyle/>
          <a:p>
            <a:pPr marL="0" indent="0" algn="l">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19%</a:t>
            </a:r>
            <a:endParaRPr lang="en-US" sz="2550" dirty="0"/>
          </a:p>
        </p:txBody>
      </p:sp>
      <p:sp>
        <p:nvSpPr>
          <p:cNvPr id="21" name="Text 17"/>
          <p:cNvSpPr/>
          <p:nvPr/>
        </p:nvSpPr>
        <p:spPr>
          <a:xfrm>
            <a:off x="10953736" y="3698804"/>
            <a:ext cx="1123879" cy="407194"/>
          </a:xfrm>
          <a:prstGeom prst="rect">
            <a:avLst/>
          </a:prstGeom>
          <a:noFill/>
          <a:ln/>
        </p:spPr>
        <p:txBody>
          <a:bodyPr wrap="squar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₹70.0 L</a:t>
            </a:r>
            <a:endParaRPr lang="en-US" sz="2100" b="1" dirty="0">
              <a:solidFill>
                <a:srgbClr val="0070C0"/>
              </a:solidFill>
            </a:endParaRPr>
          </a:p>
        </p:txBody>
      </p:sp>
      <p:sp>
        <p:nvSpPr>
          <p:cNvPr id="22" name="Shape 18"/>
          <p:cNvSpPr/>
          <p:nvPr/>
        </p:nvSpPr>
        <p:spPr>
          <a:xfrm>
            <a:off x="12610987" y="4205741"/>
            <a:ext cx="4762571" cy="9525"/>
          </a:xfrm>
          <a:prstGeom prst="rect">
            <a:avLst/>
          </a:prstGeom>
          <a:solidFill>
            <a:srgbClr val="1D1F20">
              <a:alpha val="12000"/>
            </a:srgbClr>
          </a:solidFill>
          <a:ln/>
        </p:spPr>
        <p:txBody>
          <a:bodyPr/>
          <a:lstStyle/>
          <a:p>
            <a:endParaRPr lang="en-US"/>
          </a:p>
        </p:txBody>
      </p:sp>
      <p:sp>
        <p:nvSpPr>
          <p:cNvPr id="23" name="Shape 19"/>
          <p:cNvSpPr/>
          <p:nvPr/>
        </p:nvSpPr>
        <p:spPr>
          <a:xfrm>
            <a:off x="12610987" y="3804047"/>
            <a:ext cx="171436" cy="171436"/>
          </a:xfrm>
          <a:prstGeom prst="rect">
            <a:avLst/>
          </a:prstGeom>
          <a:solidFill>
            <a:srgbClr val="7BBD85"/>
          </a:solidFill>
          <a:ln/>
        </p:spPr>
        <p:txBody>
          <a:bodyPr/>
          <a:lstStyle/>
          <a:p>
            <a:endParaRPr lang="en-US"/>
          </a:p>
        </p:txBody>
      </p:sp>
      <p:sp>
        <p:nvSpPr>
          <p:cNvPr id="24" name="Text 20"/>
          <p:cNvSpPr/>
          <p:nvPr/>
        </p:nvSpPr>
        <p:spPr>
          <a:xfrm>
            <a:off x="12953859" y="3662519"/>
            <a:ext cx="2908130"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NPS</a:t>
            </a:r>
            <a:endParaRPr lang="en-US" sz="2100" dirty="0"/>
          </a:p>
        </p:txBody>
      </p:sp>
      <p:sp>
        <p:nvSpPr>
          <p:cNvPr id="25" name="Text 21"/>
          <p:cNvSpPr/>
          <p:nvPr/>
        </p:nvSpPr>
        <p:spPr>
          <a:xfrm>
            <a:off x="15769049" y="3599019"/>
            <a:ext cx="461594" cy="540076"/>
          </a:xfrm>
          <a:prstGeom prst="rect">
            <a:avLst/>
          </a:prstGeom>
          <a:noFill/>
          <a:ln/>
        </p:spPr>
        <p:txBody>
          <a:bodyPr wrap="square" lIns="25400" tIns="25400" rIns="25400" bIns="25400" rtlCol="0" anchor="t">
            <a:normAutofit/>
          </a:bodyPr>
          <a:lstStyle/>
          <a:p>
            <a:pPr marL="0" indent="0" algn="l">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5%</a:t>
            </a:r>
            <a:endParaRPr lang="en-US" sz="2550" dirty="0"/>
          </a:p>
        </p:txBody>
      </p:sp>
      <p:sp>
        <p:nvSpPr>
          <p:cNvPr id="26" name="Text 22"/>
          <p:cNvSpPr/>
          <p:nvPr/>
        </p:nvSpPr>
        <p:spPr>
          <a:xfrm>
            <a:off x="16249679" y="3698804"/>
            <a:ext cx="1123879" cy="407194"/>
          </a:xfrm>
          <a:prstGeom prst="rect">
            <a:avLst/>
          </a:prstGeom>
          <a:noFill/>
          <a:ln/>
        </p:spPr>
        <p:txBody>
          <a:bodyPr wrap="squar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₹17.5 L</a:t>
            </a:r>
            <a:endParaRPr lang="en-US" sz="2100" b="1" dirty="0">
              <a:solidFill>
                <a:srgbClr val="0070C0"/>
              </a:solidFill>
            </a:endParaRPr>
          </a:p>
        </p:txBody>
      </p:sp>
      <p:sp>
        <p:nvSpPr>
          <p:cNvPr id="27" name="Shape 23"/>
          <p:cNvSpPr/>
          <p:nvPr/>
        </p:nvSpPr>
        <p:spPr>
          <a:xfrm>
            <a:off x="7315116" y="4926282"/>
            <a:ext cx="4762500" cy="9525"/>
          </a:xfrm>
          <a:prstGeom prst="rect">
            <a:avLst/>
          </a:prstGeom>
          <a:solidFill>
            <a:srgbClr val="1D1F20">
              <a:alpha val="12000"/>
            </a:srgbClr>
          </a:solidFill>
          <a:ln/>
        </p:spPr>
        <p:txBody>
          <a:bodyPr/>
          <a:lstStyle/>
          <a:p>
            <a:endParaRPr lang="en-US"/>
          </a:p>
        </p:txBody>
      </p:sp>
      <p:sp>
        <p:nvSpPr>
          <p:cNvPr id="28" name="Shape 24"/>
          <p:cNvSpPr/>
          <p:nvPr/>
        </p:nvSpPr>
        <p:spPr>
          <a:xfrm>
            <a:off x="7315116" y="4524588"/>
            <a:ext cx="171436" cy="171436"/>
          </a:xfrm>
          <a:prstGeom prst="rect">
            <a:avLst/>
          </a:prstGeom>
          <a:solidFill>
            <a:srgbClr val="2F7D3A"/>
          </a:solidFill>
          <a:ln/>
        </p:spPr>
        <p:txBody>
          <a:bodyPr/>
          <a:lstStyle/>
          <a:p>
            <a:endParaRPr lang="en-US"/>
          </a:p>
        </p:txBody>
      </p:sp>
      <p:sp>
        <p:nvSpPr>
          <p:cNvPr id="29" name="Text 25"/>
          <p:cNvSpPr/>
          <p:nvPr/>
        </p:nvSpPr>
        <p:spPr>
          <a:xfrm>
            <a:off x="7657987" y="4383059"/>
            <a:ext cx="2819025"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EPF</a:t>
            </a:r>
            <a:endParaRPr lang="en-US" sz="2100" dirty="0"/>
          </a:p>
        </p:txBody>
      </p:sp>
      <p:sp>
        <p:nvSpPr>
          <p:cNvPr id="30" name="Text 26"/>
          <p:cNvSpPr/>
          <p:nvPr/>
        </p:nvSpPr>
        <p:spPr>
          <a:xfrm>
            <a:off x="10392173" y="4319559"/>
            <a:ext cx="542528" cy="540076"/>
          </a:xfrm>
          <a:prstGeom prst="rect">
            <a:avLst/>
          </a:prstGeom>
          <a:noFill/>
          <a:ln/>
        </p:spPr>
        <p:txBody>
          <a:bodyPr wrap="square" lIns="25400" tIns="25400" rIns="25400" bIns="25400" rtlCol="0" anchor="t">
            <a:normAutofit/>
          </a:bodyPr>
          <a:lstStyle/>
          <a:p>
            <a:pPr marL="0" indent="0" algn="l">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12%</a:t>
            </a:r>
            <a:endParaRPr lang="en-US" sz="2550" dirty="0"/>
          </a:p>
        </p:txBody>
      </p:sp>
      <p:sp>
        <p:nvSpPr>
          <p:cNvPr id="31" name="Text 27"/>
          <p:cNvSpPr/>
          <p:nvPr/>
        </p:nvSpPr>
        <p:spPr>
          <a:xfrm>
            <a:off x="10953736" y="4419345"/>
            <a:ext cx="1123879" cy="407194"/>
          </a:xfrm>
          <a:prstGeom prst="rect">
            <a:avLst/>
          </a:prstGeom>
          <a:noFill/>
          <a:ln/>
        </p:spPr>
        <p:txBody>
          <a:bodyPr wrap="squar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₹42.0 L</a:t>
            </a:r>
            <a:endParaRPr lang="en-US" sz="2100" b="1" dirty="0">
              <a:solidFill>
                <a:srgbClr val="0070C0"/>
              </a:solidFill>
            </a:endParaRPr>
          </a:p>
        </p:txBody>
      </p:sp>
      <p:sp>
        <p:nvSpPr>
          <p:cNvPr id="32" name="Shape 28"/>
          <p:cNvSpPr/>
          <p:nvPr/>
        </p:nvSpPr>
        <p:spPr>
          <a:xfrm>
            <a:off x="12610987" y="4926282"/>
            <a:ext cx="4762571" cy="9525"/>
          </a:xfrm>
          <a:prstGeom prst="rect">
            <a:avLst/>
          </a:prstGeom>
          <a:solidFill>
            <a:srgbClr val="1D1F20">
              <a:alpha val="12000"/>
            </a:srgbClr>
          </a:solidFill>
          <a:ln/>
        </p:spPr>
        <p:txBody>
          <a:bodyPr/>
          <a:lstStyle/>
          <a:p>
            <a:endParaRPr lang="en-US"/>
          </a:p>
        </p:txBody>
      </p:sp>
      <p:sp>
        <p:nvSpPr>
          <p:cNvPr id="33" name="Shape 29"/>
          <p:cNvSpPr/>
          <p:nvPr/>
        </p:nvSpPr>
        <p:spPr>
          <a:xfrm>
            <a:off x="12610987" y="4524588"/>
            <a:ext cx="171436" cy="171436"/>
          </a:xfrm>
          <a:prstGeom prst="rect">
            <a:avLst/>
          </a:prstGeom>
          <a:solidFill>
            <a:srgbClr val="1A7AB5"/>
          </a:solidFill>
          <a:ln/>
        </p:spPr>
        <p:txBody>
          <a:bodyPr/>
          <a:lstStyle/>
          <a:p>
            <a:endParaRPr lang="en-US"/>
          </a:p>
        </p:txBody>
      </p:sp>
      <p:sp>
        <p:nvSpPr>
          <p:cNvPr id="34" name="Text 30"/>
          <p:cNvSpPr/>
          <p:nvPr/>
        </p:nvSpPr>
        <p:spPr>
          <a:xfrm>
            <a:off x="12953859" y="4383059"/>
            <a:ext cx="2906025"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Direct Equity</a:t>
            </a:r>
            <a:endParaRPr lang="en-US" sz="2100" dirty="0"/>
          </a:p>
        </p:txBody>
      </p:sp>
      <p:sp>
        <p:nvSpPr>
          <p:cNvPr id="35" name="Text 31"/>
          <p:cNvSpPr/>
          <p:nvPr/>
        </p:nvSpPr>
        <p:spPr>
          <a:xfrm>
            <a:off x="15767136" y="4319559"/>
            <a:ext cx="463508" cy="540076"/>
          </a:xfrm>
          <a:prstGeom prst="rect">
            <a:avLst/>
          </a:prstGeom>
          <a:noFill/>
          <a:ln/>
        </p:spPr>
        <p:txBody>
          <a:bodyPr wrap="square" lIns="25400" tIns="25400" rIns="25400" bIns="25400" rtlCol="0" anchor="t">
            <a:normAutofit/>
          </a:bodyPr>
          <a:lstStyle/>
          <a:p>
            <a:pPr marL="0" indent="0" algn="l">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4%</a:t>
            </a:r>
            <a:endParaRPr lang="en-US" sz="2550" dirty="0"/>
          </a:p>
        </p:txBody>
      </p:sp>
      <p:sp>
        <p:nvSpPr>
          <p:cNvPr id="36" name="Text 32"/>
          <p:cNvSpPr/>
          <p:nvPr/>
        </p:nvSpPr>
        <p:spPr>
          <a:xfrm>
            <a:off x="16249679" y="4419345"/>
            <a:ext cx="1123879" cy="407194"/>
          </a:xfrm>
          <a:prstGeom prst="rect">
            <a:avLst/>
          </a:prstGeom>
          <a:noFill/>
          <a:ln/>
        </p:spPr>
        <p:txBody>
          <a:bodyPr wrap="squar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₹14.0 L</a:t>
            </a:r>
            <a:endParaRPr lang="en-US" sz="2100" b="1" dirty="0">
              <a:solidFill>
                <a:srgbClr val="0070C0"/>
              </a:solidFill>
            </a:endParaRPr>
          </a:p>
        </p:txBody>
      </p:sp>
      <p:sp>
        <p:nvSpPr>
          <p:cNvPr id="37" name="Shape 33"/>
          <p:cNvSpPr/>
          <p:nvPr/>
        </p:nvSpPr>
        <p:spPr>
          <a:xfrm>
            <a:off x="7315116" y="5646823"/>
            <a:ext cx="4762500" cy="9525"/>
          </a:xfrm>
          <a:prstGeom prst="rect">
            <a:avLst/>
          </a:prstGeom>
          <a:solidFill>
            <a:srgbClr val="1D1F20">
              <a:alpha val="12000"/>
            </a:srgbClr>
          </a:solidFill>
          <a:ln/>
        </p:spPr>
        <p:txBody>
          <a:bodyPr/>
          <a:lstStyle/>
          <a:p>
            <a:endParaRPr lang="en-US"/>
          </a:p>
        </p:txBody>
      </p:sp>
      <p:sp>
        <p:nvSpPr>
          <p:cNvPr id="38" name="Shape 34"/>
          <p:cNvSpPr/>
          <p:nvPr/>
        </p:nvSpPr>
        <p:spPr>
          <a:xfrm>
            <a:off x="7315116" y="5245129"/>
            <a:ext cx="171436" cy="171436"/>
          </a:xfrm>
          <a:prstGeom prst="rect">
            <a:avLst/>
          </a:prstGeom>
          <a:solidFill>
            <a:srgbClr val="5980A6"/>
          </a:solidFill>
          <a:ln/>
        </p:spPr>
        <p:txBody>
          <a:bodyPr/>
          <a:lstStyle/>
          <a:p>
            <a:endParaRPr lang="en-US"/>
          </a:p>
        </p:txBody>
      </p:sp>
      <p:sp>
        <p:nvSpPr>
          <p:cNvPr id="39" name="Text 35"/>
          <p:cNvSpPr/>
          <p:nvPr/>
        </p:nvSpPr>
        <p:spPr>
          <a:xfrm>
            <a:off x="7657987" y="5103600"/>
            <a:ext cx="290345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Fixed Deposits</a:t>
            </a:r>
            <a:endParaRPr lang="en-US" sz="2100" dirty="0"/>
          </a:p>
        </p:txBody>
      </p:sp>
      <p:sp>
        <p:nvSpPr>
          <p:cNvPr id="40" name="Text 36"/>
          <p:cNvSpPr/>
          <p:nvPr/>
        </p:nvSpPr>
        <p:spPr>
          <a:xfrm>
            <a:off x="10468925" y="5040100"/>
            <a:ext cx="465775" cy="540076"/>
          </a:xfrm>
          <a:prstGeom prst="rect">
            <a:avLst/>
          </a:prstGeom>
          <a:noFill/>
          <a:ln/>
        </p:spPr>
        <p:txBody>
          <a:bodyPr wrap="square" lIns="25400" tIns="25400" rIns="25400" bIns="25400" rtlCol="0" anchor="t">
            <a:normAutofit/>
          </a:bodyPr>
          <a:lstStyle/>
          <a:p>
            <a:pPr marL="0" indent="0" algn="l">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8%</a:t>
            </a:r>
            <a:endParaRPr lang="en-US" sz="2550" dirty="0"/>
          </a:p>
        </p:txBody>
      </p:sp>
      <p:sp>
        <p:nvSpPr>
          <p:cNvPr id="41" name="Text 37"/>
          <p:cNvSpPr/>
          <p:nvPr/>
        </p:nvSpPr>
        <p:spPr>
          <a:xfrm>
            <a:off x="10953736" y="5139886"/>
            <a:ext cx="1123879" cy="407194"/>
          </a:xfrm>
          <a:prstGeom prst="rect">
            <a:avLst/>
          </a:prstGeom>
          <a:noFill/>
          <a:ln/>
        </p:spPr>
        <p:txBody>
          <a:bodyPr wrap="squar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₹28.0 L</a:t>
            </a:r>
            <a:endParaRPr lang="en-US" sz="2100" b="1" dirty="0">
              <a:solidFill>
                <a:srgbClr val="0070C0"/>
              </a:solidFill>
            </a:endParaRPr>
          </a:p>
        </p:txBody>
      </p:sp>
      <p:sp>
        <p:nvSpPr>
          <p:cNvPr id="42" name="Shape 38"/>
          <p:cNvSpPr/>
          <p:nvPr/>
        </p:nvSpPr>
        <p:spPr>
          <a:xfrm>
            <a:off x="12610987" y="5646823"/>
            <a:ext cx="4762571" cy="9525"/>
          </a:xfrm>
          <a:prstGeom prst="rect">
            <a:avLst/>
          </a:prstGeom>
          <a:solidFill>
            <a:srgbClr val="1D1F20">
              <a:alpha val="12000"/>
            </a:srgbClr>
          </a:solidFill>
          <a:ln/>
        </p:spPr>
        <p:txBody>
          <a:bodyPr/>
          <a:lstStyle/>
          <a:p>
            <a:endParaRPr lang="en-US"/>
          </a:p>
        </p:txBody>
      </p:sp>
      <p:sp>
        <p:nvSpPr>
          <p:cNvPr id="43" name="Shape 39"/>
          <p:cNvSpPr/>
          <p:nvPr/>
        </p:nvSpPr>
        <p:spPr>
          <a:xfrm>
            <a:off x="12610987" y="5245129"/>
            <a:ext cx="171436" cy="171436"/>
          </a:xfrm>
          <a:prstGeom prst="rect">
            <a:avLst/>
          </a:prstGeom>
          <a:solidFill>
            <a:srgbClr val="94BCE3"/>
          </a:solidFill>
          <a:ln/>
        </p:spPr>
        <p:txBody>
          <a:bodyPr/>
          <a:lstStyle/>
          <a:p>
            <a:endParaRPr lang="en-US"/>
          </a:p>
        </p:txBody>
      </p:sp>
      <p:sp>
        <p:nvSpPr>
          <p:cNvPr id="44" name="Text 40"/>
          <p:cNvSpPr/>
          <p:nvPr/>
        </p:nvSpPr>
        <p:spPr>
          <a:xfrm>
            <a:off x="12953859" y="5103600"/>
            <a:ext cx="2906025"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Sukanya Samriddhi</a:t>
            </a:r>
            <a:endParaRPr lang="en-US" sz="2100" dirty="0"/>
          </a:p>
        </p:txBody>
      </p:sp>
      <p:sp>
        <p:nvSpPr>
          <p:cNvPr id="45" name="Text 41"/>
          <p:cNvSpPr/>
          <p:nvPr/>
        </p:nvSpPr>
        <p:spPr>
          <a:xfrm>
            <a:off x="15767136" y="5040100"/>
            <a:ext cx="463508" cy="540076"/>
          </a:xfrm>
          <a:prstGeom prst="rect">
            <a:avLst/>
          </a:prstGeom>
          <a:noFill/>
          <a:ln/>
        </p:spPr>
        <p:txBody>
          <a:bodyPr wrap="square" lIns="25400" tIns="25400" rIns="25400" bIns="25400" rtlCol="0" anchor="t">
            <a:normAutofit/>
          </a:bodyPr>
          <a:lstStyle/>
          <a:p>
            <a:pPr marL="0" indent="0" algn="l">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4%</a:t>
            </a:r>
            <a:endParaRPr lang="en-US" sz="2550" dirty="0"/>
          </a:p>
        </p:txBody>
      </p:sp>
      <p:sp>
        <p:nvSpPr>
          <p:cNvPr id="46" name="Text 42"/>
          <p:cNvSpPr/>
          <p:nvPr/>
        </p:nvSpPr>
        <p:spPr>
          <a:xfrm>
            <a:off x="16249679" y="5139886"/>
            <a:ext cx="1123879" cy="407194"/>
          </a:xfrm>
          <a:prstGeom prst="rect">
            <a:avLst/>
          </a:prstGeom>
          <a:noFill/>
          <a:ln/>
        </p:spPr>
        <p:txBody>
          <a:bodyPr wrap="squar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₹13.6 L</a:t>
            </a:r>
            <a:endParaRPr lang="en-US" sz="2100" b="1" dirty="0">
              <a:solidFill>
                <a:srgbClr val="0070C0"/>
              </a:solidFill>
            </a:endParaRPr>
          </a:p>
        </p:txBody>
      </p:sp>
      <p:sp>
        <p:nvSpPr>
          <p:cNvPr id="47" name="Shape 43"/>
          <p:cNvSpPr/>
          <p:nvPr/>
        </p:nvSpPr>
        <p:spPr>
          <a:xfrm>
            <a:off x="7315116" y="6022791"/>
            <a:ext cx="171436" cy="171436"/>
          </a:xfrm>
          <a:prstGeom prst="rect">
            <a:avLst/>
          </a:prstGeom>
          <a:solidFill>
            <a:srgbClr val="B7B7BA"/>
          </a:solidFill>
          <a:ln/>
        </p:spPr>
        <p:txBody>
          <a:bodyPr/>
          <a:lstStyle/>
          <a:p>
            <a:endParaRPr lang="en-US"/>
          </a:p>
        </p:txBody>
      </p:sp>
      <p:sp>
        <p:nvSpPr>
          <p:cNvPr id="48" name="Text 44"/>
          <p:cNvSpPr/>
          <p:nvPr/>
        </p:nvSpPr>
        <p:spPr>
          <a:xfrm>
            <a:off x="7657987" y="5881263"/>
            <a:ext cx="2910547"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Gold &amp; SGB</a:t>
            </a:r>
            <a:endParaRPr lang="en-US" sz="2100" dirty="0"/>
          </a:p>
        </p:txBody>
      </p:sp>
      <p:sp>
        <p:nvSpPr>
          <p:cNvPr id="49" name="Text 45"/>
          <p:cNvSpPr/>
          <p:nvPr/>
        </p:nvSpPr>
        <p:spPr>
          <a:xfrm>
            <a:off x="10475375" y="5817763"/>
            <a:ext cx="459326" cy="540076"/>
          </a:xfrm>
          <a:prstGeom prst="rect">
            <a:avLst/>
          </a:prstGeom>
          <a:noFill/>
          <a:ln/>
        </p:spPr>
        <p:txBody>
          <a:bodyPr wrap="square" lIns="25400" tIns="25400" rIns="25400" bIns="25400" rtlCol="0" anchor="t">
            <a:normAutofit/>
          </a:bodyPr>
          <a:lstStyle/>
          <a:p>
            <a:pPr marL="0" indent="0" algn="l">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2%</a:t>
            </a:r>
            <a:endParaRPr lang="en-US" sz="2550" dirty="0"/>
          </a:p>
        </p:txBody>
      </p:sp>
      <p:sp>
        <p:nvSpPr>
          <p:cNvPr id="50" name="Text 46"/>
          <p:cNvSpPr/>
          <p:nvPr/>
        </p:nvSpPr>
        <p:spPr>
          <a:xfrm>
            <a:off x="10953736" y="5917548"/>
            <a:ext cx="1123879" cy="407194"/>
          </a:xfrm>
          <a:prstGeom prst="rect">
            <a:avLst/>
          </a:prstGeom>
          <a:noFill/>
          <a:ln/>
        </p:spPr>
        <p:txBody>
          <a:bodyPr wrap="squar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₹10.5 L</a:t>
            </a:r>
            <a:endParaRPr lang="en-US" sz="2100" b="1" dirty="0">
              <a:solidFill>
                <a:srgbClr val="0070C0"/>
              </a:solidFill>
            </a:endParaRPr>
          </a:p>
        </p:txBody>
      </p:sp>
      <p:sp>
        <p:nvSpPr>
          <p:cNvPr id="51" name="Text 47"/>
          <p:cNvSpPr/>
          <p:nvPr/>
        </p:nvSpPr>
        <p:spPr>
          <a:xfrm>
            <a:off x="7315116" y="6824479"/>
            <a:ext cx="9388574" cy="1638073"/>
          </a:xfrm>
          <a:prstGeom prst="rect">
            <a:avLst/>
          </a:prstGeom>
          <a:noFill/>
          <a:ln/>
        </p:spPr>
        <p:txBody>
          <a:bodyPr wrap="square" lIns="25400" tIns="25400" rIns="25400" bIns="25400" rtlCol="0" anchor="t">
            <a:normAutofit/>
          </a:bodyPr>
          <a:lstStyle/>
          <a:p>
            <a:pPr marL="0" indent="0" algn="l">
              <a:lnSpc>
                <a:spcPct val="124225"/>
              </a:lnSpc>
              <a:buNone/>
            </a:pPr>
            <a:r>
              <a:rPr lang="en-US" sz="2100" dirty="0">
                <a:solidFill>
                  <a:srgbClr val="1D1F20">
                    <a:alpha val="90000"/>
                  </a:srgbClr>
                </a:solidFill>
                <a:latin typeface="Barlow" pitchFamily="34" charset="0"/>
                <a:ea typeface="Barlow" pitchFamily="34" charset="-122"/>
                <a:cs typeface="Barlow" pitchFamily="34" charset="-120"/>
              </a:rPr>
              <a:t>Two-fifths of the balance sheet sits in property, which cannot be drawn on goal by goal. The plan therefore funds every goal from the remaining ₹2.17 crore of financial assets and shifts new savings towards that side of the sheet.</a:t>
            </a:r>
            <a:endParaRPr lang="en-US" sz="2100" dirty="0"/>
          </a:p>
        </p:txBody>
      </p:sp>
      <p:sp>
        <p:nvSpPr>
          <p:cNvPr id="52" name="Text 48"/>
          <p:cNvSpPr/>
          <p:nvPr/>
        </p:nvSpPr>
        <p:spPr>
          <a:xfrm>
            <a:off x="7315116" y="8595888"/>
            <a:ext cx="11064287"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Percentages reflect the current market value of holdings shared for this review.</a:t>
            </a:r>
            <a:endParaRPr lang="en-US" sz="2100" dirty="0"/>
          </a:p>
        </p:txBody>
      </p:sp>
      <p:sp>
        <p:nvSpPr>
          <p:cNvPr id="53" name="Text 49"/>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54" name="Text 50"/>
          <p:cNvSpPr/>
          <p:nvPr/>
        </p:nvSpPr>
        <p:spPr>
          <a:xfrm>
            <a:off x="16703690" y="9475462"/>
            <a:ext cx="746068"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05 / 32</a:t>
            </a:r>
            <a:endParaRPr lang="en-US" sz="2100" dirty="0"/>
          </a:p>
        </p:txBody>
      </p:sp>
    </p:spTree>
    <p:extLst>
      <p:ext uri="{BB962C8B-B14F-4D97-AF65-F5344CB8AC3E}">
        <p14:creationId xmlns:p14="http://schemas.microsoft.com/office/powerpoint/2010/main" val="3753640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3802148"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ASSET BUCKETS</a:t>
            </a:r>
            <a:endParaRPr lang="en-US" sz="2100" b="1" dirty="0">
              <a:solidFill>
                <a:srgbClr val="2A3480"/>
              </a:solidFill>
              <a:latin typeface="Barlow"/>
            </a:endParaRPr>
          </a:p>
        </p:txBody>
      </p:sp>
      <p:sp>
        <p:nvSpPr>
          <p:cNvPr id="3" name="Text 1"/>
          <p:cNvSpPr/>
          <p:nvPr/>
        </p:nvSpPr>
        <p:spPr>
          <a:xfrm>
            <a:off x="914372" y="1178148"/>
            <a:ext cx="3802148"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Classification</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400" y="2477138"/>
            <a:ext cx="5461000" cy="914372"/>
          </a:xfrm>
          <a:prstGeom prst="rect">
            <a:avLst/>
          </a:prstGeom>
          <a:solidFill>
            <a:srgbClr val="141A45"/>
          </a:solidFill>
          <a:ln/>
        </p:spPr>
        <p:txBody>
          <a:bodyPr/>
          <a:lstStyle/>
          <a:p>
            <a:endParaRPr lang="en-US"/>
          </a:p>
        </p:txBody>
      </p:sp>
      <p:sp>
        <p:nvSpPr>
          <p:cNvPr id="7" name="Text 4"/>
          <p:cNvSpPr/>
          <p:nvPr/>
        </p:nvSpPr>
        <p:spPr>
          <a:xfrm>
            <a:off x="1219200" y="2477138"/>
            <a:ext cx="4851400" cy="952472"/>
          </a:xfrm>
          <a:prstGeom prst="rect">
            <a:avLst/>
          </a:prstGeom>
          <a:noFill/>
          <a:ln/>
        </p:spPr>
        <p:txBody>
          <a:bodyPr wrap="square" lIns="25400" tIns="25400" rIns="25400" bIns="25400" rtlCol="0" anchor="ctr">
            <a:normAutofit/>
          </a:bodyPr>
          <a:lstStyle/>
          <a:p>
            <a:pPr marL="0" indent="0" algn="l">
              <a:lnSpc>
                <a:spcPct val="130200"/>
              </a:lnSpc>
              <a:buNone/>
            </a:pPr>
            <a:r>
              <a:rPr lang="en-US" sz="3300" dirty="0">
                <a:solidFill>
                  <a:srgbClr val="F2F2F3"/>
                </a:solidFill>
                <a:latin typeface="Barlow Condensed" pitchFamily="34" charset="0"/>
                <a:ea typeface="Barlow Condensed" pitchFamily="34" charset="-122"/>
                <a:cs typeface="Barlow Condensed" pitchFamily="34" charset="-120"/>
              </a:rPr>
              <a:t>40%</a:t>
            </a:r>
            <a:endParaRPr lang="en-US" sz="3300" dirty="0"/>
          </a:p>
        </p:txBody>
      </p:sp>
      <p:sp>
        <p:nvSpPr>
          <p:cNvPr id="8" name="Shape 5"/>
          <p:cNvSpPr/>
          <p:nvPr/>
        </p:nvSpPr>
        <p:spPr>
          <a:xfrm>
            <a:off x="6413500" y="2477138"/>
            <a:ext cx="5461000" cy="914372"/>
          </a:xfrm>
          <a:prstGeom prst="rect">
            <a:avLst/>
          </a:prstGeom>
          <a:solidFill>
            <a:srgbClr val="1A7AB5"/>
          </a:solidFill>
          <a:ln/>
        </p:spPr>
        <p:txBody>
          <a:bodyPr/>
          <a:lstStyle/>
          <a:p>
            <a:endParaRPr lang="en-US"/>
          </a:p>
        </p:txBody>
      </p:sp>
      <p:sp>
        <p:nvSpPr>
          <p:cNvPr id="9" name="Text 6"/>
          <p:cNvSpPr/>
          <p:nvPr/>
        </p:nvSpPr>
        <p:spPr>
          <a:xfrm>
            <a:off x="6718300" y="2477138"/>
            <a:ext cx="4851400" cy="952472"/>
          </a:xfrm>
          <a:prstGeom prst="rect">
            <a:avLst/>
          </a:prstGeom>
          <a:noFill/>
          <a:ln/>
        </p:spPr>
        <p:txBody>
          <a:bodyPr wrap="square" lIns="25400" tIns="25400" rIns="25400" bIns="25400" rtlCol="0" anchor="ctr">
            <a:normAutofit/>
          </a:bodyPr>
          <a:lstStyle/>
          <a:p>
            <a:pPr marL="0" indent="0" algn="l">
              <a:lnSpc>
                <a:spcPct val="130200"/>
              </a:lnSpc>
              <a:buNone/>
            </a:pPr>
            <a:r>
              <a:rPr lang="en-US" sz="3300" dirty="0">
                <a:solidFill>
                  <a:srgbClr val="F2F2F3"/>
                </a:solidFill>
                <a:latin typeface="Barlow Condensed" pitchFamily="34" charset="0"/>
                <a:ea typeface="Barlow Condensed" pitchFamily="34" charset="-122"/>
                <a:cs typeface="Barlow Condensed" pitchFamily="34" charset="-120"/>
              </a:rPr>
              <a:t>34%</a:t>
            </a:r>
            <a:endParaRPr lang="en-US" sz="3300" dirty="0"/>
          </a:p>
        </p:txBody>
      </p:sp>
      <p:sp>
        <p:nvSpPr>
          <p:cNvPr id="10" name="Shape 7"/>
          <p:cNvSpPr/>
          <p:nvPr/>
        </p:nvSpPr>
        <p:spPr>
          <a:xfrm>
            <a:off x="11912600" y="2477138"/>
            <a:ext cx="5461000" cy="914372"/>
          </a:xfrm>
          <a:prstGeom prst="rect">
            <a:avLst/>
          </a:prstGeom>
          <a:solidFill>
            <a:srgbClr val="2F7D3A"/>
          </a:solidFill>
          <a:ln/>
        </p:spPr>
        <p:txBody>
          <a:bodyPr/>
          <a:lstStyle/>
          <a:p>
            <a:endParaRPr lang="en-US"/>
          </a:p>
        </p:txBody>
      </p:sp>
      <p:sp>
        <p:nvSpPr>
          <p:cNvPr id="11" name="Text 8"/>
          <p:cNvSpPr/>
          <p:nvPr/>
        </p:nvSpPr>
        <p:spPr>
          <a:xfrm>
            <a:off x="12217400" y="2477138"/>
            <a:ext cx="4851400" cy="952472"/>
          </a:xfrm>
          <a:prstGeom prst="rect">
            <a:avLst/>
          </a:prstGeom>
          <a:noFill/>
          <a:ln/>
        </p:spPr>
        <p:txBody>
          <a:bodyPr wrap="square" lIns="25400" tIns="25400" rIns="25400" bIns="25400" rtlCol="0" anchor="ctr">
            <a:normAutofit/>
          </a:bodyPr>
          <a:lstStyle/>
          <a:p>
            <a:pPr marL="0" indent="0" algn="l">
              <a:lnSpc>
                <a:spcPct val="130200"/>
              </a:lnSpc>
              <a:buNone/>
            </a:pPr>
            <a:r>
              <a:rPr lang="en-US" sz="3300" dirty="0">
                <a:solidFill>
                  <a:srgbClr val="F2F2F3"/>
                </a:solidFill>
                <a:latin typeface="Barlow Condensed" pitchFamily="34" charset="0"/>
                <a:ea typeface="Barlow Condensed" pitchFamily="34" charset="-122"/>
                <a:cs typeface="Barlow Condensed" pitchFamily="34" charset="-120"/>
              </a:rPr>
              <a:t>26%</a:t>
            </a:r>
            <a:endParaRPr lang="en-US" sz="3300" dirty="0"/>
          </a:p>
        </p:txBody>
      </p:sp>
      <p:sp>
        <p:nvSpPr>
          <p:cNvPr id="12" name="Shape 9"/>
          <p:cNvSpPr/>
          <p:nvPr/>
        </p:nvSpPr>
        <p:spPr>
          <a:xfrm>
            <a:off x="914400" y="3772510"/>
            <a:ext cx="5461000" cy="5512452"/>
          </a:xfrm>
          <a:prstGeom prst="rect">
            <a:avLst/>
          </a:prstGeom>
          <a:ln w="9071">
            <a:solidFill>
              <a:srgbClr val="1F1F1F">
                <a:alpha val="16000"/>
              </a:srgbClr>
            </a:solidFill>
            <a:prstDash val="solid"/>
          </a:ln>
        </p:spPr>
        <p:txBody>
          <a:bodyPr/>
          <a:lstStyle/>
          <a:p>
            <a:endParaRPr lang="en-US"/>
          </a:p>
        </p:txBody>
      </p:sp>
      <p:sp>
        <p:nvSpPr>
          <p:cNvPr id="13" name="Shape 10"/>
          <p:cNvSpPr/>
          <p:nvPr/>
        </p:nvSpPr>
        <p:spPr>
          <a:xfrm>
            <a:off x="1308100" y="4344648"/>
            <a:ext cx="190500" cy="190500"/>
          </a:xfrm>
          <a:prstGeom prst="rect">
            <a:avLst/>
          </a:prstGeom>
          <a:solidFill>
            <a:srgbClr val="141A45"/>
          </a:solidFill>
          <a:ln/>
        </p:spPr>
        <p:txBody>
          <a:bodyPr/>
          <a:lstStyle/>
          <a:p>
            <a:endParaRPr lang="en-US"/>
          </a:p>
        </p:txBody>
      </p:sp>
      <p:sp>
        <p:nvSpPr>
          <p:cNvPr id="14" name="Text 11"/>
          <p:cNvSpPr/>
          <p:nvPr/>
        </p:nvSpPr>
        <p:spPr>
          <a:xfrm>
            <a:off x="1651000" y="4162581"/>
            <a:ext cx="4419600" cy="592804"/>
          </a:xfrm>
          <a:prstGeom prst="rect">
            <a:avLst/>
          </a:prstGeom>
          <a:noFill/>
          <a:ln/>
        </p:spPr>
        <p:txBody>
          <a:bodyPr wrap="square" lIns="25400" tIns="25400" rIns="25400" bIns="25400" rtlCol="0" anchor="t">
            <a:normAutofit lnSpcReduction="10000"/>
          </a:bodyPr>
          <a:lstStyle/>
          <a:p>
            <a:pPr marL="0" indent="0" algn="l">
              <a:lnSpc>
                <a:spcPct val="93362"/>
              </a:lnSpc>
              <a:buNone/>
            </a:pPr>
            <a:r>
              <a:rPr lang="en-US" sz="3900" b="1" kern="0" spc="-58" dirty="0">
                <a:solidFill>
                  <a:srgbClr val="1D1F20"/>
                </a:solidFill>
                <a:latin typeface="Barlow Condensed" pitchFamily="34" charset="0"/>
                <a:ea typeface="Barlow Condensed" pitchFamily="34" charset="-122"/>
                <a:cs typeface="Barlow Condensed" pitchFamily="34" charset="-120"/>
              </a:rPr>
              <a:t>Fixed Assets</a:t>
            </a:r>
            <a:endParaRPr lang="en-US" sz="3900" dirty="0"/>
          </a:p>
        </p:txBody>
      </p:sp>
      <p:sp>
        <p:nvSpPr>
          <p:cNvPr id="15" name="Text 12"/>
          <p:cNvSpPr/>
          <p:nvPr/>
        </p:nvSpPr>
        <p:spPr>
          <a:xfrm>
            <a:off x="1308100" y="4964907"/>
            <a:ext cx="4762500" cy="1638073"/>
          </a:xfrm>
          <a:prstGeom prst="rect">
            <a:avLst/>
          </a:prstGeom>
          <a:noFill/>
          <a:ln/>
        </p:spPr>
        <p:txBody>
          <a:bodyPr wrap="square" lIns="25400" tIns="25400" rIns="25400" bIns="25400" rtlCol="0" anchor="t">
            <a:normAutofit fontScale="92500"/>
          </a:bodyPr>
          <a:lstStyle/>
          <a:p>
            <a:pPr marL="0" indent="0" algn="l">
              <a:lnSpc>
                <a:spcPct val="124225"/>
              </a:lnSpc>
              <a:buNone/>
            </a:pPr>
            <a:r>
              <a:rPr lang="en-US" sz="2100" dirty="0">
                <a:solidFill>
                  <a:srgbClr val="1D1F20">
                    <a:alpha val="90000"/>
                  </a:srgbClr>
                </a:solidFill>
                <a:latin typeface="Barlow" pitchFamily="34" charset="0"/>
                <a:ea typeface="Barlow" pitchFamily="34" charset="-122"/>
                <a:cs typeface="Barlow" pitchFamily="34" charset="-120"/>
              </a:rPr>
              <a:t>Residential and other real estate, are considered Fixed assets. Having a large allocation in these assets limits the portfolio’s flexibility and growth potential</a:t>
            </a:r>
            <a:endParaRPr lang="en-US" sz="2100" dirty="0"/>
          </a:p>
        </p:txBody>
      </p:sp>
      <p:sp>
        <p:nvSpPr>
          <p:cNvPr id="16" name="Text 13"/>
          <p:cNvSpPr/>
          <p:nvPr/>
        </p:nvSpPr>
        <p:spPr>
          <a:xfrm>
            <a:off x="1308100" y="7854723"/>
            <a:ext cx="476250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VALUE</a:t>
            </a:r>
            <a:endParaRPr lang="en-US" sz="2100" dirty="0"/>
          </a:p>
        </p:txBody>
      </p:sp>
      <p:sp>
        <p:nvSpPr>
          <p:cNvPr id="17" name="Text 14"/>
          <p:cNvSpPr/>
          <p:nvPr/>
        </p:nvSpPr>
        <p:spPr>
          <a:xfrm>
            <a:off x="1308100" y="8285262"/>
            <a:ext cx="4762500" cy="647728"/>
          </a:xfrm>
          <a:prstGeom prst="rect">
            <a:avLst/>
          </a:prstGeom>
          <a:noFill/>
          <a:ln/>
        </p:spPr>
        <p:txBody>
          <a:bodyPr wrap="square" lIns="25400" tIns="25400" rIns="25400" bIns="25400" rtlCol="0" anchor="t">
            <a:normAutofit lnSpcReduction="10000"/>
          </a:bodyPr>
          <a:lstStyle/>
          <a:p>
            <a:pPr marL="0" indent="0" algn="l">
              <a:lnSpc>
                <a:spcPct val="83478"/>
              </a:lnSpc>
              <a:buNone/>
            </a:pPr>
            <a:r>
              <a:rPr lang="en-US" sz="4800" dirty="0">
                <a:solidFill>
                  <a:srgbClr val="1D1F20"/>
                </a:solidFill>
                <a:latin typeface="Barlow Condensed" pitchFamily="34" charset="0"/>
                <a:ea typeface="Barlow Condensed" pitchFamily="34" charset="-122"/>
                <a:cs typeface="Barlow Condensed" pitchFamily="34" charset="-120"/>
              </a:rPr>
              <a:t>~ ₹1.47 Cr</a:t>
            </a:r>
            <a:endParaRPr lang="en-US" sz="4800" dirty="0"/>
          </a:p>
        </p:txBody>
      </p:sp>
      <p:sp>
        <p:nvSpPr>
          <p:cNvPr id="18" name="Shape 15"/>
          <p:cNvSpPr/>
          <p:nvPr/>
        </p:nvSpPr>
        <p:spPr>
          <a:xfrm>
            <a:off x="6413500" y="3772510"/>
            <a:ext cx="5461000" cy="5512452"/>
          </a:xfrm>
          <a:prstGeom prst="rect">
            <a:avLst/>
          </a:prstGeom>
          <a:ln w="9071">
            <a:solidFill>
              <a:srgbClr val="1F1F1F">
                <a:alpha val="16000"/>
              </a:srgbClr>
            </a:solidFill>
            <a:prstDash val="solid"/>
          </a:ln>
        </p:spPr>
        <p:txBody>
          <a:bodyPr/>
          <a:lstStyle/>
          <a:p>
            <a:endParaRPr lang="en-US"/>
          </a:p>
        </p:txBody>
      </p:sp>
      <p:sp>
        <p:nvSpPr>
          <p:cNvPr id="19" name="Shape 16"/>
          <p:cNvSpPr/>
          <p:nvPr/>
        </p:nvSpPr>
        <p:spPr>
          <a:xfrm>
            <a:off x="6807200" y="4344648"/>
            <a:ext cx="190500" cy="190500"/>
          </a:xfrm>
          <a:prstGeom prst="rect">
            <a:avLst/>
          </a:prstGeom>
          <a:solidFill>
            <a:srgbClr val="1A7AB5"/>
          </a:solidFill>
          <a:ln/>
        </p:spPr>
        <p:txBody>
          <a:bodyPr/>
          <a:lstStyle/>
          <a:p>
            <a:endParaRPr lang="en-US"/>
          </a:p>
        </p:txBody>
      </p:sp>
      <p:sp>
        <p:nvSpPr>
          <p:cNvPr id="20" name="Text 17"/>
          <p:cNvSpPr/>
          <p:nvPr/>
        </p:nvSpPr>
        <p:spPr>
          <a:xfrm>
            <a:off x="7150100" y="4162581"/>
            <a:ext cx="4419600" cy="592804"/>
          </a:xfrm>
          <a:prstGeom prst="rect">
            <a:avLst/>
          </a:prstGeom>
          <a:noFill/>
          <a:ln/>
        </p:spPr>
        <p:txBody>
          <a:bodyPr wrap="square" lIns="25400" tIns="25400" rIns="25400" bIns="25400" rtlCol="0" anchor="t">
            <a:normAutofit lnSpcReduction="10000"/>
          </a:bodyPr>
          <a:lstStyle/>
          <a:p>
            <a:pPr marL="0" indent="0" algn="l">
              <a:lnSpc>
                <a:spcPct val="93362"/>
              </a:lnSpc>
              <a:buNone/>
            </a:pPr>
            <a:r>
              <a:rPr lang="en-US" sz="3900" b="1" kern="0" spc="-58" dirty="0">
                <a:solidFill>
                  <a:srgbClr val="1D1F20"/>
                </a:solidFill>
                <a:latin typeface="Barlow Condensed" pitchFamily="34" charset="0"/>
                <a:ea typeface="Barlow Condensed" pitchFamily="34" charset="-122"/>
                <a:cs typeface="Barlow Condensed" pitchFamily="34" charset="-120"/>
              </a:rPr>
              <a:t>Liquid Assets</a:t>
            </a:r>
            <a:endParaRPr lang="en-US" sz="3900" dirty="0"/>
          </a:p>
        </p:txBody>
      </p:sp>
      <p:sp>
        <p:nvSpPr>
          <p:cNvPr id="21" name="Text 18"/>
          <p:cNvSpPr/>
          <p:nvPr/>
        </p:nvSpPr>
        <p:spPr>
          <a:xfrm>
            <a:off x="6807200" y="4964907"/>
            <a:ext cx="4762500" cy="2038067"/>
          </a:xfrm>
          <a:prstGeom prst="rect">
            <a:avLst/>
          </a:prstGeom>
          <a:noFill/>
          <a:ln/>
        </p:spPr>
        <p:txBody>
          <a:bodyPr wrap="square" lIns="25400" tIns="25400" rIns="25400" bIns="25400" rtlCol="0" anchor="t">
            <a:normAutofit/>
          </a:bodyPr>
          <a:lstStyle/>
          <a:p>
            <a:pPr marL="0" indent="0" algn="l">
              <a:lnSpc>
                <a:spcPct val="124225"/>
              </a:lnSpc>
              <a:buNone/>
            </a:pPr>
            <a:r>
              <a:rPr lang="en-US" sz="2100" dirty="0">
                <a:solidFill>
                  <a:srgbClr val="1D1F20">
                    <a:alpha val="90000"/>
                  </a:srgbClr>
                </a:solidFill>
                <a:latin typeface="Barlow" pitchFamily="34" charset="0"/>
                <a:ea typeface="Barlow" pitchFamily="34" charset="-122"/>
                <a:cs typeface="Barlow" pitchFamily="34" charset="-120"/>
              </a:rPr>
              <a:t>Mutual funds, direct equity, FDs and SGB are considered under liquid assets. The required allocation to liquid assets depends on each individual’s goal timelines.</a:t>
            </a:r>
            <a:endParaRPr lang="en-US" sz="2100" dirty="0"/>
          </a:p>
        </p:txBody>
      </p:sp>
      <p:sp>
        <p:nvSpPr>
          <p:cNvPr id="22" name="Text 19"/>
          <p:cNvSpPr/>
          <p:nvPr/>
        </p:nvSpPr>
        <p:spPr>
          <a:xfrm>
            <a:off x="6807200" y="7854723"/>
            <a:ext cx="476250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VALUE</a:t>
            </a:r>
            <a:endParaRPr lang="en-US" sz="2100" dirty="0"/>
          </a:p>
        </p:txBody>
      </p:sp>
      <p:sp>
        <p:nvSpPr>
          <p:cNvPr id="23" name="Text 20"/>
          <p:cNvSpPr/>
          <p:nvPr/>
        </p:nvSpPr>
        <p:spPr>
          <a:xfrm>
            <a:off x="6807200" y="8285262"/>
            <a:ext cx="4762500" cy="647728"/>
          </a:xfrm>
          <a:prstGeom prst="rect">
            <a:avLst/>
          </a:prstGeom>
          <a:noFill/>
          <a:ln/>
        </p:spPr>
        <p:txBody>
          <a:bodyPr wrap="square" lIns="25400" tIns="25400" rIns="25400" bIns="25400" rtlCol="0" anchor="t">
            <a:normAutofit lnSpcReduction="10000"/>
          </a:bodyPr>
          <a:lstStyle/>
          <a:p>
            <a:pPr marL="0" indent="0" algn="l">
              <a:lnSpc>
                <a:spcPct val="83478"/>
              </a:lnSpc>
              <a:buNone/>
            </a:pPr>
            <a:r>
              <a:rPr lang="en-US" sz="4800" dirty="0">
                <a:solidFill>
                  <a:srgbClr val="1D1F20"/>
                </a:solidFill>
                <a:latin typeface="Barlow Condensed" pitchFamily="34" charset="0"/>
                <a:ea typeface="Barlow Condensed" pitchFamily="34" charset="-122"/>
                <a:cs typeface="Barlow Condensed" pitchFamily="34" charset="-120"/>
              </a:rPr>
              <a:t>~ ₹1.23 Cr</a:t>
            </a:r>
            <a:endParaRPr lang="en-US" sz="4800" dirty="0"/>
          </a:p>
        </p:txBody>
      </p:sp>
      <p:sp>
        <p:nvSpPr>
          <p:cNvPr id="24" name="Shape 21"/>
          <p:cNvSpPr/>
          <p:nvPr/>
        </p:nvSpPr>
        <p:spPr>
          <a:xfrm>
            <a:off x="11912600" y="3772510"/>
            <a:ext cx="5461000" cy="5512452"/>
          </a:xfrm>
          <a:prstGeom prst="rect">
            <a:avLst/>
          </a:prstGeom>
          <a:ln w="9071">
            <a:solidFill>
              <a:srgbClr val="1F1F1F">
                <a:alpha val="16000"/>
              </a:srgbClr>
            </a:solidFill>
            <a:prstDash val="solid"/>
          </a:ln>
        </p:spPr>
        <p:txBody>
          <a:bodyPr/>
          <a:lstStyle/>
          <a:p>
            <a:endParaRPr lang="en-US"/>
          </a:p>
        </p:txBody>
      </p:sp>
      <p:sp>
        <p:nvSpPr>
          <p:cNvPr id="25" name="Shape 22"/>
          <p:cNvSpPr/>
          <p:nvPr/>
        </p:nvSpPr>
        <p:spPr>
          <a:xfrm>
            <a:off x="12306300" y="4344648"/>
            <a:ext cx="190500" cy="190500"/>
          </a:xfrm>
          <a:prstGeom prst="rect">
            <a:avLst/>
          </a:prstGeom>
          <a:solidFill>
            <a:srgbClr val="2F7D3A"/>
          </a:solidFill>
          <a:ln/>
        </p:spPr>
        <p:txBody>
          <a:bodyPr/>
          <a:lstStyle/>
          <a:p>
            <a:endParaRPr lang="en-US"/>
          </a:p>
        </p:txBody>
      </p:sp>
      <p:sp>
        <p:nvSpPr>
          <p:cNvPr id="26" name="Text 23"/>
          <p:cNvSpPr/>
          <p:nvPr/>
        </p:nvSpPr>
        <p:spPr>
          <a:xfrm>
            <a:off x="12649200" y="4162581"/>
            <a:ext cx="4419600" cy="592804"/>
          </a:xfrm>
          <a:prstGeom prst="rect">
            <a:avLst/>
          </a:prstGeom>
          <a:noFill/>
          <a:ln/>
        </p:spPr>
        <p:txBody>
          <a:bodyPr wrap="square" lIns="25400" tIns="25400" rIns="25400" bIns="25400" rtlCol="0" anchor="t">
            <a:normAutofit lnSpcReduction="10000"/>
          </a:bodyPr>
          <a:lstStyle/>
          <a:p>
            <a:pPr marL="0" indent="0" algn="l">
              <a:lnSpc>
                <a:spcPct val="93362"/>
              </a:lnSpc>
              <a:buNone/>
            </a:pPr>
            <a:r>
              <a:rPr lang="en-US" sz="3900" b="1" kern="0" spc="-58" dirty="0">
                <a:solidFill>
                  <a:srgbClr val="1D1F20"/>
                </a:solidFill>
                <a:latin typeface="Barlow Condensed" pitchFamily="34" charset="0"/>
                <a:ea typeface="Barlow Condensed" pitchFamily="34" charset="-122"/>
                <a:cs typeface="Barlow Condensed" pitchFamily="34" charset="-120"/>
              </a:rPr>
              <a:t>Retirement Assets</a:t>
            </a:r>
            <a:endParaRPr lang="en-US" sz="3900" dirty="0"/>
          </a:p>
        </p:txBody>
      </p:sp>
      <p:sp>
        <p:nvSpPr>
          <p:cNvPr id="27" name="Text 24"/>
          <p:cNvSpPr/>
          <p:nvPr/>
        </p:nvSpPr>
        <p:spPr>
          <a:xfrm>
            <a:off x="12306300" y="4964907"/>
            <a:ext cx="4762500" cy="2438060"/>
          </a:xfrm>
          <a:prstGeom prst="rect">
            <a:avLst/>
          </a:prstGeom>
          <a:noFill/>
          <a:ln/>
        </p:spPr>
        <p:txBody>
          <a:bodyPr wrap="square" lIns="25400" tIns="25400" rIns="25400" bIns="25400" rtlCol="0" anchor="t">
            <a:normAutofit/>
          </a:bodyPr>
          <a:lstStyle/>
          <a:p>
            <a:pPr marL="0" indent="0" algn="l">
              <a:lnSpc>
                <a:spcPct val="124225"/>
              </a:lnSpc>
              <a:buNone/>
            </a:pPr>
            <a:r>
              <a:rPr lang="en-US" sz="2100" dirty="0">
                <a:solidFill>
                  <a:srgbClr val="1D1F20">
                    <a:alpha val="90000"/>
                  </a:srgbClr>
                </a:solidFill>
                <a:latin typeface="Barlow" pitchFamily="34" charset="0"/>
                <a:ea typeface="Barlow" pitchFamily="34" charset="-122"/>
                <a:cs typeface="Barlow" pitchFamily="34" charset="-120"/>
              </a:rPr>
              <a:t>EPF, PPF, NPS and SSY are pure long-lock assets. At ten years from retirement, a 26% allocation here is healthy and needs no addition beyond the statutory flows.</a:t>
            </a:r>
            <a:endParaRPr lang="en-US" sz="2100" dirty="0"/>
          </a:p>
        </p:txBody>
      </p:sp>
      <p:sp>
        <p:nvSpPr>
          <p:cNvPr id="28" name="Text 25"/>
          <p:cNvSpPr/>
          <p:nvPr/>
        </p:nvSpPr>
        <p:spPr>
          <a:xfrm>
            <a:off x="12306300" y="7854723"/>
            <a:ext cx="476250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VALUE</a:t>
            </a:r>
            <a:endParaRPr lang="en-US" sz="2100" dirty="0"/>
          </a:p>
        </p:txBody>
      </p:sp>
      <p:sp>
        <p:nvSpPr>
          <p:cNvPr id="29" name="Text 26"/>
          <p:cNvSpPr/>
          <p:nvPr/>
        </p:nvSpPr>
        <p:spPr>
          <a:xfrm>
            <a:off x="12306300" y="8285262"/>
            <a:ext cx="4762500" cy="647728"/>
          </a:xfrm>
          <a:prstGeom prst="rect">
            <a:avLst/>
          </a:prstGeom>
          <a:noFill/>
          <a:ln/>
        </p:spPr>
        <p:txBody>
          <a:bodyPr wrap="square" lIns="25400" tIns="25400" rIns="25400" bIns="25400" rtlCol="0" anchor="t">
            <a:normAutofit lnSpcReduction="10000"/>
          </a:bodyPr>
          <a:lstStyle/>
          <a:p>
            <a:pPr marL="0" indent="0" algn="l">
              <a:lnSpc>
                <a:spcPct val="83478"/>
              </a:lnSpc>
              <a:buNone/>
            </a:pPr>
            <a:r>
              <a:rPr lang="en-US" sz="4800" dirty="0">
                <a:solidFill>
                  <a:srgbClr val="1D1F20"/>
                </a:solidFill>
                <a:latin typeface="Barlow Condensed" pitchFamily="34" charset="0"/>
                <a:ea typeface="Barlow Condensed" pitchFamily="34" charset="-122"/>
                <a:cs typeface="Barlow Condensed" pitchFamily="34" charset="-120"/>
              </a:rPr>
              <a:t>~ ₹94.1 L</a:t>
            </a:r>
            <a:endParaRPr lang="en-US" sz="4800" dirty="0"/>
          </a:p>
        </p:txBody>
      </p:sp>
      <p:sp>
        <p:nvSpPr>
          <p:cNvPr id="30" name="Text 27"/>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31" name="Text 28"/>
          <p:cNvSpPr/>
          <p:nvPr/>
        </p:nvSpPr>
        <p:spPr>
          <a:xfrm>
            <a:off x="16703478" y="9475462"/>
            <a:ext cx="746281"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06 / 32</a:t>
            </a:r>
            <a:endParaRPr lang="en-US" sz="2100" dirty="0"/>
          </a:p>
        </p:txBody>
      </p:sp>
    </p:spTree>
    <p:extLst>
      <p:ext uri="{BB962C8B-B14F-4D97-AF65-F5344CB8AC3E}">
        <p14:creationId xmlns:p14="http://schemas.microsoft.com/office/powerpoint/2010/main" val="1839758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2F2F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
          </a:blip>
          <a:srcRect t="4130" b="4130"/>
          <a:stretch/>
        </p:blipFill>
        <p:spPr>
          <a:xfrm>
            <a:off x="0" y="0"/>
            <a:ext cx="18287930" cy="10287001"/>
          </a:xfrm>
          <a:prstGeom prst="rect">
            <a:avLst/>
          </a:prstGeom>
        </p:spPr>
      </p:pic>
      <p:sp>
        <p:nvSpPr>
          <p:cNvPr id="3" name="Text 0"/>
          <p:cNvSpPr/>
          <p:nvPr/>
        </p:nvSpPr>
        <p:spPr>
          <a:xfrm>
            <a:off x="914372" y="571429"/>
            <a:ext cx="6744190"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DIAGNOSTIC</a:t>
            </a:r>
            <a:endParaRPr lang="en-US" sz="2100" b="1" dirty="0">
              <a:solidFill>
                <a:srgbClr val="2A3480"/>
              </a:solidFill>
              <a:latin typeface="Barlow"/>
            </a:endParaRPr>
          </a:p>
        </p:txBody>
      </p:sp>
      <p:sp>
        <p:nvSpPr>
          <p:cNvPr id="4" name="Text 1"/>
          <p:cNvSpPr/>
          <p:nvPr/>
        </p:nvSpPr>
        <p:spPr>
          <a:xfrm>
            <a:off x="878512" y="1115396"/>
            <a:ext cx="6744190"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Current Financial Health</a:t>
            </a:r>
            <a:endParaRPr lang="en-US" sz="6000" dirty="0"/>
          </a:p>
        </p:txBody>
      </p:sp>
      <p:pic>
        <p:nvPicPr>
          <p:cNvPr id="5" name="Image 1" descr="preencoded.png"/>
          <p:cNvPicPr>
            <a:picLocks noChangeAspect="1"/>
          </p:cNvPicPr>
          <p:nvPr/>
        </p:nvPicPr>
        <p:blipFill>
          <a:blip r:embed="rId4"/>
          <a:stretch>
            <a:fillRect/>
          </a:stretch>
        </p:blipFill>
        <p:spPr>
          <a:xfrm>
            <a:off x="15297193" y="571429"/>
            <a:ext cx="2076365" cy="590493"/>
          </a:xfrm>
          <a:prstGeom prst="rect">
            <a:avLst/>
          </a:prstGeom>
        </p:spPr>
      </p:pic>
      <p:sp>
        <p:nvSpPr>
          <p:cNvPr id="6" name="Shape 2"/>
          <p:cNvSpPr/>
          <p:nvPr/>
        </p:nvSpPr>
        <p:spPr>
          <a:xfrm>
            <a:off x="914372" y="2086641"/>
            <a:ext cx="16459187" cy="9525"/>
          </a:xfrm>
          <a:prstGeom prst="rect">
            <a:avLst/>
          </a:prstGeom>
          <a:solidFill>
            <a:srgbClr val="1D1F20">
              <a:alpha val="18000"/>
            </a:srgbClr>
          </a:solidFill>
          <a:ln/>
        </p:spPr>
        <p:txBody>
          <a:bodyPr/>
          <a:lstStyle/>
          <a:p>
            <a:endParaRPr lang="en-US"/>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4372" y="3667480"/>
            <a:ext cx="6857930" cy="3977538"/>
          </a:xfrm>
          <a:prstGeom prst="rect">
            <a:avLst/>
          </a:prstGeom>
        </p:spPr>
      </p:pic>
      <p:sp>
        <p:nvSpPr>
          <p:cNvPr id="8" name="Text 3"/>
          <p:cNvSpPr/>
          <p:nvPr/>
        </p:nvSpPr>
        <p:spPr>
          <a:xfrm>
            <a:off x="1142929" y="7721204"/>
            <a:ext cx="205397"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0</a:t>
            </a:r>
            <a:endParaRPr lang="en-US" sz="2100" dirty="0"/>
          </a:p>
        </p:txBody>
      </p:sp>
      <p:sp>
        <p:nvSpPr>
          <p:cNvPr id="9" name="Text 4"/>
          <p:cNvSpPr/>
          <p:nvPr/>
        </p:nvSpPr>
        <p:spPr>
          <a:xfrm>
            <a:off x="7205408" y="7721204"/>
            <a:ext cx="414536"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100</a:t>
            </a:r>
            <a:endParaRPr lang="en-US" sz="2100" dirty="0"/>
          </a:p>
        </p:txBody>
      </p:sp>
      <p:sp>
        <p:nvSpPr>
          <p:cNvPr id="10" name="Text 5"/>
          <p:cNvSpPr/>
          <p:nvPr/>
        </p:nvSpPr>
        <p:spPr>
          <a:xfrm>
            <a:off x="8534301" y="2703499"/>
            <a:ext cx="9104435" cy="2467188"/>
          </a:xfrm>
          <a:prstGeom prst="rect">
            <a:avLst/>
          </a:prstGeom>
          <a:noFill/>
          <a:ln/>
        </p:spPr>
        <p:txBody>
          <a:bodyPr wrap="square" lIns="25400" tIns="25400" rIns="25400" bIns="25400" rtlCol="0" anchor="t">
            <a:normAutofit/>
          </a:bodyPr>
          <a:lstStyle/>
          <a:p>
            <a:pPr marL="0" indent="0" algn="l">
              <a:lnSpc>
                <a:spcPct val="126000"/>
              </a:lnSpc>
              <a:buNone/>
            </a:pPr>
            <a:r>
              <a:rPr lang="en-US" sz="2550" dirty="0">
                <a:solidFill>
                  <a:srgbClr val="1D1F20">
                    <a:alpha val="90000"/>
                  </a:srgbClr>
                </a:solidFill>
                <a:latin typeface="Barlow" pitchFamily="34" charset="0"/>
                <a:ea typeface="Barlow" pitchFamily="34" charset="-122"/>
                <a:cs typeface="Barlow" pitchFamily="34" charset="-120"/>
              </a:rPr>
              <a:t>Your current financial health is stable, with a score of 78%. The portfolio is adequately diversified, inflows are strong and every near-term goal is already funded. The score is held back by two things: 40% of the balance sheet is in property, and the plan currently depends on a single income.</a:t>
            </a:r>
            <a:endParaRPr lang="en-US" sz="2550" dirty="0"/>
          </a:p>
        </p:txBody>
      </p:sp>
      <p:sp>
        <p:nvSpPr>
          <p:cNvPr id="11" name="Shape 6"/>
          <p:cNvSpPr/>
          <p:nvPr/>
        </p:nvSpPr>
        <p:spPr>
          <a:xfrm>
            <a:off x="8534301" y="5627830"/>
            <a:ext cx="4267257" cy="1553482"/>
          </a:xfrm>
          <a:prstGeom prst="rect">
            <a:avLst/>
          </a:prstGeom>
          <a:ln w="9071">
            <a:solidFill>
              <a:srgbClr val="1F1F1F">
                <a:alpha val="16000"/>
              </a:srgbClr>
            </a:solidFill>
            <a:prstDash val="solid"/>
          </a:ln>
        </p:spPr>
        <p:txBody>
          <a:bodyPr/>
          <a:lstStyle/>
          <a:p>
            <a:endParaRPr lang="en-US"/>
          </a:p>
        </p:txBody>
      </p:sp>
      <p:sp>
        <p:nvSpPr>
          <p:cNvPr id="12" name="Text 7"/>
          <p:cNvSpPr/>
          <p:nvPr/>
        </p:nvSpPr>
        <p:spPr>
          <a:xfrm>
            <a:off x="8829052" y="5903587"/>
            <a:ext cx="404553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16" dirty="0">
                <a:solidFill>
                  <a:srgbClr val="1D1F20">
                    <a:alpha val="90000"/>
                  </a:srgbClr>
                </a:solidFill>
                <a:latin typeface="Barlow" pitchFamily="34" charset="0"/>
                <a:ea typeface="Barlow" pitchFamily="34" charset="-122"/>
                <a:cs typeface="Barlow" pitchFamily="34" charset="-120"/>
              </a:rPr>
              <a:t>SAVINGS RATE</a:t>
            </a:r>
            <a:endParaRPr lang="en-US" sz="2100" dirty="0"/>
          </a:p>
        </p:txBody>
      </p:sp>
      <p:sp>
        <p:nvSpPr>
          <p:cNvPr id="13" name="Text 8"/>
          <p:cNvSpPr/>
          <p:nvPr/>
        </p:nvSpPr>
        <p:spPr>
          <a:xfrm>
            <a:off x="8829052" y="6372183"/>
            <a:ext cx="4045531" cy="571472"/>
          </a:xfrm>
          <a:prstGeom prst="rect">
            <a:avLst/>
          </a:prstGeom>
          <a:noFill/>
          <a:ln/>
        </p:spPr>
        <p:txBody>
          <a:bodyPr wrap="square" lIns="25400" tIns="25400" rIns="25400" bIns="25400" rtlCol="0" anchor="t">
            <a:normAutofit lnSpcReduction="10000"/>
          </a:bodyPr>
          <a:lstStyle/>
          <a:p>
            <a:pPr marL="0" indent="0" algn="l">
              <a:lnSpc>
                <a:spcPct val="82817"/>
              </a:lnSpc>
              <a:buNone/>
            </a:pPr>
            <a:r>
              <a:rPr lang="en-US" sz="4200" dirty="0">
                <a:solidFill>
                  <a:srgbClr val="1D1F20"/>
                </a:solidFill>
                <a:latin typeface="Barlow Condensed" pitchFamily="34" charset="0"/>
                <a:ea typeface="Barlow Condensed" pitchFamily="34" charset="-122"/>
                <a:cs typeface="Barlow Condensed" pitchFamily="34" charset="-120"/>
              </a:rPr>
              <a:t>49%</a:t>
            </a:r>
            <a:endParaRPr lang="en-US" sz="4200" dirty="0"/>
          </a:p>
        </p:txBody>
      </p:sp>
      <p:sp>
        <p:nvSpPr>
          <p:cNvPr id="14" name="Shape 9"/>
          <p:cNvSpPr/>
          <p:nvPr/>
        </p:nvSpPr>
        <p:spPr>
          <a:xfrm>
            <a:off x="13106301" y="5627830"/>
            <a:ext cx="4267257" cy="1553482"/>
          </a:xfrm>
          <a:prstGeom prst="rect">
            <a:avLst/>
          </a:prstGeom>
          <a:ln w="9071">
            <a:solidFill>
              <a:srgbClr val="1F1F1F">
                <a:alpha val="16000"/>
              </a:srgbClr>
            </a:solidFill>
            <a:prstDash val="solid"/>
          </a:ln>
        </p:spPr>
        <p:txBody>
          <a:bodyPr/>
          <a:lstStyle/>
          <a:p>
            <a:endParaRPr lang="en-US"/>
          </a:p>
        </p:txBody>
      </p:sp>
      <p:sp>
        <p:nvSpPr>
          <p:cNvPr id="15" name="Text 10"/>
          <p:cNvSpPr/>
          <p:nvPr/>
        </p:nvSpPr>
        <p:spPr>
          <a:xfrm>
            <a:off x="13401052" y="5903587"/>
            <a:ext cx="404553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16" dirty="0">
                <a:solidFill>
                  <a:srgbClr val="1D1F20">
                    <a:alpha val="90000"/>
                  </a:srgbClr>
                </a:solidFill>
                <a:latin typeface="Barlow" pitchFamily="34" charset="0"/>
                <a:ea typeface="Barlow" pitchFamily="34" charset="-122"/>
                <a:cs typeface="Barlow" pitchFamily="34" charset="-120"/>
              </a:rPr>
              <a:t>EMERGENCY RESERVE</a:t>
            </a:r>
            <a:endParaRPr lang="en-US" sz="2100" dirty="0"/>
          </a:p>
        </p:txBody>
      </p:sp>
      <p:sp>
        <p:nvSpPr>
          <p:cNvPr id="16" name="Text 11"/>
          <p:cNvSpPr/>
          <p:nvPr/>
        </p:nvSpPr>
        <p:spPr>
          <a:xfrm>
            <a:off x="13401052" y="6372183"/>
            <a:ext cx="4045531" cy="571472"/>
          </a:xfrm>
          <a:prstGeom prst="rect">
            <a:avLst/>
          </a:prstGeom>
          <a:noFill/>
          <a:ln/>
        </p:spPr>
        <p:txBody>
          <a:bodyPr wrap="square" lIns="25400" tIns="25400" rIns="25400" bIns="25400" rtlCol="0" anchor="t">
            <a:normAutofit lnSpcReduction="10000"/>
          </a:bodyPr>
          <a:lstStyle/>
          <a:p>
            <a:pPr marL="0" indent="0" algn="l">
              <a:lnSpc>
                <a:spcPct val="82817"/>
              </a:lnSpc>
              <a:buNone/>
            </a:pPr>
            <a:r>
              <a:rPr lang="en-US" sz="4200" dirty="0">
                <a:solidFill>
                  <a:srgbClr val="1D1F20"/>
                </a:solidFill>
                <a:latin typeface="Barlow Condensed" pitchFamily="34" charset="0"/>
                <a:ea typeface="Barlow Condensed" pitchFamily="34" charset="-122"/>
                <a:cs typeface="Barlow Condensed" pitchFamily="34" charset="-120"/>
              </a:rPr>
              <a:t>12 months</a:t>
            </a:r>
            <a:endParaRPr lang="en-US" sz="4200" dirty="0"/>
          </a:p>
        </p:txBody>
      </p:sp>
      <p:sp>
        <p:nvSpPr>
          <p:cNvPr id="17" name="Shape 12"/>
          <p:cNvSpPr/>
          <p:nvPr/>
        </p:nvSpPr>
        <p:spPr>
          <a:xfrm>
            <a:off x="8534301" y="7486055"/>
            <a:ext cx="4267257" cy="1553482"/>
          </a:xfrm>
          <a:prstGeom prst="rect">
            <a:avLst/>
          </a:prstGeom>
          <a:ln w="9071">
            <a:solidFill>
              <a:srgbClr val="1F1F1F">
                <a:alpha val="16000"/>
              </a:srgbClr>
            </a:solidFill>
            <a:prstDash val="solid"/>
          </a:ln>
        </p:spPr>
        <p:txBody>
          <a:bodyPr/>
          <a:lstStyle/>
          <a:p>
            <a:endParaRPr lang="en-US"/>
          </a:p>
        </p:txBody>
      </p:sp>
      <p:sp>
        <p:nvSpPr>
          <p:cNvPr id="18" name="Text 13"/>
          <p:cNvSpPr/>
          <p:nvPr/>
        </p:nvSpPr>
        <p:spPr>
          <a:xfrm>
            <a:off x="8829052" y="7761812"/>
            <a:ext cx="404553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16" dirty="0">
                <a:solidFill>
                  <a:srgbClr val="1D1F20">
                    <a:alpha val="90000"/>
                  </a:srgbClr>
                </a:solidFill>
                <a:latin typeface="Barlow" pitchFamily="34" charset="0"/>
                <a:ea typeface="Barlow" pitchFamily="34" charset="-122"/>
                <a:cs typeface="Barlow" pitchFamily="34" charset="-120"/>
              </a:rPr>
              <a:t>DEBT TO INCOME</a:t>
            </a:r>
            <a:endParaRPr lang="en-US" sz="2100" dirty="0"/>
          </a:p>
        </p:txBody>
      </p:sp>
      <p:sp>
        <p:nvSpPr>
          <p:cNvPr id="19" name="Text 14"/>
          <p:cNvSpPr/>
          <p:nvPr/>
        </p:nvSpPr>
        <p:spPr>
          <a:xfrm>
            <a:off x="8829052" y="8230409"/>
            <a:ext cx="4045531" cy="571472"/>
          </a:xfrm>
          <a:prstGeom prst="rect">
            <a:avLst/>
          </a:prstGeom>
          <a:noFill/>
          <a:ln/>
        </p:spPr>
        <p:txBody>
          <a:bodyPr wrap="square" lIns="25400" tIns="25400" rIns="25400" bIns="25400" rtlCol="0" anchor="t">
            <a:normAutofit lnSpcReduction="10000"/>
          </a:bodyPr>
          <a:lstStyle/>
          <a:p>
            <a:pPr marL="0" indent="0" algn="l">
              <a:lnSpc>
                <a:spcPct val="82817"/>
              </a:lnSpc>
              <a:buNone/>
            </a:pPr>
            <a:r>
              <a:rPr lang="en-US" sz="4200" dirty="0">
                <a:solidFill>
                  <a:srgbClr val="1D1F20"/>
                </a:solidFill>
                <a:latin typeface="Barlow Condensed" pitchFamily="34" charset="0"/>
                <a:ea typeface="Barlow Condensed" pitchFamily="34" charset="-122"/>
                <a:cs typeface="Barlow Condensed" pitchFamily="34" charset="-120"/>
              </a:rPr>
              <a:t>13%</a:t>
            </a:r>
            <a:endParaRPr lang="en-US" sz="4200" dirty="0"/>
          </a:p>
        </p:txBody>
      </p:sp>
      <p:sp>
        <p:nvSpPr>
          <p:cNvPr id="20" name="Shape 15"/>
          <p:cNvSpPr/>
          <p:nvPr/>
        </p:nvSpPr>
        <p:spPr>
          <a:xfrm>
            <a:off x="13106301" y="7486055"/>
            <a:ext cx="4267257" cy="1553482"/>
          </a:xfrm>
          <a:prstGeom prst="rect">
            <a:avLst/>
          </a:prstGeom>
          <a:ln w="9071">
            <a:solidFill>
              <a:srgbClr val="1F1F1F">
                <a:alpha val="16000"/>
              </a:srgbClr>
            </a:solidFill>
            <a:prstDash val="solid"/>
          </a:ln>
        </p:spPr>
        <p:txBody>
          <a:bodyPr/>
          <a:lstStyle/>
          <a:p>
            <a:endParaRPr lang="en-US"/>
          </a:p>
        </p:txBody>
      </p:sp>
      <p:sp>
        <p:nvSpPr>
          <p:cNvPr id="21" name="Text 16"/>
          <p:cNvSpPr/>
          <p:nvPr/>
        </p:nvSpPr>
        <p:spPr>
          <a:xfrm>
            <a:off x="13401052" y="7761812"/>
            <a:ext cx="404553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16" dirty="0">
                <a:solidFill>
                  <a:srgbClr val="1D1F20">
                    <a:alpha val="90000"/>
                  </a:srgbClr>
                </a:solidFill>
                <a:latin typeface="Barlow" pitchFamily="34" charset="0"/>
                <a:ea typeface="Barlow" pitchFamily="34" charset="-122"/>
                <a:cs typeface="Barlow" pitchFamily="34" charset="-120"/>
              </a:rPr>
              <a:t>GROSS MONTHLY INCOME</a:t>
            </a:r>
            <a:endParaRPr lang="en-US" sz="2100" dirty="0"/>
          </a:p>
        </p:txBody>
      </p:sp>
      <p:sp>
        <p:nvSpPr>
          <p:cNvPr id="22" name="Text 17"/>
          <p:cNvSpPr/>
          <p:nvPr/>
        </p:nvSpPr>
        <p:spPr>
          <a:xfrm>
            <a:off x="13401052" y="8230409"/>
            <a:ext cx="4045531" cy="571472"/>
          </a:xfrm>
          <a:prstGeom prst="rect">
            <a:avLst/>
          </a:prstGeom>
          <a:noFill/>
          <a:ln/>
        </p:spPr>
        <p:txBody>
          <a:bodyPr wrap="square" lIns="25400" tIns="25400" rIns="25400" bIns="25400" rtlCol="0" anchor="t">
            <a:normAutofit lnSpcReduction="10000"/>
          </a:bodyPr>
          <a:lstStyle/>
          <a:p>
            <a:pPr marL="0" indent="0" algn="l">
              <a:lnSpc>
                <a:spcPct val="82817"/>
              </a:lnSpc>
              <a:buNone/>
            </a:pPr>
            <a:r>
              <a:rPr lang="en-US" sz="4200" dirty="0">
                <a:solidFill>
                  <a:srgbClr val="1D1F20"/>
                </a:solidFill>
                <a:latin typeface="Barlow Condensed" pitchFamily="34" charset="0"/>
                <a:ea typeface="Barlow Condensed" pitchFamily="34" charset="-122"/>
                <a:cs typeface="Barlow Condensed" pitchFamily="34" charset="-120"/>
              </a:rPr>
              <a:t>₹4.50 L</a:t>
            </a:r>
            <a:endParaRPr lang="en-US" sz="4200" dirty="0"/>
          </a:p>
        </p:txBody>
      </p:sp>
      <p:sp>
        <p:nvSpPr>
          <p:cNvPr id="23" name="Text 18"/>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24" name="Text 19"/>
          <p:cNvSpPr/>
          <p:nvPr/>
        </p:nvSpPr>
        <p:spPr>
          <a:xfrm>
            <a:off x="16702132" y="9475462"/>
            <a:ext cx="747627"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08 / 32</a:t>
            </a:r>
            <a:endParaRPr lang="en-US" sz="2100" dirty="0"/>
          </a:p>
        </p:txBody>
      </p:sp>
    </p:spTree>
    <p:extLst>
      <p:ext uri="{BB962C8B-B14F-4D97-AF65-F5344CB8AC3E}">
        <p14:creationId xmlns:p14="http://schemas.microsoft.com/office/powerpoint/2010/main" val="554259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3134909"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LIABILITIES</a:t>
            </a:r>
            <a:endParaRPr lang="en-US" sz="2100" b="1" dirty="0">
              <a:solidFill>
                <a:srgbClr val="2A3480"/>
              </a:solidFill>
              <a:latin typeface="Barlow"/>
            </a:endParaRPr>
          </a:p>
        </p:txBody>
      </p:sp>
      <p:sp>
        <p:nvSpPr>
          <p:cNvPr id="3" name="Text 1"/>
          <p:cNvSpPr/>
          <p:nvPr/>
        </p:nvSpPr>
        <p:spPr>
          <a:xfrm>
            <a:off x="887477" y="1124361"/>
            <a:ext cx="3134909"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Home Loan</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372" y="2419945"/>
            <a:ext cx="8001001" cy="4811188"/>
          </a:xfrm>
          <a:prstGeom prst="rect">
            <a:avLst/>
          </a:prstGeom>
          <a:ln w="9071">
            <a:solidFill>
              <a:srgbClr val="1F1F1F">
                <a:alpha val="16000"/>
              </a:srgbClr>
            </a:solidFill>
            <a:prstDash val="solid"/>
          </a:ln>
        </p:spPr>
        <p:txBody>
          <a:bodyPr/>
          <a:lstStyle/>
          <a:p>
            <a:endParaRPr lang="en-US"/>
          </a:p>
        </p:txBody>
      </p:sp>
      <p:sp>
        <p:nvSpPr>
          <p:cNvPr id="7" name="Text 4"/>
          <p:cNvSpPr/>
          <p:nvPr/>
        </p:nvSpPr>
        <p:spPr>
          <a:xfrm>
            <a:off x="1209122" y="2676639"/>
            <a:ext cx="815264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LOAN DETAILS</a:t>
            </a:r>
            <a:endParaRPr lang="en-US" sz="2100" dirty="0"/>
          </a:p>
        </p:txBody>
      </p:sp>
      <p:sp>
        <p:nvSpPr>
          <p:cNvPr id="8" name="Shape 5"/>
          <p:cNvSpPr/>
          <p:nvPr/>
        </p:nvSpPr>
        <p:spPr>
          <a:xfrm>
            <a:off x="1209122" y="3915526"/>
            <a:ext cx="7411499" cy="9525"/>
          </a:xfrm>
          <a:prstGeom prst="rect">
            <a:avLst/>
          </a:prstGeom>
          <a:solidFill>
            <a:srgbClr val="1D1F20">
              <a:alpha val="12000"/>
            </a:srgbClr>
          </a:solidFill>
          <a:ln/>
        </p:spPr>
        <p:txBody>
          <a:bodyPr/>
          <a:lstStyle/>
          <a:p>
            <a:endParaRPr lang="en-US"/>
          </a:p>
        </p:txBody>
      </p:sp>
      <p:sp>
        <p:nvSpPr>
          <p:cNvPr id="9" name="Text 6"/>
          <p:cNvSpPr/>
          <p:nvPr/>
        </p:nvSpPr>
        <p:spPr>
          <a:xfrm>
            <a:off x="1209122" y="3370107"/>
            <a:ext cx="2609085"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Amount Outstanding</a:t>
            </a:r>
            <a:endParaRPr lang="en-US" sz="2100" dirty="0"/>
          </a:p>
        </p:txBody>
      </p:sp>
      <p:sp>
        <p:nvSpPr>
          <p:cNvPr id="10" name="Text 7"/>
          <p:cNvSpPr/>
          <p:nvPr/>
        </p:nvSpPr>
        <p:spPr>
          <a:xfrm>
            <a:off x="7286626" y="3279393"/>
            <a:ext cx="1467396"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₹38,00,000</a:t>
            </a:r>
            <a:endParaRPr lang="en-US" sz="2700" dirty="0"/>
          </a:p>
        </p:txBody>
      </p:sp>
      <p:sp>
        <p:nvSpPr>
          <p:cNvPr id="11" name="Shape 8"/>
          <p:cNvSpPr/>
          <p:nvPr/>
        </p:nvSpPr>
        <p:spPr>
          <a:xfrm>
            <a:off x="1209122" y="4665479"/>
            <a:ext cx="7411499" cy="9525"/>
          </a:xfrm>
          <a:prstGeom prst="rect">
            <a:avLst/>
          </a:prstGeom>
          <a:solidFill>
            <a:srgbClr val="1D1F20">
              <a:alpha val="12000"/>
            </a:srgbClr>
          </a:solidFill>
          <a:ln/>
        </p:spPr>
        <p:txBody>
          <a:bodyPr/>
          <a:lstStyle/>
          <a:p>
            <a:endParaRPr lang="en-US"/>
          </a:p>
        </p:txBody>
      </p:sp>
      <p:sp>
        <p:nvSpPr>
          <p:cNvPr id="12" name="Text 9"/>
          <p:cNvSpPr/>
          <p:nvPr/>
        </p:nvSpPr>
        <p:spPr>
          <a:xfrm>
            <a:off x="1209122" y="4120059"/>
            <a:ext cx="164498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Interest Rate</a:t>
            </a:r>
            <a:endParaRPr lang="en-US" sz="2100" dirty="0"/>
          </a:p>
        </p:txBody>
      </p:sp>
      <p:sp>
        <p:nvSpPr>
          <p:cNvPr id="13" name="Text 10"/>
          <p:cNvSpPr/>
          <p:nvPr/>
        </p:nvSpPr>
        <p:spPr>
          <a:xfrm>
            <a:off x="7848345" y="4029344"/>
            <a:ext cx="848476"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8.40%</a:t>
            </a:r>
            <a:endParaRPr lang="en-US" sz="2700" dirty="0"/>
          </a:p>
        </p:txBody>
      </p:sp>
      <p:sp>
        <p:nvSpPr>
          <p:cNvPr id="14" name="Shape 11"/>
          <p:cNvSpPr/>
          <p:nvPr/>
        </p:nvSpPr>
        <p:spPr>
          <a:xfrm>
            <a:off x="1209122" y="5415430"/>
            <a:ext cx="7411499" cy="9525"/>
          </a:xfrm>
          <a:prstGeom prst="rect">
            <a:avLst/>
          </a:prstGeom>
          <a:solidFill>
            <a:srgbClr val="1D1F20">
              <a:alpha val="12000"/>
            </a:srgbClr>
          </a:solidFill>
          <a:ln/>
        </p:spPr>
        <p:txBody>
          <a:bodyPr/>
          <a:lstStyle/>
          <a:p>
            <a:endParaRPr lang="en-US"/>
          </a:p>
        </p:txBody>
      </p:sp>
      <p:sp>
        <p:nvSpPr>
          <p:cNvPr id="15" name="Text 12"/>
          <p:cNvSpPr/>
          <p:nvPr/>
        </p:nvSpPr>
        <p:spPr>
          <a:xfrm>
            <a:off x="1209122" y="4870011"/>
            <a:ext cx="49731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EMI</a:t>
            </a:r>
            <a:endParaRPr lang="en-US" sz="2100" dirty="0"/>
          </a:p>
        </p:txBody>
      </p:sp>
      <p:sp>
        <p:nvSpPr>
          <p:cNvPr id="16" name="Text 13"/>
          <p:cNvSpPr/>
          <p:nvPr/>
        </p:nvSpPr>
        <p:spPr>
          <a:xfrm>
            <a:off x="7644309" y="4779297"/>
            <a:ext cx="1052513"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₹42,500</a:t>
            </a:r>
            <a:endParaRPr lang="en-US" sz="2700" dirty="0"/>
          </a:p>
        </p:txBody>
      </p:sp>
      <p:sp>
        <p:nvSpPr>
          <p:cNvPr id="17" name="Shape 14"/>
          <p:cNvSpPr/>
          <p:nvPr/>
        </p:nvSpPr>
        <p:spPr>
          <a:xfrm>
            <a:off x="1209122" y="6165383"/>
            <a:ext cx="7411499" cy="9525"/>
          </a:xfrm>
          <a:prstGeom prst="rect">
            <a:avLst/>
          </a:prstGeom>
          <a:solidFill>
            <a:srgbClr val="1D1F20">
              <a:alpha val="12000"/>
            </a:srgbClr>
          </a:solidFill>
          <a:ln/>
        </p:spPr>
        <p:txBody>
          <a:bodyPr/>
          <a:lstStyle/>
          <a:p>
            <a:endParaRPr lang="en-US"/>
          </a:p>
        </p:txBody>
      </p:sp>
      <p:sp>
        <p:nvSpPr>
          <p:cNvPr id="18" name="Text 15"/>
          <p:cNvSpPr/>
          <p:nvPr/>
        </p:nvSpPr>
        <p:spPr>
          <a:xfrm>
            <a:off x="1209122" y="5619963"/>
            <a:ext cx="1554630"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Closing Year</a:t>
            </a:r>
            <a:endParaRPr lang="en-US" sz="2100" dirty="0"/>
          </a:p>
        </p:txBody>
      </p:sp>
      <p:sp>
        <p:nvSpPr>
          <p:cNvPr id="19" name="Text 16"/>
          <p:cNvSpPr/>
          <p:nvPr/>
        </p:nvSpPr>
        <p:spPr>
          <a:xfrm>
            <a:off x="8052382" y="5529249"/>
            <a:ext cx="644440"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2039</a:t>
            </a:r>
            <a:endParaRPr lang="en-US" sz="2700" dirty="0"/>
          </a:p>
        </p:txBody>
      </p:sp>
      <p:sp>
        <p:nvSpPr>
          <p:cNvPr id="20" name="Text 17"/>
          <p:cNvSpPr/>
          <p:nvPr/>
        </p:nvSpPr>
        <p:spPr>
          <a:xfrm>
            <a:off x="1209122" y="6369915"/>
            <a:ext cx="298460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Interest on Outstanding</a:t>
            </a:r>
            <a:endParaRPr lang="en-US" sz="2100" dirty="0"/>
          </a:p>
        </p:txBody>
      </p:sp>
      <p:sp>
        <p:nvSpPr>
          <p:cNvPr id="21" name="Text 18"/>
          <p:cNvSpPr/>
          <p:nvPr/>
        </p:nvSpPr>
        <p:spPr>
          <a:xfrm>
            <a:off x="7324399" y="6279201"/>
            <a:ext cx="1425844"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₹27,40,000</a:t>
            </a:r>
            <a:endParaRPr lang="en-US" sz="2700" dirty="0"/>
          </a:p>
        </p:txBody>
      </p:sp>
      <p:sp>
        <p:nvSpPr>
          <p:cNvPr id="22" name="Shape 19"/>
          <p:cNvSpPr/>
          <p:nvPr/>
        </p:nvSpPr>
        <p:spPr>
          <a:xfrm>
            <a:off x="9372558" y="2419945"/>
            <a:ext cx="8001001" cy="4811188"/>
          </a:xfrm>
          <a:prstGeom prst="rect">
            <a:avLst/>
          </a:prstGeom>
          <a:ln w="9071">
            <a:solidFill>
              <a:srgbClr val="1F1F1F">
                <a:alpha val="16000"/>
              </a:srgbClr>
            </a:solidFill>
            <a:prstDash val="solid"/>
          </a:ln>
        </p:spPr>
        <p:txBody>
          <a:bodyPr/>
          <a:lstStyle/>
          <a:p>
            <a:endParaRPr lang="en-US"/>
          </a:p>
        </p:txBody>
      </p:sp>
      <p:sp>
        <p:nvSpPr>
          <p:cNvPr id="23" name="Text 20"/>
          <p:cNvSpPr/>
          <p:nvPr/>
        </p:nvSpPr>
        <p:spPr>
          <a:xfrm>
            <a:off x="9667309" y="2676639"/>
            <a:ext cx="815264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PREPAYMENT DETAILS</a:t>
            </a:r>
            <a:endParaRPr lang="en-US" sz="2100" dirty="0"/>
          </a:p>
        </p:txBody>
      </p:sp>
      <p:sp>
        <p:nvSpPr>
          <p:cNvPr id="24" name="Shape 21"/>
          <p:cNvSpPr/>
          <p:nvPr/>
        </p:nvSpPr>
        <p:spPr>
          <a:xfrm>
            <a:off x="9667309" y="3915526"/>
            <a:ext cx="7411499" cy="9525"/>
          </a:xfrm>
          <a:prstGeom prst="rect">
            <a:avLst/>
          </a:prstGeom>
          <a:solidFill>
            <a:srgbClr val="1D1F20">
              <a:alpha val="12000"/>
            </a:srgbClr>
          </a:solidFill>
          <a:ln/>
        </p:spPr>
        <p:txBody>
          <a:bodyPr/>
          <a:lstStyle/>
          <a:p>
            <a:endParaRPr lang="en-US"/>
          </a:p>
        </p:txBody>
      </p:sp>
      <p:sp>
        <p:nvSpPr>
          <p:cNvPr id="25" name="Text 22"/>
          <p:cNvSpPr/>
          <p:nvPr/>
        </p:nvSpPr>
        <p:spPr>
          <a:xfrm>
            <a:off x="9667309" y="3370107"/>
            <a:ext cx="260152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Prepayment Amount</a:t>
            </a:r>
            <a:endParaRPr lang="en-US" sz="2100" dirty="0"/>
          </a:p>
        </p:txBody>
      </p:sp>
      <p:sp>
        <p:nvSpPr>
          <p:cNvPr id="26" name="Text 23"/>
          <p:cNvSpPr/>
          <p:nvPr/>
        </p:nvSpPr>
        <p:spPr>
          <a:xfrm>
            <a:off x="15889175" y="3279393"/>
            <a:ext cx="1265833"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₹5,00,000</a:t>
            </a:r>
            <a:endParaRPr lang="en-US" sz="2700" dirty="0"/>
          </a:p>
        </p:txBody>
      </p:sp>
      <p:sp>
        <p:nvSpPr>
          <p:cNvPr id="27" name="Shape 24"/>
          <p:cNvSpPr/>
          <p:nvPr/>
        </p:nvSpPr>
        <p:spPr>
          <a:xfrm>
            <a:off x="9667309" y="4665479"/>
            <a:ext cx="7411499" cy="9525"/>
          </a:xfrm>
          <a:prstGeom prst="rect">
            <a:avLst/>
          </a:prstGeom>
          <a:solidFill>
            <a:srgbClr val="1D1F20">
              <a:alpha val="12000"/>
            </a:srgbClr>
          </a:solidFill>
          <a:ln/>
        </p:spPr>
        <p:txBody>
          <a:bodyPr/>
          <a:lstStyle/>
          <a:p>
            <a:endParaRPr lang="en-US"/>
          </a:p>
        </p:txBody>
      </p:sp>
      <p:sp>
        <p:nvSpPr>
          <p:cNvPr id="28" name="Text 25"/>
          <p:cNvSpPr/>
          <p:nvPr/>
        </p:nvSpPr>
        <p:spPr>
          <a:xfrm>
            <a:off x="9667309" y="4120059"/>
            <a:ext cx="1455468"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EMI Top-Up</a:t>
            </a:r>
            <a:endParaRPr lang="en-US" sz="2100" dirty="0"/>
          </a:p>
        </p:txBody>
      </p:sp>
      <p:sp>
        <p:nvSpPr>
          <p:cNvPr id="29" name="Text 26"/>
          <p:cNvSpPr/>
          <p:nvPr/>
        </p:nvSpPr>
        <p:spPr>
          <a:xfrm>
            <a:off x="15888253" y="4029344"/>
            <a:ext cx="1266754"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5% a year</a:t>
            </a:r>
            <a:endParaRPr lang="en-US" sz="2700" dirty="0"/>
          </a:p>
        </p:txBody>
      </p:sp>
      <p:sp>
        <p:nvSpPr>
          <p:cNvPr id="30" name="Shape 27"/>
          <p:cNvSpPr/>
          <p:nvPr/>
        </p:nvSpPr>
        <p:spPr>
          <a:xfrm>
            <a:off x="9667309" y="5474537"/>
            <a:ext cx="7411499" cy="9525"/>
          </a:xfrm>
          <a:prstGeom prst="rect">
            <a:avLst/>
          </a:prstGeom>
          <a:solidFill>
            <a:srgbClr val="1D1F20">
              <a:alpha val="12000"/>
            </a:srgbClr>
          </a:solidFill>
          <a:ln/>
        </p:spPr>
        <p:txBody>
          <a:bodyPr/>
          <a:lstStyle/>
          <a:p>
            <a:endParaRPr lang="en-US"/>
          </a:p>
        </p:txBody>
      </p:sp>
      <p:sp>
        <p:nvSpPr>
          <p:cNvPr id="31" name="Text 28"/>
          <p:cNvSpPr/>
          <p:nvPr/>
        </p:nvSpPr>
        <p:spPr>
          <a:xfrm>
            <a:off x="9667309" y="4910832"/>
            <a:ext cx="182771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Interest Saved</a:t>
            </a:r>
            <a:endParaRPr lang="en-US" sz="2100" dirty="0"/>
          </a:p>
        </p:txBody>
      </p:sp>
      <p:sp>
        <p:nvSpPr>
          <p:cNvPr id="32" name="Text 29"/>
          <p:cNvSpPr/>
          <p:nvPr/>
        </p:nvSpPr>
        <p:spPr>
          <a:xfrm>
            <a:off x="15728441" y="4779297"/>
            <a:ext cx="1485404" cy="628593"/>
          </a:xfrm>
          <a:prstGeom prst="rect">
            <a:avLst/>
          </a:prstGeom>
          <a:noFill/>
          <a:ln/>
        </p:spPr>
        <p:txBody>
          <a:bodyPr wrap="square" lIns="25400" tIns="25400" rIns="25400" bIns="25400" rtlCol="0" anchor="t">
            <a:normAutofit/>
          </a:bodyPr>
          <a:lstStyle/>
          <a:p>
            <a:pPr marL="0" indent="0" algn="l">
              <a:lnSpc>
                <a:spcPct val="128911"/>
              </a:lnSpc>
              <a:buNone/>
            </a:pPr>
            <a:r>
              <a:rPr lang="en-US" sz="3000" dirty="0">
                <a:solidFill>
                  <a:srgbClr val="2F7D3A"/>
                </a:solidFill>
                <a:latin typeface="Barlow Condensed" pitchFamily="34" charset="0"/>
                <a:ea typeface="Barlow Condensed" pitchFamily="34" charset="-122"/>
                <a:cs typeface="Barlow Condensed" pitchFamily="34" charset="-120"/>
              </a:rPr>
              <a:t>₹11,20,000</a:t>
            </a:r>
            <a:endParaRPr lang="en-US" sz="3000" dirty="0"/>
          </a:p>
        </p:txBody>
      </p:sp>
      <p:sp>
        <p:nvSpPr>
          <p:cNvPr id="33" name="Shape 30"/>
          <p:cNvSpPr/>
          <p:nvPr/>
        </p:nvSpPr>
        <p:spPr>
          <a:xfrm>
            <a:off x="9667309" y="6224489"/>
            <a:ext cx="7411499" cy="9525"/>
          </a:xfrm>
          <a:prstGeom prst="rect">
            <a:avLst/>
          </a:prstGeom>
          <a:solidFill>
            <a:srgbClr val="1D1F20">
              <a:alpha val="12000"/>
            </a:srgbClr>
          </a:solidFill>
          <a:ln/>
        </p:spPr>
        <p:txBody>
          <a:bodyPr/>
          <a:lstStyle/>
          <a:p>
            <a:endParaRPr lang="en-US"/>
          </a:p>
        </p:txBody>
      </p:sp>
      <p:sp>
        <p:nvSpPr>
          <p:cNvPr id="34" name="Text 31"/>
          <p:cNvSpPr/>
          <p:nvPr/>
        </p:nvSpPr>
        <p:spPr>
          <a:xfrm>
            <a:off x="9667309" y="5679069"/>
            <a:ext cx="1554630"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Closing Year</a:t>
            </a:r>
            <a:endParaRPr lang="en-US" sz="2100" dirty="0"/>
          </a:p>
        </p:txBody>
      </p:sp>
      <p:sp>
        <p:nvSpPr>
          <p:cNvPr id="35" name="Text 32"/>
          <p:cNvSpPr/>
          <p:nvPr/>
        </p:nvSpPr>
        <p:spPr>
          <a:xfrm>
            <a:off x="16506458" y="5588355"/>
            <a:ext cx="648550"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2034</a:t>
            </a:r>
            <a:endParaRPr lang="en-US" sz="2700" dirty="0"/>
          </a:p>
        </p:txBody>
      </p:sp>
      <p:sp>
        <p:nvSpPr>
          <p:cNvPr id="36" name="Text 33"/>
          <p:cNvSpPr/>
          <p:nvPr/>
        </p:nvSpPr>
        <p:spPr>
          <a:xfrm>
            <a:off x="9667309" y="6429021"/>
            <a:ext cx="152820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Years Saved</a:t>
            </a:r>
            <a:endParaRPr lang="en-US" sz="2100" dirty="0"/>
          </a:p>
        </p:txBody>
      </p:sp>
      <p:sp>
        <p:nvSpPr>
          <p:cNvPr id="37" name="Text 34"/>
          <p:cNvSpPr/>
          <p:nvPr/>
        </p:nvSpPr>
        <p:spPr>
          <a:xfrm>
            <a:off x="16238000" y="6338307"/>
            <a:ext cx="917008"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5 years</a:t>
            </a:r>
            <a:endParaRPr lang="en-US" sz="2700" dirty="0"/>
          </a:p>
        </p:txBody>
      </p:sp>
      <p:sp>
        <p:nvSpPr>
          <p:cNvPr id="38" name="Shape 35"/>
          <p:cNvSpPr/>
          <p:nvPr/>
        </p:nvSpPr>
        <p:spPr>
          <a:xfrm>
            <a:off x="914372" y="7459691"/>
            <a:ext cx="16459187" cy="9525"/>
          </a:xfrm>
          <a:prstGeom prst="rect">
            <a:avLst/>
          </a:prstGeom>
          <a:solidFill>
            <a:srgbClr val="1D1F20">
              <a:alpha val="18000"/>
            </a:srgbClr>
          </a:solidFill>
          <a:ln/>
        </p:spPr>
        <p:txBody>
          <a:bodyPr/>
          <a:lstStyle/>
          <a:p>
            <a:endParaRPr lang="en-US"/>
          </a:p>
        </p:txBody>
      </p:sp>
      <p:sp>
        <p:nvSpPr>
          <p:cNvPr id="39" name="Text 36"/>
          <p:cNvSpPr/>
          <p:nvPr/>
        </p:nvSpPr>
        <p:spPr>
          <a:xfrm>
            <a:off x="914372" y="7697363"/>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40" name="Text 37"/>
          <p:cNvSpPr/>
          <p:nvPr/>
        </p:nvSpPr>
        <p:spPr>
          <a:xfrm>
            <a:off x="3276487" y="7659263"/>
            <a:ext cx="13244441" cy="768492"/>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At 8.4% the loan costs more than the post-tax return on your deposits, so prepaying from the FD surplus is the better use of that money. Closing in 2034 also frees the EMI before retirement.</a:t>
            </a:r>
            <a:endParaRPr lang="en-US" sz="2100" dirty="0"/>
          </a:p>
        </p:txBody>
      </p:sp>
      <p:sp>
        <p:nvSpPr>
          <p:cNvPr id="41" name="Text 38"/>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42" name="Text 39"/>
          <p:cNvSpPr/>
          <p:nvPr/>
        </p:nvSpPr>
        <p:spPr>
          <a:xfrm>
            <a:off x="16789657" y="9475462"/>
            <a:ext cx="660102"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11 / 32</a:t>
            </a:r>
            <a:endParaRPr lang="en-US" sz="2100" dirty="0"/>
          </a:p>
        </p:txBody>
      </p:sp>
    </p:spTree>
    <p:extLst>
      <p:ext uri="{BB962C8B-B14F-4D97-AF65-F5344CB8AC3E}">
        <p14:creationId xmlns:p14="http://schemas.microsoft.com/office/powerpoint/2010/main" val="2329659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3056951"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LIABILITIES</a:t>
            </a:r>
            <a:endParaRPr lang="en-US" sz="2100" b="1" dirty="0">
              <a:solidFill>
                <a:srgbClr val="2A3480"/>
              </a:solidFill>
              <a:latin typeface="Barlow"/>
            </a:endParaRPr>
          </a:p>
        </p:txBody>
      </p:sp>
      <p:sp>
        <p:nvSpPr>
          <p:cNvPr id="3" name="Text 1"/>
          <p:cNvSpPr/>
          <p:nvPr/>
        </p:nvSpPr>
        <p:spPr>
          <a:xfrm>
            <a:off x="914372" y="1088501"/>
            <a:ext cx="3056951"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Other Loan</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372" y="2419945"/>
            <a:ext cx="8001001" cy="4811188"/>
          </a:xfrm>
          <a:prstGeom prst="rect">
            <a:avLst/>
          </a:prstGeom>
          <a:ln w="9071">
            <a:solidFill>
              <a:srgbClr val="1F1F1F">
                <a:alpha val="16000"/>
              </a:srgbClr>
            </a:solidFill>
            <a:prstDash val="solid"/>
          </a:ln>
        </p:spPr>
        <p:txBody>
          <a:bodyPr/>
          <a:lstStyle/>
          <a:p>
            <a:endParaRPr lang="en-US"/>
          </a:p>
        </p:txBody>
      </p:sp>
      <p:sp>
        <p:nvSpPr>
          <p:cNvPr id="7" name="Text 4"/>
          <p:cNvSpPr/>
          <p:nvPr/>
        </p:nvSpPr>
        <p:spPr>
          <a:xfrm>
            <a:off x="1209122" y="2676639"/>
            <a:ext cx="815264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LOAN DETAILS — CAR</a:t>
            </a:r>
            <a:endParaRPr lang="en-US" sz="2100" dirty="0"/>
          </a:p>
        </p:txBody>
      </p:sp>
      <p:sp>
        <p:nvSpPr>
          <p:cNvPr id="8" name="Shape 5"/>
          <p:cNvSpPr/>
          <p:nvPr/>
        </p:nvSpPr>
        <p:spPr>
          <a:xfrm>
            <a:off x="1209122" y="3915526"/>
            <a:ext cx="7411499" cy="9525"/>
          </a:xfrm>
          <a:prstGeom prst="rect">
            <a:avLst/>
          </a:prstGeom>
          <a:solidFill>
            <a:srgbClr val="1D1F20">
              <a:alpha val="12000"/>
            </a:srgbClr>
          </a:solidFill>
          <a:ln/>
        </p:spPr>
        <p:txBody>
          <a:bodyPr/>
          <a:lstStyle/>
          <a:p>
            <a:endParaRPr lang="en-US"/>
          </a:p>
        </p:txBody>
      </p:sp>
      <p:sp>
        <p:nvSpPr>
          <p:cNvPr id="9" name="Text 6"/>
          <p:cNvSpPr/>
          <p:nvPr/>
        </p:nvSpPr>
        <p:spPr>
          <a:xfrm>
            <a:off x="1209122" y="3370107"/>
            <a:ext cx="2609085"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Amount Outstanding</a:t>
            </a:r>
            <a:endParaRPr lang="en-US" sz="2100" dirty="0"/>
          </a:p>
        </p:txBody>
      </p:sp>
      <p:sp>
        <p:nvSpPr>
          <p:cNvPr id="10" name="Text 7"/>
          <p:cNvSpPr/>
          <p:nvPr/>
        </p:nvSpPr>
        <p:spPr>
          <a:xfrm>
            <a:off x="7433044" y="3279393"/>
            <a:ext cx="1263778"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₹6,20,000</a:t>
            </a:r>
            <a:endParaRPr lang="en-US" sz="2700" dirty="0"/>
          </a:p>
        </p:txBody>
      </p:sp>
      <p:sp>
        <p:nvSpPr>
          <p:cNvPr id="11" name="Shape 8"/>
          <p:cNvSpPr/>
          <p:nvPr/>
        </p:nvSpPr>
        <p:spPr>
          <a:xfrm>
            <a:off x="1209122" y="4665479"/>
            <a:ext cx="7411499" cy="9525"/>
          </a:xfrm>
          <a:prstGeom prst="rect">
            <a:avLst/>
          </a:prstGeom>
          <a:solidFill>
            <a:srgbClr val="1D1F20">
              <a:alpha val="12000"/>
            </a:srgbClr>
          </a:solidFill>
          <a:ln/>
        </p:spPr>
        <p:txBody>
          <a:bodyPr/>
          <a:lstStyle/>
          <a:p>
            <a:endParaRPr lang="en-US"/>
          </a:p>
        </p:txBody>
      </p:sp>
      <p:sp>
        <p:nvSpPr>
          <p:cNvPr id="12" name="Text 9"/>
          <p:cNvSpPr/>
          <p:nvPr/>
        </p:nvSpPr>
        <p:spPr>
          <a:xfrm>
            <a:off x="1209122" y="4120059"/>
            <a:ext cx="164498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Interest Rate</a:t>
            </a:r>
            <a:endParaRPr lang="en-US" sz="2100" dirty="0"/>
          </a:p>
        </p:txBody>
      </p:sp>
      <p:sp>
        <p:nvSpPr>
          <p:cNvPr id="13" name="Text 10"/>
          <p:cNvSpPr/>
          <p:nvPr/>
        </p:nvSpPr>
        <p:spPr>
          <a:xfrm>
            <a:off x="7859330" y="4029344"/>
            <a:ext cx="837491"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9.20%</a:t>
            </a:r>
            <a:endParaRPr lang="en-US" sz="2700" dirty="0"/>
          </a:p>
        </p:txBody>
      </p:sp>
      <p:sp>
        <p:nvSpPr>
          <p:cNvPr id="14" name="Shape 11"/>
          <p:cNvSpPr/>
          <p:nvPr/>
        </p:nvSpPr>
        <p:spPr>
          <a:xfrm>
            <a:off x="1209122" y="5415430"/>
            <a:ext cx="7411499" cy="9525"/>
          </a:xfrm>
          <a:prstGeom prst="rect">
            <a:avLst/>
          </a:prstGeom>
          <a:solidFill>
            <a:srgbClr val="1D1F20">
              <a:alpha val="12000"/>
            </a:srgbClr>
          </a:solidFill>
          <a:ln/>
        </p:spPr>
        <p:txBody>
          <a:bodyPr/>
          <a:lstStyle/>
          <a:p>
            <a:endParaRPr lang="en-US"/>
          </a:p>
        </p:txBody>
      </p:sp>
      <p:sp>
        <p:nvSpPr>
          <p:cNvPr id="15" name="Text 12"/>
          <p:cNvSpPr/>
          <p:nvPr/>
        </p:nvSpPr>
        <p:spPr>
          <a:xfrm>
            <a:off x="1209122" y="4870011"/>
            <a:ext cx="49731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EMI</a:t>
            </a:r>
            <a:endParaRPr lang="en-US" sz="2100" dirty="0"/>
          </a:p>
        </p:txBody>
      </p:sp>
      <p:sp>
        <p:nvSpPr>
          <p:cNvPr id="16" name="Text 13"/>
          <p:cNvSpPr/>
          <p:nvPr/>
        </p:nvSpPr>
        <p:spPr>
          <a:xfrm>
            <a:off x="7691934" y="4779297"/>
            <a:ext cx="1004888"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₹15,800</a:t>
            </a:r>
            <a:endParaRPr lang="en-US" sz="2700" dirty="0"/>
          </a:p>
        </p:txBody>
      </p:sp>
      <p:sp>
        <p:nvSpPr>
          <p:cNvPr id="17" name="Shape 14"/>
          <p:cNvSpPr/>
          <p:nvPr/>
        </p:nvSpPr>
        <p:spPr>
          <a:xfrm>
            <a:off x="1209122" y="6165383"/>
            <a:ext cx="7411499" cy="9525"/>
          </a:xfrm>
          <a:prstGeom prst="rect">
            <a:avLst/>
          </a:prstGeom>
          <a:solidFill>
            <a:srgbClr val="1D1F20">
              <a:alpha val="12000"/>
            </a:srgbClr>
          </a:solidFill>
          <a:ln/>
        </p:spPr>
        <p:txBody>
          <a:bodyPr/>
          <a:lstStyle/>
          <a:p>
            <a:endParaRPr lang="en-US"/>
          </a:p>
        </p:txBody>
      </p:sp>
      <p:sp>
        <p:nvSpPr>
          <p:cNvPr id="18" name="Text 15"/>
          <p:cNvSpPr/>
          <p:nvPr/>
        </p:nvSpPr>
        <p:spPr>
          <a:xfrm>
            <a:off x="1209122" y="5619963"/>
            <a:ext cx="1554630"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Closing Year</a:t>
            </a:r>
            <a:endParaRPr lang="en-US" sz="2100" dirty="0"/>
          </a:p>
        </p:txBody>
      </p:sp>
      <p:sp>
        <p:nvSpPr>
          <p:cNvPr id="19" name="Text 16"/>
          <p:cNvSpPr/>
          <p:nvPr/>
        </p:nvSpPr>
        <p:spPr>
          <a:xfrm>
            <a:off x="8038349" y="5529249"/>
            <a:ext cx="658472"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2030</a:t>
            </a:r>
            <a:endParaRPr lang="en-US" sz="2700" dirty="0"/>
          </a:p>
        </p:txBody>
      </p:sp>
      <p:sp>
        <p:nvSpPr>
          <p:cNvPr id="20" name="Text 17"/>
          <p:cNvSpPr/>
          <p:nvPr/>
        </p:nvSpPr>
        <p:spPr>
          <a:xfrm>
            <a:off x="1209122" y="6369915"/>
            <a:ext cx="298460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Interest on Outstanding</a:t>
            </a:r>
            <a:endParaRPr lang="en-US" sz="2100" dirty="0"/>
          </a:p>
        </p:txBody>
      </p:sp>
      <p:sp>
        <p:nvSpPr>
          <p:cNvPr id="21" name="Text 18"/>
          <p:cNvSpPr/>
          <p:nvPr/>
        </p:nvSpPr>
        <p:spPr>
          <a:xfrm>
            <a:off x="7535948" y="6279201"/>
            <a:ext cx="1160874"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₹1,10,000</a:t>
            </a:r>
            <a:endParaRPr lang="en-US" sz="2700" dirty="0"/>
          </a:p>
        </p:txBody>
      </p:sp>
      <p:sp>
        <p:nvSpPr>
          <p:cNvPr id="22" name="Shape 19"/>
          <p:cNvSpPr/>
          <p:nvPr/>
        </p:nvSpPr>
        <p:spPr>
          <a:xfrm>
            <a:off x="9372558" y="2419945"/>
            <a:ext cx="8001001" cy="4811188"/>
          </a:xfrm>
          <a:prstGeom prst="rect">
            <a:avLst/>
          </a:prstGeom>
          <a:ln w="9071">
            <a:solidFill>
              <a:srgbClr val="1F1F1F">
                <a:alpha val="16000"/>
              </a:srgbClr>
            </a:solidFill>
            <a:prstDash val="solid"/>
          </a:ln>
        </p:spPr>
        <p:txBody>
          <a:bodyPr/>
          <a:lstStyle/>
          <a:p>
            <a:endParaRPr lang="en-US"/>
          </a:p>
        </p:txBody>
      </p:sp>
      <p:sp>
        <p:nvSpPr>
          <p:cNvPr id="23" name="Text 20"/>
          <p:cNvSpPr/>
          <p:nvPr/>
        </p:nvSpPr>
        <p:spPr>
          <a:xfrm>
            <a:off x="9667309" y="2676639"/>
            <a:ext cx="815264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PREPAYMENT DETAILS</a:t>
            </a:r>
            <a:endParaRPr lang="en-US" sz="2100" dirty="0"/>
          </a:p>
        </p:txBody>
      </p:sp>
      <p:sp>
        <p:nvSpPr>
          <p:cNvPr id="24" name="Shape 21"/>
          <p:cNvSpPr/>
          <p:nvPr/>
        </p:nvSpPr>
        <p:spPr>
          <a:xfrm>
            <a:off x="9667309" y="3915526"/>
            <a:ext cx="7411499" cy="9525"/>
          </a:xfrm>
          <a:prstGeom prst="rect">
            <a:avLst/>
          </a:prstGeom>
          <a:solidFill>
            <a:srgbClr val="1D1F20">
              <a:alpha val="12000"/>
            </a:srgbClr>
          </a:solidFill>
          <a:ln/>
        </p:spPr>
        <p:txBody>
          <a:bodyPr/>
          <a:lstStyle/>
          <a:p>
            <a:endParaRPr lang="en-US"/>
          </a:p>
        </p:txBody>
      </p:sp>
      <p:sp>
        <p:nvSpPr>
          <p:cNvPr id="25" name="Text 22"/>
          <p:cNvSpPr/>
          <p:nvPr/>
        </p:nvSpPr>
        <p:spPr>
          <a:xfrm>
            <a:off x="9667309" y="3370107"/>
            <a:ext cx="260152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Prepayment Amount</a:t>
            </a:r>
            <a:endParaRPr lang="en-US" sz="2100" dirty="0"/>
          </a:p>
        </p:txBody>
      </p:sp>
      <p:sp>
        <p:nvSpPr>
          <p:cNvPr id="26" name="Text 23"/>
          <p:cNvSpPr/>
          <p:nvPr/>
        </p:nvSpPr>
        <p:spPr>
          <a:xfrm>
            <a:off x="15891585" y="3279393"/>
            <a:ext cx="1263423"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₹2,00,000</a:t>
            </a:r>
            <a:endParaRPr lang="en-US" sz="2700" dirty="0"/>
          </a:p>
        </p:txBody>
      </p:sp>
      <p:sp>
        <p:nvSpPr>
          <p:cNvPr id="27" name="Shape 24"/>
          <p:cNvSpPr/>
          <p:nvPr/>
        </p:nvSpPr>
        <p:spPr>
          <a:xfrm>
            <a:off x="9667309" y="4665479"/>
            <a:ext cx="7411499" cy="9525"/>
          </a:xfrm>
          <a:prstGeom prst="rect">
            <a:avLst/>
          </a:prstGeom>
          <a:solidFill>
            <a:srgbClr val="1D1F20">
              <a:alpha val="12000"/>
            </a:srgbClr>
          </a:solidFill>
          <a:ln/>
        </p:spPr>
        <p:txBody>
          <a:bodyPr/>
          <a:lstStyle/>
          <a:p>
            <a:endParaRPr lang="en-US"/>
          </a:p>
        </p:txBody>
      </p:sp>
      <p:sp>
        <p:nvSpPr>
          <p:cNvPr id="28" name="Text 25"/>
          <p:cNvSpPr/>
          <p:nvPr/>
        </p:nvSpPr>
        <p:spPr>
          <a:xfrm>
            <a:off x="9667309" y="4120059"/>
            <a:ext cx="1455468"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EMI Top-Up</a:t>
            </a:r>
            <a:endParaRPr lang="en-US" sz="2100" dirty="0"/>
          </a:p>
        </p:txBody>
      </p:sp>
      <p:sp>
        <p:nvSpPr>
          <p:cNvPr id="29" name="Text 26"/>
          <p:cNvSpPr/>
          <p:nvPr/>
        </p:nvSpPr>
        <p:spPr>
          <a:xfrm>
            <a:off x="15888253" y="4029344"/>
            <a:ext cx="1266754"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5% a year</a:t>
            </a:r>
            <a:endParaRPr lang="en-US" sz="2700" dirty="0"/>
          </a:p>
        </p:txBody>
      </p:sp>
      <p:sp>
        <p:nvSpPr>
          <p:cNvPr id="30" name="Shape 27"/>
          <p:cNvSpPr/>
          <p:nvPr/>
        </p:nvSpPr>
        <p:spPr>
          <a:xfrm>
            <a:off x="9667309" y="5474537"/>
            <a:ext cx="7411499" cy="9525"/>
          </a:xfrm>
          <a:prstGeom prst="rect">
            <a:avLst/>
          </a:prstGeom>
          <a:solidFill>
            <a:srgbClr val="1D1F20">
              <a:alpha val="12000"/>
            </a:srgbClr>
          </a:solidFill>
          <a:ln/>
        </p:spPr>
        <p:txBody>
          <a:bodyPr/>
          <a:lstStyle/>
          <a:p>
            <a:endParaRPr lang="en-US"/>
          </a:p>
        </p:txBody>
      </p:sp>
      <p:sp>
        <p:nvSpPr>
          <p:cNvPr id="31" name="Text 28"/>
          <p:cNvSpPr/>
          <p:nvPr/>
        </p:nvSpPr>
        <p:spPr>
          <a:xfrm>
            <a:off x="9667309" y="4910832"/>
            <a:ext cx="182771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Interest Saved</a:t>
            </a:r>
            <a:endParaRPr lang="en-US" sz="2100" dirty="0"/>
          </a:p>
        </p:txBody>
      </p:sp>
      <p:sp>
        <p:nvSpPr>
          <p:cNvPr id="32" name="Text 29"/>
          <p:cNvSpPr/>
          <p:nvPr/>
        </p:nvSpPr>
        <p:spPr>
          <a:xfrm>
            <a:off x="15986409" y="4779297"/>
            <a:ext cx="1168599" cy="628593"/>
          </a:xfrm>
          <a:prstGeom prst="rect">
            <a:avLst/>
          </a:prstGeom>
          <a:noFill/>
          <a:ln/>
        </p:spPr>
        <p:txBody>
          <a:bodyPr wrap="square" lIns="25400" tIns="25400" rIns="25400" bIns="25400" rtlCol="0" anchor="t">
            <a:normAutofit/>
          </a:bodyPr>
          <a:lstStyle/>
          <a:p>
            <a:pPr marL="0" indent="0" algn="l">
              <a:lnSpc>
                <a:spcPct val="128911"/>
              </a:lnSpc>
              <a:buNone/>
            </a:pPr>
            <a:r>
              <a:rPr lang="en-US" sz="3000" dirty="0">
                <a:solidFill>
                  <a:srgbClr val="2F7D3A"/>
                </a:solidFill>
                <a:latin typeface="Barlow Condensed" pitchFamily="34" charset="0"/>
                <a:ea typeface="Barlow Condensed" pitchFamily="34" charset="-122"/>
                <a:cs typeface="Barlow Condensed" pitchFamily="34" charset="-120"/>
              </a:rPr>
              <a:t>₹48,000</a:t>
            </a:r>
            <a:endParaRPr lang="en-US" sz="3000" dirty="0"/>
          </a:p>
        </p:txBody>
      </p:sp>
      <p:sp>
        <p:nvSpPr>
          <p:cNvPr id="33" name="Shape 30"/>
          <p:cNvSpPr/>
          <p:nvPr/>
        </p:nvSpPr>
        <p:spPr>
          <a:xfrm>
            <a:off x="9667309" y="6224489"/>
            <a:ext cx="7411499" cy="9525"/>
          </a:xfrm>
          <a:prstGeom prst="rect">
            <a:avLst/>
          </a:prstGeom>
          <a:solidFill>
            <a:srgbClr val="1D1F20">
              <a:alpha val="12000"/>
            </a:srgbClr>
          </a:solidFill>
          <a:ln/>
        </p:spPr>
        <p:txBody>
          <a:bodyPr/>
          <a:lstStyle/>
          <a:p>
            <a:endParaRPr lang="en-US"/>
          </a:p>
        </p:txBody>
      </p:sp>
      <p:sp>
        <p:nvSpPr>
          <p:cNvPr id="34" name="Text 31"/>
          <p:cNvSpPr/>
          <p:nvPr/>
        </p:nvSpPr>
        <p:spPr>
          <a:xfrm>
            <a:off x="9667309" y="5679069"/>
            <a:ext cx="1554630"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Closing Year</a:t>
            </a:r>
            <a:endParaRPr lang="en-US" sz="2100" dirty="0"/>
          </a:p>
        </p:txBody>
      </p:sp>
      <p:sp>
        <p:nvSpPr>
          <p:cNvPr id="35" name="Text 32"/>
          <p:cNvSpPr/>
          <p:nvPr/>
        </p:nvSpPr>
        <p:spPr>
          <a:xfrm>
            <a:off x="16512623" y="5588355"/>
            <a:ext cx="642385"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2029</a:t>
            </a:r>
            <a:endParaRPr lang="en-US" sz="2700" dirty="0"/>
          </a:p>
        </p:txBody>
      </p:sp>
      <p:sp>
        <p:nvSpPr>
          <p:cNvPr id="36" name="Text 33"/>
          <p:cNvSpPr/>
          <p:nvPr/>
        </p:nvSpPr>
        <p:spPr>
          <a:xfrm>
            <a:off x="9667309" y="6429021"/>
            <a:ext cx="152820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Years Saved</a:t>
            </a:r>
            <a:endParaRPr lang="en-US" sz="2100" dirty="0"/>
          </a:p>
        </p:txBody>
      </p:sp>
      <p:sp>
        <p:nvSpPr>
          <p:cNvPr id="37" name="Text 34"/>
          <p:cNvSpPr/>
          <p:nvPr/>
        </p:nvSpPr>
        <p:spPr>
          <a:xfrm>
            <a:off x="16418720" y="6338307"/>
            <a:ext cx="736288"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1 year</a:t>
            </a:r>
            <a:endParaRPr lang="en-US" sz="2700" dirty="0"/>
          </a:p>
        </p:txBody>
      </p:sp>
      <p:sp>
        <p:nvSpPr>
          <p:cNvPr id="38" name="Shape 35"/>
          <p:cNvSpPr/>
          <p:nvPr/>
        </p:nvSpPr>
        <p:spPr>
          <a:xfrm>
            <a:off x="914372" y="7478756"/>
            <a:ext cx="16459187" cy="9525"/>
          </a:xfrm>
          <a:prstGeom prst="rect">
            <a:avLst/>
          </a:prstGeom>
          <a:solidFill>
            <a:srgbClr val="1D1F20">
              <a:alpha val="18000"/>
            </a:srgbClr>
          </a:solidFill>
          <a:ln/>
        </p:spPr>
        <p:txBody>
          <a:bodyPr/>
          <a:lstStyle/>
          <a:p>
            <a:endParaRPr lang="en-US"/>
          </a:p>
        </p:txBody>
      </p:sp>
      <p:sp>
        <p:nvSpPr>
          <p:cNvPr id="39" name="Text 36"/>
          <p:cNvSpPr/>
          <p:nvPr/>
        </p:nvSpPr>
        <p:spPr>
          <a:xfrm>
            <a:off x="914372" y="7716427"/>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40" name="Text 37"/>
          <p:cNvSpPr/>
          <p:nvPr/>
        </p:nvSpPr>
        <p:spPr>
          <a:xfrm>
            <a:off x="3276487" y="7678327"/>
            <a:ext cx="13317184" cy="1133688"/>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The car loan is the costliest debt on the sheet but the smallest. Clearing it from the monthly surplus rather than from the deposit book keeps the emergency reserve intact, and the freed EMI of ₹15,800 becomes part of the retirement SIP from 2029.</a:t>
            </a:r>
            <a:endParaRPr lang="en-US" sz="2100" dirty="0"/>
          </a:p>
        </p:txBody>
      </p:sp>
      <p:sp>
        <p:nvSpPr>
          <p:cNvPr id="41" name="Text 38"/>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42" name="Text 39"/>
          <p:cNvSpPr/>
          <p:nvPr/>
        </p:nvSpPr>
        <p:spPr>
          <a:xfrm>
            <a:off x="16747843" y="9475462"/>
            <a:ext cx="701916"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12 / 32</a:t>
            </a:r>
            <a:endParaRPr lang="en-US" sz="2100" dirty="0"/>
          </a:p>
        </p:txBody>
      </p:sp>
    </p:spTree>
    <p:extLst>
      <p:ext uri="{BB962C8B-B14F-4D97-AF65-F5344CB8AC3E}">
        <p14:creationId xmlns:p14="http://schemas.microsoft.com/office/powerpoint/2010/main" val="257284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A45"/>
        </a:solidFill>
        <a:effectLst/>
      </p:bgPr>
    </p:bg>
    <p:spTree>
      <p:nvGrpSpPr>
        <p:cNvPr id="1" name="">
          <a:extLst>
            <a:ext uri="{FF2B5EF4-FFF2-40B4-BE49-F238E27FC236}">
              <a16:creationId xmlns:a16="http://schemas.microsoft.com/office/drawing/2014/main" id="{01016155-2BBB-3118-D86B-F00F462AABDC}"/>
            </a:ext>
          </a:extLst>
        </p:cNvPr>
        <p:cNvGrpSpPr/>
        <p:nvPr/>
      </p:nvGrpSpPr>
      <p:grpSpPr>
        <a:xfrm>
          <a:off x="0" y="0"/>
          <a:ext cx="0" cy="0"/>
          <a:chOff x="0" y="0"/>
          <a:chExt cx="0" cy="0"/>
        </a:xfrm>
      </p:grpSpPr>
      <p:sp>
        <p:nvSpPr>
          <p:cNvPr id="18" name="Google Shape;192;p7">
            <a:extLst>
              <a:ext uri="{FF2B5EF4-FFF2-40B4-BE49-F238E27FC236}">
                <a16:creationId xmlns:a16="http://schemas.microsoft.com/office/drawing/2014/main" id="{6624E782-4E2D-FDF3-9B9D-576E3822319E}"/>
              </a:ext>
            </a:extLst>
          </p:cNvPr>
          <p:cNvSpPr/>
          <p:nvPr/>
        </p:nvSpPr>
        <p:spPr>
          <a:xfrm>
            <a:off x="914371" y="2854845"/>
            <a:ext cx="8919191" cy="210610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2F2F3"/>
              </a:buClr>
              <a:buSzPts val="8850"/>
              <a:buFont typeface="Barlow Condensed"/>
              <a:buNone/>
            </a:pPr>
            <a:r>
              <a:rPr lang="en-US" sz="7200" b="1" i="0" u="none" strike="noStrike" cap="none" dirty="0">
                <a:solidFill>
                  <a:srgbClr val="F2F2F3"/>
                </a:solidFill>
                <a:latin typeface="Barlow Condensed"/>
                <a:ea typeface="Barlow Condensed"/>
                <a:cs typeface="Barlow Condensed"/>
                <a:sym typeface="Barlow Condensed"/>
              </a:rPr>
              <a:t>Goals </a:t>
            </a:r>
            <a:r>
              <a:rPr lang="en-US" sz="7200" b="1" dirty="0">
                <a:solidFill>
                  <a:srgbClr val="F2F2F3"/>
                </a:solidFill>
                <a:latin typeface="Barlow Condensed"/>
                <a:ea typeface="Barlow Condensed"/>
                <a:cs typeface="Barlow Condensed"/>
                <a:sym typeface="Barlow Condensed"/>
              </a:rPr>
              <a:t>Mapping  &amp; Cashflow Allocation</a:t>
            </a:r>
            <a:endParaRPr sz="7200" b="0" i="0" u="none" strike="noStrike" cap="none" dirty="0">
              <a:solidFill>
                <a:schemeClr val="dk1"/>
              </a:solidFill>
              <a:latin typeface="Calibri"/>
              <a:ea typeface="Calibri"/>
              <a:cs typeface="Calibri"/>
              <a:sym typeface="Calibri"/>
            </a:endParaRPr>
          </a:p>
        </p:txBody>
      </p:sp>
      <p:sp>
        <p:nvSpPr>
          <p:cNvPr id="20" name="Google Shape;193;p7">
            <a:extLst>
              <a:ext uri="{FF2B5EF4-FFF2-40B4-BE49-F238E27FC236}">
                <a16:creationId xmlns:a16="http://schemas.microsoft.com/office/drawing/2014/main" id="{2F0104CD-FA72-90AD-4BDC-D6A657AD1474}"/>
              </a:ext>
            </a:extLst>
          </p:cNvPr>
          <p:cNvSpPr/>
          <p:nvPr/>
        </p:nvSpPr>
        <p:spPr>
          <a:xfrm>
            <a:off x="914372" y="5303847"/>
            <a:ext cx="7300428" cy="9525"/>
          </a:xfrm>
          <a:prstGeom prst="rect">
            <a:avLst/>
          </a:prstGeom>
          <a:solidFill>
            <a:srgbClr val="F2F2F3">
              <a:alpha val="2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4;p7">
            <a:extLst>
              <a:ext uri="{FF2B5EF4-FFF2-40B4-BE49-F238E27FC236}">
                <a16:creationId xmlns:a16="http://schemas.microsoft.com/office/drawing/2014/main" id="{861B0C5A-5A61-737B-19B1-0EC8E7658BCD}"/>
              </a:ext>
            </a:extLst>
          </p:cNvPr>
          <p:cNvSpPr/>
          <p:nvPr/>
        </p:nvSpPr>
        <p:spPr>
          <a:xfrm>
            <a:off x="914372" y="5637151"/>
            <a:ext cx="8435816" cy="1446865"/>
          </a:xfrm>
          <a:prstGeom prst="rect">
            <a:avLst/>
          </a:prstGeom>
          <a:noFill/>
          <a:ln>
            <a:noFill/>
          </a:ln>
        </p:spPr>
        <p:txBody>
          <a:bodyPr spcFirstLastPara="1" wrap="square" lIns="25400" tIns="25400" rIns="25400" bIns="25400" anchor="t" anchorCtr="0">
            <a:noAutofit/>
          </a:bodyPr>
          <a:lstStyle/>
          <a:p>
            <a:pPr marL="0" marR="0" lvl="0" indent="0" algn="l" rtl="0">
              <a:lnSpc>
                <a:spcPct val="121800"/>
              </a:lnSpc>
              <a:spcBef>
                <a:spcPts val="0"/>
              </a:spcBef>
              <a:spcAft>
                <a:spcPts val="0"/>
              </a:spcAft>
              <a:buClr>
                <a:srgbClr val="F2F2F3"/>
              </a:buClr>
              <a:buSzPts val="2550"/>
              <a:buFont typeface="Barlow"/>
              <a:buNone/>
            </a:pPr>
            <a:r>
              <a:rPr lang="en-US" sz="2550" b="0" i="0" u="none" strike="noStrike" cap="none" dirty="0">
                <a:solidFill>
                  <a:srgbClr val="F2F2F3"/>
                </a:solidFill>
                <a:latin typeface="Barlow"/>
                <a:ea typeface="Barlow"/>
                <a:cs typeface="Barlow"/>
                <a:sym typeface="Barlow"/>
              </a:rPr>
              <a:t>Eight goals over eighteen years, mapped against the ₹3 lakh a month you already invest — and against every instalment that comes free along the way.</a:t>
            </a:r>
            <a:endParaRPr sz="2550" b="0" i="0" u="none" strike="noStrike" cap="none" dirty="0">
              <a:solidFill>
                <a:schemeClr val="dk1"/>
              </a:solidFill>
              <a:latin typeface="Calibri"/>
              <a:ea typeface="Calibri"/>
              <a:cs typeface="Calibri"/>
              <a:sym typeface="Calibri"/>
            </a:endParaRPr>
          </a:p>
        </p:txBody>
      </p:sp>
      <p:sp>
        <p:nvSpPr>
          <p:cNvPr id="24" name="Google Shape;195;p7">
            <a:extLst>
              <a:ext uri="{FF2B5EF4-FFF2-40B4-BE49-F238E27FC236}">
                <a16:creationId xmlns:a16="http://schemas.microsoft.com/office/drawing/2014/main" id="{F6DD0DAF-731D-682B-8931-A6FB59DB95D9}"/>
              </a:ext>
            </a:extLst>
          </p:cNvPr>
          <p:cNvSpPr/>
          <p:nvPr/>
        </p:nvSpPr>
        <p:spPr>
          <a:xfrm>
            <a:off x="914372" y="7749623"/>
            <a:ext cx="3299711"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MONTHLY COMMITMENT</a:t>
            </a:r>
            <a:endParaRPr sz="1800" b="0" i="0" u="none" strike="noStrike" cap="none">
              <a:solidFill>
                <a:schemeClr val="dk1"/>
              </a:solidFill>
              <a:latin typeface="Calibri"/>
              <a:ea typeface="Calibri"/>
              <a:cs typeface="Calibri"/>
              <a:sym typeface="Calibri"/>
            </a:endParaRPr>
          </a:p>
        </p:txBody>
      </p:sp>
      <p:sp>
        <p:nvSpPr>
          <p:cNvPr id="26" name="Google Shape;196;p7">
            <a:extLst>
              <a:ext uri="{FF2B5EF4-FFF2-40B4-BE49-F238E27FC236}">
                <a16:creationId xmlns:a16="http://schemas.microsoft.com/office/drawing/2014/main" id="{E6D003B8-F450-25A5-731E-A40FAFEF5B77}"/>
              </a:ext>
            </a:extLst>
          </p:cNvPr>
          <p:cNvSpPr/>
          <p:nvPr/>
        </p:nvSpPr>
        <p:spPr>
          <a:xfrm>
            <a:off x="914372" y="8180161"/>
            <a:ext cx="3299711" cy="571472"/>
          </a:xfrm>
          <a:prstGeom prst="rect">
            <a:avLst/>
          </a:prstGeom>
          <a:noFill/>
          <a:ln>
            <a:noFill/>
          </a:ln>
        </p:spPr>
        <p:txBody>
          <a:bodyPr spcFirstLastPara="1" wrap="squar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b="0" i="0" u="none" strike="noStrike" cap="none" dirty="0">
                <a:solidFill>
                  <a:srgbClr val="94BCE3"/>
                </a:solidFill>
                <a:latin typeface="Barlow Condensed"/>
                <a:ea typeface="Barlow Condensed"/>
                <a:cs typeface="Barlow Condensed"/>
                <a:sym typeface="Barlow Condensed"/>
              </a:rPr>
              <a:t>₹</a:t>
            </a:r>
            <a:r>
              <a:rPr lang="en-US" sz="4200" dirty="0">
                <a:solidFill>
                  <a:srgbClr val="94BCE3"/>
                </a:solidFill>
                <a:latin typeface="Barlow Condensed"/>
                <a:ea typeface="Barlow Condensed"/>
                <a:cs typeface="Barlow Condensed"/>
                <a:sym typeface="Barlow Condensed"/>
              </a:rPr>
              <a:t>2.2</a:t>
            </a:r>
            <a:r>
              <a:rPr lang="en-US" sz="4200" b="0" i="0" u="none" strike="noStrike" cap="none" dirty="0">
                <a:solidFill>
                  <a:srgbClr val="94BCE3"/>
                </a:solidFill>
                <a:latin typeface="Barlow Condensed"/>
                <a:ea typeface="Barlow Condensed"/>
                <a:cs typeface="Barlow Condensed"/>
                <a:sym typeface="Barlow Condensed"/>
              </a:rPr>
              <a:t>0 L</a:t>
            </a:r>
            <a:endParaRPr sz="4200" b="0" i="0" u="none" strike="noStrike" cap="none" dirty="0">
              <a:solidFill>
                <a:schemeClr val="dk1"/>
              </a:solidFill>
              <a:latin typeface="Calibri"/>
              <a:ea typeface="Calibri"/>
              <a:cs typeface="Calibri"/>
              <a:sym typeface="Calibri"/>
            </a:endParaRPr>
          </a:p>
        </p:txBody>
      </p:sp>
      <p:sp>
        <p:nvSpPr>
          <p:cNvPr id="28" name="Google Shape;197;p7">
            <a:extLst>
              <a:ext uri="{FF2B5EF4-FFF2-40B4-BE49-F238E27FC236}">
                <a16:creationId xmlns:a16="http://schemas.microsoft.com/office/drawing/2014/main" id="{A878944C-5476-F84F-502E-83D0EB7311E9}"/>
              </a:ext>
            </a:extLst>
          </p:cNvPr>
          <p:cNvSpPr/>
          <p:nvPr/>
        </p:nvSpPr>
        <p:spPr>
          <a:xfrm>
            <a:off x="4447481" y="7749623"/>
            <a:ext cx="3277571"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NEW SAVING REQUIRED</a:t>
            </a:r>
            <a:endParaRPr sz="1800" b="0" i="0" u="none" strike="noStrike" cap="none">
              <a:solidFill>
                <a:schemeClr val="dk1"/>
              </a:solidFill>
              <a:latin typeface="Calibri"/>
              <a:ea typeface="Calibri"/>
              <a:cs typeface="Calibri"/>
              <a:sym typeface="Calibri"/>
            </a:endParaRPr>
          </a:p>
        </p:txBody>
      </p:sp>
      <p:sp>
        <p:nvSpPr>
          <p:cNvPr id="30" name="Google Shape;198;p7">
            <a:extLst>
              <a:ext uri="{FF2B5EF4-FFF2-40B4-BE49-F238E27FC236}">
                <a16:creationId xmlns:a16="http://schemas.microsoft.com/office/drawing/2014/main" id="{94FD9B48-2934-6997-BF43-C6EC82F8FADB}"/>
              </a:ext>
            </a:extLst>
          </p:cNvPr>
          <p:cNvSpPr/>
          <p:nvPr/>
        </p:nvSpPr>
        <p:spPr>
          <a:xfrm>
            <a:off x="4447481" y="8180161"/>
            <a:ext cx="3277571" cy="571472"/>
          </a:xfrm>
          <a:prstGeom prst="rect">
            <a:avLst/>
          </a:prstGeom>
          <a:noFill/>
          <a:ln>
            <a:noFill/>
          </a:ln>
        </p:spPr>
        <p:txBody>
          <a:bodyPr spcFirstLastPara="1" wrap="squar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b="0" i="0" u="none" strike="noStrike" cap="none">
                <a:solidFill>
                  <a:srgbClr val="94BCE3"/>
                </a:solidFill>
                <a:latin typeface="Barlow Condensed"/>
                <a:ea typeface="Barlow Condensed"/>
                <a:cs typeface="Barlow Condensed"/>
                <a:sym typeface="Barlow Condensed"/>
              </a:rPr>
              <a:t>Nil</a:t>
            </a:r>
            <a:endParaRPr sz="4200" b="0" i="0" u="none" strike="noStrike" cap="none">
              <a:solidFill>
                <a:schemeClr val="dk1"/>
              </a:solidFill>
              <a:latin typeface="Calibri"/>
              <a:ea typeface="Calibri"/>
              <a:cs typeface="Calibri"/>
              <a:sym typeface="Calibri"/>
            </a:endParaRPr>
          </a:p>
        </p:txBody>
      </p:sp>
      <p:sp>
        <p:nvSpPr>
          <p:cNvPr id="32" name="Google Shape;199;p7">
            <a:extLst>
              <a:ext uri="{FF2B5EF4-FFF2-40B4-BE49-F238E27FC236}">
                <a16:creationId xmlns:a16="http://schemas.microsoft.com/office/drawing/2014/main" id="{ABBB3CA8-EB27-7F39-F58A-2CCD7463430B}"/>
              </a:ext>
            </a:extLst>
          </p:cNvPr>
          <p:cNvSpPr/>
          <p:nvPr/>
        </p:nvSpPr>
        <p:spPr>
          <a:xfrm>
            <a:off x="914372" y="9323090"/>
            <a:ext cx="9445108"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ARMSTRONG CAPITAL · GOAL BASED PLANNING</a:t>
            </a:r>
            <a:endParaRPr sz="1800" b="0" i="0" u="none" strike="noStrike" cap="none">
              <a:solidFill>
                <a:schemeClr val="dk1"/>
              </a:solidFill>
              <a:latin typeface="Calibri"/>
              <a:ea typeface="Calibri"/>
              <a:cs typeface="Calibri"/>
              <a:sym typeface="Calibri"/>
            </a:endParaRPr>
          </a:p>
        </p:txBody>
      </p:sp>
      <p:sp>
        <p:nvSpPr>
          <p:cNvPr id="34" name="Google Shape;200;p7">
            <a:extLst>
              <a:ext uri="{FF2B5EF4-FFF2-40B4-BE49-F238E27FC236}">
                <a16:creationId xmlns:a16="http://schemas.microsoft.com/office/drawing/2014/main" id="{87739A6F-ADFA-A728-46D4-BB662AF5246E}"/>
              </a:ext>
            </a:extLst>
          </p:cNvPr>
          <p:cNvSpPr/>
          <p:nvPr/>
        </p:nvSpPr>
        <p:spPr>
          <a:xfrm>
            <a:off x="10110391" y="0"/>
            <a:ext cx="8177539" cy="10287001"/>
          </a:xfrm>
          <a:prstGeom prst="rect">
            <a:avLst/>
          </a:prstGeom>
          <a:solidFill>
            <a:srgbClr val="2026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 name="Google Shape;201;p7" descr="preencoded.png">
            <a:extLst>
              <a:ext uri="{FF2B5EF4-FFF2-40B4-BE49-F238E27FC236}">
                <a16:creationId xmlns:a16="http://schemas.microsoft.com/office/drawing/2014/main" id="{70F57832-A7A9-0B4A-548D-FC092C507373}"/>
              </a:ext>
            </a:extLst>
          </p:cNvPr>
          <p:cNvPicPr preferRelativeResize="0"/>
          <p:nvPr/>
        </p:nvPicPr>
        <p:blipFill rotWithShape="1">
          <a:blip r:embed="rId3">
            <a:alphaModFix amt="90000"/>
          </a:blip>
          <a:srcRect l="27642" r="27642"/>
          <a:stretch/>
        </p:blipFill>
        <p:spPr>
          <a:xfrm>
            <a:off x="10110391" y="0"/>
            <a:ext cx="8177539" cy="10287001"/>
          </a:xfrm>
          <a:prstGeom prst="rect">
            <a:avLst/>
          </a:prstGeom>
          <a:noFill/>
          <a:ln>
            <a:noFill/>
          </a:ln>
        </p:spPr>
      </p:pic>
      <p:sp>
        <p:nvSpPr>
          <p:cNvPr id="38" name="Google Shape;202;p7">
            <a:extLst>
              <a:ext uri="{FF2B5EF4-FFF2-40B4-BE49-F238E27FC236}">
                <a16:creationId xmlns:a16="http://schemas.microsoft.com/office/drawing/2014/main" id="{8816B2D0-7C59-9A7A-AF3F-87FB8370A31A}"/>
              </a:ext>
            </a:extLst>
          </p:cNvPr>
          <p:cNvSpPr/>
          <p:nvPr/>
        </p:nvSpPr>
        <p:spPr>
          <a:xfrm>
            <a:off x="10110390" y="0"/>
            <a:ext cx="8177539" cy="10287001"/>
          </a:xfrm>
          <a:prstGeom prst="rect">
            <a:avLst/>
          </a:prstGeom>
          <a:solidFill>
            <a:srgbClr val="141A45">
              <a:alpha val="5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03;p7">
            <a:extLst>
              <a:ext uri="{FF2B5EF4-FFF2-40B4-BE49-F238E27FC236}">
                <a16:creationId xmlns:a16="http://schemas.microsoft.com/office/drawing/2014/main" id="{829ABD31-F0E1-62BC-44E8-090046ED2837}"/>
              </a:ext>
            </a:extLst>
          </p:cNvPr>
          <p:cNvSpPr/>
          <p:nvPr/>
        </p:nvSpPr>
        <p:spPr>
          <a:xfrm>
            <a:off x="10110461" y="0"/>
            <a:ext cx="8177539" cy="10287001"/>
          </a:xfrm>
          <a:prstGeom prst="rect">
            <a:avLst/>
          </a:prstGeom>
          <a:gradFill>
            <a:gsLst>
              <a:gs pos="0">
                <a:srgbClr val="141A45"/>
              </a:gs>
              <a:gs pos="30000">
                <a:srgbClr val="141A45">
                  <a:alpha val="0"/>
                </a:srgbClr>
              </a:gs>
              <a:gs pos="100000">
                <a:srgbClr val="141A45">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7290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4885291"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WHEN THE MONEY IS NEEDED</a:t>
            </a:r>
            <a:endParaRPr lang="en-US" sz="2100" b="1" dirty="0">
              <a:solidFill>
                <a:srgbClr val="2A3480"/>
              </a:solidFill>
              <a:latin typeface="Barlow"/>
            </a:endParaRPr>
          </a:p>
        </p:txBody>
      </p:sp>
      <p:sp>
        <p:nvSpPr>
          <p:cNvPr id="3" name="Text 1"/>
          <p:cNvSpPr/>
          <p:nvPr/>
        </p:nvSpPr>
        <p:spPr>
          <a:xfrm>
            <a:off x="914372" y="1088501"/>
            <a:ext cx="4885291"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Goals Road-Map</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143763"/>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372" y="5728607"/>
            <a:ext cx="16459187" cy="18993"/>
          </a:xfrm>
          <a:prstGeom prst="rect">
            <a:avLst/>
          </a:prstGeom>
          <a:solidFill>
            <a:srgbClr val="1D1F20">
              <a:alpha val="25000"/>
            </a:srgbClr>
          </a:solidFill>
          <a:ln/>
        </p:spPr>
        <p:txBody>
          <a:bodyPr/>
          <a:lstStyle/>
          <a:p>
            <a:endParaRPr lang="en-US"/>
          </a:p>
        </p:txBody>
      </p:sp>
      <p:sp>
        <p:nvSpPr>
          <p:cNvPr id="7" name="Shape 4"/>
          <p:cNvSpPr/>
          <p:nvPr/>
        </p:nvSpPr>
        <p:spPr>
          <a:xfrm>
            <a:off x="1104872" y="2726744"/>
            <a:ext cx="2910795" cy="2468563"/>
          </a:xfrm>
          <a:prstGeom prst="rect">
            <a:avLst/>
          </a:prstGeom>
          <a:solidFill>
            <a:srgbClr val="F2F2F3"/>
          </a:solidFill>
          <a:ln w="9071">
            <a:solidFill>
              <a:srgbClr val="1F1F1F">
                <a:alpha val="16000"/>
              </a:srgbClr>
            </a:solidFill>
            <a:prstDash val="solid"/>
          </a:ln>
        </p:spPr>
        <p:txBody>
          <a:bodyPr/>
          <a:lstStyle/>
          <a:p>
            <a:endParaRPr lang="en-US"/>
          </a:p>
        </p:txBody>
      </p:sp>
      <p:sp>
        <p:nvSpPr>
          <p:cNvPr id="8" name="Text 5"/>
          <p:cNvSpPr/>
          <p:nvPr/>
        </p:nvSpPr>
        <p:spPr>
          <a:xfrm>
            <a:off x="1361565" y="2964373"/>
            <a:ext cx="2637149" cy="571472"/>
          </a:xfrm>
          <a:prstGeom prst="rect">
            <a:avLst/>
          </a:prstGeom>
          <a:noFill/>
          <a:ln/>
        </p:spPr>
        <p:txBody>
          <a:bodyPr wrap="square" lIns="25400" tIns="25400" rIns="25400" bIns="25400" rtlCol="0" anchor="t">
            <a:normAutofit lnSpcReduction="10000"/>
          </a:bodyPr>
          <a:lstStyle/>
          <a:p>
            <a:pPr marL="0" indent="0" algn="l">
              <a:lnSpc>
                <a:spcPct val="82817"/>
              </a:lnSpc>
              <a:buNone/>
            </a:pPr>
            <a:r>
              <a:rPr lang="en-US" sz="4200" dirty="0">
                <a:solidFill>
                  <a:srgbClr val="26306F"/>
                </a:solidFill>
                <a:latin typeface="Barlow Condensed" pitchFamily="34" charset="0"/>
                <a:ea typeface="Barlow Condensed" pitchFamily="34" charset="-122"/>
                <a:cs typeface="Barlow Condensed" pitchFamily="34" charset="-120"/>
              </a:rPr>
              <a:t>2029</a:t>
            </a:r>
            <a:endParaRPr lang="en-US" sz="4200" dirty="0"/>
          </a:p>
        </p:txBody>
      </p:sp>
      <p:sp>
        <p:nvSpPr>
          <p:cNvPr id="9" name="Text 6"/>
          <p:cNvSpPr/>
          <p:nvPr/>
        </p:nvSpPr>
        <p:spPr>
          <a:xfrm>
            <a:off x="1361565" y="3611988"/>
            <a:ext cx="2473609" cy="92384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International family vacation</a:t>
            </a:r>
            <a:endParaRPr lang="en-US" sz="2250" dirty="0"/>
          </a:p>
        </p:txBody>
      </p:sp>
      <p:sp>
        <p:nvSpPr>
          <p:cNvPr id="10" name="Text 7"/>
          <p:cNvSpPr/>
          <p:nvPr/>
        </p:nvSpPr>
        <p:spPr>
          <a:xfrm>
            <a:off x="1361565" y="4573914"/>
            <a:ext cx="263714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₹7.2 L at goal year</a:t>
            </a:r>
            <a:endParaRPr lang="en-US" sz="2100" dirty="0"/>
          </a:p>
        </p:txBody>
      </p:sp>
      <p:sp>
        <p:nvSpPr>
          <p:cNvPr id="11" name="Shape 8"/>
          <p:cNvSpPr/>
          <p:nvPr/>
        </p:nvSpPr>
        <p:spPr>
          <a:xfrm>
            <a:off x="2455523" y="5623861"/>
            <a:ext cx="209493" cy="209493"/>
          </a:xfrm>
          <a:prstGeom prst="rect">
            <a:avLst/>
          </a:prstGeom>
          <a:solidFill>
            <a:srgbClr val="26306F"/>
          </a:solidFill>
          <a:ln/>
        </p:spPr>
        <p:txBody>
          <a:bodyPr/>
          <a:lstStyle/>
          <a:p>
            <a:endParaRPr lang="en-US"/>
          </a:p>
        </p:txBody>
      </p:sp>
      <p:sp>
        <p:nvSpPr>
          <p:cNvPr id="12" name="Text 9"/>
          <p:cNvSpPr/>
          <p:nvPr/>
        </p:nvSpPr>
        <p:spPr>
          <a:xfrm>
            <a:off x="2196987" y="6109607"/>
            <a:ext cx="802694"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3 YRS</a:t>
            </a:r>
            <a:endParaRPr lang="en-US" sz="2100" dirty="0"/>
          </a:p>
        </p:txBody>
      </p:sp>
      <p:sp>
        <p:nvSpPr>
          <p:cNvPr id="13" name="Shape 10"/>
          <p:cNvSpPr/>
          <p:nvPr/>
        </p:nvSpPr>
        <p:spPr>
          <a:xfrm>
            <a:off x="4396667" y="6261979"/>
            <a:ext cx="2910866" cy="2468563"/>
          </a:xfrm>
          <a:prstGeom prst="rect">
            <a:avLst/>
          </a:prstGeom>
          <a:solidFill>
            <a:srgbClr val="F2F2F3"/>
          </a:solidFill>
          <a:ln w="9071">
            <a:solidFill>
              <a:srgbClr val="1F1F1F">
                <a:alpha val="16000"/>
              </a:srgbClr>
            </a:solidFill>
            <a:prstDash val="solid"/>
          </a:ln>
        </p:spPr>
        <p:txBody>
          <a:bodyPr/>
          <a:lstStyle/>
          <a:p>
            <a:endParaRPr lang="en-US"/>
          </a:p>
        </p:txBody>
      </p:sp>
      <p:sp>
        <p:nvSpPr>
          <p:cNvPr id="14" name="Text 11"/>
          <p:cNvSpPr/>
          <p:nvPr/>
        </p:nvSpPr>
        <p:spPr>
          <a:xfrm>
            <a:off x="4653360" y="6499608"/>
            <a:ext cx="2637227" cy="571472"/>
          </a:xfrm>
          <a:prstGeom prst="rect">
            <a:avLst/>
          </a:prstGeom>
          <a:noFill/>
          <a:ln/>
        </p:spPr>
        <p:txBody>
          <a:bodyPr wrap="square" lIns="25400" tIns="25400" rIns="25400" bIns="25400" rtlCol="0" anchor="t">
            <a:normAutofit lnSpcReduction="10000"/>
          </a:bodyPr>
          <a:lstStyle/>
          <a:p>
            <a:pPr marL="0" indent="0" algn="l">
              <a:lnSpc>
                <a:spcPct val="82817"/>
              </a:lnSpc>
              <a:buNone/>
            </a:pPr>
            <a:r>
              <a:rPr lang="en-US" sz="4200" dirty="0">
                <a:solidFill>
                  <a:srgbClr val="26306F"/>
                </a:solidFill>
                <a:latin typeface="Barlow Condensed" pitchFamily="34" charset="0"/>
                <a:ea typeface="Barlow Condensed" pitchFamily="34" charset="-122"/>
                <a:cs typeface="Barlow Condensed" pitchFamily="34" charset="-120"/>
              </a:rPr>
              <a:t>2031</a:t>
            </a:r>
            <a:endParaRPr lang="en-US" sz="4200" dirty="0"/>
          </a:p>
        </p:txBody>
      </p:sp>
      <p:sp>
        <p:nvSpPr>
          <p:cNvPr id="15" name="Text 12"/>
          <p:cNvSpPr/>
          <p:nvPr/>
        </p:nvSpPr>
        <p:spPr>
          <a:xfrm>
            <a:off x="4653360" y="7147223"/>
            <a:ext cx="2473680" cy="92384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Aarav — undergraduate</a:t>
            </a:r>
            <a:endParaRPr lang="en-US" sz="2250" dirty="0"/>
          </a:p>
        </p:txBody>
      </p:sp>
      <p:sp>
        <p:nvSpPr>
          <p:cNvPr id="16" name="Text 13"/>
          <p:cNvSpPr/>
          <p:nvPr/>
        </p:nvSpPr>
        <p:spPr>
          <a:xfrm>
            <a:off x="4653360" y="8109149"/>
            <a:ext cx="2637227"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₹40 L at goal year</a:t>
            </a:r>
            <a:endParaRPr lang="en-US" sz="2100" dirty="0"/>
          </a:p>
        </p:txBody>
      </p:sp>
      <p:sp>
        <p:nvSpPr>
          <p:cNvPr id="17" name="Shape 14"/>
          <p:cNvSpPr/>
          <p:nvPr/>
        </p:nvSpPr>
        <p:spPr>
          <a:xfrm>
            <a:off x="5747317" y="5623861"/>
            <a:ext cx="209493" cy="209493"/>
          </a:xfrm>
          <a:prstGeom prst="rect">
            <a:avLst/>
          </a:prstGeom>
          <a:solidFill>
            <a:srgbClr val="26306F"/>
          </a:solidFill>
          <a:ln/>
        </p:spPr>
        <p:txBody>
          <a:bodyPr/>
          <a:lstStyle/>
          <a:p>
            <a:endParaRPr lang="en-US"/>
          </a:p>
        </p:txBody>
      </p:sp>
      <p:sp>
        <p:nvSpPr>
          <p:cNvPr id="18" name="Text 15"/>
          <p:cNvSpPr/>
          <p:nvPr/>
        </p:nvSpPr>
        <p:spPr>
          <a:xfrm>
            <a:off x="5488923" y="4993325"/>
            <a:ext cx="802481"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5 YRS</a:t>
            </a:r>
            <a:endParaRPr lang="en-US" sz="2100" dirty="0"/>
          </a:p>
        </p:txBody>
      </p:sp>
      <p:sp>
        <p:nvSpPr>
          <p:cNvPr id="19" name="Shape 16"/>
          <p:cNvSpPr/>
          <p:nvPr/>
        </p:nvSpPr>
        <p:spPr>
          <a:xfrm>
            <a:off x="7688532" y="2726744"/>
            <a:ext cx="2910795" cy="2468563"/>
          </a:xfrm>
          <a:prstGeom prst="rect">
            <a:avLst/>
          </a:prstGeom>
          <a:solidFill>
            <a:srgbClr val="F2F2F3"/>
          </a:solidFill>
          <a:ln w="9071">
            <a:solidFill>
              <a:srgbClr val="1F1F1F">
                <a:alpha val="16000"/>
              </a:srgbClr>
            </a:solidFill>
            <a:prstDash val="solid"/>
          </a:ln>
        </p:spPr>
        <p:txBody>
          <a:bodyPr/>
          <a:lstStyle/>
          <a:p>
            <a:endParaRPr lang="en-US"/>
          </a:p>
        </p:txBody>
      </p:sp>
      <p:sp>
        <p:nvSpPr>
          <p:cNvPr id="20" name="Text 17"/>
          <p:cNvSpPr/>
          <p:nvPr/>
        </p:nvSpPr>
        <p:spPr>
          <a:xfrm>
            <a:off x="7945225" y="2964373"/>
            <a:ext cx="2637149" cy="571472"/>
          </a:xfrm>
          <a:prstGeom prst="rect">
            <a:avLst/>
          </a:prstGeom>
          <a:noFill/>
          <a:ln/>
        </p:spPr>
        <p:txBody>
          <a:bodyPr wrap="square" lIns="25400" tIns="25400" rIns="25400" bIns="25400" rtlCol="0" anchor="t">
            <a:normAutofit lnSpcReduction="10000"/>
          </a:bodyPr>
          <a:lstStyle/>
          <a:p>
            <a:pPr marL="0" indent="0" algn="l">
              <a:lnSpc>
                <a:spcPct val="82817"/>
              </a:lnSpc>
              <a:buNone/>
            </a:pPr>
            <a:r>
              <a:rPr lang="en-US" sz="4200" dirty="0">
                <a:solidFill>
                  <a:srgbClr val="26306F"/>
                </a:solidFill>
                <a:latin typeface="Barlow Condensed" pitchFamily="34" charset="0"/>
                <a:ea typeface="Barlow Condensed" pitchFamily="34" charset="-122"/>
                <a:cs typeface="Barlow Condensed" pitchFamily="34" charset="-120"/>
              </a:rPr>
              <a:t>2035</a:t>
            </a:r>
            <a:endParaRPr lang="en-US" sz="4200" dirty="0"/>
          </a:p>
        </p:txBody>
      </p:sp>
      <p:sp>
        <p:nvSpPr>
          <p:cNvPr id="21" name="Text 18"/>
          <p:cNvSpPr/>
          <p:nvPr/>
        </p:nvSpPr>
        <p:spPr>
          <a:xfrm>
            <a:off x="7945225" y="3611988"/>
            <a:ext cx="2473609" cy="92384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Aarav — postgraduate</a:t>
            </a:r>
            <a:endParaRPr lang="en-US" sz="2250" dirty="0"/>
          </a:p>
        </p:txBody>
      </p:sp>
      <p:sp>
        <p:nvSpPr>
          <p:cNvPr id="22" name="Text 19"/>
          <p:cNvSpPr/>
          <p:nvPr/>
        </p:nvSpPr>
        <p:spPr>
          <a:xfrm>
            <a:off x="7945225" y="4573914"/>
            <a:ext cx="263714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₹94 L at goal year</a:t>
            </a:r>
            <a:endParaRPr lang="en-US" sz="2100" dirty="0"/>
          </a:p>
        </p:txBody>
      </p:sp>
      <p:sp>
        <p:nvSpPr>
          <p:cNvPr id="23" name="Shape 20"/>
          <p:cNvSpPr/>
          <p:nvPr/>
        </p:nvSpPr>
        <p:spPr>
          <a:xfrm>
            <a:off x="9039183" y="5623861"/>
            <a:ext cx="209493" cy="209493"/>
          </a:xfrm>
          <a:prstGeom prst="rect">
            <a:avLst/>
          </a:prstGeom>
          <a:solidFill>
            <a:srgbClr val="26306F"/>
          </a:solidFill>
          <a:ln/>
        </p:spPr>
        <p:txBody>
          <a:bodyPr/>
          <a:lstStyle/>
          <a:p>
            <a:endParaRPr lang="en-US"/>
          </a:p>
        </p:txBody>
      </p:sp>
      <p:sp>
        <p:nvSpPr>
          <p:cNvPr id="24" name="Text 21"/>
          <p:cNvSpPr/>
          <p:nvPr/>
        </p:nvSpPr>
        <p:spPr>
          <a:xfrm>
            <a:off x="8779939" y="6109607"/>
            <a:ext cx="804111"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9 YRS</a:t>
            </a:r>
            <a:endParaRPr lang="en-US" sz="2100" dirty="0"/>
          </a:p>
        </p:txBody>
      </p:sp>
      <p:sp>
        <p:nvSpPr>
          <p:cNvPr id="25" name="Shape 22"/>
          <p:cNvSpPr/>
          <p:nvPr/>
        </p:nvSpPr>
        <p:spPr>
          <a:xfrm>
            <a:off x="10980327" y="6261979"/>
            <a:ext cx="2910866" cy="3295197"/>
          </a:xfrm>
          <a:prstGeom prst="rect">
            <a:avLst/>
          </a:prstGeom>
          <a:solidFill>
            <a:srgbClr val="141A45"/>
          </a:solidFill>
          <a:ln w="9071">
            <a:solidFill>
              <a:srgbClr val="141A45"/>
            </a:solidFill>
            <a:prstDash val="solid"/>
          </a:ln>
        </p:spPr>
        <p:txBody>
          <a:bodyPr/>
          <a:lstStyle/>
          <a:p>
            <a:endParaRPr lang="en-US"/>
          </a:p>
        </p:txBody>
      </p:sp>
      <p:sp>
        <p:nvSpPr>
          <p:cNvPr id="26" name="Text 23"/>
          <p:cNvSpPr/>
          <p:nvPr/>
        </p:nvSpPr>
        <p:spPr>
          <a:xfrm>
            <a:off x="11237020" y="6499608"/>
            <a:ext cx="2637227" cy="571472"/>
          </a:xfrm>
          <a:prstGeom prst="rect">
            <a:avLst/>
          </a:prstGeom>
          <a:noFill/>
          <a:ln/>
        </p:spPr>
        <p:txBody>
          <a:bodyPr wrap="square" lIns="25400" tIns="25400" rIns="25400" bIns="25400" rtlCol="0" anchor="t">
            <a:normAutofit lnSpcReduction="10000"/>
          </a:bodyPr>
          <a:lstStyle/>
          <a:p>
            <a:pPr marL="0" indent="0" algn="l">
              <a:lnSpc>
                <a:spcPct val="82817"/>
              </a:lnSpc>
              <a:buNone/>
            </a:pPr>
            <a:r>
              <a:rPr lang="en-US" sz="4200" dirty="0">
                <a:solidFill>
                  <a:srgbClr val="94BCE3"/>
                </a:solidFill>
                <a:latin typeface="Barlow Condensed" pitchFamily="34" charset="0"/>
                <a:ea typeface="Barlow Condensed" pitchFamily="34" charset="-122"/>
                <a:cs typeface="Barlow Condensed" pitchFamily="34" charset="-120"/>
              </a:rPr>
              <a:t>2036</a:t>
            </a:r>
            <a:endParaRPr lang="en-US" sz="4200" dirty="0"/>
          </a:p>
        </p:txBody>
      </p:sp>
      <p:sp>
        <p:nvSpPr>
          <p:cNvPr id="27" name="Text 24"/>
          <p:cNvSpPr/>
          <p:nvPr/>
        </p:nvSpPr>
        <p:spPr>
          <a:xfrm>
            <a:off x="11237020" y="7147223"/>
            <a:ext cx="2473680" cy="136671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F2F2F3"/>
                </a:solidFill>
                <a:latin typeface="Barlow" pitchFamily="34" charset="0"/>
                <a:ea typeface="Barlow" pitchFamily="34" charset="-122"/>
                <a:cs typeface="Barlow" pitchFamily="34" charset="-120"/>
              </a:rPr>
              <a:t>Retirement at 55 · Isha’s undergraduate</a:t>
            </a:r>
            <a:endParaRPr lang="en-US" sz="2250" dirty="0"/>
          </a:p>
        </p:txBody>
      </p:sp>
      <p:sp>
        <p:nvSpPr>
          <p:cNvPr id="28" name="Text 25"/>
          <p:cNvSpPr/>
          <p:nvPr/>
        </p:nvSpPr>
        <p:spPr>
          <a:xfrm>
            <a:off x="11237020" y="8552019"/>
            <a:ext cx="2473680" cy="805628"/>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F2F2F3">
                    <a:alpha val="90000"/>
                  </a:srgbClr>
                </a:solidFill>
                <a:latin typeface="Barlow" pitchFamily="34" charset="0"/>
                <a:ea typeface="Barlow" pitchFamily="34" charset="-122"/>
                <a:cs typeface="Barlow" pitchFamily="34" charset="-120"/>
              </a:rPr>
              <a:t>₹6.25 Cr corpus required</a:t>
            </a:r>
            <a:endParaRPr lang="en-US" sz="2100" dirty="0"/>
          </a:p>
        </p:txBody>
      </p:sp>
      <p:sp>
        <p:nvSpPr>
          <p:cNvPr id="29" name="Shape 26"/>
          <p:cNvSpPr/>
          <p:nvPr/>
        </p:nvSpPr>
        <p:spPr>
          <a:xfrm>
            <a:off x="12292921" y="5585803"/>
            <a:ext cx="285679" cy="285679"/>
          </a:xfrm>
          <a:prstGeom prst="rect">
            <a:avLst/>
          </a:prstGeom>
          <a:solidFill>
            <a:srgbClr val="141A45"/>
          </a:solidFill>
          <a:ln/>
        </p:spPr>
        <p:txBody>
          <a:bodyPr/>
          <a:lstStyle/>
          <a:p>
            <a:endParaRPr lang="en-US"/>
          </a:p>
        </p:txBody>
      </p:sp>
      <p:sp>
        <p:nvSpPr>
          <p:cNvPr id="30" name="Text 27"/>
          <p:cNvSpPr/>
          <p:nvPr/>
        </p:nvSpPr>
        <p:spPr>
          <a:xfrm>
            <a:off x="12010713" y="4993325"/>
            <a:ext cx="926150"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10 YRS</a:t>
            </a:r>
            <a:endParaRPr lang="en-US" sz="2100" dirty="0"/>
          </a:p>
        </p:txBody>
      </p:sp>
      <p:sp>
        <p:nvSpPr>
          <p:cNvPr id="31" name="Shape 28"/>
          <p:cNvSpPr/>
          <p:nvPr/>
        </p:nvSpPr>
        <p:spPr>
          <a:xfrm>
            <a:off x="14272193" y="2283874"/>
            <a:ext cx="2910866" cy="2911433"/>
          </a:xfrm>
          <a:prstGeom prst="rect">
            <a:avLst/>
          </a:prstGeom>
          <a:solidFill>
            <a:srgbClr val="F2F2F3"/>
          </a:solidFill>
          <a:ln w="9071">
            <a:solidFill>
              <a:srgbClr val="1F1F1F">
                <a:alpha val="16000"/>
              </a:srgbClr>
            </a:solidFill>
            <a:prstDash val="solid"/>
          </a:ln>
        </p:spPr>
        <p:txBody>
          <a:bodyPr/>
          <a:lstStyle/>
          <a:p>
            <a:endParaRPr lang="en-US"/>
          </a:p>
        </p:txBody>
      </p:sp>
      <p:sp>
        <p:nvSpPr>
          <p:cNvPr id="32" name="Text 29"/>
          <p:cNvSpPr/>
          <p:nvPr/>
        </p:nvSpPr>
        <p:spPr>
          <a:xfrm>
            <a:off x="14528886" y="2521503"/>
            <a:ext cx="2637227" cy="571472"/>
          </a:xfrm>
          <a:prstGeom prst="rect">
            <a:avLst/>
          </a:prstGeom>
          <a:noFill/>
          <a:ln/>
        </p:spPr>
        <p:txBody>
          <a:bodyPr wrap="square" lIns="25400" tIns="25400" rIns="25400" bIns="25400" rtlCol="0" anchor="t">
            <a:normAutofit lnSpcReduction="10000"/>
          </a:bodyPr>
          <a:lstStyle/>
          <a:p>
            <a:pPr marL="0" indent="0" algn="l">
              <a:lnSpc>
                <a:spcPct val="82817"/>
              </a:lnSpc>
              <a:buNone/>
            </a:pPr>
            <a:r>
              <a:rPr lang="en-US" sz="4200" dirty="0">
                <a:solidFill>
                  <a:srgbClr val="26306F"/>
                </a:solidFill>
                <a:latin typeface="Barlow Condensed" pitchFamily="34" charset="0"/>
                <a:ea typeface="Barlow Condensed" pitchFamily="34" charset="-122"/>
                <a:cs typeface="Barlow Condensed" pitchFamily="34" charset="-120"/>
              </a:rPr>
              <a:t>2040</a:t>
            </a:r>
            <a:endParaRPr lang="en-US" sz="4200" dirty="0"/>
          </a:p>
        </p:txBody>
      </p:sp>
      <p:sp>
        <p:nvSpPr>
          <p:cNvPr id="33" name="Text 30"/>
          <p:cNvSpPr/>
          <p:nvPr/>
        </p:nvSpPr>
        <p:spPr>
          <a:xfrm>
            <a:off x="14528886" y="3169118"/>
            <a:ext cx="2473680" cy="136671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Isha — postgraduate · SSY matures</a:t>
            </a:r>
            <a:endParaRPr lang="en-US" sz="2250" dirty="0"/>
          </a:p>
        </p:txBody>
      </p:sp>
      <p:sp>
        <p:nvSpPr>
          <p:cNvPr id="34" name="Text 31"/>
          <p:cNvSpPr/>
          <p:nvPr/>
        </p:nvSpPr>
        <p:spPr>
          <a:xfrm>
            <a:off x="14528886" y="4573914"/>
            <a:ext cx="2637227"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₹66.5 L from SSY</a:t>
            </a:r>
            <a:endParaRPr lang="en-US" sz="2100" dirty="0"/>
          </a:p>
        </p:txBody>
      </p:sp>
      <p:sp>
        <p:nvSpPr>
          <p:cNvPr id="35" name="Shape 32"/>
          <p:cNvSpPr/>
          <p:nvPr/>
        </p:nvSpPr>
        <p:spPr>
          <a:xfrm>
            <a:off x="15622844" y="5623861"/>
            <a:ext cx="209493" cy="209493"/>
          </a:xfrm>
          <a:prstGeom prst="rect">
            <a:avLst/>
          </a:prstGeom>
          <a:solidFill>
            <a:srgbClr val="26306F"/>
          </a:solidFill>
          <a:ln/>
        </p:spPr>
        <p:txBody>
          <a:bodyPr/>
          <a:lstStyle/>
          <a:p>
            <a:endParaRPr lang="en-US"/>
          </a:p>
        </p:txBody>
      </p:sp>
      <p:sp>
        <p:nvSpPr>
          <p:cNvPr id="36" name="Text 33"/>
          <p:cNvSpPr/>
          <p:nvPr/>
        </p:nvSpPr>
        <p:spPr>
          <a:xfrm>
            <a:off x="15304210" y="6109607"/>
            <a:ext cx="922961"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14 YRS</a:t>
            </a:r>
            <a:endParaRPr lang="en-US" sz="2100" dirty="0"/>
          </a:p>
        </p:txBody>
      </p:sp>
      <p:sp>
        <p:nvSpPr>
          <p:cNvPr id="37" name="Text 34"/>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38" name="Text 35"/>
          <p:cNvSpPr/>
          <p:nvPr/>
        </p:nvSpPr>
        <p:spPr>
          <a:xfrm>
            <a:off x="16713116" y="9475462"/>
            <a:ext cx="736643"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07 / 32</a:t>
            </a:r>
            <a:endParaRPr lang="en-US" sz="2100" dirty="0"/>
          </a:p>
        </p:txBody>
      </p:sp>
    </p:spTree>
    <p:extLst>
      <p:ext uri="{BB962C8B-B14F-4D97-AF65-F5344CB8AC3E}">
        <p14:creationId xmlns:p14="http://schemas.microsoft.com/office/powerpoint/2010/main" val="1547083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4">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6090437"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GOAL MAPPING</a:t>
            </a:r>
            <a:endParaRPr lang="en-US" sz="2100" b="1" dirty="0">
              <a:solidFill>
                <a:srgbClr val="2A3480"/>
              </a:solidFill>
              <a:latin typeface="Barlow"/>
            </a:endParaRPr>
          </a:p>
        </p:txBody>
      </p:sp>
      <p:sp>
        <p:nvSpPr>
          <p:cNvPr id="3" name="Text 1"/>
          <p:cNvSpPr/>
          <p:nvPr/>
        </p:nvSpPr>
        <p:spPr>
          <a:xfrm>
            <a:off x="914372" y="1088501"/>
            <a:ext cx="6090437"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Investment Allocation</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372" y="2845877"/>
            <a:ext cx="3690371" cy="9525"/>
          </a:xfrm>
          <a:prstGeom prst="rect">
            <a:avLst/>
          </a:prstGeom>
          <a:solidFill>
            <a:srgbClr val="1F1F1F">
              <a:alpha val="16000"/>
            </a:srgbClr>
          </a:solidFill>
          <a:ln/>
        </p:spPr>
        <p:txBody>
          <a:bodyPr/>
          <a:lstStyle/>
          <a:p>
            <a:endParaRPr lang="en-US"/>
          </a:p>
        </p:txBody>
      </p:sp>
      <p:sp>
        <p:nvSpPr>
          <p:cNvPr id="7" name="Text 4"/>
          <p:cNvSpPr/>
          <p:nvPr/>
        </p:nvSpPr>
        <p:spPr>
          <a:xfrm>
            <a:off x="914372" y="2381817"/>
            <a:ext cx="3801082"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FINANCIAL ASSET</a:t>
            </a:r>
            <a:endParaRPr lang="en-US" sz="2100" dirty="0"/>
          </a:p>
        </p:txBody>
      </p:sp>
      <p:sp>
        <p:nvSpPr>
          <p:cNvPr id="8" name="Shape 5"/>
          <p:cNvSpPr/>
          <p:nvPr/>
        </p:nvSpPr>
        <p:spPr>
          <a:xfrm>
            <a:off x="4604742" y="2845877"/>
            <a:ext cx="2350492" cy="9525"/>
          </a:xfrm>
          <a:prstGeom prst="rect">
            <a:avLst/>
          </a:prstGeom>
          <a:solidFill>
            <a:srgbClr val="1F1F1F">
              <a:alpha val="16000"/>
            </a:srgbClr>
          </a:solidFill>
          <a:ln/>
        </p:spPr>
        <p:txBody>
          <a:bodyPr/>
          <a:lstStyle/>
          <a:p>
            <a:endParaRPr lang="en-US"/>
          </a:p>
        </p:txBody>
      </p:sp>
      <p:sp>
        <p:nvSpPr>
          <p:cNvPr id="9" name="Text 6"/>
          <p:cNvSpPr/>
          <p:nvPr/>
        </p:nvSpPr>
        <p:spPr>
          <a:xfrm>
            <a:off x="4604742" y="2381817"/>
            <a:ext cx="2426692"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CURRENT VALUE</a:t>
            </a:r>
            <a:endParaRPr lang="en-US" sz="2100" dirty="0"/>
          </a:p>
        </p:txBody>
      </p:sp>
      <p:sp>
        <p:nvSpPr>
          <p:cNvPr id="10" name="Shape 7"/>
          <p:cNvSpPr/>
          <p:nvPr/>
        </p:nvSpPr>
        <p:spPr>
          <a:xfrm>
            <a:off x="6955235" y="2845877"/>
            <a:ext cx="2696270" cy="9525"/>
          </a:xfrm>
          <a:prstGeom prst="rect">
            <a:avLst/>
          </a:prstGeom>
          <a:solidFill>
            <a:srgbClr val="1F1F1F">
              <a:alpha val="16000"/>
            </a:srgbClr>
          </a:solidFill>
          <a:ln/>
        </p:spPr>
        <p:txBody>
          <a:bodyPr/>
          <a:lstStyle/>
          <a:p>
            <a:endParaRPr lang="en-US"/>
          </a:p>
        </p:txBody>
      </p:sp>
      <p:sp>
        <p:nvSpPr>
          <p:cNvPr id="11" name="Text 8"/>
          <p:cNvSpPr/>
          <p:nvPr/>
        </p:nvSpPr>
        <p:spPr>
          <a:xfrm>
            <a:off x="6955235" y="2381817"/>
            <a:ext cx="2777158"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VALUE ALLOCATED</a:t>
            </a:r>
            <a:endParaRPr lang="en-US" sz="2100" dirty="0"/>
          </a:p>
        </p:txBody>
      </p:sp>
      <p:sp>
        <p:nvSpPr>
          <p:cNvPr id="12" name="Shape 9"/>
          <p:cNvSpPr/>
          <p:nvPr/>
        </p:nvSpPr>
        <p:spPr>
          <a:xfrm>
            <a:off x="9651504" y="2845877"/>
            <a:ext cx="2692372" cy="9525"/>
          </a:xfrm>
          <a:prstGeom prst="rect">
            <a:avLst/>
          </a:prstGeom>
          <a:solidFill>
            <a:srgbClr val="1F1F1F">
              <a:alpha val="16000"/>
            </a:srgbClr>
          </a:solidFill>
          <a:ln/>
        </p:spPr>
        <p:txBody>
          <a:bodyPr/>
          <a:lstStyle/>
          <a:p>
            <a:endParaRPr lang="en-US"/>
          </a:p>
        </p:txBody>
      </p:sp>
      <p:sp>
        <p:nvSpPr>
          <p:cNvPr id="13" name="Text 10"/>
          <p:cNvSpPr/>
          <p:nvPr/>
        </p:nvSpPr>
        <p:spPr>
          <a:xfrm>
            <a:off x="9651504" y="2381817"/>
            <a:ext cx="2773143"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MONTHLY SAVINGS</a:t>
            </a:r>
            <a:endParaRPr lang="en-US" sz="2100" dirty="0"/>
          </a:p>
        </p:txBody>
      </p:sp>
      <p:sp>
        <p:nvSpPr>
          <p:cNvPr id="14" name="Shape 11"/>
          <p:cNvSpPr/>
          <p:nvPr/>
        </p:nvSpPr>
        <p:spPr>
          <a:xfrm>
            <a:off x="12343877" y="2845877"/>
            <a:ext cx="5029683" cy="9525"/>
          </a:xfrm>
          <a:prstGeom prst="rect">
            <a:avLst/>
          </a:prstGeom>
          <a:solidFill>
            <a:srgbClr val="1F1F1F">
              <a:alpha val="16000"/>
            </a:srgbClr>
          </a:solidFill>
          <a:ln/>
        </p:spPr>
        <p:txBody>
          <a:bodyPr/>
          <a:lstStyle/>
          <a:p>
            <a:endParaRPr lang="en-US"/>
          </a:p>
        </p:txBody>
      </p:sp>
      <p:sp>
        <p:nvSpPr>
          <p:cNvPr id="15" name="Text 12"/>
          <p:cNvSpPr/>
          <p:nvPr/>
        </p:nvSpPr>
        <p:spPr>
          <a:xfrm>
            <a:off x="12343877" y="2381817"/>
            <a:ext cx="5180573"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GOALS</a:t>
            </a:r>
            <a:endParaRPr lang="en-US" sz="2100" dirty="0"/>
          </a:p>
        </p:txBody>
      </p:sp>
      <p:sp>
        <p:nvSpPr>
          <p:cNvPr id="16" name="Shape 13"/>
          <p:cNvSpPr/>
          <p:nvPr/>
        </p:nvSpPr>
        <p:spPr>
          <a:xfrm>
            <a:off x="914372" y="3391085"/>
            <a:ext cx="3690371" cy="9525"/>
          </a:xfrm>
          <a:prstGeom prst="rect">
            <a:avLst/>
          </a:prstGeom>
          <a:solidFill>
            <a:srgbClr val="1A1A26">
              <a:alpha val="8000"/>
            </a:srgbClr>
          </a:solidFill>
          <a:ln/>
        </p:spPr>
        <p:txBody>
          <a:bodyPr/>
          <a:lstStyle/>
          <a:p>
            <a:endParaRPr lang="en-US"/>
          </a:p>
        </p:txBody>
      </p:sp>
      <p:sp>
        <p:nvSpPr>
          <p:cNvPr id="17" name="Text 14"/>
          <p:cNvSpPr/>
          <p:nvPr/>
        </p:nvSpPr>
        <p:spPr>
          <a:xfrm>
            <a:off x="914372" y="2931149"/>
            <a:ext cx="364868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Mutual Funds — Equity</a:t>
            </a:r>
            <a:endParaRPr lang="en-US" sz="2100" dirty="0"/>
          </a:p>
        </p:txBody>
      </p:sp>
      <p:sp>
        <p:nvSpPr>
          <p:cNvPr id="18" name="Shape 15"/>
          <p:cNvSpPr/>
          <p:nvPr/>
        </p:nvSpPr>
        <p:spPr>
          <a:xfrm>
            <a:off x="4604742" y="3391085"/>
            <a:ext cx="2350492" cy="9525"/>
          </a:xfrm>
          <a:prstGeom prst="rect">
            <a:avLst/>
          </a:prstGeom>
          <a:solidFill>
            <a:srgbClr val="1A1A26">
              <a:alpha val="8000"/>
            </a:srgbClr>
          </a:solidFill>
          <a:ln/>
        </p:spPr>
        <p:txBody>
          <a:bodyPr/>
          <a:lstStyle/>
          <a:p>
            <a:endParaRPr lang="en-US"/>
          </a:p>
        </p:txBody>
      </p:sp>
      <p:sp>
        <p:nvSpPr>
          <p:cNvPr id="19" name="Text 16"/>
          <p:cNvSpPr/>
          <p:nvPr/>
        </p:nvSpPr>
        <p:spPr>
          <a:xfrm>
            <a:off x="4604742" y="2931149"/>
            <a:ext cx="227429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₹52.0 L</a:t>
            </a:r>
            <a:endParaRPr lang="en-US" sz="2100" dirty="0"/>
          </a:p>
        </p:txBody>
      </p:sp>
      <p:sp>
        <p:nvSpPr>
          <p:cNvPr id="20" name="Shape 17"/>
          <p:cNvSpPr/>
          <p:nvPr/>
        </p:nvSpPr>
        <p:spPr>
          <a:xfrm>
            <a:off x="6955235" y="3391085"/>
            <a:ext cx="2696270" cy="9525"/>
          </a:xfrm>
          <a:prstGeom prst="rect">
            <a:avLst/>
          </a:prstGeom>
          <a:solidFill>
            <a:srgbClr val="1A1A26">
              <a:alpha val="8000"/>
            </a:srgbClr>
          </a:solidFill>
          <a:ln/>
        </p:spPr>
        <p:txBody>
          <a:bodyPr/>
          <a:lstStyle/>
          <a:p>
            <a:endParaRPr lang="en-US"/>
          </a:p>
        </p:txBody>
      </p:sp>
      <p:sp>
        <p:nvSpPr>
          <p:cNvPr id="21" name="Text 18"/>
          <p:cNvSpPr/>
          <p:nvPr/>
        </p:nvSpPr>
        <p:spPr>
          <a:xfrm>
            <a:off x="6955235" y="2931149"/>
            <a:ext cx="2624758"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₹52.0 L</a:t>
            </a:r>
            <a:endParaRPr lang="en-US" sz="2100" dirty="0"/>
          </a:p>
        </p:txBody>
      </p:sp>
      <p:sp>
        <p:nvSpPr>
          <p:cNvPr id="22" name="Shape 19"/>
          <p:cNvSpPr/>
          <p:nvPr/>
        </p:nvSpPr>
        <p:spPr>
          <a:xfrm>
            <a:off x="9651504" y="3391085"/>
            <a:ext cx="2692372" cy="9525"/>
          </a:xfrm>
          <a:prstGeom prst="rect">
            <a:avLst/>
          </a:prstGeom>
          <a:solidFill>
            <a:srgbClr val="1A1A26">
              <a:alpha val="8000"/>
            </a:srgbClr>
          </a:solidFill>
          <a:ln/>
        </p:spPr>
        <p:txBody>
          <a:bodyPr/>
          <a:lstStyle/>
          <a:p>
            <a:endParaRPr lang="en-US"/>
          </a:p>
        </p:txBody>
      </p:sp>
      <p:sp>
        <p:nvSpPr>
          <p:cNvPr id="23" name="Text 20"/>
          <p:cNvSpPr/>
          <p:nvPr/>
        </p:nvSpPr>
        <p:spPr>
          <a:xfrm>
            <a:off x="9651504" y="2931149"/>
            <a:ext cx="262074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₹77,000</a:t>
            </a:r>
            <a:endParaRPr lang="en-US" sz="2100" dirty="0"/>
          </a:p>
        </p:txBody>
      </p:sp>
      <p:sp>
        <p:nvSpPr>
          <p:cNvPr id="24" name="Shape 21"/>
          <p:cNvSpPr/>
          <p:nvPr/>
        </p:nvSpPr>
        <p:spPr>
          <a:xfrm>
            <a:off x="12343877" y="3391085"/>
            <a:ext cx="5029683" cy="9525"/>
          </a:xfrm>
          <a:prstGeom prst="rect">
            <a:avLst/>
          </a:prstGeom>
          <a:solidFill>
            <a:srgbClr val="1A1A26">
              <a:alpha val="8000"/>
            </a:srgbClr>
          </a:solidFill>
          <a:ln/>
        </p:spPr>
        <p:txBody>
          <a:bodyPr/>
          <a:lstStyle/>
          <a:p>
            <a:endParaRPr lang="en-US"/>
          </a:p>
        </p:txBody>
      </p:sp>
      <p:sp>
        <p:nvSpPr>
          <p:cNvPr id="25" name="Text 22"/>
          <p:cNvSpPr/>
          <p:nvPr/>
        </p:nvSpPr>
        <p:spPr>
          <a:xfrm>
            <a:off x="12343877" y="2931149"/>
            <a:ext cx="518057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Education — UG 2031, PG 2035</a:t>
            </a:r>
            <a:endParaRPr lang="en-US" sz="2100" dirty="0"/>
          </a:p>
        </p:txBody>
      </p:sp>
      <p:sp>
        <p:nvSpPr>
          <p:cNvPr id="26" name="Shape 23"/>
          <p:cNvSpPr/>
          <p:nvPr/>
        </p:nvSpPr>
        <p:spPr>
          <a:xfrm>
            <a:off x="914372" y="3936291"/>
            <a:ext cx="3690371" cy="9525"/>
          </a:xfrm>
          <a:prstGeom prst="rect">
            <a:avLst/>
          </a:prstGeom>
          <a:solidFill>
            <a:srgbClr val="1A1A26">
              <a:alpha val="8000"/>
            </a:srgbClr>
          </a:solidFill>
          <a:ln/>
        </p:spPr>
        <p:txBody>
          <a:bodyPr/>
          <a:lstStyle/>
          <a:p>
            <a:endParaRPr lang="en-US"/>
          </a:p>
        </p:txBody>
      </p:sp>
      <p:sp>
        <p:nvSpPr>
          <p:cNvPr id="27" name="Text 24"/>
          <p:cNvSpPr/>
          <p:nvPr/>
        </p:nvSpPr>
        <p:spPr>
          <a:xfrm>
            <a:off x="914372" y="3476356"/>
            <a:ext cx="364868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Mutual Funds — Hybrid</a:t>
            </a:r>
            <a:endParaRPr lang="en-US" sz="2100" dirty="0"/>
          </a:p>
        </p:txBody>
      </p:sp>
      <p:sp>
        <p:nvSpPr>
          <p:cNvPr id="28" name="Shape 25"/>
          <p:cNvSpPr/>
          <p:nvPr/>
        </p:nvSpPr>
        <p:spPr>
          <a:xfrm>
            <a:off x="4604742" y="3936291"/>
            <a:ext cx="2350492" cy="9525"/>
          </a:xfrm>
          <a:prstGeom prst="rect">
            <a:avLst/>
          </a:prstGeom>
          <a:solidFill>
            <a:srgbClr val="1A1A26">
              <a:alpha val="8000"/>
            </a:srgbClr>
          </a:solidFill>
          <a:ln/>
        </p:spPr>
        <p:txBody>
          <a:bodyPr/>
          <a:lstStyle/>
          <a:p>
            <a:endParaRPr lang="en-US"/>
          </a:p>
        </p:txBody>
      </p:sp>
      <p:sp>
        <p:nvSpPr>
          <p:cNvPr id="29" name="Text 26"/>
          <p:cNvSpPr/>
          <p:nvPr/>
        </p:nvSpPr>
        <p:spPr>
          <a:xfrm>
            <a:off x="4604742" y="3476356"/>
            <a:ext cx="227429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₹18.0 L</a:t>
            </a:r>
            <a:endParaRPr lang="en-US" sz="2100" dirty="0"/>
          </a:p>
        </p:txBody>
      </p:sp>
      <p:sp>
        <p:nvSpPr>
          <p:cNvPr id="30" name="Shape 27"/>
          <p:cNvSpPr/>
          <p:nvPr/>
        </p:nvSpPr>
        <p:spPr>
          <a:xfrm>
            <a:off x="6955235" y="3936291"/>
            <a:ext cx="2696270" cy="9525"/>
          </a:xfrm>
          <a:prstGeom prst="rect">
            <a:avLst/>
          </a:prstGeom>
          <a:solidFill>
            <a:srgbClr val="1A1A26">
              <a:alpha val="8000"/>
            </a:srgbClr>
          </a:solidFill>
          <a:ln/>
        </p:spPr>
        <p:txBody>
          <a:bodyPr/>
          <a:lstStyle/>
          <a:p>
            <a:endParaRPr lang="en-US"/>
          </a:p>
        </p:txBody>
      </p:sp>
      <p:sp>
        <p:nvSpPr>
          <p:cNvPr id="31" name="Text 28"/>
          <p:cNvSpPr/>
          <p:nvPr/>
        </p:nvSpPr>
        <p:spPr>
          <a:xfrm>
            <a:off x="6955235" y="3476356"/>
            <a:ext cx="2624758"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₹18.0 L</a:t>
            </a:r>
            <a:endParaRPr lang="en-US" sz="2100" dirty="0"/>
          </a:p>
        </p:txBody>
      </p:sp>
      <p:sp>
        <p:nvSpPr>
          <p:cNvPr id="32" name="Shape 29"/>
          <p:cNvSpPr/>
          <p:nvPr/>
        </p:nvSpPr>
        <p:spPr>
          <a:xfrm>
            <a:off x="9651504" y="3936291"/>
            <a:ext cx="2692372" cy="9525"/>
          </a:xfrm>
          <a:prstGeom prst="rect">
            <a:avLst/>
          </a:prstGeom>
          <a:solidFill>
            <a:srgbClr val="1A1A26">
              <a:alpha val="8000"/>
            </a:srgbClr>
          </a:solidFill>
          <a:ln/>
        </p:spPr>
        <p:txBody>
          <a:bodyPr/>
          <a:lstStyle/>
          <a:p>
            <a:endParaRPr lang="en-US"/>
          </a:p>
        </p:txBody>
      </p:sp>
      <p:sp>
        <p:nvSpPr>
          <p:cNvPr id="33" name="Text 30"/>
          <p:cNvSpPr/>
          <p:nvPr/>
        </p:nvSpPr>
        <p:spPr>
          <a:xfrm>
            <a:off x="9651504" y="3476356"/>
            <a:ext cx="262074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₹35,000</a:t>
            </a:r>
            <a:endParaRPr lang="en-US" sz="2100" dirty="0"/>
          </a:p>
        </p:txBody>
      </p:sp>
      <p:sp>
        <p:nvSpPr>
          <p:cNvPr id="34" name="Shape 31"/>
          <p:cNvSpPr/>
          <p:nvPr/>
        </p:nvSpPr>
        <p:spPr>
          <a:xfrm>
            <a:off x="12343877" y="3936291"/>
            <a:ext cx="5029683" cy="9525"/>
          </a:xfrm>
          <a:prstGeom prst="rect">
            <a:avLst/>
          </a:prstGeom>
          <a:solidFill>
            <a:srgbClr val="1A1A26">
              <a:alpha val="8000"/>
            </a:srgbClr>
          </a:solidFill>
          <a:ln/>
        </p:spPr>
        <p:txBody>
          <a:bodyPr/>
          <a:lstStyle/>
          <a:p>
            <a:endParaRPr lang="en-US"/>
          </a:p>
        </p:txBody>
      </p:sp>
      <p:sp>
        <p:nvSpPr>
          <p:cNvPr id="35" name="Text 32"/>
          <p:cNvSpPr/>
          <p:nvPr/>
        </p:nvSpPr>
        <p:spPr>
          <a:xfrm>
            <a:off x="12343877" y="3476356"/>
            <a:ext cx="518057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Vacation 2029 · Renovation 2031</a:t>
            </a:r>
            <a:endParaRPr lang="en-US" sz="2100" dirty="0"/>
          </a:p>
        </p:txBody>
      </p:sp>
      <p:sp>
        <p:nvSpPr>
          <p:cNvPr id="36" name="Shape 33"/>
          <p:cNvSpPr/>
          <p:nvPr/>
        </p:nvSpPr>
        <p:spPr>
          <a:xfrm>
            <a:off x="914372" y="4481499"/>
            <a:ext cx="3690371" cy="9525"/>
          </a:xfrm>
          <a:prstGeom prst="rect">
            <a:avLst/>
          </a:prstGeom>
          <a:solidFill>
            <a:srgbClr val="1A1A26">
              <a:alpha val="8000"/>
            </a:srgbClr>
          </a:solidFill>
          <a:ln/>
        </p:spPr>
        <p:txBody>
          <a:bodyPr/>
          <a:lstStyle/>
          <a:p>
            <a:endParaRPr lang="en-US"/>
          </a:p>
        </p:txBody>
      </p:sp>
      <p:sp>
        <p:nvSpPr>
          <p:cNvPr id="37" name="Text 34"/>
          <p:cNvSpPr/>
          <p:nvPr/>
        </p:nvSpPr>
        <p:spPr>
          <a:xfrm>
            <a:off x="914372" y="4021563"/>
            <a:ext cx="364868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Mutual Funds — Retirement</a:t>
            </a:r>
            <a:endParaRPr lang="en-US" sz="2100" dirty="0"/>
          </a:p>
        </p:txBody>
      </p:sp>
      <p:sp>
        <p:nvSpPr>
          <p:cNvPr id="38" name="Shape 35"/>
          <p:cNvSpPr/>
          <p:nvPr/>
        </p:nvSpPr>
        <p:spPr>
          <a:xfrm>
            <a:off x="4604742" y="4481499"/>
            <a:ext cx="2350492" cy="9525"/>
          </a:xfrm>
          <a:prstGeom prst="rect">
            <a:avLst/>
          </a:prstGeom>
          <a:solidFill>
            <a:srgbClr val="1A1A26">
              <a:alpha val="8000"/>
            </a:srgbClr>
          </a:solidFill>
          <a:ln/>
        </p:spPr>
        <p:txBody>
          <a:bodyPr/>
          <a:lstStyle/>
          <a:p>
            <a:endParaRPr lang="en-US"/>
          </a:p>
        </p:txBody>
      </p:sp>
      <p:sp>
        <p:nvSpPr>
          <p:cNvPr id="39" name="Text 36"/>
          <p:cNvSpPr/>
          <p:nvPr/>
        </p:nvSpPr>
        <p:spPr>
          <a:xfrm>
            <a:off x="4604742" y="4021563"/>
            <a:ext cx="227429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a:t>
            </a:r>
            <a:endParaRPr lang="en-US" sz="2100" dirty="0"/>
          </a:p>
        </p:txBody>
      </p:sp>
      <p:sp>
        <p:nvSpPr>
          <p:cNvPr id="40" name="Shape 37"/>
          <p:cNvSpPr/>
          <p:nvPr/>
        </p:nvSpPr>
        <p:spPr>
          <a:xfrm>
            <a:off x="6955235" y="4481499"/>
            <a:ext cx="2696270" cy="9525"/>
          </a:xfrm>
          <a:prstGeom prst="rect">
            <a:avLst/>
          </a:prstGeom>
          <a:solidFill>
            <a:srgbClr val="1A1A26">
              <a:alpha val="8000"/>
            </a:srgbClr>
          </a:solidFill>
          <a:ln/>
        </p:spPr>
        <p:txBody>
          <a:bodyPr/>
          <a:lstStyle/>
          <a:p>
            <a:endParaRPr lang="en-US"/>
          </a:p>
        </p:txBody>
      </p:sp>
      <p:sp>
        <p:nvSpPr>
          <p:cNvPr id="41" name="Text 38"/>
          <p:cNvSpPr/>
          <p:nvPr/>
        </p:nvSpPr>
        <p:spPr>
          <a:xfrm>
            <a:off x="6955235" y="4021563"/>
            <a:ext cx="2624758"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a:t>
            </a:r>
            <a:endParaRPr lang="en-US" sz="2100" dirty="0"/>
          </a:p>
        </p:txBody>
      </p:sp>
      <p:sp>
        <p:nvSpPr>
          <p:cNvPr id="42" name="Shape 39"/>
          <p:cNvSpPr/>
          <p:nvPr/>
        </p:nvSpPr>
        <p:spPr>
          <a:xfrm>
            <a:off x="9651504" y="4481499"/>
            <a:ext cx="2692372" cy="9525"/>
          </a:xfrm>
          <a:prstGeom prst="rect">
            <a:avLst/>
          </a:prstGeom>
          <a:solidFill>
            <a:srgbClr val="1A1A26">
              <a:alpha val="8000"/>
            </a:srgbClr>
          </a:solidFill>
          <a:ln/>
        </p:spPr>
        <p:txBody>
          <a:bodyPr/>
          <a:lstStyle/>
          <a:p>
            <a:endParaRPr lang="en-US"/>
          </a:p>
        </p:txBody>
      </p:sp>
      <p:sp>
        <p:nvSpPr>
          <p:cNvPr id="43" name="Text 40"/>
          <p:cNvSpPr/>
          <p:nvPr/>
        </p:nvSpPr>
        <p:spPr>
          <a:xfrm>
            <a:off x="9651504" y="4021563"/>
            <a:ext cx="262074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₹30,000</a:t>
            </a:r>
            <a:endParaRPr lang="en-US" sz="2100" dirty="0"/>
          </a:p>
        </p:txBody>
      </p:sp>
      <p:sp>
        <p:nvSpPr>
          <p:cNvPr id="44" name="Shape 41"/>
          <p:cNvSpPr/>
          <p:nvPr/>
        </p:nvSpPr>
        <p:spPr>
          <a:xfrm>
            <a:off x="12343877" y="4481499"/>
            <a:ext cx="5029683" cy="9525"/>
          </a:xfrm>
          <a:prstGeom prst="rect">
            <a:avLst/>
          </a:prstGeom>
          <a:solidFill>
            <a:srgbClr val="1A1A26">
              <a:alpha val="8000"/>
            </a:srgbClr>
          </a:solidFill>
          <a:ln/>
        </p:spPr>
        <p:txBody>
          <a:bodyPr/>
          <a:lstStyle/>
          <a:p>
            <a:endParaRPr lang="en-US"/>
          </a:p>
        </p:txBody>
      </p:sp>
      <p:sp>
        <p:nvSpPr>
          <p:cNvPr id="45" name="Text 42"/>
          <p:cNvSpPr/>
          <p:nvPr/>
        </p:nvSpPr>
        <p:spPr>
          <a:xfrm>
            <a:off x="12343877" y="4021563"/>
            <a:ext cx="518057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Retirement 2036 — new SIP</a:t>
            </a:r>
            <a:endParaRPr lang="en-US" sz="2100" dirty="0"/>
          </a:p>
        </p:txBody>
      </p:sp>
      <p:sp>
        <p:nvSpPr>
          <p:cNvPr id="46" name="Shape 43"/>
          <p:cNvSpPr/>
          <p:nvPr/>
        </p:nvSpPr>
        <p:spPr>
          <a:xfrm>
            <a:off x="914372" y="5026706"/>
            <a:ext cx="3690371" cy="9525"/>
          </a:xfrm>
          <a:prstGeom prst="rect">
            <a:avLst/>
          </a:prstGeom>
          <a:solidFill>
            <a:srgbClr val="1A1A26">
              <a:alpha val="8000"/>
            </a:srgbClr>
          </a:solidFill>
          <a:ln/>
        </p:spPr>
        <p:txBody>
          <a:bodyPr/>
          <a:lstStyle/>
          <a:p>
            <a:endParaRPr lang="en-US"/>
          </a:p>
        </p:txBody>
      </p:sp>
      <p:sp>
        <p:nvSpPr>
          <p:cNvPr id="47" name="Text 44"/>
          <p:cNvSpPr/>
          <p:nvPr/>
        </p:nvSpPr>
        <p:spPr>
          <a:xfrm>
            <a:off x="914372" y="4566770"/>
            <a:ext cx="364868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Direct Equity</a:t>
            </a:r>
            <a:endParaRPr lang="en-US" sz="2100" dirty="0"/>
          </a:p>
        </p:txBody>
      </p:sp>
      <p:sp>
        <p:nvSpPr>
          <p:cNvPr id="48" name="Shape 45"/>
          <p:cNvSpPr/>
          <p:nvPr/>
        </p:nvSpPr>
        <p:spPr>
          <a:xfrm>
            <a:off x="4604742" y="5026706"/>
            <a:ext cx="2350492" cy="9525"/>
          </a:xfrm>
          <a:prstGeom prst="rect">
            <a:avLst/>
          </a:prstGeom>
          <a:solidFill>
            <a:srgbClr val="1A1A26">
              <a:alpha val="8000"/>
            </a:srgbClr>
          </a:solidFill>
          <a:ln/>
        </p:spPr>
        <p:txBody>
          <a:bodyPr/>
          <a:lstStyle/>
          <a:p>
            <a:endParaRPr lang="en-US"/>
          </a:p>
        </p:txBody>
      </p:sp>
      <p:sp>
        <p:nvSpPr>
          <p:cNvPr id="49" name="Text 46"/>
          <p:cNvSpPr/>
          <p:nvPr/>
        </p:nvSpPr>
        <p:spPr>
          <a:xfrm>
            <a:off x="4604742" y="4566770"/>
            <a:ext cx="227429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₹14.0 L</a:t>
            </a:r>
            <a:endParaRPr lang="en-US" sz="2100" dirty="0"/>
          </a:p>
        </p:txBody>
      </p:sp>
      <p:sp>
        <p:nvSpPr>
          <p:cNvPr id="50" name="Shape 47"/>
          <p:cNvSpPr/>
          <p:nvPr/>
        </p:nvSpPr>
        <p:spPr>
          <a:xfrm>
            <a:off x="6955235" y="5026706"/>
            <a:ext cx="2696270" cy="9525"/>
          </a:xfrm>
          <a:prstGeom prst="rect">
            <a:avLst/>
          </a:prstGeom>
          <a:solidFill>
            <a:srgbClr val="1A1A26">
              <a:alpha val="8000"/>
            </a:srgbClr>
          </a:solidFill>
          <a:ln/>
        </p:spPr>
        <p:txBody>
          <a:bodyPr/>
          <a:lstStyle/>
          <a:p>
            <a:endParaRPr lang="en-US"/>
          </a:p>
        </p:txBody>
      </p:sp>
      <p:sp>
        <p:nvSpPr>
          <p:cNvPr id="51" name="Text 48"/>
          <p:cNvSpPr/>
          <p:nvPr/>
        </p:nvSpPr>
        <p:spPr>
          <a:xfrm>
            <a:off x="6955235" y="4566770"/>
            <a:ext cx="2624758"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₹14.0 L</a:t>
            </a:r>
            <a:endParaRPr lang="en-US" sz="2100" dirty="0"/>
          </a:p>
        </p:txBody>
      </p:sp>
      <p:sp>
        <p:nvSpPr>
          <p:cNvPr id="52" name="Shape 49"/>
          <p:cNvSpPr/>
          <p:nvPr/>
        </p:nvSpPr>
        <p:spPr>
          <a:xfrm>
            <a:off x="9651504" y="5026706"/>
            <a:ext cx="2692372" cy="9525"/>
          </a:xfrm>
          <a:prstGeom prst="rect">
            <a:avLst/>
          </a:prstGeom>
          <a:solidFill>
            <a:srgbClr val="1A1A26">
              <a:alpha val="8000"/>
            </a:srgbClr>
          </a:solidFill>
          <a:ln/>
        </p:spPr>
        <p:txBody>
          <a:bodyPr/>
          <a:lstStyle/>
          <a:p>
            <a:endParaRPr lang="en-US"/>
          </a:p>
        </p:txBody>
      </p:sp>
      <p:sp>
        <p:nvSpPr>
          <p:cNvPr id="53" name="Text 50"/>
          <p:cNvSpPr/>
          <p:nvPr/>
        </p:nvSpPr>
        <p:spPr>
          <a:xfrm>
            <a:off x="9651504" y="4566770"/>
            <a:ext cx="262074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a:t>
            </a:r>
            <a:endParaRPr lang="en-US" sz="2100" dirty="0"/>
          </a:p>
        </p:txBody>
      </p:sp>
      <p:sp>
        <p:nvSpPr>
          <p:cNvPr id="54" name="Shape 51"/>
          <p:cNvSpPr/>
          <p:nvPr/>
        </p:nvSpPr>
        <p:spPr>
          <a:xfrm>
            <a:off x="12343877" y="5026706"/>
            <a:ext cx="5029683" cy="9525"/>
          </a:xfrm>
          <a:prstGeom prst="rect">
            <a:avLst/>
          </a:prstGeom>
          <a:solidFill>
            <a:srgbClr val="1A1A26">
              <a:alpha val="8000"/>
            </a:srgbClr>
          </a:solidFill>
          <a:ln/>
        </p:spPr>
        <p:txBody>
          <a:bodyPr/>
          <a:lstStyle/>
          <a:p>
            <a:endParaRPr lang="en-US"/>
          </a:p>
        </p:txBody>
      </p:sp>
      <p:sp>
        <p:nvSpPr>
          <p:cNvPr id="55" name="Text 52"/>
          <p:cNvSpPr/>
          <p:nvPr/>
        </p:nvSpPr>
        <p:spPr>
          <a:xfrm>
            <a:off x="12343877" y="4566770"/>
            <a:ext cx="518057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Retirement 2036</a:t>
            </a:r>
            <a:endParaRPr lang="en-US" sz="2100" dirty="0"/>
          </a:p>
        </p:txBody>
      </p:sp>
      <p:sp>
        <p:nvSpPr>
          <p:cNvPr id="56" name="Shape 53"/>
          <p:cNvSpPr/>
          <p:nvPr/>
        </p:nvSpPr>
        <p:spPr>
          <a:xfrm>
            <a:off x="914372" y="5571913"/>
            <a:ext cx="3690371" cy="9525"/>
          </a:xfrm>
          <a:prstGeom prst="rect">
            <a:avLst/>
          </a:prstGeom>
          <a:solidFill>
            <a:srgbClr val="1A1A26">
              <a:alpha val="8000"/>
            </a:srgbClr>
          </a:solidFill>
          <a:ln/>
        </p:spPr>
        <p:txBody>
          <a:bodyPr/>
          <a:lstStyle/>
          <a:p>
            <a:endParaRPr lang="en-US"/>
          </a:p>
        </p:txBody>
      </p:sp>
      <p:sp>
        <p:nvSpPr>
          <p:cNvPr id="57" name="Text 54"/>
          <p:cNvSpPr/>
          <p:nvPr/>
        </p:nvSpPr>
        <p:spPr>
          <a:xfrm>
            <a:off x="914372" y="5111977"/>
            <a:ext cx="364868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Fixed Deposits</a:t>
            </a:r>
            <a:endParaRPr lang="en-US" sz="2100" dirty="0"/>
          </a:p>
        </p:txBody>
      </p:sp>
      <p:sp>
        <p:nvSpPr>
          <p:cNvPr id="58" name="Shape 55"/>
          <p:cNvSpPr/>
          <p:nvPr/>
        </p:nvSpPr>
        <p:spPr>
          <a:xfrm>
            <a:off x="4604742" y="5571913"/>
            <a:ext cx="2350492" cy="9525"/>
          </a:xfrm>
          <a:prstGeom prst="rect">
            <a:avLst/>
          </a:prstGeom>
          <a:solidFill>
            <a:srgbClr val="1A1A26">
              <a:alpha val="8000"/>
            </a:srgbClr>
          </a:solidFill>
          <a:ln/>
        </p:spPr>
        <p:txBody>
          <a:bodyPr/>
          <a:lstStyle/>
          <a:p>
            <a:endParaRPr lang="en-US"/>
          </a:p>
        </p:txBody>
      </p:sp>
      <p:sp>
        <p:nvSpPr>
          <p:cNvPr id="59" name="Text 56"/>
          <p:cNvSpPr/>
          <p:nvPr/>
        </p:nvSpPr>
        <p:spPr>
          <a:xfrm>
            <a:off x="4604742" y="5111977"/>
            <a:ext cx="227429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₹28.0 L</a:t>
            </a:r>
            <a:endParaRPr lang="en-US" sz="2100" dirty="0"/>
          </a:p>
        </p:txBody>
      </p:sp>
      <p:sp>
        <p:nvSpPr>
          <p:cNvPr id="60" name="Shape 57"/>
          <p:cNvSpPr/>
          <p:nvPr/>
        </p:nvSpPr>
        <p:spPr>
          <a:xfrm>
            <a:off x="6955235" y="5571913"/>
            <a:ext cx="2696270" cy="9525"/>
          </a:xfrm>
          <a:prstGeom prst="rect">
            <a:avLst/>
          </a:prstGeom>
          <a:solidFill>
            <a:srgbClr val="1A1A26">
              <a:alpha val="8000"/>
            </a:srgbClr>
          </a:solidFill>
          <a:ln/>
        </p:spPr>
        <p:txBody>
          <a:bodyPr/>
          <a:lstStyle/>
          <a:p>
            <a:endParaRPr lang="en-US"/>
          </a:p>
        </p:txBody>
      </p:sp>
      <p:sp>
        <p:nvSpPr>
          <p:cNvPr id="61" name="Text 58"/>
          <p:cNvSpPr/>
          <p:nvPr/>
        </p:nvSpPr>
        <p:spPr>
          <a:xfrm>
            <a:off x="6955235" y="5111977"/>
            <a:ext cx="2624758"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₹18.0 L</a:t>
            </a:r>
            <a:endParaRPr lang="en-US" sz="2100" dirty="0"/>
          </a:p>
        </p:txBody>
      </p:sp>
      <p:sp>
        <p:nvSpPr>
          <p:cNvPr id="62" name="Shape 59"/>
          <p:cNvSpPr/>
          <p:nvPr/>
        </p:nvSpPr>
        <p:spPr>
          <a:xfrm>
            <a:off x="9651504" y="5571913"/>
            <a:ext cx="2692372" cy="9525"/>
          </a:xfrm>
          <a:prstGeom prst="rect">
            <a:avLst/>
          </a:prstGeom>
          <a:solidFill>
            <a:srgbClr val="1A1A26">
              <a:alpha val="8000"/>
            </a:srgbClr>
          </a:solidFill>
          <a:ln/>
        </p:spPr>
        <p:txBody>
          <a:bodyPr/>
          <a:lstStyle/>
          <a:p>
            <a:endParaRPr lang="en-US"/>
          </a:p>
        </p:txBody>
      </p:sp>
      <p:sp>
        <p:nvSpPr>
          <p:cNvPr id="63" name="Text 60"/>
          <p:cNvSpPr/>
          <p:nvPr/>
        </p:nvSpPr>
        <p:spPr>
          <a:xfrm>
            <a:off x="9651504" y="5111977"/>
            <a:ext cx="262074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a:t>
            </a:r>
            <a:endParaRPr lang="en-US" sz="2100" dirty="0"/>
          </a:p>
        </p:txBody>
      </p:sp>
      <p:sp>
        <p:nvSpPr>
          <p:cNvPr id="64" name="Shape 61"/>
          <p:cNvSpPr/>
          <p:nvPr/>
        </p:nvSpPr>
        <p:spPr>
          <a:xfrm>
            <a:off x="12343877" y="5571913"/>
            <a:ext cx="5029683" cy="9525"/>
          </a:xfrm>
          <a:prstGeom prst="rect">
            <a:avLst/>
          </a:prstGeom>
          <a:solidFill>
            <a:srgbClr val="1A1A26">
              <a:alpha val="8000"/>
            </a:srgbClr>
          </a:solidFill>
          <a:ln/>
        </p:spPr>
        <p:txBody>
          <a:bodyPr/>
          <a:lstStyle/>
          <a:p>
            <a:endParaRPr lang="en-US"/>
          </a:p>
        </p:txBody>
      </p:sp>
      <p:sp>
        <p:nvSpPr>
          <p:cNvPr id="65" name="Text 62"/>
          <p:cNvSpPr/>
          <p:nvPr/>
        </p:nvSpPr>
        <p:spPr>
          <a:xfrm>
            <a:off x="12343877" y="5111977"/>
            <a:ext cx="518057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Emergency reserve · ₹10 L to reallocate</a:t>
            </a:r>
            <a:endParaRPr lang="en-US" sz="2100" dirty="0"/>
          </a:p>
        </p:txBody>
      </p:sp>
      <p:sp>
        <p:nvSpPr>
          <p:cNvPr id="66" name="Shape 63"/>
          <p:cNvSpPr/>
          <p:nvPr/>
        </p:nvSpPr>
        <p:spPr>
          <a:xfrm>
            <a:off x="914372" y="6117120"/>
            <a:ext cx="3690371" cy="9525"/>
          </a:xfrm>
          <a:prstGeom prst="rect">
            <a:avLst/>
          </a:prstGeom>
          <a:solidFill>
            <a:srgbClr val="1A1A26">
              <a:alpha val="8000"/>
            </a:srgbClr>
          </a:solidFill>
          <a:ln/>
        </p:spPr>
        <p:txBody>
          <a:bodyPr/>
          <a:lstStyle/>
          <a:p>
            <a:endParaRPr lang="en-US"/>
          </a:p>
        </p:txBody>
      </p:sp>
      <p:sp>
        <p:nvSpPr>
          <p:cNvPr id="67" name="Text 64"/>
          <p:cNvSpPr/>
          <p:nvPr/>
        </p:nvSpPr>
        <p:spPr>
          <a:xfrm>
            <a:off x="914372" y="5657184"/>
            <a:ext cx="364868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Gold &amp; SGB</a:t>
            </a:r>
            <a:endParaRPr lang="en-US" sz="2100" dirty="0"/>
          </a:p>
        </p:txBody>
      </p:sp>
      <p:sp>
        <p:nvSpPr>
          <p:cNvPr id="68" name="Shape 65"/>
          <p:cNvSpPr/>
          <p:nvPr/>
        </p:nvSpPr>
        <p:spPr>
          <a:xfrm>
            <a:off x="4604742" y="6117120"/>
            <a:ext cx="2350492" cy="9525"/>
          </a:xfrm>
          <a:prstGeom prst="rect">
            <a:avLst/>
          </a:prstGeom>
          <a:solidFill>
            <a:srgbClr val="1A1A26">
              <a:alpha val="8000"/>
            </a:srgbClr>
          </a:solidFill>
          <a:ln/>
        </p:spPr>
        <p:txBody>
          <a:bodyPr/>
          <a:lstStyle/>
          <a:p>
            <a:endParaRPr lang="en-US"/>
          </a:p>
        </p:txBody>
      </p:sp>
      <p:sp>
        <p:nvSpPr>
          <p:cNvPr id="69" name="Text 66"/>
          <p:cNvSpPr/>
          <p:nvPr/>
        </p:nvSpPr>
        <p:spPr>
          <a:xfrm>
            <a:off x="4604742" y="5657184"/>
            <a:ext cx="227429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₹10.5 L</a:t>
            </a:r>
            <a:endParaRPr lang="en-US" sz="2100" dirty="0"/>
          </a:p>
        </p:txBody>
      </p:sp>
      <p:sp>
        <p:nvSpPr>
          <p:cNvPr id="70" name="Shape 67"/>
          <p:cNvSpPr/>
          <p:nvPr/>
        </p:nvSpPr>
        <p:spPr>
          <a:xfrm>
            <a:off x="6955235" y="6117120"/>
            <a:ext cx="2696270" cy="9525"/>
          </a:xfrm>
          <a:prstGeom prst="rect">
            <a:avLst/>
          </a:prstGeom>
          <a:solidFill>
            <a:srgbClr val="1A1A26">
              <a:alpha val="8000"/>
            </a:srgbClr>
          </a:solidFill>
          <a:ln/>
        </p:spPr>
        <p:txBody>
          <a:bodyPr/>
          <a:lstStyle/>
          <a:p>
            <a:endParaRPr lang="en-US"/>
          </a:p>
        </p:txBody>
      </p:sp>
      <p:sp>
        <p:nvSpPr>
          <p:cNvPr id="71" name="Text 68"/>
          <p:cNvSpPr/>
          <p:nvPr/>
        </p:nvSpPr>
        <p:spPr>
          <a:xfrm>
            <a:off x="6955235" y="5657184"/>
            <a:ext cx="2624758"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₹10.5 L</a:t>
            </a:r>
            <a:endParaRPr lang="en-US" sz="2100" dirty="0"/>
          </a:p>
        </p:txBody>
      </p:sp>
      <p:sp>
        <p:nvSpPr>
          <p:cNvPr id="72" name="Shape 69"/>
          <p:cNvSpPr/>
          <p:nvPr/>
        </p:nvSpPr>
        <p:spPr>
          <a:xfrm>
            <a:off x="9651504" y="6117120"/>
            <a:ext cx="2692372" cy="9525"/>
          </a:xfrm>
          <a:prstGeom prst="rect">
            <a:avLst/>
          </a:prstGeom>
          <a:solidFill>
            <a:srgbClr val="1A1A26">
              <a:alpha val="8000"/>
            </a:srgbClr>
          </a:solidFill>
          <a:ln/>
        </p:spPr>
        <p:txBody>
          <a:bodyPr/>
          <a:lstStyle/>
          <a:p>
            <a:endParaRPr lang="en-US"/>
          </a:p>
        </p:txBody>
      </p:sp>
      <p:sp>
        <p:nvSpPr>
          <p:cNvPr id="73" name="Text 70"/>
          <p:cNvSpPr/>
          <p:nvPr/>
        </p:nvSpPr>
        <p:spPr>
          <a:xfrm>
            <a:off x="9651504" y="5657184"/>
            <a:ext cx="262074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₹6,000</a:t>
            </a:r>
            <a:endParaRPr lang="en-US" sz="2100" dirty="0"/>
          </a:p>
        </p:txBody>
      </p:sp>
      <p:sp>
        <p:nvSpPr>
          <p:cNvPr id="74" name="Shape 71"/>
          <p:cNvSpPr/>
          <p:nvPr/>
        </p:nvSpPr>
        <p:spPr>
          <a:xfrm>
            <a:off x="12343877" y="6117120"/>
            <a:ext cx="5029683" cy="9525"/>
          </a:xfrm>
          <a:prstGeom prst="rect">
            <a:avLst/>
          </a:prstGeom>
          <a:solidFill>
            <a:srgbClr val="1A1A26">
              <a:alpha val="8000"/>
            </a:srgbClr>
          </a:solidFill>
          <a:ln/>
        </p:spPr>
        <p:txBody>
          <a:bodyPr/>
          <a:lstStyle/>
          <a:p>
            <a:endParaRPr lang="en-US"/>
          </a:p>
        </p:txBody>
      </p:sp>
      <p:sp>
        <p:nvSpPr>
          <p:cNvPr id="75" name="Text 72"/>
          <p:cNvSpPr/>
          <p:nvPr/>
        </p:nvSpPr>
        <p:spPr>
          <a:xfrm>
            <a:off x="12343877" y="5657184"/>
            <a:ext cx="518057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Marriage 2044</a:t>
            </a:r>
            <a:endParaRPr lang="en-US" sz="2100" dirty="0"/>
          </a:p>
        </p:txBody>
      </p:sp>
      <p:sp>
        <p:nvSpPr>
          <p:cNvPr id="76" name="Shape 73"/>
          <p:cNvSpPr/>
          <p:nvPr/>
        </p:nvSpPr>
        <p:spPr>
          <a:xfrm>
            <a:off x="914372" y="6662327"/>
            <a:ext cx="3690371" cy="9525"/>
          </a:xfrm>
          <a:prstGeom prst="rect">
            <a:avLst/>
          </a:prstGeom>
          <a:solidFill>
            <a:srgbClr val="1A1A26">
              <a:alpha val="8000"/>
            </a:srgbClr>
          </a:solidFill>
          <a:ln/>
        </p:spPr>
        <p:txBody>
          <a:bodyPr/>
          <a:lstStyle/>
          <a:p>
            <a:endParaRPr lang="en-US"/>
          </a:p>
        </p:txBody>
      </p:sp>
      <p:sp>
        <p:nvSpPr>
          <p:cNvPr id="77" name="Text 74"/>
          <p:cNvSpPr/>
          <p:nvPr/>
        </p:nvSpPr>
        <p:spPr>
          <a:xfrm>
            <a:off x="914372" y="6202391"/>
            <a:ext cx="364868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Sukanya Samriddhi</a:t>
            </a:r>
            <a:endParaRPr lang="en-US" sz="2100" dirty="0"/>
          </a:p>
        </p:txBody>
      </p:sp>
      <p:sp>
        <p:nvSpPr>
          <p:cNvPr id="78" name="Shape 75"/>
          <p:cNvSpPr/>
          <p:nvPr/>
        </p:nvSpPr>
        <p:spPr>
          <a:xfrm>
            <a:off x="4604742" y="6662327"/>
            <a:ext cx="2350492" cy="9525"/>
          </a:xfrm>
          <a:prstGeom prst="rect">
            <a:avLst/>
          </a:prstGeom>
          <a:solidFill>
            <a:srgbClr val="1A1A26">
              <a:alpha val="8000"/>
            </a:srgbClr>
          </a:solidFill>
          <a:ln/>
        </p:spPr>
        <p:txBody>
          <a:bodyPr/>
          <a:lstStyle/>
          <a:p>
            <a:endParaRPr lang="en-US"/>
          </a:p>
        </p:txBody>
      </p:sp>
      <p:sp>
        <p:nvSpPr>
          <p:cNvPr id="79" name="Text 76"/>
          <p:cNvSpPr/>
          <p:nvPr/>
        </p:nvSpPr>
        <p:spPr>
          <a:xfrm>
            <a:off x="4604742" y="6202391"/>
            <a:ext cx="227429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₹13.6 L</a:t>
            </a:r>
            <a:endParaRPr lang="en-US" sz="2100" dirty="0"/>
          </a:p>
        </p:txBody>
      </p:sp>
      <p:sp>
        <p:nvSpPr>
          <p:cNvPr id="80" name="Shape 77"/>
          <p:cNvSpPr/>
          <p:nvPr/>
        </p:nvSpPr>
        <p:spPr>
          <a:xfrm>
            <a:off x="6955235" y="6662327"/>
            <a:ext cx="2696270" cy="9525"/>
          </a:xfrm>
          <a:prstGeom prst="rect">
            <a:avLst/>
          </a:prstGeom>
          <a:solidFill>
            <a:srgbClr val="1A1A26">
              <a:alpha val="8000"/>
            </a:srgbClr>
          </a:solidFill>
          <a:ln/>
        </p:spPr>
        <p:txBody>
          <a:bodyPr/>
          <a:lstStyle/>
          <a:p>
            <a:endParaRPr lang="en-US"/>
          </a:p>
        </p:txBody>
      </p:sp>
      <p:sp>
        <p:nvSpPr>
          <p:cNvPr id="81" name="Text 78"/>
          <p:cNvSpPr/>
          <p:nvPr/>
        </p:nvSpPr>
        <p:spPr>
          <a:xfrm>
            <a:off x="6955235" y="6202391"/>
            <a:ext cx="2624758"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₹13.6 L</a:t>
            </a:r>
            <a:endParaRPr lang="en-US" sz="2100" dirty="0"/>
          </a:p>
        </p:txBody>
      </p:sp>
      <p:sp>
        <p:nvSpPr>
          <p:cNvPr id="82" name="Shape 79"/>
          <p:cNvSpPr/>
          <p:nvPr/>
        </p:nvSpPr>
        <p:spPr>
          <a:xfrm>
            <a:off x="9651504" y="6662327"/>
            <a:ext cx="2692372" cy="9525"/>
          </a:xfrm>
          <a:prstGeom prst="rect">
            <a:avLst/>
          </a:prstGeom>
          <a:solidFill>
            <a:srgbClr val="1A1A26">
              <a:alpha val="8000"/>
            </a:srgbClr>
          </a:solidFill>
          <a:ln/>
        </p:spPr>
        <p:txBody>
          <a:bodyPr/>
          <a:lstStyle/>
          <a:p>
            <a:endParaRPr lang="en-US"/>
          </a:p>
        </p:txBody>
      </p:sp>
      <p:sp>
        <p:nvSpPr>
          <p:cNvPr id="83" name="Text 80"/>
          <p:cNvSpPr/>
          <p:nvPr/>
        </p:nvSpPr>
        <p:spPr>
          <a:xfrm>
            <a:off x="9651504" y="6202391"/>
            <a:ext cx="262074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₹12,500</a:t>
            </a:r>
            <a:endParaRPr lang="en-US" sz="2100" dirty="0"/>
          </a:p>
        </p:txBody>
      </p:sp>
      <p:sp>
        <p:nvSpPr>
          <p:cNvPr id="84" name="Shape 81"/>
          <p:cNvSpPr/>
          <p:nvPr/>
        </p:nvSpPr>
        <p:spPr>
          <a:xfrm>
            <a:off x="12343877" y="6662327"/>
            <a:ext cx="5029683" cy="9525"/>
          </a:xfrm>
          <a:prstGeom prst="rect">
            <a:avLst/>
          </a:prstGeom>
          <a:solidFill>
            <a:srgbClr val="1A1A26">
              <a:alpha val="8000"/>
            </a:srgbClr>
          </a:solidFill>
          <a:ln/>
        </p:spPr>
        <p:txBody>
          <a:bodyPr/>
          <a:lstStyle/>
          <a:p>
            <a:endParaRPr lang="en-US"/>
          </a:p>
        </p:txBody>
      </p:sp>
      <p:sp>
        <p:nvSpPr>
          <p:cNvPr id="85" name="Text 82"/>
          <p:cNvSpPr/>
          <p:nvPr/>
        </p:nvSpPr>
        <p:spPr>
          <a:xfrm>
            <a:off x="12343877" y="6202391"/>
            <a:ext cx="518057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Isha — education 2036, marriage 2044</a:t>
            </a:r>
            <a:endParaRPr lang="en-US" sz="2100" dirty="0"/>
          </a:p>
        </p:txBody>
      </p:sp>
      <p:sp>
        <p:nvSpPr>
          <p:cNvPr id="86" name="Shape 83"/>
          <p:cNvSpPr/>
          <p:nvPr/>
        </p:nvSpPr>
        <p:spPr>
          <a:xfrm>
            <a:off x="914372" y="7207534"/>
            <a:ext cx="3690371" cy="9525"/>
          </a:xfrm>
          <a:prstGeom prst="rect">
            <a:avLst/>
          </a:prstGeom>
          <a:solidFill>
            <a:srgbClr val="1A1A26">
              <a:alpha val="8000"/>
            </a:srgbClr>
          </a:solidFill>
          <a:ln/>
        </p:spPr>
        <p:txBody>
          <a:bodyPr/>
          <a:lstStyle/>
          <a:p>
            <a:endParaRPr lang="en-US"/>
          </a:p>
        </p:txBody>
      </p:sp>
      <p:sp>
        <p:nvSpPr>
          <p:cNvPr id="87" name="Text 84"/>
          <p:cNvSpPr/>
          <p:nvPr/>
        </p:nvSpPr>
        <p:spPr>
          <a:xfrm>
            <a:off x="914372" y="6747599"/>
            <a:ext cx="364868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EPF · PPF · NPS</a:t>
            </a:r>
            <a:endParaRPr lang="en-US" sz="2100" dirty="0"/>
          </a:p>
        </p:txBody>
      </p:sp>
      <p:sp>
        <p:nvSpPr>
          <p:cNvPr id="88" name="Shape 85"/>
          <p:cNvSpPr/>
          <p:nvPr/>
        </p:nvSpPr>
        <p:spPr>
          <a:xfrm>
            <a:off x="4604742" y="7207534"/>
            <a:ext cx="2350492" cy="9525"/>
          </a:xfrm>
          <a:prstGeom prst="rect">
            <a:avLst/>
          </a:prstGeom>
          <a:solidFill>
            <a:srgbClr val="1A1A26">
              <a:alpha val="8000"/>
            </a:srgbClr>
          </a:solidFill>
          <a:ln/>
        </p:spPr>
        <p:txBody>
          <a:bodyPr/>
          <a:lstStyle/>
          <a:p>
            <a:endParaRPr lang="en-US"/>
          </a:p>
        </p:txBody>
      </p:sp>
      <p:sp>
        <p:nvSpPr>
          <p:cNvPr id="89" name="Text 86"/>
          <p:cNvSpPr/>
          <p:nvPr/>
        </p:nvSpPr>
        <p:spPr>
          <a:xfrm>
            <a:off x="4604742" y="6747599"/>
            <a:ext cx="227429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₹80.5 L</a:t>
            </a:r>
            <a:endParaRPr lang="en-US" sz="2100" dirty="0"/>
          </a:p>
        </p:txBody>
      </p:sp>
      <p:sp>
        <p:nvSpPr>
          <p:cNvPr id="90" name="Shape 87"/>
          <p:cNvSpPr/>
          <p:nvPr/>
        </p:nvSpPr>
        <p:spPr>
          <a:xfrm>
            <a:off x="6955235" y="7207534"/>
            <a:ext cx="2696270" cy="9525"/>
          </a:xfrm>
          <a:prstGeom prst="rect">
            <a:avLst/>
          </a:prstGeom>
          <a:solidFill>
            <a:srgbClr val="1A1A26">
              <a:alpha val="8000"/>
            </a:srgbClr>
          </a:solidFill>
          <a:ln/>
        </p:spPr>
        <p:txBody>
          <a:bodyPr/>
          <a:lstStyle/>
          <a:p>
            <a:endParaRPr lang="en-US"/>
          </a:p>
        </p:txBody>
      </p:sp>
      <p:sp>
        <p:nvSpPr>
          <p:cNvPr id="91" name="Text 88"/>
          <p:cNvSpPr/>
          <p:nvPr/>
        </p:nvSpPr>
        <p:spPr>
          <a:xfrm>
            <a:off x="6955235" y="6747599"/>
            <a:ext cx="2624758"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₹80.5 L</a:t>
            </a:r>
            <a:endParaRPr lang="en-US" sz="2100" dirty="0"/>
          </a:p>
        </p:txBody>
      </p:sp>
      <p:sp>
        <p:nvSpPr>
          <p:cNvPr id="92" name="Shape 89"/>
          <p:cNvSpPr/>
          <p:nvPr/>
        </p:nvSpPr>
        <p:spPr>
          <a:xfrm>
            <a:off x="9651504" y="7207534"/>
            <a:ext cx="2692372" cy="9525"/>
          </a:xfrm>
          <a:prstGeom prst="rect">
            <a:avLst/>
          </a:prstGeom>
          <a:solidFill>
            <a:srgbClr val="1A1A26">
              <a:alpha val="8000"/>
            </a:srgbClr>
          </a:solidFill>
          <a:ln/>
        </p:spPr>
        <p:txBody>
          <a:bodyPr/>
          <a:lstStyle/>
          <a:p>
            <a:endParaRPr lang="en-US"/>
          </a:p>
        </p:txBody>
      </p:sp>
      <p:sp>
        <p:nvSpPr>
          <p:cNvPr id="93" name="Text 90"/>
          <p:cNvSpPr/>
          <p:nvPr/>
        </p:nvSpPr>
        <p:spPr>
          <a:xfrm>
            <a:off x="9651504" y="6747599"/>
            <a:ext cx="262074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₹59,500</a:t>
            </a:r>
            <a:endParaRPr lang="en-US" sz="2100" dirty="0"/>
          </a:p>
        </p:txBody>
      </p:sp>
      <p:sp>
        <p:nvSpPr>
          <p:cNvPr id="94" name="Shape 91"/>
          <p:cNvSpPr/>
          <p:nvPr/>
        </p:nvSpPr>
        <p:spPr>
          <a:xfrm>
            <a:off x="12343877" y="7207534"/>
            <a:ext cx="5029683" cy="9525"/>
          </a:xfrm>
          <a:prstGeom prst="rect">
            <a:avLst/>
          </a:prstGeom>
          <a:solidFill>
            <a:srgbClr val="1A1A26">
              <a:alpha val="8000"/>
            </a:srgbClr>
          </a:solidFill>
          <a:ln/>
        </p:spPr>
        <p:txBody>
          <a:bodyPr/>
          <a:lstStyle/>
          <a:p>
            <a:endParaRPr lang="en-US"/>
          </a:p>
        </p:txBody>
      </p:sp>
      <p:sp>
        <p:nvSpPr>
          <p:cNvPr id="95" name="Text 92"/>
          <p:cNvSpPr/>
          <p:nvPr/>
        </p:nvSpPr>
        <p:spPr>
          <a:xfrm>
            <a:off x="12343877" y="6747599"/>
            <a:ext cx="518057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Retirement 2036 · NPS from 2041</a:t>
            </a:r>
            <a:endParaRPr lang="en-US" sz="2100" dirty="0"/>
          </a:p>
        </p:txBody>
      </p:sp>
      <p:sp>
        <p:nvSpPr>
          <p:cNvPr id="96" name="Text 93"/>
          <p:cNvSpPr/>
          <p:nvPr/>
        </p:nvSpPr>
        <p:spPr>
          <a:xfrm>
            <a:off x="914372" y="7388055"/>
            <a:ext cx="3648682" cy="633115"/>
          </a:xfrm>
          <a:prstGeom prst="rect">
            <a:avLst/>
          </a:prstGeom>
          <a:noFill/>
          <a:ln/>
        </p:spPr>
        <p:txBody>
          <a:bodyPr wrap="square" lIns="25400" tIns="25400" rIns="25400" bIns="25400" rtlCol="0" anchor="ctr">
            <a:normAutofit/>
          </a:bodyPr>
          <a:lstStyle/>
          <a:p>
            <a:pPr marL="0" indent="0" algn="l">
              <a:lnSpc>
                <a:spcPct val="128911"/>
              </a:lnSpc>
              <a:buNone/>
            </a:pPr>
            <a:r>
              <a:rPr lang="en-US" sz="3000" dirty="0">
                <a:solidFill>
                  <a:srgbClr val="1D1F20"/>
                </a:solidFill>
                <a:latin typeface="Barlow Condensed" pitchFamily="34" charset="0"/>
                <a:ea typeface="Barlow Condensed" pitchFamily="34" charset="-122"/>
                <a:cs typeface="Barlow Condensed" pitchFamily="34" charset="-120"/>
              </a:rPr>
              <a:t>Total</a:t>
            </a:r>
            <a:endParaRPr lang="en-US" sz="3000" dirty="0"/>
          </a:p>
        </p:txBody>
      </p:sp>
      <p:sp>
        <p:nvSpPr>
          <p:cNvPr id="97" name="Text 94"/>
          <p:cNvSpPr/>
          <p:nvPr/>
        </p:nvSpPr>
        <p:spPr>
          <a:xfrm>
            <a:off x="4604742" y="7388055"/>
            <a:ext cx="2274292" cy="633115"/>
          </a:xfrm>
          <a:prstGeom prst="rect">
            <a:avLst/>
          </a:prstGeom>
          <a:noFill/>
          <a:ln/>
        </p:spPr>
        <p:txBody>
          <a:bodyPr wrap="square" lIns="25400" tIns="25400" rIns="25400" bIns="25400" rtlCol="0" anchor="ctr">
            <a:normAutofit/>
          </a:bodyPr>
          <a:lstStyle/>
          <a:p>
            <a:pPr marL="0" indent="0" algn="l">
              <a:lnSpc>
                <a:spcPct val="128911"/>
              </a:lnSpc>
              <a:buNone/>
            </a:pPr>
            <a:r>
              <a:rPr lang="en-US" sz="3000" dirty="0">
                <a:solidFill>
                  <a:srgbClr val="1D1F20"/>
                </a:solidFill>
                <a:latin typeface="Barlow Condensed" pitchFamily="34" charset="0"/>
                <a:ea typeface="Barlow Condensed" pitchFamily="34" charset="-122"/>
                <a:cs typeface="Barlow Condensed" pitchFamily="34" charset="-120"/>
              </a:rPr>
              <a:t>₹2.17 Cr</a:t>
            </a:r>
            <a:endParaRPr lang="en-US" sz="3000" dirty="0"/>
          </a:p>
        </p:txBody>
      </p:sp>
      <p:sp>
        <p:nvSpPr>
          <p:cNvPr id="98" name="Text 95"/>
          <p:cNvSpPr/>
          <p:nvPr/>
        </p:nvSpPr>
        <p:spPr>
          <a:xfrm>
            <a:off x="6955235" y="7388055"/>
            <a:ext cx="2624758" cy="633115"/>
          </a:xfrm>
          <a:prstGeom prst="rect">
            <a:avLst/>
          </a:prstGeom>
          <a:noFill/>
          <a:ln/>
        </p:spPr>
        <p:txBody>
          <a:bodyPr wrap="square" lIns="25400" tIns="25400" rIns="25400" bIns="25400" rtlCol="0" anchor="ctr">
            <a:normAutofit/>
          </a:bodyPr>
          <a:lstStyle/>
          <a:p>
            <a:pPr marL="0" indent="0" algn="l">
              <a:lnSpc>
                <a:spcPct val="128911"/>
              </a:lnSpc>
              <a:buNone/>
            </a:pPr>
            <a:r>
              <a:rPr lang="en-US" sz="3000" dirty="0">
                <a:solidFill>
                  <a:srgbClr val="1D1F20"/>
                </a:solidFill>
                <a:latin typeface="Barlow Condensed" pitchFamily="34" charset="0"/>
                <a:ea typeface="Barlow Condensed" pitchFamily="34" charset="-122"/>
                <a:cs typeface="Barlow Condensed" pitchFamily="34" charset="-120"/>
              </a:rPr>
              <a:t>₹2.07 Cr</a:t>
            </a:r>
            <a:endParaRPr lang="en-US" sz="3000" dirty="0"/>
          </a:p>
        </p:txBody>
      </p:sp>
      <p:sp>
        <p:nvSpPr>
          <p:cNvPr id="99" name="Text 96"/>
          <p:cNvSpPr/>
          <p:nvPr/>
        </p:nvSpPr>
        <p:spPr>
          <a:xfrm>
            <a:off x="9651504" y="7388055"/>
            <a:ext cx="2620743" cy="633115"/>
          </a:xfrm>
          <a:prstGeom prst="rect">
            <a:avLst/>
          </a:prstGeom>
          <a:noFill/>
          <a:ln/>
        </p:spPr>
        <p:txBody>
          <a:bodyPr wrap="square" lIns="25400" tIns="25400" rIns="25400" bIns="25400" rtlCol="0" anchor="ctr">
            <a:normAutofit/>
          </a:bodyPr>
          <a:lstStyle/>
          <a:p>
            <a:pPr marL="0" indent="0" algn="l">
              <a:lnSpc>
                <a:spcPct val="128911"/>
              </a:lnSpc>
              <a:buNone/>
            </a:pPr>
            <a:r>
              <a:rPr lang="en-US" sz="3000" dirty="0">
                <a:solidFill>
                  <a:srgbClr val="1D1F20"/>
                </a:solidFill>
                <a:latin typeface="Barlow Condensed" pitchFamily="34" charset="0"/>
                <a:ea typeface="Barlow Condensed" pitchFamily="34" charset="-122"/>
                <a:cs typeface="Barlow Condensed" pitchFamily="34" charset="-120"/>
              </a:rPr>
              <a:t>₹2,20,000</a:t>
            </a:r>
            <a:endParaRPr lang="en-US" sz="3000" dirty="0"/>
          </a:p>
        </p:txBody>
      </p:sp>
      <p:sp>
        <p:nvSpPr>
          <p:cNvPr id="100" name="Shape 97"/>
          <p:cNvSpPr/>
          <p:nvPr/>
        </p:nvSpPr>
        <p:spPr>
          <a:xfrm>
            <a:off x="914372" y="8097313"/>
            <a:ext cx="16459187" cy="9525"/>
          </a:xfrm>
          <a:prstGeom prst="rect">
            <a:avLst/>
          </a:prstGeom>
          <a:solidFill>
            <a:srgbClr val="1D1F20">
              <a:alpha val="18000"/>
            </a:srgbClr>
          </a:solidFill>
          <a:ln/>
        </p:spPr>
        <p:txBody>
          <a:bodyPr/>
          <a:lstStyle/>
          <a:p>
            <a:endParaRPr lang="en-US"/>
          </a:p>
        </p:txBody>
      </p:sp>
      <p:sp>
        <p:nvSpPr>
          <p:cNvPr id="101" name="Text 98"/>
          <p:cNvSpPr/>
          <p:nvPr/>
        </p:nvSpPr>
        <p:spPr>
          <a:xfrm>
            <a:off x="914372" y="8315921"/>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102" name="Text 99"/>
          <p:cNvSpPr/>
          <p:nvPr/>
        </p:nvSpPr>
        <p:spPr>
          <a:xfrm>
            <a:off x="3276487" y="8277821"/>
            <a:ext cx="13244441" cy="768492"/>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Of the ₹2.20 lakh committed each month, the ₹30,000 tagged to retirement is funded by the FD reallocation rather than by fresh saving. Property is excluded here because it cannot be drawn on goal by goal.</a:t>
            </a:r>
            <a:endParaRPr lang="en-US" sz="2100" dirty="0"/>
          </a:p>
        </p:txBody>
      </p:sp>
      <p:sp>
        <p:nvSpPr>
          <p:cNvPr id="103" name="Text 100"/>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104" name="Text 101"/>
          <p:cNvSpPr/>
          <p:nvPr/>
        </p:nvSpPr>
        <p:spPr>
          <a:xfrm>
            <a:off x="16701919" y="9475462"/>
            <a:ext cx="747840"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24 / 32</a:t>
            </a:r>
            <a:endParaRPr lang="en-US" sz="2100" dirty="0"/>
          </a:p>
        </p:txBody>
      </p:sp>
    </p:spTree>
    <p:extLst>
      <p:ext uri="{BB962C8B-B14F-4D97-AF65-F5344CB8AC3E}">
        <p14:creationId xmlns:p14="http://schemas.microsoft.com/office/powerpoint/2010/main" val="2843690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5">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9778611"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GOAL MAPPING</a:t>
            </a:r>
            <a:endParaRPr lang="en-US" sz="2100" b="1" dirty="0">
              <a:solidFill>
                <a:srgbClr val="2A3480"/>
              </a:solidFill>
              <a:latin typeface="Barlow"/>
            </a:endParaRPr>
          </a:p>
        </p:txBody>
      </p:sp>
      <p:sp>
        <p:nvSpPr>
          <p:cNvPr id="3" name="Text 1"/>
          <p:cNvSpPr/>
          <p:nvPr/>
        </p:nvSpPr>
        <p:spPr>
          <a:xfrm>
            <a:off x="914372" y="1088501"/>
            <a:ext cx="9778611"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SIP Allocation — ₹2,20,000 a Month</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372" y="2419945"/>
            <a:ext cx="5630735" cy="914372"/>
          </a:xfrm>
          <a:prstGeom prst="rect">
            <a:avLst/>
          </a:prstGeom>
          <a:solidFill>
            <a:srgbClr val="26306F"/>
          </a:solidFill>
          <a:ln/>
        </p:spPr>
        <p:txBody>
          <a:bodyPr/>
          <a:lstStyle/>
          <a:p>
            <a:endParaRPr lang="en-US"/>
          </a:p>
        </p:txBody>
      </p:sp>
      <p:sp>
        <p:nvSpPr>
          <p:cNvPr id="7" name="Text 4"/>
          <p:cNvSpPr/>
          <p:nvPr/>
        </p:nvSpPr>
        <p:spPr>
          <a:xfrm>
            <a:off x="1181072" y="2419945"/>
            <a:ext cx="5532957" cy="952472"/>
          </a:xfrm>
          <a:prstGeom prst="rect">
            <a:avLst/>
          </a:prstGeom>
          <a:noFill/>
          <a:ln/>
        </p:spPr>
        <p:txBody>
          <a:bodyPr wrap="square" lIns="25400" tIns="25400" rIns="25400" bIns="25400" rtlCol="0" anchor="ctr">
            <a:normAutofit/>
          </a:bodyPr>
          <a:lstStyle/>
          <a:p>
            <a:pPr marL="0" indent="0" algn="l">
              <a:lnSpc>
                <a:spcPct val="128972"/>
              </a:lnSpc>
              <a:buNone/>
            </a:pPr>
            <a:r>
              <a:rPr lang="en-US" sz="3150" dirty="0">
                <a:solidFill>
                  <a:srgbClr val="F2F2F3"/>
                </a:solidFill>
                <a:latin typeface="Barlow Condensed" pitchFamily="34" charset="0"/>
                <a:ea typeface="Barlow Condensed" pitchFamily="34" charset="-122"/>
                <a:cs typeface="Barlow Condensed" pitchFamily="34" charset="-120"/>
              </a:rPr>
              <a:t>35%</a:t>
            </a:r>
            <a:endParaRPr lang="en-US" sz="3150" dirty="0"/>
          </a:p>
        </p:txBody>
      </p:sp>
      <p:sp>
        <p:nvSpPr>
          <p:cNvPr id="8" name="Shape 5"/>
          <p:cNvSpPr/>
          <p:nvPr/>
        </p:nvSpPr>
        <p:spPr>
          <a:xfrm>
            <a:off x="6573668" y="2419945"/>
            <a:ext cx="4411620" cy="914372"/>
          </a:xfrm>
          <a:prstGeom prst="rect">
            <a:avLst/>
          </a:prstGeom>
          <a:solidFill>
            <a:srgbClr val="2F7D3A"/>
          </a:solidFill>
          <a:ln/>
        </p:spPr>
        <p:txBody>
          <a:bodyPr/>
          <a:lstStyle/>
          <a:p>
            <a:endParaRPr lang="en-US"/>
          </a:p>
        </p:txBody>
      </p:sp>
      <p:sp>
        <p:nvSpPr>
          <p:cNvPr id="9" name="Text 6"/>
          <p:cNvSpPr/>
          <p:nvPr/>
        </p:nvSpPr>
        <p:spPr>
          <a:xfrm>
            <a:off x="6840368" y="2419945"/>
            <a:ext cx="4277269" cy="952472"/>
          </a:xfrm>
          <a:prstGeom prst="rect">
            <a:avLst/>
          </a:prstGeom>
          <a:noFill/>
          <a:ln/>
        </p:spPr>
        <p:txBody>
          <a:bodyPr wrap="square" lIns="25400" tIns="25400" rIns="25400" bIns="25400" rtlCol="0" anchor="ctr">
            <a:normAutofit/>
          </a:bodyPr>
          <a:lstStyle/>
          <a:p>
            <a:pPr marL="0" indent="0" algn="l">
              <a:lnSpc>
                <a:spcPct val="128972"/>
              </a:lnSpc>
              <a:buNone/>
            </a:pPr>
            <a:r>
              <a:rPr lang="en-US" sz="3150" dirty="0">
                <a:solidFill>
                  <a:srgbClr val="F2F2F3"/>
                </a:solidFill>
                <a:latin typeface="Barlow Condensed" pitchFamily="34" charset="0"/>
                <a:ea typeface="Barlow Condensed" pitchFamily="34" charset="-122"/>
                <a:cs typeface="Barlow Condensed" pitchFamily="34" charset="-120"/>
              </a:rPr>
              <a:t>27%</a:t>
            </a:r>
            <a:endParaRPr lang="en-US" sz="3150" dirty="0"/>
          </a:p>
        </p:txBody>
      </p:sp>
      <p:sp>
        <p:nvSpPr>
          <p:cNvPr id="10" name="Shape 7"/>
          <p:cNvSpPr/>
          <p:nvPr/>
        </p:nvSpPr>
        <p:spPr>
          <a:xfrm>
            <a:off x="11013849" y="2419945"/>
            <a:ext cx="2666788" cy="914372"/>
          </a:xfrm>
          <a:prstGeom prst="rect">
            <a:avLst/>
          </a:prstGeom>
          <a:solidFill>
            <a:srgbClr val="5980A6"/>
          </a:solidFill>
          <a:ln/>
        </p:spPr>
        <p:txBody>
          <a:bodyPr/>
          <a:lstStyle/>
          <a:p>
            <a:endParaRPr lang="en-US"/>
          </a:p>
        </p:txBody>
      </p:sp>
      <p:sp>
        <p:nvSpPr>
          <p:cNvPr id="11" name="Text 8"/>
          <p:cNvSpPr/>
          <p:nvPr/>
        </p:nvSpPr>
        <p:spPr>
          <a:xfrm>
            <a:off x="11242449" y="2419945"/>
            <a:ext cx="2518191" cy="952472"/>
          </a:xfrm>
          <a:prstGeom prst="rect">
            <a:avLst/>
          </a:prstGeom>
          <a:noFill/>
          <a:ln/>
        </p:spPr>
        <p:txBody>
          <a:bodyPr wrap="square" lIns="25400" tIns="25400" rIns="25400" bIns="25400" rtlCol="0" anchor="ctr">
            <a:normAutofit/>
          </a:bodyPr>
          <a:lstStyle/>
          <a:p>
            <a:pPr marL="0" indent="0" algn="l">
              <a:lnSpc>
                <a:spcPct val="128972"/>
              </a:lnSpc>
              <a:buNone/>
            </a:pPr>
            <a:r>
              <a:rPr lang="en-US" sz="3150" dirty="0">
                <a:solidFill>
                  <a:srgbClr val="F2F2F3"/>
                </a:solidFill>
                <a:latin typeface="Barlow Condensed" pitchFamily="34" charset="0"/>
                <a:ea typeface="Barlow Condensed" pitchFamily="34" charset="-122"/>
                <a:cs typeface="Barlow Condensed" pitchFamily="34" charset="-120"/>
              </a:rPr>
              <a:t>16%</a:t>
            </a:r>
            <a:endParaRPr lang="en-US" sz="3150" dirty="0"/>
          </a:p>
        </p:txBody>
      </p:sp>
      <p:sp>
        <p:nvSpPr>
          <p:cNvPr id="12" name="Shape 9"/>
          <p:cNvSpPr/>
          <p:nvPr/>
        </p:nvSpPr>
        <p:spPr>
          <a:xfrm>
            <a:off x="13709197" y="2419945"/>
            <a:ext cx="2318459" cy="914372"/>
          </a:xfrm>
          <a:prstGeom prst="rect">
            <a:avLst/>
          </a:prstGeom>
          <a:solidFill>
            <a:srgbClr val="141A45"/>
          </a:solidFill>
          <a:ln/>
        </p:spPr>
        <p:txBody>
          <a:bodyPr/>
          <a:lstStyle/>
          <a:p>
            <a:endParaRPr lang="en-US"/>
          </a:p>
        </p:txBody>
      </p:sp>
      <p:sp>
        <p:nvSpPr>
          <p:cNvPr id="13" name="Text 10"/>
          <p:cNvSpPr/>
          <p:nvPr/>
        </p:nvSpPr>
        <p:spPr>
          <a:xfrm>
            <a:off x="13937797" y="2419945"/>
            <a:ext cx="2166059" cy="952472"/>
          </a:xfrm>
          <a:prstGeom prst="rect">
            <a:avLst/>
          </a:prstGeom>
          <a:noFill/>
          <a:ln/>
        </p:spPr>
        <p:txBody>
          <a:bodyPr wrap="square" lIns="25400" tIns="25400" rIns="25400" bIns="25400" rtlCol="0" anchor="ctr">
            <a:normAutofit/>
          </a:bodyPr>
          <a:lstStyle/>
          <a:p>
            <a:pPr marL="0" indent="0" algn="l">
              <a:lnSpc>
                <a:spcPct val="128972"/>
              </a:lnSpc>
              <a:buNone/>
            </a:pPr>
            <a:r>
              <a:rPr lang="en-US" sz="3150" dirty="0">
                <a:solidFill>
                  <a:srgbClr val="F2F2F3"/>
                </a:solidFill>
                <a:latin typeface="Barlow Condensed" pitchFamily="34" charset="0"/>
                <a:ea typeface="Barlow Condensed" pitchFamily="34" charset="-122"/>
                <a:cs typeface="Barlow Condensed" pitchFamily="34" charset="-120"/>
              </a:rPr>
              <a:t>14%</a:t>
            </a:r>
            <a:endParaRPr lang="en-US" sz="3150" dirty="0"/>
          </a:p>
        </p:txBody>
      </p:sp>
      <p:sp>
        <p:nvSpPr>
          <p:cNvPr id="14" name="Shape 11"/>
          <p:cNvSpPr/>
          <p:nvPr/>
        </p:nvSpPr>
        <p:spPr>
          <a:xfrm>
            <a:off x="16056216" y="2419945"/>
            <a:ext cx="870786" cy="914372"/>
          </a:xfrm>
          <a:prstGeom prst="rect">
            <a:avLst/>
          </a:prstGeom>
          <a:solidFill>
            <a:srgbClr val="94BCE3"/>
          </a:solidFill>
          <a:ln/>
        </p:spPr>
        <p:txBody>
          <a:bodyPr/>
          <a:lstStyle/>
          <a:p>
            <a:endParaRPr lang="en-US"/>
          </a:p>
        </p:txBody>
      </p:sp>
      <p:sp>
        <p:nvSpPr>
          <p:cNvPr id="15" name="Shape 12"/>
          <p:cNvSpPr/>
          <p:nvPr/>
        </p:nvSpPr>
        <p:spPr>
          <a:xfrm>
            <a:off x="16955564" y="2419945"/>
            <a:ext cx="417994" cy="914372"/>
          </a:xfrm>
          <a:prstGeom prst="rect">
            <a:avLst/>
          </a:prstGeom>
          <a:solidFill>
            <a:srgbClr val="B7B7BA"/>
          </a:solidFill>
          <a:ln/>
        </p:spPr>
        <p:txBody>
          <a:bodyPr/>
          <a:lstStyle/>
          <a:p>
            <a:endParaRPr lang="en-US"/>
          </a:p>
        </p:txBody>
      </p:sp>
      <p:sp>
        <p:nvSpPr>
          <p:cNvPr id="16" name="Shape 13"/>
          <p:cNvSpPr/>
          <p:nvPr/>
        </p:nvSpPr>
        <p:spPr>
          <a:xfrm>
            <a:off x="914372" y="4542873"/>
            <a:ext cx="7886687" cy="9525"/>
          </a:xfrm>
          <a:prstGeom prst="rect">
            <a:avLst/>
          </a:prstGeom>
          <a:solidFill>
            <a:srgbClr val="1D1F20">
              <a:alpha val="12000"/>
            </a:srgbClr>
          </a:solidFill>
          <a:ln/>
        </p:spPr>
        <p:txBody>
          <a:bodyPr/>
          <a:lstStyle/>
          <a:p>
            <a:endParaRPr lang="en-US"/>
          </a:p>
        </p:txBody>
      </p:sp>
      <p:sp>
        <p:nvSpPr>
          <p:cNvPr id="17" name="Shape 14"/>
          <p:cNvSpPr/>
          <p:nvPr/>
        </p:nvSpPr>
        <p:spPr>
          <a:xfrm>
            <a:off x="914372" y="4079946"/>
            <a:ext cx="171436" cy="171436"/>
          </a:xfrm>
          <a:prstGeom prst="rect">
            <a:avLst/>
          </a:prstGeom>
          <a:solidFill>
            <a:srgbClr val="26306F"/>
          </a:solidFill>
          <a:ln/>
        </p:spPr>
        <p:txBody>
          <a:bodyPr/>
          <a:lstStyle/>
          <a:p>
            <a:endParaRPr lang="en-US"/>
          </a:p>
        </p:txBody>
      </p:sp>
      <p:sp>
        <p:nvSpPr>
          <p:cNvPr id="18" name="Text 15"/>
          <p:cNvSpPr/>
          <p:nvPr/>
        </p:nvSpPr>
        <p:spPr>
          <a:xfrm>
            <a:off x="1257243" y="3929346"/>
            <a:ext cx="7031463"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Education — UG 2031, PG 2035</a:t>
            </a:r>
            <a:endParaRPr lang="en-US" sz="2175" dirty="0"/>
          </a:p>
        </p:txBody>
      </p:sp>
      <p:sp>
        <p:nvSpPr>
          <p:cNvPr id="19" name="Text 16"/>
          <p:cNvSpPr/>
          <p:nvPr/>
        </p:nvSpPr>
        <p:spPr>
          <a:xfrm>
            <a:off x="7820919" y="3829560"/>
            <a:ext cx="1056340" cy="599040"/>
          </a:xfrm>
          <a:prstGeom prst="rect">
            <a:avLst/>
          </a:prstGeom>
          <a:noFill/>
          <a:ln/>
        </p:spPr>
        <p:txBody>
          <a:bodyPr wrap="square" lIns="25400" tIns="25400" rIns="25400" bIns="25400" rtlCol="0" anchor="t">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₹77,000</a:t>
            </a:r>
            <a:endParaRPr lang="en-US" sz="2850" dirty="0"/>
          </a:p>
        </p:txBody>
      </p:sp>
      <p:sp>
        <p:nvSpPr>
          <p:cNvPr id="20" name="Shape 17"/>
          <p:cNvSpPr/>
          <p:nvPr/>
        </p:nvSpPr>
        <p:spPr>
          <a:xfrm>
            <a:off x="9486801" y="4542873"/>
            <a:ext cx="7886757" cy="9525"/>
          </a:xfrm>
          <a:prstGeom prst="rect">
            <a:avLst/>
          </a:prstGeom>
          <a:solidFill>
            <a:srgbClr val="1D1F20">
              <a:alpha val="12000"/>
            </a:srgbClr>
          </a:solidFill>
          <a:ln/>
        </p:spPr>
        <p:txBody>
          <a:bodyPr/>
          <a:lstStyle/>
          <a:p>
            <a:endParaRPr lang="en-US"/>
          </a:p>
        </p:txBody>
      </p:sp>
      <p:sp>
        <p:nvSpPr>
          <p:cNvPr id="21" name="Shape 18"/>
          <p:cNvSpPr/>
          <p:nvPr/>
        </p:nvSpPr>
        <p:spPr>
          <a:xfrm>
            <a:off x="9486801" y="4079946"/>
            <a:ext cx="171436" cy="171436"/>
          </a:xfrm>
          <a:prstGeom prst="rect">
            <a:avLst/>
          </a:prstGeom>
          <a:solidFill>
            <a:srgbClr val="141A45"/>
          </a:solidFill>
          <a:ln/>
        </p:spPr>
        <p:txBody>
          <a:bodyPr/>
          <a:lstStyle/>
          <a:p>
            <a:endParaRPr lang="en-US"/>
          </a:p>
        </p:txBody>
      </p:sp>
      <p:sp>
        <p:nvSpPr>
          <p:cNvPr id="22" name="Text 19"/>
          <p:cNvSpPr/>
          <p:nvPr/>
        </p:nvSpPr>
        <p:spPr>
          <a:xfrm>
            <a:off x="9829673" y="3929346"/>
            <a:ext cx="6962315"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Retirement 2036 — new SIP</a:t>
            </a:r>
            <a:endParaRPr lang="en-US" sz="2175" dirty="0"/>
          </a:p>
        </p:txBody>
      </p:sp>
      <p:sp>
        <p:nvSpPr>
          <p:cNvPr id="23" name="Text 20"/>
          <p:cNvSpPr/>
          <p:nvPr/>
        </p:nvSpPr>
        <p:spPr>
          <a:xfrm>
            <a:off x="16330486" y="3829560"/>
            <a:ext cx="1119273" cy="599040"/>
          </a:xfrm>
          <a:prstGeom prst="rect">
            <a:avLst/>
          </a:prstGeom>
          <a:noFill/>
          <a:ln/>
        </p:spPr>
        <p:txBody>
          <a:bodyPr wrap="square" lIns="25400" tIns="25400" rIns="25400" bIns="25400" rtlCol="0" anchor="t">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₹30,000</a:t>
            </a:r>
            <a:endParaRPr lang="en-US" sz="2850" dirty="0"/>
          </a:p>
        </p:txBody>
      </p:sp>
      <p:sp>
        <p:nvSpPr>
          <p:cNvPr id="24" name="Shape 21"/>
          <p:cNvSpPr/>
          <p:nvPr/>
        </p:nvSpPr>
        <p:spPr>
          <a:xfrm>
            <a:off x="914372" y="5417628"/>
            <a:ext cx="7886687" cy="9525"/>
          </a:xfrm>
          <a:prstGeom prst="rect">
            <a:avLst/>
          </a:prstGeom>
          <a:solidFill>
            <a:srgbClr val="1D1F20">
              <a:alpha val="12000"/>
            </a:srgbClr>
          </a:solidFill>
          <a:ln/>
        </p:spPr>
        <p:txBody>
          <a:bodyPr/>
          <a:lstStyle/>
          <a:p>
            <a:endParaRPr lang="en-US"/>
          </a:p>
        </p:txBody>
      </p:sp>
      <p:sp>
        <p:nvSpPr>
          <p:cNvPr id="25" name="Shape 22"/>
          <p:cNvSpPr/>
          <p:nvPr/>
        </p:nvSpPr>
        <p:spPr>
          <a:xfrm>
            <a:off x="914372" y="4954701"/>
            <a:ext cx="171436" cy="171436"/>
          </a:xfrm>
          <a:prstGeom prst="rect">
            <a:avLst/>
          </a:prstGeom>
          <a:solidFill>
            <a:srgbClr val="2F7D3A"/>
          </a:solidFill>
          <a:ln/>
        </p:spPr>
        <p:txBody>
          <a:bodyPr/>
          <a:lstStyle/>
          <a:p>
            <a:endParaRPr lang="en-US"/>
          </a:p>
        </p:txBody>
      </p:sp>
      <p:sp>
        <p:nvSpPr>
          <p:cNvPr id="26" name="Text 23"/>
          <p:cNvSpPr/>
          <p:nvPr/>
        </p:nvSpPr>
        <p:spPr>
          <a:xfrm>
            <a:off x="1257243" y="4804101"/>
            <a:ext cx="6978140"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EPF · PPF · NPS — statutory</a:t>
            </a:r>
            <a:endParaRPr lang="en-US" sz="2175" dirty="0"/>
          </a:p>
        </p:txBody>
      </p:sp>
      <p:sp>
        <p:nvSpPr>
          <p:cNvPr id="27" name="Text 24"/>
          <p:cNvSpPr/>
          <p:nvPr/>
        </p:nvSpPr>
        <p:spPr>
          <a:xfrm>
            <a:off x="7772443" y="4704315"/>
            <a:ext cx="1104815" cy="599040"/>
          </a:xfrm>
          <a:prstGeom prst="rect">
            <a:avLst/>
          </a:prstGeom>
          <a:noFill/>
          <a:ln/>
        </p:spPr>
        <p:txBody>
          <a:bodyPr wrap="square" lIns="25400" tIns="25400" rIns="25400" bIns="25400" rtlCol="0" anchor="t">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₹59,500</a:t>
            </a:r>
            <a:endParaRPr lang="en-US" sz="2850" dirty="0"/>
          </a:p>
        </p:txBody>
      </p:sp>
      <p:sp>
        <p:nvSpPr>
          <p:cNvPr id="28" name="Shape 25"/>
          <p:cNvSpPr/>
          <p:nvPr/>
        </p:nvSpPr>
        <p:spPr>
          <a:xfrm>
            <a:off x="9486801" y="5417628"/>
            <a:ext cx="7886757" cy="9525"/>
          </a:xfrm>
          <a:prstGeom prst="rect">
            <a:avLst/>
          </a:prstGeom>
          <a:solidFill>
            <a:srgbClr val="1D1F20">
              <a:alpha val="12000"/>
            </a:srgbClr>
          </a:solidFill>
          <a:ln/>
        </p:spPr>
        <p:txBody>
          <a:bodyPr/>
          <a:lstStyle/>
          <a:p>
            <a:endParaRPr lang="en-US"/>
          </a:p>
        </p:txBody>
      </p:sp>
      <p:sp>
        <p:nvSpPr>
          <p:cNvPr id="29" name="Shape 26"/>
          <p:cNvSpPr/>
          <p:nvPr/>
        </p:nvSpPr>
        <p:spPr>
          <a:xfrm>
            <a:off x="9486801" y="4954701"/>
            <a:ext cx="171436" cy="171436"/>
          </a:xfrm>
          <a:prstGeom prst="rect">
            <a:avLst/>
          </a:prstGeom>
          <a:solidFill>
            <a:srgbClr val="94BCE3"/>
          </a:solidFill>
          <a:ln/>
        </p:spPr>
        <p:txBody>
          <a:bodyPr/>
          <a:lstStyle/>
          <a:p>
            <a:endParaRPr lang="en-US"/>
          </a:p>
        </p:txBody>
      </p:sp>
      <p:sp>
        <p:nvSpPr>
          <p:cNvPr id="30" name="Text 27"/>
          <p:cNvSpPr/>
          <p:nvPr/>
        </p:nvSpPr>
        <p:spPr>
          <a:xfrm>
            <a:off x="9829673" y="4804101"/>
            <a:ext cx="7039103"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Sukanya Samriddhi — Isha</a:t>
            </a:r>
            <a:endParaRPr lang="en-US" sz="2175" dirty="0"/>
          </a:p>
        </p:txBody>
      </p:sp>
      <p:sp>
        <p:nvSpPr>
          <p:cNvPr id="31" name="Text 28"/>
          <p:cNvSpPr/>
          <p:nvPr/>
        </p:nvSpPr>
        <p:spPr>
          <a:xfrm>
            <a:off x="16400293" y="4704315"/>
            <a:ext cx="1049465" cy="599040"/>
          </a:xfrm>
          <a:prstGeom prst="rect">
            <a:avLst/>
          </a:prstGeom>
          <a:noFill/>
          <a:ln/>
        </p:spPr>
        <p:txBody>
          <a:bodyPr wrap="square" lIns="25400" tIns="25400" rIns="25400" bIns="25400" rtlCol="0" anchor="t">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₹12,500</a:t>
            </a:r>
            <a:endParaRPr lang="en-US" sz="2850" dirty="0"/>
          </a:p>
        </p:txBody>
      </p:sp>
      <p:sp>
        <p:nvSpPr>
          <p:cNvPr id="32" name="Shape 29"/>
          <p:cNvSpPr/>
          <p:nvPr/>
        </p:nvSpPr>
        <p:spPr>
          <a:xfrm>
            <a:off x="914372" y="6292383"/>
            <a:ext cx="7886687" cy="9525"/>
          </a:xfrm>
          <a:prstGeom prst="rect">
            <a:avLst/>
          </a:prstGeom>
          <a:solidFill>
            <a:srgbClr val="1D1F20">
              <a:alpha val="12000"/>
            </a:srgbClr>
          </a:solidFill>
          <a:ln/>
        </p:spPr>
        <p:txBody>
          <a:bodyPr/>
          <a:lstStyle/>
          <a:p>
            <a:endParaRPr lang="en-US"/>
          </a:p>
        </p:txBody>
      </p:sp>
      <p:sp>
        <p:nvSpPr>
          <p:cNvPr id="33" name="Shape 30"/>
          <p:cNvSpPr/>
          <p:nvPr/>
        </p:nvSpPr>
        <p:spPr>
          <a:xfrm>
            <a:off x="914372" y="5829456"/>
            <a:ext cx="171436" cy="171436"/>
          </a:xfrm>
          <a:prstGeom prst="rect">
            <a:avLst/>
          </a:prstGeom>
          <a:solidFill>
            <a:srgbClr val="5980A6"/>
          </a:solidFill>
          <a:ln/>
        </p:spPr>
        <p:txBody>
          <a:bodyPr/>
          <a:lstStyle/>
          <a:p>
            <a:endParaRPr lang="en-US"/>
          </a:p>
        </p:txBody>
      </p:sp>
      <p:sp>
        <p:nvSpPr>
          <p:cNvPr id="34" name="Text 31"/>
          <p:cNvSpPr/>
          <p:nvPr/>
        </p:nvSpPr>
        <p:spPr>
          <a:xfrm>
            <a:off x="1257243" y="5678856"/>
            <a:ext cx="6976113"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Vacation 2029 · Renovation 2031</a:t>
            </a:r>
            <a:endParaRPr lang="en-US" sz="2175" dirty="0"/>
          </a:p>
        </p:txBody>
      </p:sp>
      <p:sp>
        <p:nvSpPr>
          <p:cNvPr id="35" name="Text 32"/>
          <p:cNvSpPr/>
          <p:nvPr/>
        </p:nvSpPr>
        <p:spPr>
          <a:xfrm>
            <a:off x="7770600" y="5579071"/>
            <a:ext cx="1106658" cy="599040"/>
          </a:xfrm>
          <a:prstGeom prst="rect">
            <a:avLst/>
          </a:prstGeom>
          <a:noFill/>
          <a:ln/>
        </p:spPr>
        <p:txBody>
          <a:bodyPr wrap="square" lIns="25400" tIns="25400" rIns="25400" bIns="25400" rtlCol="0" anchor="t">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₹35,000</a:t>
            </a:r>
            <a:endParaRPr lang="en-US" sz="2850" dirty="0"/>
          </a:p>
        </p:txBody>
      </p:sp>
      <p:sp>
        <p:nvSpPr>
          <p:cNvPr id="36" name="Shape 33"/>
          <p:cNvSpPr/>
          <p:nvPr/>
        </p:nvSpPr>
        <p:spPr>
          <a:xfrm>
            <a:off x="9486801" y="6292383"/>
            <a:ext cx="7886757" cy="9525"/>
          </a:xfrm>
          <a:prstGeom prst="rect">
            <a:avLst/>
          </a:prstGeom>
          <a:solidFill>
            <a:srgbClr val="1D1F20">
              <a:alpha val="12000"/>
            </a:srgbClr>
          </a:solidFill>
          <a:ln/>
        </p:spPr>
        <p:txBody>
          <a:bodyPr/>
          <a:lstStyle/>
          <a:p>
            <a:endParaRPr lang="en-US"/>
          </a:p>
        </p:txBody>
      </p:sp>
      <p:sp>
        <p:nvSpPr>
          <p:cNvPr id="37" name="Shape 34"/>
          <p:cNvSpPr/>
          <p:nvPr/>
        </p:nvSpPr>
        <p:spPr>
          <a:xfrm>
            <a:off x="9486801" y="5829456"/>
            <a:ext cx="171436" cy="171436"/>
          </a:xfrm>
          <a:prstGeom prst="rect">
            <a:avLst/>
          </a:prstGeom>
          <a:solidFill>
            <a:srgbClr val="B7B7BA"/>
          </a:solidFill>
          <a:ln/>
        </p:spPr>
        <p:txBody>
          <a:bodyPr/>
          <a:lstStyle/>
          <a:p>
            <a:endParaRPr lang="en-US"/>
          </a:p>
        </p:txBody>
      </p:sp>
      <p:sp>
        <p:nvSpPr>
          <p:cNvPr id="38" name="Text 35"/>
          <p:cNvSpPr/>
          <p:nvPr/>
        </p:nvSpPr>
        <p:spPr>
          <a:xfrm>
            <a:off x="9829673" y="5678856"/>
            <a:ext cx="7138265"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Marriage 2044</a:t>
            </a:r>
            <a:endParaRPr lang="en-US" sz="2175" dirty="0"/>
          </a:p>
        </p:txBody>
      </p:sp>
      <p:sp>
        <p:nvSpPr>
          <p:cNvPr id="39" name="Text 36"/>
          <p:cNvSpPr/>
          <p:nvPr/>
        </p:nvSpPr>
        <p:spPr>
          <a:xfrm>
            <a:off x="16490441" y="5579071"/>
            <a:ext cx="959318" cy="599040"/>
          </a:xfrm>
          <a:prstGeom prst="rect">
            <a:avLst/>
          </a:prstGeom>
          <a:noFill/>
          <a:ln/>
        </p:spPr>
        <p:txBody>
          <a:bodyPr wrap="square" lIns="25400" tIns="25400" rIns="25400" bIns="25400" rtlCol="0" anchor="t">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₹6,000</a:t>
            </a:r>
            <a:endParaRPr lang="en-US" sz="2850" dirty="0"/>
          </a:p>
        </p:txBody>
      </p:sp>
      <p:sp>
        <p:nvSpPr>
          <p:cNvPr id="40" name="Shape 37"/>
          <p:cNvSpPr/>
          <p:nvPr/>
        </p:nvSpPr>
        <p:spPr>
          <a:xfrm>
            <a:off x="914372" y="7337794"/>
            <a:ext cx="16459187" cy="9525"/>
          </a:xfrm>
          <a:prstGeom prst="rect">
            <a:avLst/>
          </a:prstGeom>
          <a:solidFill>
            <a:srgbClr val="1D1F20">
              <a:alpha val="18000"/>
            </a:srgbClr>
          </a:solidFill>
          <a:ln/>
        </p:spPr>
        <p:txBody>
          <a:bodyPr/>
          <a:lstStyle/>
          <a:p>
            <a:endParaRPr lang="en-US"/>
          </a:p>
        </p:txBody>
      </p:sp>
      <p:sp>
        <p:nvSpPr>
          <p:cNvPr id="41" name="Text 38"/>
          <p:cNvSpPr/>
          <p:nvPr/>
        </p:nvSpPr>
        <p:spPr>
          <a:xfrm>
            <a:off x="914372" y="7575466"/>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42" name="Text 39"/>
          <p:cNvSpPr/>
          <p:nvPr/>
        </p:nvSpPr>
        <p:spPr>
          <a:xfrm>
            <a:off x="3276487" y="7537366"/>
            <a:ext cx="13244441" cy="768492"/>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Two-thirds of the monthly commitment funds goals inside the next ten years, which is why only ₹30,000 currently reaches retirement. The redirection plan corrects that from 2029 onwards without raising the total.</a:t>
            </a:r>
            <a:endParaRPr lang="en-US" sz="2100" dirty="0"/>
          </a:p>
        </p:txBody>
      </p:sp>
      <p:sp>
        <p:nvSpPr>
          <p:cNvPr id="43" name="Text 40"/>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44" name="Text 41"/>
          <p:cNvSpPr/>
          <p:nvPr/>
        </p:nvSpPr>
        <p:spPr>
          <a:xfrm>
            <a:off x="16710352" y="9475462"/>
            <a:ext cx="739407"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25 / 32</a:t>
            </a:r>
            <a:endParaRPr lang="en-US" sz="2100" dirty="0"/>
          </a:p>
        </p:txBody>
      </p:sp>
    </p:spTree>
    <p:extLst>
      <p:ext uri="{BB962C8B-B14F-4D97-AF65-F5344CB8AC3E}">
        <p14:creationId xmlns:p14="http://schemas.microsoft.com/office/powerpoint/2010/main" val="1156209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4859097"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PLAN OF ACTION</a:t>
            </a:r>
            <a:endParaRPr lang="en-US" sz="2100" b="1" dirty="0">
              <a:solidFill>
                <a:srgbClr val="2A3480"/>
              </a:solidFill>
              <a:latin typeface="Barlow"/>
            </a:endParaRPr>
          </a:p>
        </p:txBody>
      </p:sp>
      <p:sp>
        <p:nvSpPr>
          <p:cNvPr id="3" name="Text 1"/>
          <p:cNvSpPr/>
          <p:nvPr/>
        </p:nvSpPr>
        <p:spPr>
          <a:xfrm>
            <a:off x="914372" y="1088501"/>
            <a:ext cx="4859097"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Freed Cash Flows</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372" y="2419945"/>
            <a:ext cx="3943378" cy="2671536"/>
          </a:xfrm>
          <a:prstGeom prst="rect">
            <a:avLst/>
          </a:prstGeom>
          <a:ln w="9071">
            <a:solidFill>
              <a:srgbClr val="1F1F1F">
                <a:alpha val="16000"/>
              </a:srgbClr>
            </a:solidFill>
            <a:prstDash val="solid"/>
          </a:ln>
        </p:spPr>
        <p:txBody>
          <a:bodyPr/>
          <a:lstStyle/>
          <a:p>
            <a:endParaRPr lang="en-US"/>
          </a:p>
        </p:txBody>
      </p:sp>
      <p:sp>
        <p:nvSpPr>
          <p:cNvPr id="7" name="Text 4"/>
          <p:cNvSpPr/>
          <p:nvPr/>
        </p:nvSpPr>
        <p:spPr>
          <a:xfrm>
            <a:off x="1190129" y="2676639"/>
            <a:ext cx="3731051" cy="571472"/>
          </a:xfrm>
          <a:prstGeom prst="rect">
            <a:avLst/>
          </a:prstGeom>
          <a:noFill/>
          <a:ln/>
        </p:spPr>
        <p:txBody>
          <a:bodyPr wrap="square" lIns="25400" tIns="25400" rIns="25400" bIns="25400" rtlCol="0" anchor="t">
            <a:normAutofit lnSpcReduction="10000"/>
          </a:bodyPr>
          <a:lstStyle/>
          <a:p>
            <a:pPr marL="0" indent="0" algn="l">
              <a:lnSpc>
                <a:spcPct val="82817"/>
              </a:lnSpc>
              <a:buNone/>
            </a:pPr>
            <a:r>
              <a:rPr lang="en-US" sz="4200" dirty="0">
                <a:solidFill>
                  <a:srgbClr val="2A3480"/>
                </a:solidFill>
                <a:latin typeface="Barlow Condensed" pitchFamily="34" charset="0"/>
                <a:ea typeface="Barlow Condensed" pitchFamily="34" charset="-122"/>
                <a:cs typeface="Barlow Condensed" pitchFamily="34" charset="-120"/>
              </a:rPr>
              <a:t>2029</a:t>
            </a:r>
            <a:endParaRPr lang="en-US" sz="4200" dirty="0"/>
          </a:p>
        </p:txBody>
      </p:sp>
      <p:sp>
        <p:nvSpPr>
          <p:cNvPr id="8" name="Text 5"/>
          <p:cNvSpPr/>
          <p:nvPr/>
        </p:nvSpPr>
        <p:spPr>
          <a:xfrm>
            <a:off x="1190129" y="3343318"/>
            <a:ext cx="3731051"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Car loan closes</a:t>
            </a:r>
            <a:endParaRPr lang="en-US" sz="2100" dirty="0"/>
          </a:p>
        </p:txBody>
      </p:sp>
      <p:sp>
        <p:nvSpPr>
          <p:cNvPr id="9" name="Text 6"/>
          <p:cNvSpPr/>
          <p:nvPr/>
        </p:nvSpPr>
        <p:spPr>
          <a:xfrm>
            <a:off x="1190129" y="3985192"/>
            <a:ext cx="373105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16" dirty="0">
                <a:solidFill>
                  <a:srgbClr val="1D1F20">
                    <a:alpha val="90000"/>
                  </a:srgbClr>
                </a:solidFill>
                <a:latin typeface="Barlow" pitchFamily="34" charset="0"/>
                <a:ea typeface="Barlow" pitchFamily="34" charset="-122"/>
                <a:cs typeface="Barlow" pitchFamily="34" charset="-120"/>
              </a:rPr>
              <a:t>REDIRECTED</a:t>
            </a:r>
            <a:endParaRPr lang="en-US" sz="2100" dirty="0"/>
          </a:p>
        </p:txBody>
      </p:sp>
      <p:sp>
        <p:nvSpPr>
          <p:cNvPr id="10" name="Text 7"/>
          <p:cNvSpPr/>
          <p:nvPr/>
        </p:nvSpPr>
        <p:spPr>
          <a:xfrm>
            <a:off x="1190129" y="4396667"/>
            <a:ext cx="3731051" cy="476222"/>
          </a:xfrm>
          <a:prstGeom prst="rect">
            <a:avLst/>
          </a:prstGeom>
          <a:noFill/>
          <a:ln/>
        </p:spPr>
        <p:txBody>
          <a:bodyPr wrap="squar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₹15,800</a:t>
            </a:r>
            <a:endParaRPr lang="en-US" sz="3450" dirty="0"/>
          </a:p>
        </p:txBody>
      </p:sp>
      <p:sp>
        <p:nvSpPr>
          <p:cNvPr id="11" name="Shape 8"/>
          <p:cNvSpPr/>
          <p:nvPr/>
        </p:nvSpPr>
        <p:spPr>
          <a:xfrm>
            <a:off x="5086308" y="2419945"/>
            <a:ext cx="3943378" cy="2671536"/>
          </a:xfrm>
          <a:prstGeom prst="rect">
            <a:avLst/>
          </a:prstGeom>
          <a:ln w="9071">
            <a:solidFill>
              <a:srgbClr val="1F1F1F">
                <a:alpha val="16000"/>
              </a:srgbClr>
            </a:solidFill>
            <a:prstDash val="solid"/>
          </a:ln>
        </p:spPr>
        <p:txBody>
          <a:bodyPr/>
          <a:lstStyle/>
          <a:p>
            <a:endParaRPr lang="en-US"/>
          </a:p>
        </p:txBody>
      </p:sp>
      <p:sp>
        <p:nvSpPr>
          <p:cNvPr id="12" name="Text 9"/>
          <p:cNvSpPr/>
          <p:nvPr/>
        </p:nvSpPr>
        <p:spPr>
          <a:xfrm>
            <a:off x="5362065" y="2676639"/>
            <a:ext cx="3731051" cy="571472"/>
          </a:xfrm>
          <a:prstGeom prst="rect">
            <a:avLst/>
          </a:prstGeom>
          <a:noFill/>
          <a:ln/>
        </p:spPr>
        <p:txBody>
          <a:bodyPr wrap="square" lIns="25400" tIns="25400" rIns="25400" bIns="25400" rtlCol="0" anchor="t">
            <a:normAutofit lnSpcReduction="10000"/>
          </a:bodyPr>
          <a:lstStyle/>
          <a:p>
            <a:pPr marL="0" indent="0" algn="l">
              <a:lnSpc>
                <a:spcPct val="82817"/>
              </a:lnSpc>
              <a:buNone/>
            </a:pPr>
            <a:r>
              <a:rPr lang="en-US" sz="4200" dirty="0">
                <a:solidFill>
                  <a:srgbClr val="2A3480"/>
                </a:solidFill>
                <a:latin typeface="Barlow Condensed" pitchFamily="34" charset="0"/>
                <a:ea typeface="Barlow Condensed" pitchFamily="34" charset="-122"/>
                <a:cs typeface="Barlow Condensed" pitchFamily="34" charset="-120"/>
              </a:rPr>
              <a:t>2031</a:t>
            </a:r>
            <a:endParaRPr lang="en-US" sz="4200" dirty="0"/>
          </a:p>
        </p:txBody>
      </p:sp>
      <p:sp>
        <p:nvSpPr>
          <p:cNvPr id="13" name="Text 10"/>
          <p:cNvSpPr/>
          <p:nvPr/>
        </p:nvSpPr>
        <p:spPr>
          <a:xfrm>
            <a:off x="5362065" y="3343318"/>
            <a:ext cx="3731051"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Renovation funded</a:t>
            </a:r>
            <a:endParaRPr lang="en-US" sz="2100" dirty="0"/>
          </a:p>
        </p:txBody>
      </p:sp>
      <p:sp>
        <p:nvSpPr>
          <p:cNvPr id="14" name="Text 11"/>
          <p:cNvSpPr/>
          <p:nvPr/>
        </p:nvSpPr>
        <p:spPr>
          <a:xfrm>
            <a:off x="5362065" y="3985192"/>
            <a:ext cx="373105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16" dirty="0">
                <a:solidFill>
                  <a:srgbClr val="1D1F20">
                    <a:alpha val="90000"/>
                  </a:srgbClr>
                </a:solidFill>
                <a:latin typeface="Barlow" pitchFamily="34" charset="0"/>
                <a:ea typeface="Barlow" pitchFamily="34" charset="-122"/>
                <a:cs typeface="Barlow" pitchFamily="34" charset="-120"/>
              </a:rPr>
              <a:t>REDIRECTED</a:t>
            </a:r>
            <a:endParaRPr lang="en-US" sz="2100" dirty="0"/>
          </a:p>
        </p:txBody>
      </p:sp>
      <p:sp>
        <p:nvSpPr>
          <p:cNvPr id="15" name="Text 12"/>
          <p:cNvSpPr/>
          <p:nvPr/>
        </p:nvSpPr>
        <p:spPr>
          <a:xfrm>
            <a:off x="5362065" y="4396667"/>
            <a:ext cx="3731051" cy="476222"/>
          </a:xfrm>
          <a:prstGeom prst="rect">
            <a:avLst/>
          </a:prstGeom>
          <a:noFill/>
          <a:ln/>
        </p:spPr>
        <p:txBody>
          <a:bodyPr wrap="squar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₹20,000</a:t>
            </a:r>
            <a:endParaRPr lang="en-US" sz="3450" dirty="0"/>
          </a:p>
        </p:txBody>
      </p:sp>
      <p:sp>
        <p:nvSpPr>
          <p:cNvPr id="16" name="Shape 13"/>
          <p:cNvSpPr/>
          <p:nvPr/>
        </p:nvSpPr>
        <p:spPr>
          <a:xfrm>
            <a:off x="9258244" y="2419945"/>
            <a:ext cx="3943378" cy="2671536"/>
          </a:xfrm>
          <a:prstGeom prst="rect">
            <a:avLst/>
          </a:prstGeom>
          <a:ln w="9071">
            <a:solidFill>
              <a:srgbClr val="1F1F1F">
                <a:alpha val="16000"/>
              </a:srgbClr>
            </a:solidFill>
            <a:prstDash val="solid"/>
          </a:ln>
        </p:spPr>
        <p:txBody>
          <a:bodyPr/>
          <a:lstStyle/>
          <a:p>
            <a:endParaRPr lang="en-US"/>
          </a:p>
        </p:txBody>
      </p:sp>
      <p:sp>
        <p:nvSpPr>
          <p:cNvPr id="17" name="Text 14"/>
          <p:cNvSpPr/>
          <p:nvPr/>
        </p:nvSpPr>
        <p:spPr>
          <a:xfrm>
            <a:off x="9534001" y="2676639"/>
            <a:ext cx="3731051" cy="571472"/>
          </a:xfrm>
          <a:prstGeom prst="rect">
            <a:avLst/>
          </a:prstGeom>
          <a:noFill/>
          <a:ln/>
        </p:spPr>
        <p:txBody>
          <a:bodyPr wrap="square" lIns="25400" tIns="25400" rIns="25400" bIns="25400" rtlCol="0" anchor="t">
            <a:normAutofit lnSpcReduction="10000"/>
          </a:bodyPr>
          <a:lstStyle/>
          <a:p>
            <a:pPr marL="0" indent="0" algn="l">
              <a:lnSpc>
                <a:spcPct val="82817"/>
              </a:lnSpc>
              <a:buNone/>
            </a:pPr>
            <a:r>
              <a:rPr lang="en-US" sz="4200" dirty="0">
                <a:solidFill>
                  <a:srgbClr val="2A3480"/>
                </a:solidFill>
                <a:latin typeface="Barlow Condensed" pitchFamily="34" charset="0"/>
                <a:ea typeface="Barlow Condensed" pitchFamily="34" charset="-122"/>
                <a:cs typeface="Barlow Condensed" pitchFamily="34" charset="-120"/>
              </a:rPr>
              <a:t>2034</a:t>
            </a:r>
            <a:endParaRPr lang="en-US" sz="4200" dirty="0"/>
          </a:p>
        </p:txBody>
      </p:sp>
      <p:sp>
        <p:nvSpPr>
          <p:cNvPr id="18" name="Text 15"/>
          <p:cNvSpPr/>
          <p:nvPr/>
        </p:nvSpPr>
        <p:spPr>
          <a:xfrm>
            <a:off x="9534001" y="3343318"/>
            <a:ext cx="3731051"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Home loan closes</a:t>
            </a:r>
            <a:endParaRPr lang="en-US" sz="2100" dirty="0"/>
          </a:p>
        </p:txBody>
      </p:sp>
      <p:sp>
        <p:nvSpPr>
          <p:cNvPr id="19" name="Text 16"/>
          <p:cNvSpPr/>
          <p:nvPr/>
        </p:nvSpPr>
        <p:spPr>
          <a:xfrm>
            <a:off x="9534001" y="3985192"/>
            <a:ext cx="373105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16" dirty="0">
                <a:solidFill>
                  <a:srgbClr val="1D1F20">
                    <a:alpha val="90000"/>
                  </a:srgbClr>
                </a:solidFill>
                <a:latin typeface="Barlow" pitchFamily="34" charset="0"/>
                <a:ea typeface="Barlow" pitchFamily="34" charset="-122"/>
                <a:cs typeface="Barlow" pitchFamily="34" charset="-120"/>
              </a:rPr>
              <a:t>REDIRECTED</a:t>
            </a:r>
            <a:endParaRPr lang="en-US" sz="2100" dirty="0"/>
          </a:p>
        </p:txBody>
      </p:sp>
      <p:sp>
        <p:nvSpPr>
          <p:cNvPr id="20" name="Text 17"/>
          <p:cNvSpPr/>
          <p:nvPr/>
        </p:nvSpPr>
        <p:spPr>
          <a:xfrm>
            <a:off x="9534001" y="4396667"/>
            <a:ext cx="3731051" cy="476222"/>
          </a:xfrm>
          <a:prstGeom prst="rect">
            <a:avLst/>
          </a:prstGeom>
          <a:noFill/>
          <a:ln/>
        </p:spPr>
        <p:txBody>
          <a:bodyPr wrap="squar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₹42,500</a:t>
            </a:r>
            <a:endParaRPr lang="en-US" sz="3450" dirty="0"/>
          </a:p>
        </p:txBody>
      </p:sp>
      <p:sp>
        <p:nvSpPr>
          <p:cNvPr id="21" name="Shape 18"/>
          <p:cNvSpPr/>
          <p:nvPr/>
        </p:nvSpPr>
        <p:spPr>
          <a:xfrm>
            <a:off x="13430180" y="2419945"/>
            <a:ext cx="3943378" cy="2671536"/>
          </a:xfrm>
          <a:prstGeom prst="rect">
            <a:avLst/>
          </a:prstGeom>
          <a:solidFill>
            <a:srgbClr val="141A45"/>
          </a:solidFill>
          <a:ln w="9071">
            <a:solidFill>
              <a:srgbClr val="141A45"/>
            </a:solidFill>
            <a:prstDash val="solid"/>
          </a:ln>
        </p:spPr>
        <p:txBody>
          <a:bodyPr/>
          <a:lstStyle/>
          <a:p>
            <a:endParaRPr lang="en-US"/>
          </a:p>
        </p:txBody>
      </p:sp>
      <p:sp>
        <p:nvSpPr>
          <p:cNvPr id="22" name="Text 19"/>
          <p:cNvSpPr/>
          <p:nvPr/>
        </p:nvSpPr>
        <p:spPr>
          <a:xfrm>
            <a:off x="13705938" y="2676639"/>
            <a:ext cx="3731051" cy="571472"/>
          </a:xfrm>
          <a:prstGeom prst="rect">
            <a:avLst/>
          </a:prstGeom>
          <a:noFill/>
          <a:ln/>
        </p:spPr>
        <p:txBody>
          <a:bodyPr wrap="square" lIns="25400" tIns="25400" rIns="25400" bIns="25400" rtlCol="0" anchor="t">
            <a:normAutofit lnSpcReduction="10000"/>
          </a:bodyPr>
          <a:lstStyle/>
          <a:p>
            <a:pPr marL="0" indent="0" algn="l">
              <a:lnSpc>
                <a:spcPct val="82817"/>
              </a:lnSpc>
              <a:buNone/>
            </a:pPr>
            <a:r>
              <a:rPr lang="en-US" sz="4200" dirty="0">
                <a:solidFill>
                  <a:srgbClr val="94BCE3"/>
                </a:solidFill>
                <a:latin typeface="Barlow Condensed" pitchFamily="34" charset="0"/>
                <a:ea typeface="Barlow Condensed" pitchFamily="34" charset="-122"/>
                <a:cs typeface="Barlow Condensed" pitchFamily="34" charset="-120"/>
              </a:rPr>
              <a:t>2035</a:t>
            </a:r>
            <a:endParaRPr lang="en-US" sz="4200" dirty="0"/>
          </a:p>
        </p:txBody>
      </p:sp>
      <p:sp>
        <p:nvSpPr>
          <p:cNvPr id="23" name="Text 20"/>
          <p:cNvSpPr/>
          <p:nvPr/>
        </p:nvSpPr>
        <p:spPr>
          <a:xfrm>
            <a:off x="13705938" y="3343318"/>
            <a:ext cx="3731051"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F2F2F3"/>
                </a:solidFill>
                <a:latin typeface="Barlow" pitchFamily="34" charset="0"/>
                <a:ea typeface="Barlow" pitchFamily="34" charset="-122"/>
                <a:cs typeface="Barlow" pitchFamily="34" charset="-120"/>
              </a:rPr>
              <a:t>Education funded</a:t>
            </a:r>
            <a:endParaRPr lang="en-US" sz="2100" dirty="0"/>
          </a:p>
        </p:txBody>
      </p:sp>
      <p:sp>
        <p:nvSpPr>
          <p:cNvPr id="24" name="Text 21"/>
          <p:cNvSpPr/>
          <p:nvPr/>
        </p:nvSpPr>
        <p:spPr>
          <a:xfrm>
            <a:off x="13705938" y="3985192"/>
            <a:ext cx="373105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16" dirty="0">
                <a:solidFill>
                  <a:srgbClr val="F2F2F3">
                    <a:alpha val="90000"/>
                  </a:srgbClr>
                </a:solidFill>
                <a:latin typeface="Barlow" pitchFamily="34" charset="0"/>
                <a:ea typeface="Barlow" pitchFamily="34" charset="-122"/>
                <a:cs typeface="Barlow" pitchFamily="34" charset="-120"/>
              </a:rPr>
              <a:t>REDIRECTED</a:t>
            </a:r>
            <a:endParaRPr lang="en-US" sz="2100" dirty="0"/>
          </a:p>
        </p:txBody>
      </p:sp>
      <p:sp>
        <p:nvSpPr>
          <p:cNvPr id="25" name="Text 22"/>
          <p:cNvSpPr/>
          <p:nvPr/>
        </p:nvSpPr>
        <p:spPr>
          <a:xfrm>
            <a:off x="13705938" y="4396667"/>
            <a:ext cx="3731051" cy="476222"/>
          </a:xfrm>
          <a:prstGeom prst="rect">
            <a:avLst/>
          </a:prstGeom>
          <a:noFill/>
          <a:ln/>
        </p:spPr>
        <p:txBody>
          <a:bodyPr wrap="square" lIns="25400" tIns="25400" rIns="25400" bIns="25400" rtlCol="0" anchor="t">
            <a:normAutofit lnSpcReduction="10000"/>
          </a:bodyPr>
          <a:lstStyle/>
          <a:p>
            <a:pPr marL="0" indent="0" algn="l">
              <a:lnSpc>
                <a:spcPct val="83276"/>
              </a:lnSpc>
              <a:buNone/>
            </a:pPr>
            <a:r>
              <a:rPr lang="en-US" sz="3450" dirty="0">
                <a:solidFill>
                  <a:srgbClr val="F2F2F3"/>
                </a:solidFill>
                <a:latin typeface="Barlow Condensed" pitchFamily="34" charset="0"/>
                <a:ea typeface="Barlow Condensed" pitchFamily="34" charset="-122"/>
                <a:cs typeface="Barlow Condensed" pitchFamily="34" charset="-120"/>
              </a:rPr>
              <a:t>₹77,000</a:t>
            </a:r>
            <a:endParaRPr lang="en-US" sz="3450" dirty="0"/>
          </a:p>
        </p:txBody>
      </p:sp>
      <p:sp>
        <p:nvSpPr>
          <p:cNvPr id="26" name="Shape 23"/>
          <p:cNvSpPr/>
          <p:nvPr/>
        </p:nvSpPr>
        <p:spPr>
          <a:xfrm>
            <a:off x="914372" y="5396225"/>
            <a:ext cx="5467308" cy="1516346"/>
          </a:xfrm>
          <a:prstGeom prst="rect">
            <a:avLst/>
          </a:prstGeom>
          <a:solidFill>
            <a:srgbClr val="E7E7EA"/>
          </a:solidFill>
          <a:ln/>
        </p:spPr>
        <p:txBody>
          <a:bodyPr/>
          <a:lstStyle/>
          <a:p>
            <a:endParaRPr lang="en-US"/>
          </a:p>
        </p:txBody>
      </p:sp>
      <p:sp>
        <p:nvSpPr>
          <p:cNvPr id="27" name="Text 24"/>
          <p:cNvSpPr/>
          <p:nvPr/>
        </p:nvSpPr>
        <p:spPr>
          <a:xfrm>
            <a:off x="1219115" y="5662911"/>
            <a:ext cx="5343603"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RETIREMENT SIP TODAY</a:t>
            </a:r>
            <a:endParaRPr lang="en-US" sz="2100" dirty="0"/>
          </a:p>
        </p:txBody>
      </p:sp>
      <p:sp>
        <p:nvSpPr>
          <p:cNvPr id="28" name="Text 25"/>
          <p:cNvSpPr/>
          <p:nvPr/>
        </p:nvSpPr>
        <p:spPr>
          <a:xfrm>
            <a:off x="1219115" y="6093449"/>
            <a:ext cx="5343603" cy="590536"/>
          </a:xfrm>
          <a:prstGeom prst="rect">
            <a:avLst/>
          </a:prstGeom>
          <a:noFill/>
          <a:ln/>
        </p:spPr>
        <p:txBody>
          <a:bodyPr wrap="square" lIns="25400" tIns="25400" rIns="25400" bIns="25400" rtlCol="0" anchor="t">
            <a:normAutofit lnSpcReduction="10000"/>
          </a:bodyPr>
          <a:lstStyle/>
          <a:p>
            <a:pPr marL="0" indent="0" algn="l">
              <a:lnSpc>
                <a:spcPct val="83425"/>
              </a:lnSpc>
              <a:buNone/>
            </a:pPr>
            <a:r>
              <a:rPr lang="en-US" sz="4350" dirty="0">
                <a:solidFill>
                  <a:srgbClr val="1D1F20"/>
                </a:solidFill>
                <a:latin typeface="Barlow Condensed" pitchFamily="34" charset="0"/>
                <a:ea typeface="Barlow Condensed" pitchFamily="34" charset="-122"/>
                <a:cs typeface="Barlow Condensed" pitchFamily="34" charset="-120"/>
              </a:rPr>
              <a:t>₹30,000</a:t>
            </a:r>
            <a:endParaRPr lang="en-US" sz="4350" dirty="0"/>
          </a:p>
        </p:txBody>
      </p:sp>
      <p:sp>
        <p:nvSpPr>
          <p:cNvPr id="29" name="Shape 26"/>
          <p:cNvSpPr/>
          <p:nvPr/>
        </p:nvSpPr>
        <p:spPr>
          <a:xfrm>
            <a:off x="6410240" y="5396225"/>
            <a:ext cx="5467378" cy="1516346"/>
          </a:xfrm>
          <a:prstGeom prst="rect">
            <a:avLst/>
          </a:prstGeom>
          <a:solidFill>
            <a:srgbClr val="26306F"/>
          </a:solidFill>
          <a:ln/>
        </p:spPr>
        <p:txBody>
          <a:bodyPr/>
          <a:lstStyle/>
          <a:p>
            <a:endParaRPr lang="en-US"/>
          </a:p>
        </p:txBody>
      </p:sp>
      <p:sp>
        <p:nvSpPr>
          <p:cNvPr id="30" name="Text 27"/>
          <p:cNvSpPr/>
          <p:nvPr/>
        </p:nvSpPr>
        <p:spPr>
          <a:xfrm>
            <a:off x="6714984" y="5662911"/>
            <a:ext cx="534368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RETIREMENT SIP FROM 2035</a:t>
            </a:r>
            <a:endParaRPr lang="en-US" sz="2100" dirty="0"/>
          </a:p>
        </p:txBody>
      </p:sp>
      <p:sp>
        <p:nvSpPr>
          <p:cNvPr id="31" name="Text 28"/>
          <p:cNvSpPr/>
          <p:nvPr/>
        </p:nvSpPr>
        <p:spPr>
          <a:xfrm>
            <a:off x="6714984" y="6093449"/>
            <a:ext cx="5343681" cy="590536"/>
          </a:xfrm>
          <a:prstGeom prst="rect">
            <a:avLst/>
          </a:prstGeom>
          <a:noFill/>
          <a:ln/>
        </p:spPr>
        <p:txBody>
          <a:bodyPr wrap="square" lIns="25400" tIns="25400" rIns="25400" bIns="25400" rtlCol="0" anchor="t">
            <a:normAutofit lnSpcReduction="10000"/>
          </a:bodyPr>
          <a:lstStyle/>
          <a:p>
            <a:pPr marL="0" indent="0" algn="l">
              <a:lnSpc>
                <a:spcPct val="83425"/>
              </a:lnSpc>
              <a:buNone/>
            </a:pPr>
            <a:r>
              <a:rPr lang="en-US" sz="4350" dirty="0">
                <a:solidFill>
                  <a:srgbClr val="F2F2F3"/>
                </a:solidFill>
                <a:latin typeface="Barlow Condensed" pitchFamily="34" charset="0"/>
                <a:ea typeface="Barlow Condensed" pitchFamily="34" charset="-122"/>
                <a:cs typeface="Barlow Condensed" pitchFamily="34" charset="-120"/>
              </a:rPr>
              <a:t>₹1,85,300</a:t>
            </a:r>
            <a:endParaRPr lang="en-US" sz="4350" dirty="0"/>
          </a:p>
        </p:txBody>
      </p:sp>
      <p:sp>
        <p:nvSpPr>
          <p:cNvPr id="32" name="Shape 29"/>
          <p:cNvSpPr/>
          <p:nvPr/>
        </p:nvSpPr>
        <p:spPr>
          <a:xfrm>
            <a:off x="11906180" y="5396225"/>
            <a:ext cx="5467378" cy="1516346"/>
          </a:xfrm>
          <a:prstGeom prst="rect">
            <a:avLst/>
          </a:prstGeom>
          <a:solidFill>
            <a:srgbClr val="141A45"/>
          </a:solidFill>
          <a:ln/>
        </p:spPr>
        <p:txBody>
          <a:bodyPr/>
          <a:lstStyle/>
          <a:p>
            <a:endParaRPr lang="en-US"/>
          </a:p>
        </p:txBody>
      </p:sp>
      <p:sp>
        <p:nvSpPr>
          <p:cNvPr id="33" name="Text 30"/>
          <p:cNvSpPr/>
          <p:nvPr/>
        </p:nvSpPr>
        <p:spPr>
          <a:xfrm>
            <a:off x="12210923" y="5662911"/>
            <a:ext cx="534368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NEW SAVING REQUIRED</a:t>
            </a:r>
            <a:endParaRPr lang="en-US" sz="2100" dirty="0"/>
          </a:p>
        </p:txBody>
      </p:sp>
      <p:sp>
        <p:nvSpPr>
          <p:cNvPr id="34" name="Text 31"/>
          <p:cNvSpPr/>
          <p:nvPr/>
        </p:nvSpPr>
        <p:spPr>
          <a:xfrm>
            <a:off x="12210923" y="6093449"/>
            <a:ext cx="5343681" cy="590536"/>
          </a:xfrm>
          <a:prstGeom prst="rect">
            <a:avLst/>
          </a:prstGeom>
          <a:noFill/>
          <a:ln/>
        </p:spPr>
        <p:txBody>
          <a:bodyPr wrap="square" lIns="25400" tIns="25400" rIns="25400" bIns="25400" rtlCol="0" anchor="t">
            <a:normAutofit lnSpcReduction="10000"/>
          </a:bodyPr>
          <a:lstStyle/>
          <a:p>
            <a:pPr marL="0" indent="0" algn="l">
              <a:lnSpc>
                <a:spcPct val="83425"/>
              </a:lnSpc>
              <a:buNone/>
            </a:pPr>
            <a:r>
              <a:rPr lang="en-US" sz="4350" dirty="0">
                <a:solidFill>
                  <a:srgbClr val="94BCE3"/>
                </a:solidFill>
                <a:latin typeface="Barlow Condensed" pitchFamily="34" charset="0"/>
                <a:ea typeface="Barlow Condensed" pitchFamily="34" charset="-122"/>
                <a:cs typeface="Barlow Condensed" pitchFamily="34" charset="-120"/>
              </a:rPr>
              <a:t>Nil</a:t>
            </a:r>
            <a:endParaRPr lang="en-US" sz="4350" dirty="0"/>
          </a:p>
        </p:txBody>
      </p:sp>
      <p:sp>
        <p:nvSpPr>
          <p:cNvPr id="35" name="Shape 32"/>
          <p:cNvSpPr/>
          <p:nvPr/>
        </p:nvSpPr>
        <p:spPr>
          <a:xfrm>
            <a:off x="914372" y="7460754"/>
            <a:ext cx="16459187" cy="9525"/>
          </a:xfrm>
          <a:prstGeom prst="rect">
            <a:avLst/>
          </a:prstGeom>
          <a:solidFill>
            <a:srgbClr val="1D1F20">
              <a:alpha val="18000"/>
            </a:srgbClr>
          </a:solidFill>
          <a:ln/>
        </p:spPr>
        <p:txBody>
          <a:bodyPr/>
          <a:lstStyle/>
          <a:p>
            <a:endParaRPr lang="en-US"/>
          </a:p>
        </p:txBody>
      </p:sp>
      <p:sp>
        <p:nvSpPr>
          <p:cNvPr id="36" name="Text 33"/>
          <p:cNvSpPr/>
          <p:nvPr/>
        </p:nvSpPr>
        <p:spPr>
          <a:xfrm>
            <a:off x="914372" y="7698426"/>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37" name="Text 34"/>
          <p:cNvSpPr/>
          <p:nvPr/>
        </p:nvSpPr>
        <p:spPr>
          <a:xfrm>
            <a:off x="3276487" y="7660326"/>
            <a:ext cx="13244441" cy="1133688"/>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Each instalment is re-tagged the month it is freed rather than absorbed into spending. This is what lifts the retirement contribution six-fold in the last two years before 2036, and it is the cheapest ₹0.75 crore available to the plan.</a:t>
            </a:r>
            <a:endParaRPr lang="en-US" sz="2100" dirty="0"/>
          </a:p>
        </p:txBody>
      </p:sp>
      <p:sp>
        <p:nvSpPr>
          <p:cNvPr id="38" name="Text 35"/>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39" name="Text 36"/>
          <p:cNvSpPr/>
          <p:nvPr/>
        </p:nvSpPr>
        <p:spPr>
          <a:xfrm>
            <a:off x="16752662" y="9475462"/>
            <a:ext cx="697097"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13 / 32</a:t>
            </a:r>
            <a:endParaRPr lang="en-US" sz="2100" dirty="0"/>
          </a:p>
        </p:txBody>
      </p:sp>
    </p:spTree>
    <p:extLst>
      <p:ext uri="{BB962C8B-B14F-4D97-AF65-F5344CB8AC3E}">
        <p14:creationId xmlns:p14="http://schemas.microsoft.com/office/powerpoint/2010/main" val="219349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Google Shape;574;p16">
            <a:extLst>
              <a:ext uri="{FF2B5EF4-FFF2-40B4-BE49-F238E27FC236}">
                <a16:creationId xmlns:a16="http://schemas.microsoft.com/office/drawing/2014/main" id="{C16AFD0E-ADC8-EB53-ECE3-4A8954E417D4}"/>
              </a:ext>
            </a:extLst>
          </p:cNvPr>
          <p:cNvSpPr/>
          <p:nvPr/>
        </p:nvSpPr>
        <p:spPr>
          <a:xfrm>
            <a:off x="8177538" y="0"/>
            <a:ext cx="10186662" cy="10287001"/>
          </a:xfrm>
          <a:prstGeom prst="rect">
            <a:avLst/>
          </a:prstGeom>
          <a:gradFill>
            <a:gsLst>
              <a:gs pos="100000">
                <a:srgbClr val="141A45"/>
              </a:gs>
              <a:gs pos="100000">
                <a:srgbClr val="141A45">
                  <a:alpha val="0"/>
                </a:srgbClr>
              </a:gs>
              <a:gs pos="100000">
                <a:srgbClr val="141A45">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5" name="Google Shape;366;p11" descr="preencoded.png">
            <a:extLst>
              <a:ext uri="{FF2B5EF4-FFF2-40B4-BE49-F238E27FC236}">
                <a16:creationId xmlns:a16="http://schemas.microsoft.com/office/drawing/2014/main" id="{8D0C4FB0-FC7F-0714-6D1F-AEA6ACD3E07A}"/>
              </a:ext>
            </a:extLst>
          </p:cNvPr>
          <p:cNvPicPr preferRelativeResize="0"/>
          <p:nvPr/>
        </p:nvPicPr>
        <p:blipFill rotWithShape="1">
          <a:blip r:embed="rId2">
            <a:alphaModFix amt="90000"/>
          </a:blip>
          <a:srcRect l="23540" r="23540"/>
          <a:stretch/>
        </p:blipFill>
        <p:spPr>
          <a:xfrm>
            <a:off x="0" y="0"/>
            <a:ext cx="8177539" cy="10287001"/>
          </a:xfrm>
          <a:prstGeom prst="rect">
            <a:avLst/>
          </a:prstGeom>
          <a:noFill/>
          <a:ln>
            <a:noFill/>
          </a:ln>
        </p:spPr>
      </p:pic>
      <p:sp>
        <p:nvSpPr>
          <p:cNvPr id="7" name="Google Shape;367;p11">
            <a:extLst>
              <a:ext uri="{FF2B5EF4-FFF2-40B4-BE49-F238E27FC236}">
                <a16:creationId xmlns:a16="http://schemas.microsoft.com/office/drawing/2014/main" id="{D1752E2B-ED34-EEF1-5709-0C659DE5A8DC}"/>
              </a:ext>
            </a:extLst>
          </p:cNvPr>
          <p:cNvSpPr/>
          <p:nvPr/>
        </p:nvSpPr>
        <p:spPr>
          <a:xfrm>
            <a:off x="-1" y="0"/>
            <a:ext cx="8177539" cy="10287001"/>
          </a:xfrm>
          <a:prstGeom prst="rect">
            <a:avLst/>
          </a:prstGeom>
          <a:solidFill>
            <a:srgbClr val="141A45">
              <a:alpha val="5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68;p11">
            <a:extLst>
              <a:ext uri="{FF2B5EF4-FFF2-40B4-BE49-F238E27FC236}">
                <a16:creationId xmlns:a16="http://schemas.microsoft.com/office/drawing/2014/main" id="{887A07D9-67F5-2F28-3E5E-36338E54AA45}"/>
              </a:ext>
            </a:extLst>
          </p:cNvPr>
          <p:cNvSpPr/>
          <p:nvPr/>
        </p:nvSpPr>
        <p:spPr>
          <a:xfrm>
            <a:off x="0" y="-1333"/>
            <a:ext cx="8177539" cy="10287001"/>
          </a:xfrm>
          <a:prstGeom prst="rect">
            <a:avLst/>
          </a:prstGeom>
          <a:gradFill>
            <a:gsLst>
              <a:gs pos="0">
                <a:srgbClr val="141A45"/>
              </a:gs>
              <a:gs pos="30000">
                <a:srgbClr val="141A45">
                  <a:alpha val="0"/>
                </a:srgbClr>
              </a:gs>
              <a:gs pos="100000">
                <a:srgbClr val="141A45">
                  <a:alpha val="0"/>
                </a:srgbClr>
              </a:gs>
            </a:gsLst>
            <a:lin ang="108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74;p16">
            <a:extLst>
              <a:ext uri="{FF2B5EF4-FFF2-40B4-BE49-F238E27FC236}">
                <a16:creationId xmlns:a16="http://schemas.microsoft.com/office/drawing/2014/main" id="{812F8288-A28B-D0D7-35AF-C126E79ED598}"/>
              </a:ext>
            </a:extLst>
          </p:cNvPr>
          <p:cNvSpPr/>
          <p:nvPr/>
        </p:nvSpPr>
        <p:spPr>
          <a:xfrm flipH="1">
            <a:off x="39362" y="0"/>
            <a:ext cx="8177538" cy="10287001"/>
          </a:xfrm>
          <a:prstGeom prst="rect">
            <a:avLst/>
          </a:prstGeom>
          <a:gradFill>
            <a:gsLst>
              <a:gs pos="13000">
                <a:srgbClr val="141A45"/>
              </a:gs>
              <a:gs pos="0">
                <a:srgbClr val="141A45"/>
              </a:gs>
              <a:gs pos="60000">
                <a:srgbClr val="141A45">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370;p11">
            <a:extLst>
              <a:ext uri="{FF2B5EF4-FFF2-40B4-BE49-F238E27FC236}">
                <a16:creationId xmlns:a16="http://schemas.microsoft.com/office/drawing/2014/main" id="{0D418878-1F1A-1067-4783-694A332EBDD7}"/>
              </a:ext>
            </a:extLst>
          </p:cNvPr>
          <p:cNvSpPr/>
          <p:nvPr/>
        </p:nvSpPr>
        <p:spPr>
          <a:xfrm>
            <a:off x="8787097" y="3025180"/>
            <a:ext cx="8844056" cy="2106102"/>
          </a:xfrm>
          <a:prstGeom prst="rect">
            <a:avLst/>
          </a:prstGeom>
          <a:noFill/>
          <a:ln>
            <a:noFill/>
          </a:ln>
        </p:spPr>
        <p:txBody>
          <a:bodyPr spcFirstLastPara="1" wrap="square" lIns="25400" tIns="25400" rIns="25400" bIns="25400" anchor="t" anchorCtr="0">
            <a:noAutofit/>
          </a:bodyPr>
          <a:lstStyle/>
          <a:p>
            <a:pPr marL="0" marR="0" lvl="0" indent="0" algn="l" rtl="0">
              <a:lnSpc>
                <a:spcPct val="76502"/>
              </a:lnSpc>
              <a:spcBef>
                <a:spcPts val="0"/>
              </a:spcBef>
              <a:spcAft>
                <a:spcPts val="0"/>
              </a:spcAft>
              <a:buClr>
                <a:srgbClr val="F2F2F3"/>
              </a:buClr>
              <a:buSzPts val="8850"/>
              <a:buFont typeface="Barlow Condensed"/>
              <a:buNone/>
            </a:pPr>
            <a:r>
              <a:rPr lang="en-US" sz="8850" b="1" i="0" u="none" strike="noStrike" cap="none">
                <a:solidFill>
                  <a:srgbClr val="F2F2F3"/>
                </a:solidFill>
                <a:latin typeface="Barlow Condensed"/>
                <a:ea typeface="Barlow Condensed"/>
                <a:cs typeface="Barlow Condensed"/>
                <a:sym typeface="Barlow Condensed"/>
              </a:rPr>
              <a:t>Protection Plan</a:t>
            </a:r>
            <a:endParaRPr sz="8850" b="0" i="0" u="none" strike="noStrike" cap="none">
              <a:solidFill>
                <a:schemeClr val="dk1"/>
              </a:solidFill>
              <a:latin typeface="Calibri"/>
              <a:ea typeface="Calibri"/>
              <a:cs typeface="Calibri"/>
              <a:sym typeface="Calibri"/>
            </a:endParaRPr>
          </a:p>
        </p:txBody>
      </p:sp>
      <p:sp>
        <p:nvSpPr>
          <p:cNvPr id="15" name="Google Shape;371;p11">
            <a:extLst>
              <a:ext uri="{FF2B5EF4-FFF2-40B4-BE49-F238E27FC236}">
                <a16:creationId xmlns:a16="http://schemas.microsoft.com/office/drawing/2014/main" id="{1B334FC3-0E9E-9BE5-BEDF-E1614226877F}"/>
              </a:ext>
            </a:extLst>
          </p:cNvPr>
          <p:cNvSpPr/>
          <p:nvPr/>
        </p:nvSpPr>
        <p:spPr>
          <a:xfrm>
            <a:off x="8885071" y="4973438"/>
            <a:ext cx="7238930" cy="9525"/>
          </a:xfrm>
          <a:prstGeom prst="rect">
            <a:avLst/>
          </a:prstGeom>
          <a:solidFill>
            <a:srgbClr val="F2F2F3">
              <a:alpha val="2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72;p11">
            <a:extLst>
              <a:ext uri="{FF2B5EF4-FFF2-40B4-BE49-F238E27FC236}">
                <a16:creationId xmlns:a16="http://schemas.microsoft.com/office/drawing/2014/main" id="{29AE91D8-1497-FEAA-A252-6CE67ACAEA80}"/>
              </a:ext>
            </a:extLst>
          </p:cNvPr>
          <p:cNvSpPr/>
          <p:nvPr/>
        </p:nvSpPr>
        <p:spPr>
          <a:xfrm>
            <a:off x="8885071" y="5065874"/>
            <a:ext cx="8728017" cy="1446865"/>
          </a:xfrm>
          <a:prstGeom prst="rect">
            <a:avLst/>
          </a:prstGeom>
          <a:noFill/>
          <a:ln>
            <a:noFill/>
          </a:ln>
        </p:spPr>
        <p:txBody>
          <a:bodyPr spcFirstLastPara="1" wrap="square" lIns="25400" tIns="25400" rIns="25400" bIns="25400" anchor="t" anchorCtr="0">
            <a:noAutofit/>
          </a:bodyPr>
          <a:lstStyle/>
          <a:p>
            <a:pPr marL="0" marR="0" lvl="0" indent="0" algn="l" rtl="0">
              <a:lnSpc>
                <a:spcPct val="121800"/>
              </a:lnSpc>
              <a:spcBef>
                <a:spcPts val="0"/>
              </a:spcBef>
              <a:spcAft>
                <a:spcPts val="0"/>
              </a:spcAft>
              <a:buClr>
                <a:srgbClr val="F2F2F3"/>
              </a:buClr>
              <a:buSzPts val="2550"/>
              <a:buFont typeface="Barlow"/>
              <a:buNone/>
            </a:pPr>
            <a:r>
              <a:rPr lang="en-US" sz="2550" b="0" i="0" u="none" strike="noStrike" cap="none" dirty="0">
                <a:solidFill>
                  <a:srgbClr val="F2F2F3"/>
                </a:solidFill>
                <a:latin typeface="Barlow"/>
                <a:ea typeface="Barlow"/>
                <a:cs typeface="Barlow"/>
                <a:sym typeface="Barlow"/>
              </a:rPr>
              <a:t>Every goal in this plan assumes </a:t>
            </a:r>
            <a:r>
              <a:rPr lang="en-US" sz="2550" dirty="0">
                <a:solidFill>
                  <a:srgbClr val="F2F2F3"/>
                </a:solidFill>
                <a:latin typeface="Barlow"/>
                <a:ea typeface="Barlow"/>
                <a:cs typeface="Barlow"/>
                <a:sym typeface="Barlow"/>
              </a:rPr>
              <a:t>ten</a:t>
            </a:r>
            <a:r>
              <a:rPr lang="en-US" sz="2550" b="0" i="0" u="none" strike="noStrike" cap="none" dirty="0">
                <a:solidFill>
                  <a:srgbClr val="F2F2F3"/>
                </a:solidFill>
                <a:latin typeface="Barlow"/>
                <a:ea typeface="Barlow"/>
                <a:cs typeface="Barlow"/>
                <a:sym typeface="Barlow"/>
              </a:rPr>
              <a:t> more years of income. Protection is what makes that assumption safe to rely on.</a:t>
            </a:r>
            <a:endParaRPr sz="2550" b="0" i="0" u="none" strike="noStrike" cap="none" dirty="0">
              <a:solidFill>
                <a:schemeClr val="dk1"/>
              </a:solidFill>
              <a:latin typeface="Calibri"/>
              <a:ea typeface="Calibri"/>
              <a:cs typeface="Calibri"/>
              <a:sym typeface="Calibri"/>
            </a:endParaRPr>
          </a:p>
        </p:txBody>
      </p:sp>
      <p:sp>
        <p:nvSpPr>
          <p:cNvPr id="19" name="Google Shape;373;p11">
            <a:extLst>
              <a:ext uri="{FF2B5EF4-FFF2-40B4-BE49-F238E27FC236}">
                <a16:creationId xmlns:a16="http://schemas.microsoft.com/office/drawing/2014/main" id="{51EEF845-DE38-A033-75E3-6E93B15BC3F9}"/>
              </a:ext>
            </a:extLst>
          </p:cNvPr>
          <p:cNvSpPr/>
          <p:nvPr/>
        </p:nvSpPr>
        <p:spPr>
          <a:xfrm>
            <a:off x="8852415" y="6410677"/>
            <a:ext cx="3162896"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dirty="0">
                <a:solidFill>
                  <a:srgbClr val="F2F2F3"/>
                </a:solidFill>
                <a:latin typeface="Barlow"/>
                <a:ea typeface="Barlow"/>
                <a:cs typeface="Barlow"/>
                <a:sym typeface="Barlow"/>
              </a:rPr>
              <a:t>COVER RECOMMENDED</a:t>
            </a:r>
            <a:endParaRPr sz="1800" b="0" i="0" u="none" strike="noStrike" cap="none" dirty="0">
              <a:solidFill>
                <a:schemeClr val="dk1"/>
              </a:solidFill>
              <a:latin typeface="Calibri"/>
              <a:ea typeface="Calibri"/>
              <a:cs typeface="Calibri"/>
              <a:sym typeface="Calibri"/>
            </a:endParaRPr>
          </a:p>
        </p:txBody>
      </p:sp>
      <p:sp>
        <p:nvSpPr>
          <p:cNvPr id="21" name="Google Shape;374;p11">
            <a:extLst>
              <a:ext uri="{FF2B5EF4-FFF2-40B4-BE49-F238E27FC236}">
                <a16:creationId xmlns:a16="http://schemas.microsoft.com/office/drawing/2014/main" id="{4155A82C-80FB-2052-F662-71CB8BE8E7AD}"/>
              </a:ext>
            </a:extLst>
          </p:cNvPr>
          <p:cNvSpPr/>
          <p:nvPr/>
        </p:nvSpPr>
        <p:spPr>
          <a:xfrm>
            <a:off x="11669740" y="6359749"/>
            <a:ext cx="3162896" cy="571472"/>
          </a:xfrm>
          <a:prstGeom prst="rect">
            <a:avLst/>
          </a:prstGeom>
          <a:noFill/>
          <a:ln>
            <a:noFill/>
          </a:ln>
        </p:spPr>
        <p:txBody>
          <a:bodyPr spcFirstLastPara="1" wrap="squar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b="0" i="0" u="none" strike="noStrike" cap="none" dirty="0">
                <a:solidFill>
                  <a:srgbClr val="94BCE3"/>
                </a:solidFill>
                <a:latin typeface="Barlow Condensed"/>
                <a:ea typeface="Barlow Condensed"/>
                <a:cs typeface="Barlow Condensed"/>
                <a:sym typeface="Barlow Condensed"/>
              </a:rPr>
              <a:t>₹5 Cr</a:t>
            </a:r>
            <a:endParaRPr sz="4200" b="0" i="0" u="none" strike="noStrike" cap="none" dirty="0">
              <a:solidFill>
                <a:schemeClr val="dk1"/>
              </a:solidFill>
              <a:latin typeface="Calibri"/>
              <a:ea typeface="Calibri"/>
              <a:cs typeface="Calibri"/>
              <a:sym typeface="Calibri"/>
            </a:endParaRPr>
          </a:p>
        </p:txBody>
      </p:sp>
      <p:sp>
        <p:nvSpPr>
          <p:cNvPr id="27" name="Google Shape;377;p11">
            <a:extLst>
              <a:ext uri="{FF2B5EF4-FFF2-40B4-BE49-F238E27FC236}">
                <a16:creationId xmlns:a16="http://schemas.microsoft.com/office/drawing/2014/main" id="{A89BE6BD-9548-8552-F375-22A2EDB559E6}"/>
              </a:ext>
            </a:extLst>
          </p:cNvPr>
          <p:cNvSpPr/>
          <p:nvPr/>
        </p:nvSpPr>
        <p:spPr>
          <a:xfrm>
            <a:off x="8787097" y="9323090"/>
            <a:ext cx="9445108"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ARMSTRONG CAPITAL · GOAL BASED PLANNING</a:t>
            </a:r>
            <a:endParaRPr sz="1800" b="0" i="0" u="none" strike="noStrike" cap="none">
              <a:solidFill>
                <a:schemeClr val="dk1"/>
              </a:solidFill>
              <a:latin typeface="Calibri"/>
              <a:ea typeface="Calibri"/>
              <a:cs typeface="Calibri"/>
              <a:sym typeface="Calibri"/>
            </a:endParaRPr>
          </a:p>
        </p:txBody>
      </p:sp>
      <p:sp>
        <p:nvSpPr>
          <p:cNvPr id="107" name="Text 107"/>
          <p:cNvSpPr txBox="1"/>
          <p:nvPr/>
        </p:nvSpPr>
        <p:spPr>
          <a:xfrm>
            <a:off x="9840685" y="7950198"/>
            <a:ext cx="4191000" cy="635000"/>
          </a:xfrm>
          <a:prstGeom prst="rect">
            <a:avLst/>
          </a:prstGeom>
          <a:noFill/>
        </p:spPr>
        <p:txBody>
          <a:bodyPr wrap="square" lIns="0" tIns="0" rIns="0" bIns="0" anchor="t">
            <a:normAutofit/>
          </a:bodyPr>
          <a:lstStyle/>
          <a:p>
            <a:pPr marL="0" indent="0" algn="l">
              <a:buNone/>
            </a:pPr>
            <a:r>
              <a:rPr lang="en-US" sz="3800" b="1" kern="0" spc="-40" dirty="0">
                <a:solidFill>
                  <a:srgbClr val="FFFFFF"/>
                </a:solidFill>
                <a:latin typeface="Barlow Condensed"/>
                <a:cs typeface="Barlow Condensed"/>
              </a:rPr>
              <a:t>₹1.5 Cr</a:t>
            </a:r>
          </a:p>
        </p:txBody>
      </p:sp>
      <p:sp>
        <p:nvSpPr>
          <p:cNvPr id="108" name="Text 108"/>
          <p:cNvSpPr txBox="1"/>
          <p:nvPr/>
        </p:nvSpPr>
        <p:spPr>
          <a:xfrm>
            <a:off x="9840685" y="8661398"/>
            <a:ext cx="4191000" cy="406400"/>
          </a:xfrm>
          <a:prstGeom prst="rect">
            <a:avLst/>
          </a:prstGeom>
          <a:noFill/>
        </p:spPr>
        <p:txBody>
          <a:bodyPr wrap="square" lIns="0" tIns="0" rIns="0" bIns="0" anchor="t">
            <a:normAutofit/>
          </a:bodyPr>
          <a:lstStyle/>
          <a:p>
            <a:pPr marL="0" indent="0" algn="l">
              <a:buNone/>
            </a:pPr>
            <a:r>
              <a:rPr lang="en-US" sz="1800" b="0" kern="0" dirty="0">
                <a:solidFill>
                  <a:srgbClr val="B9C0DF"/>
                </a:solidFill>
                <a:latin typeface="Barlow"/>
                <a:cs typeface="Barlow"/>
              </a:rPr>
              <a:t>life cover on the earning member</a:t>
            </a:r>
          </a:p>
        </p:txBody>
      </p:sp>
      <p:sp>
        <p:nvSpPr>
          <p:cNvPr id="111" name="Text 111"/>
          <p:cNvSpPr txBox="1"/>
          <p:nvPr/>
        </p:nvSpPr>
        <p:spPr>
          <a:xfrm>
            <a:off x="14964231" y="7950198"/>
            <a:ext cx="1190171" cy="635000"/>
          </a:xfrm>
          <a:prstGeom prst="rect">
            <a:avLst/>
          </a:prstGeom>
          <a:noFill/>
        </p:spPr>
        <p:txBody>
          <a:bodyPr wrap="square" lIns="0" tIns="0" rIns="0" bIns="0" anchor="t">
            <a:normAutofit/>
          </a:bodyPr>
          <a:lstStyle/>
          <a:p>
            <a:pPr marL="0" indent="0" algn="l">
              <a:buNone/>
            </a:pPr>
            <a:r>
              <a:rPr lang="en-US" sz="3800" b="1" kern="0" spc="-40" dirty="0">
                <a:solidFill>
                  <a:srgbClr val="FFFFFF"/>
                </a:solidFill>
                <a:latin typeface="Barlow Condensed"/>
                <a:cs typeface="Barlow Condensed"/>
              </a:rPr>
              <a:t>₹1.35 L</a:t>
            </a:r>
          </a:p>
        </p:txBody>
      </p:sp>
      <p:sp>
        <p:nvSpPr>
          <p:cNvPr id="112" name="Text 112"/>
          <p:cNvSpPr txBox="1"/>
          <p:nvPr/>
        </p:nvSpPr>
        <p:spPr>
          <a:xfrm>
            <a:off x="14964231" y="8661398"/>
            <a:ext cx="4191000" cy="406400"/>
          </a:xfrm>
          <a:prstGeom prst="rect">
            <a:avLst/>
          </a:prstGeom>
          <a:noFill/>
        </p:spPr>
        <p:txBody>
          <a:bodyPr wrap="square" lIns="0" tIns="0" rIns="0" bIns="0" anchor="t">
            <a:normAutofit/>
          </a:bodyPr>
          <a:lstStyle/>
          <a:p>
            <a:pPr marL="0" indent="0" algn="l">
              <a:buNone/>
            </a:pPr>
            <a:r>
              <a:rPr lang="en-US" sz="1800" b="0" kern="0" dirty="0">
                <a:solidFill>
                  <a:srgbClr val="B9C0DF"/>
                </a:solidFill>
                <a:latin typeface="Barlow"/>
                <a:cs typeface="Barlow"/>
              </a:rPr>
              <a:t>paid in premiums every year</a:t>
            </a:r>
          </a:p>
        </p:txBody>
      </p:sp>
      <p:sp>
        <p:nvSpPr>
          <p:cNvPr id="113" name="Text 113"/>
          <p:cNvSpPr txBox="1"/>
          <p:nvPr/>
        </p:nvSpPr>
        <p:spPr>
          <a:xfrm>
            <a:off x="14478000" y="9474200"/>
            <a:ext cx="2895600" cy="393700"/>
          </a:xfrm>
          <a:prstGeom prst="rect">
            <a:avLst/>
          </a:prstGeom>
          <a:noFill/>
        </p:spPr>
        <p:txBody>
          <a:bodyPr wrap="square" lIns="0" tIns="0" rIns="0" bIns="0" anchor="t">
            <a:normAutofit/>
          </a:bodyPr>
          <a:lstStyle/>
          <a:p>
            <a:pPr marL="0" indent="0" algn="r">
              <a:buNone/>
            </a:pPr>
            <a:r>
              <a:rPr lang="en-US" sz="1600" b="0" kern="0" dirty="0">
                <a:solidFill>
                  <a:srgbClr val="B9C0DF"/>
                </a:solidFill>
                <a:latin typeface="Barlow"/>
                <a:cs typeface="Barlow"/>
              </a:rPr>
              <a:t>08 / 14</a:t>
            </a:r>
          </a:p>
        </p:txBody>
      </p:sp>
    </p:spTree>
    <p:extLst>
      <p:ext uri="{BB962C8B-B14F-4D97-AF65-F5344CB8AC3E}">
        <p14:creationId xmlns:p14="http://schemas.microsoft.com/office/powerpoint/2010/main" val="1594901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5139900"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PROTECTION</a:t>
            </a:r>
            <a:endParaRPr lang="en-US" sz="2100" b="1" dirty="0">
              <a:solidFill>
                <a:srgbClr val="2A3480"/>
              </a:solidFill>
              <a:latin typeface="Barlow"/>
            </a:endParaRPr>
          </a:p>
        </p:txBody>
      </p:sp>
      <p:sp>
        <p:nvSpPr>
          <p:cNvPr id="3" name="Text 1"/>
          <p:cNvSpPr/>
          <p:nvPr/>
        </p:nvSpPr>
        <p:spPr>
          <a:xfrm>
            <a:off x="914372" y="1088501"/>
            <a:ext cx="5139900"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Insurance Policies</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372" y="3238358"/>
            <a:ext cx="1958082" cy="9525"/>
          </a:xfrm>
          <a:prstGeom prst="rect">
            <a:avLst/>
          </a:prstGeom>
          <a:solidFill>
            <a:srgbClr val="1F1F1F">
              <a:alpha val="16000"/>
            </a:srgbClr>
          </a:solidFill>
          <a:ln/>
        </p:spPr>
        <p:txBody>
          <a:bodyPr/>
          <a:lstStyle/>
          <a:p>
            <a:endParaRPr lang="en-US"/>
          </a:p>
        </p:txBody>
      </p:sp>
      <p:sp>
        <p:nvSpPr>
          <p:cNvPr id="7" name="Text 4"/>
          <p:cNvSpPr/>
          <p:nvPr/>
        </p:nvSpPr>
        <p:spPr>
          <a:xfrm>
            <a:off x="914372" y="2419945"/>
            <a:ext cx="2034282" cy="742213"/>
          </a:xfrm>
          <a:prstGeom prst="rect">
            <a:avLst/>
          </a:prstGeom>
          <a:noFill/>
          <a:ln/>
        </p:spPr>
        <p:txBody>
          <a:bodyPr wrap="square" lIns="25400" tIns="25400" rIns="25400" bIns="25400" rtlCol="0" anchor="ctr">
            <a:normAutofit/>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POLICY NAME</a:t>
            </a:r>
            <a:endParaRPr lang="en-US" sz="2100" dirty="0"/>
          </a:p>
        </p:txBody>
      </p:sp>
      <p:sp>
        <p:nvSpPr>
          <p:cNvPr id="8" name="Shape 5"/>
          <p:cNvSpPr/>
          <p:nvPr/>
        </p:nvSpPr>
        <p:spPr>
          <a:xfrm>
            <a:off x="2872454" y="3238358"/>
            <a:ext cx="1155119" cy="9525"/>
          </a:xfrm>
          <a:prstGeom prst="rect">
            <a:avLst/>
          </a:prstGeom>
          <a:solidFill>
            <a:srgbClr val="1F1F1F">
              <a:alpha val="16000"/>
            </a:srgbClr>
          </a:solidFill>
          <a:ln/>
        </p:spPr>
        <p:txBody>
          <a:bodyPr/>
          <a:lstStyle/>
          <a:p>
            <a:endParaRPr lang="en-US"/>
          </a:p>
        </p:txBody>
      </p:sp>
      <p:sp>
        <p:nvSpPr>
          <p:cNvPr id="9" name="Text 6"/>
          <p:cNvSpPr/>
          <p:nvPr/>
        </p:nvSpPr>
        <p:spPr>
          <a:xfrm>
            <a:off x="2872454" y="2419945"/>
            <a:ext cx="1231319" cy="742213"/>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START DATE</a:t>
            </a:r>
            <a:endParaRPr lang="en-US" sz="2100" dirty="0"/>
          </a:p>
        </p:txBody>
      </p:sp>
      <p:sp>
        <p:nvSpPr>
          <p:cNvPr id="10" name="Shape 7"/>
          <p:cNvSpPr/>
          <p:nvPr/>
        </p:nvSpPr>
        <p:spPr>
          <a:xfrm>
            <a:off x="4027573" y="3238358"/>
            <a:ext cx="1580130" cy="9525"/>
          </a:xfrm>
          <a:prstGeom prst="rect">
            <a:avLst/>
          </a:prstGeom>
          <a:solidFill>
            <a:srgbClr val="1F1F1F">
              <a:alpha val="16000"/>
            </a:srgbClr>
          </a:solidFill>
          <a:ln/>
        </p:spPr>
        <p:txBody>
          <a:bodyPr/>
          <a:lstStyle/>
          <a:p>
            <a:endParaRPr lang="en-US"/>
          </a:p>
        </p:txBody>
      </p:sp>
      <p:sp>
        <p:nvSpPr>
          <p:cNvPr id="11" name="Text 8"/>
          <p:cNvSpPr/>
          <p:nvPr/>
        </p:nvSpPr>
        <p:spPr>
          <a:xfrm>
            <a:off x="4027573" y="2419945"/>
            <a:ext cx="1656330" cy="742213"/>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PREMIUM / YEAR</a:t>
            </a:r>
            <a:endParaRPr lang="en-US" sz="2100" dirty="0"/>
          </a:p>
        </p:txBody>
      </p:sp>
      <p:sp>
        <p:nvSpPr>
          <p:cNvPr id="12" name="Shape 9"/>
          <p:cNvSpPr/>
          <p:nvPr/>
        </p:nvSpPr>
        <p:spPr>
          <a:xfrm>
            <a:off x="5607702" y="3238358"/>
            <a:ext cx="1932711" cy="9525"/>
          </a:xfrm>
          <a:prstGeom prst="rect">
            <a:avLst/>
          </a:prstGeom>
          <a:solidFill>
            <a:srgbClr val="1F1F1F">
              <a:alpha val="16000"/>
            </a:srgbClr>
          </a:solidFill>
          <a:ln/>
        </p:spPr>
        <p:txBody>
          <a:bodyPr/>
          <a:lstStyle/>
          <a:p>
            <a:endParaRPr lang="en-US"/>
          </a:p>
        </p:txBody>
      </p:sp>
      <p:sp>
        <p:nvSpPr>
          <p:cNvPr id="13" name="Text 10"/>
          <p:cNvSpPr/>
          <p:nvPr/>
        </p:nvSpPr>
        <p:spPr>
          <a:xfrm>
            <a:off x="5607702" y="2419945"/>
            <a:ext cx="2008911" cy="742213"/>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MATURITY DETAILS</a:t>
            </a:r>
            <a:endParaRPr lang="en-US" sz="2100" dirty="0"/>
          </a:p>
        </p:txBody>
      </p:sp>
      <p:sp>
        <p:nvSpPr>
          <p:cNvPr id="14" name="Shape 11"/>
          <p:cNvSpPr/>
          <p:nvPr/>
        </p:nvSpPr>
        <p:spPr>
          <a:xfrm>
            <a:off x="7540413" y="3238358"/>
            <a:ext cx="1551002" cy="9525"/>
          </a:xfrm>
          <a:prstGeom prst="rect">
            <a:avLst/>
          </a:prstGeom>
          <a:solidFill>
            <a:srgbClr val="1F1F1F">
              <a:alpha val="16000"/>
            </a:srgbClr>
          </a:solidFill>
          <a:ln/>
        </p:spPr>
        <p:txBody>
          <a:bodyPr/>
          <a:lstStyle/>
          <a:p>
            <a:endParaRPr lang="en-US"/>
          </a:p>
        </p:txBody>
      </p:sp>
      <p:sp>
        <p:nvSpPr>
          <p:cNvPr id="15" name="Text 12"/>
          <p:cNvSpPr/>
          <p:nvPr/>
        </p:nvSpPr>
        <p:spPr>
          <a:xfrm>
            <a:off x="7540413" y="2419945"/>
            <a:ext cx="1627202" cy="742213"/>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ANNUAL PAYOUT</a:t>
            </a:r>
            <a:endParaRPr lang="en-US" sz="2100" dirty="0"/>
          </a:p>
        </p:txBody>
      </p:sp>
      <p:sp>
        <p:nvSpPr>
          <p:cNvPr id="16" name="Shape 13"/>
          <p:cNvSpPr/>
          <p:nvPr/>
        </p:nvSpPr>
        <p:spPr>
          <a:xfrm>
            <a:off x="9091415" y="3238358"/>
            <a:ext cx="3748343" cy="9525"/>
          </a:xfrm>
          <a:prstGeom prst="rect">
            <a:avLst/>
          </a:prstGeom>
          <a:solidFill>
            <a:srgbClr val="1F1F1F">
              <a:alpha val="16000"/>
            </a:srgbClr>
          </a:solidFill>
          <a:ln/>
        </p:spPr>
        <p:txBody>
          <a:bodyPr/>
          <a:lstStyle/>
          <a:p>
            <a:endParaRPr lang="en-US"/>
          </a:p>
        </p:txBody>
      </p:sp>
      <p:sp>
        <p:nvSpPr>
          <p:cNvPr id="17" name="Text 14"/>
          <p:cNvSpPr/>
          <p:nvPr/>
        </p:nvSpPr>
        <p:spPr>
          <a:xfrm>
            <a:off x="9091415" y="2419945"/>
            <a:ext cx="3860793" cy="742213"/>
          </a:xfrm>
          <a:prstGeom prst="rect">
            <a:avLst/>
          </a:prstGeom>
          <a:noFill/>
          <a:ln/>
        </p:spPr>
        <p:txBody>
          <a:bodyPr wrap="square" lIns="25400" tIns="25400" rIns="25400" bIns="25400" rtlCol="0" anchor="ctr">
            <a:normAutofit/>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REMARKS</a:t>
            </a:r>
            <a:endParaRPr lang="en-US" sz="2100" dirty="0"/>
          </a:p>
        </p:txBody>
      </p:sp>
      <p:sp>
        <p:nvSpPr>
          <p:cNvPr id="18" name="Shape 15"/>
          <p:cNvSpPr/>
          <p:nvPr/>
        </p:nvSpPr>
        <p:spPr>
          <a:xfrm>
            <a:off x="914372" y="4300566"/>
            <a:ext cx="1958082" cy="9525"/>
          </a:xfrm>
          <a:prstGeom prst="rect">
            <a:avLst/>
          </a:prstGeom>
          <a:solidFill>
            <a:srgbClr val="1A1A26">
              <a:alpha val="8000"/>
            </a:srgbClr>
          </a:solidFill>
          <a:ln/>
        </p:spPr>
        <p:txBody>
          <a:bodyPr/>
          <a:lstStyle/>
          <a:p>
            <a:endParaRPr lang="en-US"/>
          </a:p>
        </p:txBody>
      </p:sp>
      <p:sp>
        <p:nvSpPr>
          <p:cNvPr id="19" name="Text 16"/>
          <p:cNvSpPr/>
          <p:nvPr/>
        </p:nvSpPr>
        <p:spPr>
          <a:xfrm>
            <a:off x="914372" y="3390305"/>
            <a:ext cx="1919982"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Term Plan — Self</a:t>
            </a:r>
            <a:endParaRPr lang="en-US" sz="2100" dirty="0"/>
          </a:p>
        </p:txBody>
      </p:sp>
      <p:sp>
        <p:nvSpPr>
          <p:cNvPr id="20" name="Shape 17"/>
          <p:cNvSpPr/>
          <p:nvPr/>
        </p:nvSpPr>
        <p:spPr>
          <a:xfrm>
            <a:off x="2872454" y="4300566"/>
            <a:ext cx="1155119" cy="9525"/>
          </a:xfrm>
          <a:prstGeom prst="rect">
            <a:avLst/>
          </a:prstGeom>
          <a:solidFill>
            <a:srgbClr val="1A1A26">
              <a:alpha val="8000"/>
            </a:srgbClr>
          </a:solidFill>
          <a:ln/>
        </p:spPr>
        <p:txBody>
          <a:bodyPr/>
          <a:lstStyle/>
          <a:p>
            <a:endParaRPr lang="en-US"/>
          </a:p>
        </p:txBody>
      </p:sp>
      <p:sp>
        <p:nvSpPr>
          <p:cNvPr id="21" name="Text 18"/>
          <p:cNvSpPr/>
          <p:nvPr/>
        </p:nvSpPr>
        <p:spPr>
          <a:xfrm>
            <a:off x="2872454" y="3390305"/>
            <a:ext cx="1117019"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Jun 2019</a:t>
            </a:r>
            <a:endParaRPr lang="en-US" sz="2100" dirty="0"/>
          </a:p>
        </p:txBody>
      </p:sp>
      <p:sp>
        <p:nvSpPr>
          <p:cNvPr id="22" name="Shape 19"/>
          <p:cNvSpPr/>
          <p:nvPr/>
        </p:nvSpPr>
        <p:spPr>
          <a:xfrm>
            <a:off x="4027573" y="4300566"/>
            <a:ext cx="1580130" cy="9525"/>
          </a:xfrm>
          <a:prstGeom prst="rect">
            <a:avLst/>
          </a:prstGeom>
          <a:solidFill>
            <a:srgbClr val="1A1A26">
              <a:alpha val="8000"/>
            </a:srgbClr>
          </a:solidFill>
          <a:ln/>
        </p:spPr>
        <p:txBody>
          <a:bodyPr/>
          <a:lstStyle/>
          <a:p>
            <a:endParaRPr lang="en-US"/>
          </a:p>
        </p:txBody>
      </p:sp>
      <p:sp>
        <p:nvSpPr>
          <p:cNvPr id="23" name="Text 20"/>
          <p:cNvSpPr/>
          <p:nvPr/>
        </p:nvSpPr>
        <p:spPr>
          <a:xfrm>
            <a:off x="4027573" y="3390305"/>
            <a:ext cx="1542030"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₹24,800</a:t>
            </a:r>
            <a:endParaRPr lang="en-US" sz="2100" dirty="0"/>
          </a:p>
        </p:txBody>
      </p:sp>
      <p:sp>
        <p:nvSpPr>
          <p:cNvPr id="24" name="Shape 21"/>
          <p:cNvSpPr/>
          <p:nvPr/>
        </p:nvSpPr>
        <p:spPr>
          <a:xfrm>
            <a:off x="5607702" y="4300566"/>
            <a:ext cx="1932711" cy="9525"/>
          </a:xfrm>
          <a:prstGeom prst="rect">
            <a:avLst/>
          </a:prstGeom>
          <a:solidFill>
            <a:srgbClr val="1A1A26">
              <a:alpha val="8000"/>
            </a:srgbClr>
          </a:solidFill>
          <a:ln/>
        </p:spPr>
        <p:txBody>
          <a:bodyPr/>
          <a:lstStyle/>
          <a:p>
            <a:endParaRPr lang="en-US"/>
          </a:p>
        </p:txBody>
      </p:sp>
      <p:sp>
        <p:nvSpPr>
          <p:cNvPr id="25" name="Text 22"/>
          <p:cNvSpPr/>
          <p:nvPr/>
        </p:nvSpPr>
        <p:spPr>
          <a:xfrm>
            <a:off x="5607702" y="3390305"/>
            <a:ext cx="1894611"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₹1.5 Cr cover to 2044</a:t>
            </a:r>
            <a:endParaRPr lang="en-US" sz="2100" dirty="0"/>
          </a:p>
        </p:txBody>
      </p:sp>
      <p:sp>
        <p:nvSpPr>
          <p:cNvPr id="26" name="Shape 23"/>
          <p:cNvSpPr/>
          <p:nvPr/>
        </p:nvSpPr>
        <p:spPr>
          <a:xfrm>
            <a:off x="7540413" y="4300566"/>
            <a:ext cx="1551002" cy="9525"/>
          </a:xfrm>
          <a:prstGeom prst="rect">
            <a:avLst/>
          </a:prstGeom>
          <a:solidFill>
            <a:srgbClr val="1A1A26">
              <a:alpha val="8000"/>
            </a:srgbClr>
          </a:solidFill>
          <a:ln/>
        </p:spPr>
        <p:txBody>
          <a:bodyPr/>
          <a:lstStyle/>
          <a:p>
            <a:endParaRPr lang="en-US"/>
          </a:p>
        </p:txBody>
      </p:sp>
      <p:sp>
        <p:nvSpPr>
          <p:cNvPr id="27" name="Text 24"/>
          <p:cNvSpPr/>
          <p:nvPr/>
        </p:nvSpPr>
        <p:spPr>
          <a:xfrm>
            <a:off x="7540413" y="3390305"/>
            <a:ext cx="1512902"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a:t>
            </a:r>
            <a:endParaRPr lang="en-US" sz="2100" dirty="0"/>
          </a:p>
        </p:txBody>
      </p:sp>
      <p:sp>
        <p:nvSpPr>
          <p:cNvPr id="28" name="Shape 25"/>
          <p:cNvSpPr/>
          <p:nvPr/>
        </p:nvSpPr>
        <p:spPr>
          <a:xfrm>
            <a:off x="9091415" y="4300566"/>
            <a:ext cx="3748343" cy="9525"/>
          </a:xfrm>
          <a:prstGeom prst="rect">
            <a:avLst/>
          </a:prstGeom>
          <a:solidFill>
            <a:srgbClr val="1A1A26">
              <a:alpha val="8000"/>
            </a:srgbClr>
          </a:solidFill>
          <a:ln/>
        </p:spPr>
        <p:txBody>
          <a:bodyPr/>
          <a:lstStyle/>
          <a:p>
            <a:endParaRPr lang="en-US"/>
          </a:p>
        </p:txBody>
      </p:sp>
      <p:sp>
        <p:nvSpPr>
          <p:cNvPr id="29" name="Text 26"/>
          <p:cNvSpPr/>
          <p:nvPr/>
        </p:nvSpPr>
        <p:spPr>
          <a:xfrm>
            <a:off x="9091415" y="3390305"/>
            <a:ext cx="3860793"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Raise towards ₹5 Cr — cover is 4.2× annual income</a:t>
            </a:r>
            <a:endParaRPr lang="en-US" sz="2100" dirty="0"/>
          </a:p>
        </p:txBody>
      </p:sp>
      <p:sp>
        <p:nvSpPr>
          <p:cNvPr id="30" name="Shape 27"/>
          <p:cNvSpPr/>
          <p:nvPr/>
        </p:nvSpPr>
        <p:spPr>
          <a:xfrm>
            <a:off x="914372" y="5362774"/>
            <a:ext cx="1958082" cy="9525"/>
          </a:xfrm>
          <a:prstGeom prst="rect">
            <a:avLst/>
          </a:prstGeom>
          <a:solidFill>
            <a:srgbClr val="1A1A26">
              <a:alpha val="8000"/>
            </a:srgbClr>
          </a:solidFill>
          <a:ln/>
        </p:spPr>
        <p:txBody>
          <a:bodyPr/>
          <a:lstStyle/>
          <a:p>
            <a:endParaRPr lang="en-US"/>
          </a:p>
        </p:txBody>
      </p:sp>
      <p:sp>
        <p:nvSpPr>
          <p:cNvPr id="31" name="Text 28"/>
          <p:cNvSpPr/>
          <p:nvPr/>
        </p:nvSpPr>
        <p:spPr>
          <a:xfrm>
            <a:off x="914372" y="4452513"/>
            <a:ext cx="1919982"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Term Plan — Spouse</a:t>
            </a:r>
            <a:endParaRPr lang="en-US" sz="2100" dirty="0"/>
          </a:p>
        </p:txBody>
      </p:sp>
      <p:sp>
        <p:nvSpPr>
          <p:cNvPr id="32" name="Shape 29"/>
          <p:cNvSpPr/>
          <p:nvPr/>
        </p:nvSpPr>
        <p:spPr>
          <a:xfrm>
            <a:off x="2872454" y="5362774"/>
            <a:ext cx="1155119" cy="9525"/>
          </a:xfrm>
          <a:prstGeom prst="rect">
            <a:avLst/>
          </a:prstGeom>
          <a:solidFill>
            <a:srgbClr val="1A1A26">
              <a:alpha val="8000"/>
            </a:srgbClr>
          </a:solidFill>
          <a:ln/>
        </p:spPr>
        <p:txBody>
          <a:bodyPr/>
          <a:lstStyle/>
          <a:p>
            <a:endParaRPr lang="en-US"/>
          </a:p>
        </p:txBody>
      </p:sp>
      <p:sp>
        <p:nvSpPr>
          <p:cNvPr id="33" name="Text 30"/>
          <p:cNvSpPr/>
          <p:nvPr/>
        </p:nvSpPr>
        <p:spPr>
          <a:xfrm>
            <a:off x="2872454" y="4452513"/>
            <a:ext cx="1117019"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Mar 2021</a:t>
            </a:r>
            <a:endParaRPr lang="en-US" sz="2100" dirty="0"/>
          </a:p>
        </p:txBody>
      </p:sp>
      <p:sp>
        <p:nvSpPr>
          <p:cNvPr id="34" name="Shape 31"/>
          <p:cNvSpPr/>
          <p:nvPr/>
        </p:nvSpPr>
        <p:spPr>
          <a:xfrm>
            <a:off x="4027573" y="5362774"/>
            <a:ext cx="1580130" cy="9525"/>
          </a:xfrm>
          <a:prstGeom prst="rect">
            <a:avLst/>
          </a:prstGeom>
          <a:solidFill>
            <a:srgbClr val="1A1A26">
              <a:alpha val="8000"/>
            </a:srgbClr>
          </a:solidFill>
          <a:ln/>
        </p:spPr>
        <p:txBody>
          <a:bodyPr/>
          <a:lstStyle/>
          <a:p>
            <a:endParaRPr lang="en-US"/>
          </a:p>
        </p:txBody>
      </p:sp>
      <p:sp>
        <p:nvSpPr>
          <p:cNvPr id="35" name="Text 32"/>
          <p:cNvSpPr/>
          <p:nvPr/>
        </p:nvSpPr>
        <p:spPr>
          <a:xfrm>
            <a:off x="4027573" y="4452513"/>
            <a:ext cx="1542030"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₹14,200</a:t>
            </a:r>
            <a:endParaRPr lang="en-US" sz="2100" dirty="0"/>
          </a:p>
        </p:txBody>
      </p:sp>
      <p:sp>
        <p:nvSpPr>
          <p:cNvPr id="36" name="Shape 33"/>
          <p:cNvSpPr/>
          <p:nvPr/>
        </p:nvSpPr>
        <p:spPr>
          <a:xfrm>
            <a:off x="5607702" y="5362774"/>
            <a:ext cx="1932711" cy="9525"/>
          </a:xfrm>
          <a:prstGeom prst="rect">
            <a:avLst/>
          </a:prstGeom>
          <a:solidFill>
            <a:srgbClr val="1A1A26">
              <a:alpha val="8000"/>
            </a:srgbClr>
          </a:solidFill>
          <a:ln/>
        </p:spPr>
        <p:txBody>
          <a:bodyPr/>
          <a:lstStyle/>
          <a:p>
            <a:endParaRPr lang="en-US"/>
          </a:p>
        </p:txBody>
      </p:sp>
      <p:sp>
        <p:nvSpPr>
          <p:cNvPr id="37" name="Text 34"/>
          <p:cNvSpPr/>
          <p:nvPr/>
        </p:nvSpPr>
        <p:spPr>
          <a:xfrm>
            <a:off x="5607702" y="4452513"/>
            <a:ext cx="1894611"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₹75 L cover to 2046</a:t>
            </a:r>
            <a:endParaRPr lang="en-US" sz="2100" dirty="0"/>
          </a:p>
        </p:txBody>
      </p:sp>
      <p:sp>
        <p:nvSpPr>
          <p:cNvPr id="38" name="Shape 35"/>
          <p:cNvSpPr/>
          <p:nvPr/>
        </p:nvSpPr>
        <p:spPr>
          <a:xfrm>
            <a:off x="7540413" y="5362774"/>
            <a:ext cx="1551002" cy="9525"/>
          </a:xfrm>
          <a:prstGeom prst="rect">
            <a:avLst/>
          </a:prstGeom>
          <a:solidFill>
            <a:srgbClr val="1A1A26">
              <a:alpha val="8000"/>
            </a:srgbClr>
          </a:solidFill>
          <a:ln/>
        </p:spPr>
        <p:txBody>
          <a:bodyPr/>
          <a:lstStyle/>
          <a:p>
            <a:endParaRPr lang="en-US"/>
          </a:p>
        </p:txBody>
      </p:sp>
      <p:sp>
        <p:nvSpPr>
          <p:cNvPr id="39" name="Text 36"/>
          <p:cNvSpPr/>
          <p:nvPr/>
        </p:nvSpPr>
        <p:spPr>
          <a:xfrm>
            <a:off x="7540413" y="4452513"/>
            <a:ext cx="1512902"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a:t>
            </a:r>
            <a:endParaRPr lang="en-US" sz="2100" dirty="0"/>
          </a:p>
        </p:txBody>
      </p:sp>
      <p:sp>
        <p:nvSpPr>
          <p:cNvPr id="40" name="Shape 37"/>
          <p:cNvSpPr/>
          <p:nvPr/>
        </p:nvSpPr>
        <p:spPr>
          <a:xfrm>
            <a:off x="9091415" y="5362774"/>
            <a:ext cx="3748343" cy="9525"/>
          </a:xfrm>
          <a:prstGeom prst="rect">
            <a:avLst/>
          </a:prstGeom>
          <a:solidFill>
            <a:srgbClr val="1A1A26">
              <a:alpha val="8000"/>
            </a:srgbClr>
          </a:solidFill>
          <a:ln/>
        </p:spPr>
        <p:txBody>
          <a:bodyPr/>
          <a:lstStyle/>
          <a:p>
            <a:endParaRPr lang="en-US"/>
          </a:p>
        </p:txBody>
      </p:sp>
      <p:sp>
        <p:nvSpPr>
          <p:cNvPr id="41" name="Text 38"/>
          <p:cNvSpPr/>
          <p:nvPr/>
        </p:nvSpPr>
        <p:spPr>
          <a:xfrm>
            <a:off x="9091415" y="4452513"/>
            <a:ext cx="3860793"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Top up to ₹1 Cr when the second income restarts</a:t>
            </a:r>
            <a:endParaRPr lang="en-US" sz="2100" dirty="0"/>
          </a:p>
        </p:txBody>
      </p:sp>
      <p:sp>
        <p:nvSpPr>
          <p:cNvPr id="42" name="Shape 39"/>
          <p:cNvSpPr/>
          <p:nvPr/>
        </p:nvSpPr>
        <p:spPr>
          <a:xfrm>
            <a:off x="914372" y="6424982"/>
            <a:ext cx="1958082" cy="9525"/>
          </a:xfrm>
          <a:prstGeom prst="rect">
            <a:avLst/>
          </a:prstGeom>
          <a:solidFill>
            <a:srgbClr val="1A1A26">
              <a:alpha val="8000"/>
            </a:srgbClr>
          </a:solidFill>
          <a:ln/>
        </p:spPr>
        <p:txBody>
          <a:bodyPr/>
          <a:lstStyle/>
          <a:p>
            <a:endParaRPr lang="en-US"/>
          </a:p>
        </p:txBody>
      </p:sp>
      <p:sp>
        <p:nvSpPr>
          <p:cNvPr id="43" name="Text 40"/>
          <p:cNvSpPr/>
          <p:nvPr/>
        </p:nvSpPr>
        <p:spPr>
          <a:xfrm>
            <a:off x="914372" y="5514720"/>
            <a:ext cx="1919982"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Family Floater Health</a:t>
            </a:r>
            <a:endParaRPr lang="en-US" sz="2100" dirty="0"/>
          </a:p>
        </p:txBody>
      </p:sp>
      <p:sp>
        <p:nvSpPr>
          <p:cNvPr id="44" name="Shape 41"/>
          <p:cNvSpPr/>
          <p:nvPr/>
        </p:nvSpPr>
        <p:spPr>
          <a:xfrm>
            <a:off x="2872454" y="6424982"/>
            <a:ext cx="1155119" cy="9525"/>
          </a:xfrm>
          <a:prstGeom prst="rect">
            <a:avLst/>
          </a:prstGeom>
          <a:solidFill>
            <a:srgbClr val="1A1A26">
              <a:alpha val="8000"/>
            </a:srgbClr>
          </a:solidFill>
          <a:ln/>
        </p:spPr>
        <p:txBody>
          <a:bodyPr/>
          <a:lstStyle/>
          <a:p>
            <a:endParaRPr lang="en-US"/>
          </a:p>
        </p:txBody>
      </p:sp>
      <p:sp>
        <p:nvSpPr>
          <p:cNvPr id="45" name="Text 42"/>
          <p:cNvSpPr/>
          <p:nvPr/>
        </p:nvSpPr>
        <p:spPr>
          <a:xfrm>
            <a:off x="2872454" y="5514720"/>
            <a:ext cx="1117019"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Aug 2018</a:t>
            </a:r>
            <a:endParaRPr lang="en-US" sz="2100" dirty="0"/>
          </a:p>
        </p:txBody>
      </p:sp>
      <p:sp>
        <p:nvSpPr>
          <p:cNvPr id="46" name="Shape 43"/>
          <p:cNvSpPr/>
          <p:nvPr/>
        </p:nvSpPr>
        <p:spPr>
          <a:xfrm>
            <a:off x="4027573" y="6424982"/>
            <a:ext cx="1580130" cy="9525"/>
          </a:xfrm>
          <a:prstGeom prst="rect">
            <a:avLst/>
          </a:prstGeom>
          <a:solidFill>
            <a:srgbClr val="1A1A26">
              <a:alpha val="8000"/>
            </a:srgbClr>
          </a:solidFill>
          <a:ln/>
        </p:spPr>
        <p:txBody>
          <a:bodyPr/>
          <a:lstStyle/>
          <a:p>
            <a:endParaRPr lang="en-US"/>
          </a:p>
        </p:txBody>
      </p:sp>
      <p:sp>
        <p:nvSpPr>
          <p:cNvPr id="47" name="Text 44"/>
          <p:cNvSpPr/>
          <p:nvPr/>
        </p:nvSpPr>
        <p:spPr>
          <a:xfrm>
            <a:off x="4027573" y="5514720"/>
            <a:ext cx="1542030"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₹38,500</a:t>
            </a:r>
            <a:endParaRPr lang="en-US" sz="2100" dirty="0"/>
          </a:p>
        </p:txBody>
      </p:sp>
      <p:sp>
        <p:nvSpPr>
          <p:cNvPr id="48" name="Shape 45"/>
          <p:cNvSpPr/>
          <p:nvPr/>
        </p:nvSpPr>
        <p:spPr>
          <a:xfrm>
            <a:off x="5607702" y="6424982"/>
            <a:ext cx="1932711" cy="9525"/>
          </a:xfrm>
          <a:prstGeom prst="rect">
            <a:avLst/>
          </a:prstGeom>
          <a:solidFill>
            <a:srgbClr val="1A1A26">
              <a:alpha val="8000"/>
            </a:srgbClr>
          </a:solidFill>
          <a:ln/>
        </p:spPr>
        <p:txBody>
          <a:bodyPr/>
          <a:lstStyle/>
          <a:p>
            <a:endParaRPr lang="en-US"/>
          </a:p>
        </p:txBody>
      </p:sp>
      <p:sp>
        <p:nvSpPr>
          <p:cNvPr id="49" name="Text 46"/>
          <p:cNvSpPr/>
          <p:nvPr/>
        </p:nvSpPr>
        <p:spPr>
          <a:xfrm>
            <a:off x="5607702" y="5514720"/>
            <a:ext cx="1894611"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₹10 L, renews annually</a:t>
            </a:r>
            <a:endParaRPr lang="en-US" sz="2100" dirty="0"/>
          </a:p>
        </p:txBody>
      </p:sp>
      <p:sp>
        <p:nvSpPr>
          <p:cNvPr id="50" name="Shape 47"/>
          <p:cNvSpPr/>
          <p:nvPr/>
        </p:nvSpPr>
        <p:spPr>
          <a:xfrm>
            <a:off x="7540413" y="6424982"/>
            <a:ext cx="1551002" cy="9525"/>
          </a:xfrm>
          <a:prstGeom prst="rect">
            <a:avLst/>
          </a:prstGeom>
          <a:solidFill>
            <a:srgbClr val="1A1A26">
              <a:alpha val="8000"/>
            </a:srgbClr>
          </a:solidFill>
          <a:ln/>
        </p:spPr>
        <p:txBody>
          <a:bodyPr/>
          <a:lstStyle/>
          <a:p>
            <a:endParaRPr lang="en-US"/>
          </a:p>
        </p:txBody>
      </p:sp>
      <p:sp>
        <p:nvSpPr>
          <p:cNvPr id="51" name="Text 48"/>
          <p:cNvSpPr/>
          <p:nvPr/>
        </p:nvSpPr>
        <p:spPr>
          <a:xfrm>
            <a:off x="7540413" y="5514720"/>
            <a:ext cx="1512902"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a:t>
            </a:r>
            <a:endParaRPr lang="en-US" sz="2100" dirty="0"/>
          </a:p>
        </p:txBody>
      </p:sp>
      <p:sp>
        <p:nvSpPr>
          <p:cNvPr id="52" name="Shape 49"/>
          <p:cNvSpPr/>
          <p:nvPr/>
        </p:nvSpPr>
        <p:spPr>
          <a:xfrm>
            <a:off x="9091415" y="6424982"/>
            <a:ext cx="3748343" cy="9525"/>
          </a:xfrm>
          <a:prstGeom prst="rect">
            <a:avLst/>
          </a:prstGeom>
          <a:solidFill>
            <a:srgbClr val="1A1A26">
              <a:alpha val="8000"/>
            </a:srgbClr>
          </a:solidFill>
          <a:ln/>
        </p:spPr>
        <p:txBody>
          <a:bodyPr/>
          <a:lstStyle/>
          <a:p>
            <a:endParaRPr lang="en-US"/>
          </a:p>
        </p:txBody>
      </p:sp>
      <p:sp>
        <p:nvSpPr>
          <p:cNvPr id="53" name="Text 50"/>
          <p:cNvSpPr/>
          <p:nvPr/>
        </p:nvSpPr>
        <p:spPr>
          <a:xfrm>
            <a:off x="9091415" y="5514720"/>
            <a:ext cx="3860793"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Add a ₹25 L super top-up this year</a:t>
            </a:r>
            <a:endParaRPr lang="en-US" sz="2100" dirty="0"/>
          </a:p>
        </p:txBody>
      </p:sp>
      <p:sp>
        <p:nvSpPr>
          <p:cNvPr id="54" name="Shape 51"/>
          <p:cNvSpPr/>
          <p:nvPr/>
        </p:nvSpPr>
        <p:spPr>
          <a:xfrm>
            <a:off x="914372" y="7487189"/>
            <a:ext cx="1958082" cy="9525"/>
          </a:xfrm>
          <a:prstGeom prst="rect">
            <a:avLst/>
          </a:prstGeom>
          <a:solidFill>
            <a:srgbClr val="1A1A26">
              <a:alpha val="8000"/>
            </a:srgbClr>
          </a:solidFill>
          <a:ln/>
        </p:spPr>
        <p:txBody>
          <a:bodyPr/>
          <a:lstStyle/>
          <a:p>
            <a:endParaRPr lang="en-US"/>
          </a:p>
        </p:txBody>
      </p:sp>
      <p:sp>
        <p:nvSpPr>
          <p:cNvPr id="55" name="Text 52"/>
          <p:cNvSpPr/>
          <p:nvPr/>
        </p:nvSpPr>
        <p:spPr>
          <a:xfrm>
            <a:off x="914372" y="6576928"/>
            <a:ext cx="1919982"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Endowment Policy</a:t>
            </a:r>
            <a:endParaRPr lang="en-US" sz="2100" dirty="0"/>
          </a:p>
        </p:txBody>
      </p:sp>
      <p:sp>
        <p:nvSpPr>
          <p:cNvPr id="56" name="Shape 53"/>
          <p:cNvSpPr/>
          <p:nvPr/>
        </p:nvSpPr>
        <p:spPr>
          <a:xfrm>
            <a:off x="2872454" y="7487189"/>
            <a:ext cx="1155119" cy="9525"/>
          </a:xfrm>
          <a:prstGeom prst="rect">
            <a:avLst/>
          </a:prstGeom>
          <a:solidFill>
            <a:srgbClr val="1A1A26">
              <a:alpha val="8000"/>
            </a:srgbClr>
          </a:solidFill>
          <a:ln/>
        </p:spPr>
        <p:txBody>
          <a:bodyPr/>
          <a:lstStyle/>
          <a:p>
            <a:endParaRPr lang="en-US"/>
          </a:p>
        </p:txBody>
      </p:sp>
      <p:sp>
        <p:nvSpPr>
          <p:cNvPr id="57" name="Text 54"/>
          <p:cNvSpPr/>
          <p:nvPr/>
        </p:nvSpPr>
        <p:spPr>
          <a:xfrm>
            <a:off x="2872454" y="6576928"/>
            <a:ext cx="1117019"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Jan 2012</a:t>
            </a:r>
            <a:endParaRPr lang="en-US" sz="2100" dirty="0"/>
          </a:p>
        </p:txBody>
      </p:sp>
      <p:sp>
        <p:nvSpPr>
          <p:cNvPr id="58" name="Shape 55"/>
          <p:cNvSpPr/>
          <p:nvPr/>
        </p:nvSpPr>
        <p:spPr>
          <a:xfrm>
            <a:off x="4027573" y="7487189"/>
            <a:ext cx="1580130" cy="9525"/>
          </a:xfrm>
          <a:prstGeom prst="rect">
            <a:avLst/>
          </a:prstGeom>
          <a:solidFill>
            <a:srgbClr val="1A1A26">
              <a:alpha val="8000"/>
            </a:srgbClr>
          </a:solidFill>
          <a:ln/>
        </p:spPr>
        <p:txBody>
          <a:bodyPr/>
          <a:lstStyle/>
          <a:p>
            <a:endParaRPr lang="en-US"/>
          </a:p>
        </p:txBody>
      </p:sp>
      <p:sp>
        <p:nvSpPr>
          <p:cNvPr id="59" name="Text 56"/>
          <p:cNvSpPr/>
          <p:nvPr/>
        </p:nvSpPr>
        <p:spPr>
          <a:xfrm>
            <a:off x="4027573" y="6576928"/>
            <a:ext cx="1542030"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₹51,000</a:t>
            </a:r>
            <a:endParaRPr lang="en-US" sz="2100" dirty="0"/>
          </a:p>
        </p:txBody>
      </p:sp>
      <p:sp>
        <p:nvSpPr>
          <p:cNvPr id="60" name="Shape 57"/>
          <p:cNvSpPr/>
          <p:nvPr/>
        </p:nvSpPr>
        <p:spPr>
          <a:xfrm>
            <a:off x="5607702" y="7487189"/>
            <a:ext cx="1932711" cy="9525"/>
          </a:xfrm>
          <a:prstGeom prst="rect">
            <a:avLst/>
          </a:prstGeom>
          <a:solidFill>
            <a:srgbClr val="1A1A26">
              <a:alpha val="8000"/>
            </a:srgbClr>
          </a:solidFill>
          <a:ln/>
        </p:spPr>
        <p:txBody>
          <a:bodyPr/>
          <a:lstStyle/>
          <a:p>
            <a:endParaRPr lang="en-US"/>
          </a:p>
        </p:txBody>
      </p:sp>
      <p:sp>
        <p:nvSpPr>
          <p:cNvPr id="61" name="Text 58"/>
          <p:cNvSpPr/>
          <p:nvPr/>
        </p:nvSpPr>
        <p:spPr>
          <a:xfrm>
            <a:off x="5607702" y="6576928"/>
            <a:ext cx="1894611"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₹9.6 L in 2032</a:t>
            </a:r>
            <a:endParaRPr lang="en-US" sz="2100" dirty="0"/>
          </a:p>
        </p:txBody>
      </p:sp>
      <p:sp>
        <p:nvSpPr>
          <p:cNvPr id="62" name="Shape 59"/>
          <p:cNvSpPr/>
          <p:nvPr/>
        </p:nvSpPr>
        <p:spPr>
          <a:xfrm>
            <a:off x="7540413" y="7487189"/>
            <a:ext cx="1551002" cy="9525"/>
          </a:xfrm>
          <a:prstGeom prst="rect">
            <a:avLst/>
          </a:prstGeom>
          <a:solidFill>
            <a:srgbClr val="1A1A26">
              <a:alpha val="8000"/>
            </a:srgbClr>
          </a:solidFill>
          <a:ln/>
        </p:spPr>
        <p:txBody>
          <a:bodyPr/>
          <a:lstStyle/>
          <a:p>
            <a:endParaRPr lang="en-US"/>
          </a:p>
        </p:txBody>
      </p:sp>
      <p:sp>
        <p:nvSpPr>
          <p:cNvPr id="63" name="Text 60"/>
          <p:cNvSpPr/>
          <p:nvPr/>
        </p:nvSpPr>
        <p:spPr>
          <a:xfrm>
            <a:off x="7540413" y="6576928"/>
            <a:ext cx="1512902"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a:t>
            </a:r>
            <a:endParaRPr lang="en-US" sz="2100" dirty="0"/>
          </a:p>
        </p:txBody>
      </p:sp>
      <p:sp>
        <p:nvSpPr>
          <p:cNvPr id="64" name="Shape 61"/>
          <p:cNvSpPr/>
          <p:nvPr/>
        </p:nvSpPr>
        <p:spPr>
          <a:xfrm>
            <a:off x="9091415" y="7487189"/>
            <a:ext cx="3748343" cy="9525"/>
          </a:xfrm>
          <a:prstGeom prst="rect">
            <a:avLst/>
          </a:prstGeom>
          <a:solidFill>
            <a:srgbClr val="1A1A26">
              <a:alpha val="8000"/>
            </a:srgbClr>
          </a:solidFill>
          <a:ln/>
        </p:spPr>
        <p:txBody>
          <a:bodyPr/>
          <a:lstStyle/>
          <a:p>
            <a:endParaRPr lang="en-US"/>
          </a:p>
        </p:txBody>
      </p:sp>
      <p:sp>
        <p:nvSpPr>
          <p:cNvPr id="65" name="Text 62"/>
          <p:cNvSpPr/>
          <p:nvPr/>
        </p:nvSpPr>
        <p:spPr>
          <a:xfrm>
            <a:off x="9091415" y="6576928"/>
            <a:ext cx="3860793"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Effective return ~4.6%; hold to maturity, do not renew</a:t>
            </a:r>
            <a:endParaRPr lang="en-US" sz="2100" dirty="0"/>
          </a:p>
        </p:txBody>
      </p:sp>
      <p:sp>
        <p:nvSpPr>
          <p:cNvPr id="66" name="Shape 63"/>
          <p:cNvSpPr/>
          <p:nvPr/>
        </p:nvSpPr>
        <p:spPr>
          <a:xfrm>
            <a:off x="914372" y="8549397"/>
            <a:ext cx="1958082" cy="9525"/>
          </a:xfrm>
          <a:prstGeom prst="rect">
            <a:avLst/>
          </a:prstGeom>
          <a:solidFill>
            <a:srgbClr val="1A1A26">
              <a:alpha val="8000"/>
            </a:srgbClr>
          </a:solidFill>
          <a:ln/>
        </p:spPr>
        <p:txBody>
          <a:bodyPr/>
          <a:lstStyle/>
          <a:p>
            <a:endParaRPr lang="en-US"/>
          </a:p>
        </p:txBody>
      </p:sp>
      <p:sp>
        <p:nvSpPr>
          <p:cNvPr id="67" name="Text 64"/>
          <p:cNvSpPr/>
          <p:nvPr/>
        </p:nvSpPr>
        <p:spPr>
          <a:xfrm>
            <a:off x="914372" y="7639135"/>
            <a:ext cx="1919982"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Personal Accident</a:t>
            </a:r>
            <a:endParaRPr lang="en-US" sz="2100" dirty="0"/>
          </a:p>
        </p:txBody>
      </p:sp>
      <p:sp>
        <p:nvSpPr>
          <p:cNvPr id="68" name="Shape 65"/>
          <p:cNvSpPr/>
          <p:nvPr/>
        </p:nvSpPr>
        <p:spPr>
          <a:xfrm>
            <a:off x="2872454" y="8549397"/>
            <a:ext cx="1155119" cy="9525"/>
          </a:xfrm>
          <a:prstGeom prst="rect">
            <a:avLst/>
          </a:prstGeom>
          <a:solidFill>
            <a:srgbClr val="1A1A26">
              <a:alpha val="8000"/>
            </a:srgbClr>
          </a:solidFill>
          <a:ln/>
        </p:spPr>
        <p:txBody>
          <a:bodyPr/>
          <a:lstStyle/>
          <a:p>
            <a:endParaRPr lang="en-US"/>
          </a:p>
        </p:txBody>
      </p:sp>
      <p:sp>
        <p:nvSpPr>
          <p:cNvPr id="69" name="Text 66"/>
          <p:cNvSpPr/>
          <p:nvPr/>
        </p:nvSpPr>
        <p:spPr>
          <a:xfrm>
            <a:off x="2872454" y="7639135"/>
            <a:ext cx="1117019"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Nov 2022</a:t>
            </a:r>
            <a:endParaRPr lang="en-US" sz="2100" dirty="0"/>
          </a:p>
        </p:txBody>
      </p:sp>
      <p:sp>
        <p:nvSpPr>
          <p:cNvPr id="70" name="Shape 67"/>
          <p:cNvSpPr/>
          <p:nvPr/>
        </p:nvSpPr>
        <p:spPr>
          <a:xfrm>
            <a:off x="4027573" y="8549397"/>
            <a:ext cx="1580130" cy="9525"/>
          </a:xfrm>
          <a:prstGeom prst="rect">
            <a:avLst/>
          </a:prstGeom>
          <a:solidFill>
            <a:srgbClr val="1A1A26">
              <a:alpha val="8000"/>
            </a:srgbClr>
          </a:solidFill>
          <a:ln/>
        </p:spPr>
        <p:txBody>
          <a:bodyPr/>
          <a:lstStyle/>
          <a:p>
            <a:endParaRPr lang="en-US"/>
          </a:p>
        </p:txBody>
      </p:sp>
      <p:sp>
        <p:nvSpPr>
          <p:cNvPr id="71" name="Text 68"/>
          <p:cNvSpPr/>
          <p:nvPr/>
        </p:nvSpPr>
        <p:spPr>
          <a:xfrm>
            <a:off x="4027573" y="7639135"/>
            <a:ext cx="1542030"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₹6,400</a:t>
            </a:r>
            <a:endParaRPr lang="en-US" sz="2100" dirty="0"/>
          </a:p>
        </p:txBody>
      </p:sp>
      <p:sp>
        <p:nvSpPr>
          <p:cNvPr id="72" name="Shape 69"/>
          <p:cNvSpPr/>
          <p:nvPr/>
        </p:nvSpPr>
        <p:spPr>
          <a:xfrm>
            <a:off x="5607702" y="8549397"/>
            <a:ext cx="1932711" cy="9525"/>
          </a:xfrm>
          <a:prstGeom prst="rect">
            <a:avLst/>
          </a:prstGeom>
          <a:solidFill>
            <a:srgbClr val="1A1A26">
              <a:alpha val="8000"/>
            </a:srgbClr>
          </a:solidFill>
          <a:ln/>
        </p:spPr>
        <p:txBody>
          <a:bodyPr/>
          <a:lstStyle/>
          <a:p>
            <a:endParaRPr lang="en-US"/>
          </a:p>
        </p:txBody>
      </p:sp>
      <p:sp>
        <p:nvSpPr>
          <p:cNvPr id="73" name="Text 70"/>
          <p:cNvSpPr/>
          <p:nvPr/>
        </p:nvSpPr>
        <p:spPr>
          <a:xfrm>
            <a:off x="5607702" y="7639135"/>
            <a:ext cx="1894611"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₹50 L cover</a:t>
            </a:r>
            <a:endParaRPr lang="en-US" sz="2100" dirty="0"/>
          </a:p>
        </p:txBody>
      </p:sp>
      <p:sp>
        <p:nvSpPr>
          <p:cNvPr id="74" name="Shape 71"/>
          <p:cNvSpPr/>
          <p:nvPr/>
        </p:nvSpPr>
        <p:spPr>
          <a:xfrm>
            <a:off x="7540413" y="8549397"/>
            <a:ext cx="1551002" cy="9525"/>
          </a:xfrm>
          <a:prstGeom prst="rect">
            <a:avLst/>
          </a:prstGeom>
          <a:solidFill>
            <a:srgbClr val="1A1A26">
              <a:alpha val="8000"/>
            </a:srgbClr>
          </a:solidFill>
          <a:ln/>
        </p:spPr>
        <p:txBody>
          <a:bodyPr/>
          <a:lstStyle/>
          <a:p>
            <a:endParaRPr lang="en-US"/>
          </a:p>
        </p:txBody>
      </p:sp>
      <p:sp>
        <p:nvSpPr>
          <p:cNvPr id="75" name="Text 72"/>
          <p:cNvSpPr/>
          <p:nvPr/>
        </p:nvSpPr>
        <p:spPr>
          <a:xfrm>
            <a:off x="7540413" y="7639135"/>
            <a:ext cx="1512902"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a:t>
            </a:r>
            <a:endParaRPr lang="en-US" sz="2100" dirty="0"/>
          </a:p>
        </p:txBody>
      </p:sp>
      <p:sp>
        <p:nvSpPr>
          <p:cNvPr id="76" name="Shape 73"/>
          <p:cNvSpPr/>
          <p:nvPr/>
        </p:nvSpPr>
        <p:spPr>
          <a:xfrm>
            <a:off x="9091415" y="8549397"/>
            <a:ext cx="3748343" cy="9525"/>
          </a:xfrm>
          <a:prstGeom prst="rect">
            <a:avLst/>
          </a:prstGeom>
          <a:solidFill>
            <a:srgbClr val="1A1A26">
              <a:alpha val="8000"/>
            </a:srgbClr>
          </a:solidFill>
          <a:ln/>
        </p:spPr>
        <p:txBody>
          <a:bodyPr/>
          <a:lstStyle/>
          <a:p>
            <a:endParaRPr lang="en-US"/>
          </a:p>
        </p:txBody>
      </p:sp>
      <p:sp>
        <p:nvSpPr>
          <p:cNvPr id="77" name="Text 74"/>
          <p:cNvSpPr/>
          <p:nvPr/>
        </p:nvSpPr>
        <p:spPr>
          <a:xfrm>
            <a:off x="9091415" y="7639135"/>
            <a:ext cx="3860793"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Adequate; no change</a:t>
            </a:r>
            <a:endParaRPr lang="en-US" sz="2100" dirty="0"/>
          </a:p>
        </p:txBody>
      </p:sp>
      <p:sp>
        <p:nvSpPr>
          <p:cNvPr id="78" name="Shape 75"/>
          <p:cNvSpPr/>
          <p:nvPr/>
        </p:nvSpPr>
        <p:spPr>
          <a:xfrm>
            <a:off x="13373129" y="2419945"/>
            <a:ext cx="4000429" cy="6143058"/>
          </a:xfrm>
          <a:prstGeom prst="rect">
            <a:avLst/>
          </a:prstGeom>
          <a:solidFill>
            <a:srgbClr val="E7E7EA"/>
          </a:solidFill>
          <a:ln/>
        </p:spPr>
        <p:txBody>
          <a:bodyPr/>
          <a:lstStyle/>
          <a:p>
            <a:endParaRPr lang="en-US"/>
          </a:p>
        </p:txBody>
      </p:sp>
      <p:pic>
        <p:nvPicPr>
          <p:cNvPr id="79" name="Image 1" descr="preencoded.png"/>
          <p:cNvPicPr>
            <a:picLocks noChangeAspect="1"/>
          </p:cNvPicPr>
          <p:nvPr/>
        </p:nvPicPr>
        <p:blipFill>
          <a:blip r:embed="rId4"/>
          <a:srcRect l="28324" r="28324"/>
          <a:stretch/>
        </p:blipFill>
        <p:spPr>
          <a:xfrm>
            <a:off x="13373129" y="2419945"/>
            <a:ext cx="4000429" cy="6143058"/>
          </a:xfrm>
          <a:prstGeom prst="rect">
            <a:avLst/>
          </a:prstGeom>
        </p:spPr>
      </p:pic>
      <p:sp>
        <p:nvSpPr>
          <p:cNvPr id="80" name="Shape 76"/>
          <p:cNvSpPr/>
          <p:nvPr/>
        </p:nvSpPr>
        <p:spPr>
          <a:xfrm>
            <a:off x="13373129" y="2419945"/>
            <a:ext cx="4000429" cy="6143058"/>
          </a:xfrm>
          <a:prstGeom prst="rect">
            <a:avLst/>
          </a:prstGeom>
          <a:solidFill>
            <a:srgbClr val="26306F">
              <a:alpha val="30000"/>
            </a:srgbClr>
          </a:solidFill>
          <a:ln/>
        </p:spPr>
        <p:txBody>
          <a:bodyPr/>
          <a:lstStyle/>
          <a:p>
            <a:endParaRPr lang="en-US"/>
          </a:p>
        </p:txBody>
      </p:sp>
      <p:sp>
        <p:nvSpPr>
          <p:cNvPr id="81" name="Shape 77"/>
          <p:cNvSpPr/>
          <p:nvPr/>
        </p:nvSpPr>
        <p:spPr>
          <a:xfrm>
            <a:off x="914372" y="8374063"/>
            <a:ext cx="16459187" cy="9525"/>
          </a:xfrm>
          <a:prstGeom prst="rect">
            <a:avLst/>
          </a:prstGeom>
          <a:solidFill>
            <a:srgbClr val="1D1F20">
              <a:alpha val="18000"/>
            </a:srgbClr>
          </a:solidFill>
          <a:ln/>
        </p:spPr>
        <p:txBody>
          <a:bodyPr/>
          <a:lstStyle/>
          <a:p>
            <a:endParaRPr lang="en-US"/>
          </a:p>
        </p:txBody>
      </p:sp>
      <p:sp>
        <p:nvSpPr>
          <p:cNvPr id="82" name="Text 78"/>
          <p:cNvSpPr/>
          <p:nvPr/>
        </p:nvSpPr>
        <p:spPr>
          <a:xfrm>
            <a:off x="914372" y="8611734"/>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83" name="Text 79"/>
          <p:cNvSpPr/>
          <p:nvPr/>
        </p:nvSpPr>
        <p:spPr>
          <a:xfrm>
            <a:off x="3276487" y="8573634"/>
            <a:ext cx="14519984" cy="768492"/>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Annual premium is ₹1.35 lakh, of which ₹51,000 buys very little cover. Life cover is 4.2× annual income against a 10× benchmark, and ₹10 lakh of health cover for four is thin.</a:t>
            </a:r>
            <a:endParaRPr lang="en-US" sz="2100" dirty="0"/>
          </a:p>
        </p:txBody>
      </p:sp>
      <p:sp>
        <p:nvSpPr>
          <p:cNvPr id="84" name="Text 80"/>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85" name="Text 81"/>
          <p:cNvSpPr/>
          <p:nvPr/>
        </p:nvSpPr>
        <p:spPr>
          <a:xfrm>
            <a:off x="16702132" y="9475462"/>
            <a:ext cx="747627"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09 / 32</a:t>
            </a:r>
            <a:endParaRPr lang="en-US" sz="2100" dirty="0"/>
          </a:p>
        </p:txBody>
      </p:sp>
    </p:spTree>
    <p:extLst>
      <p:ext uri="{BB962C8B-B14F-4D97-AF65-F5344CB8AC3E}">
        <p14:creationId xmlns:p14="http://schemas.microsoft.com/office/powerpoint/2010/main" val="2062550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pic>
        <p:nvPicPr>
          <p:cNvPr id="148" name="Graphic 148" descr="Life insurance"/>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70000" y="2819400"/>
            <a:ext cx="533400" cy="533400"/>
          </a:xfrm>
          <a:prstGeom prst="rect">
            <a:avLst/>
          </a:prstGeom>
        </p:spPr>
      </p:pic>
      <p:pic>
        <p:nvPicPr>
          <p:cNvPr id="149" name="Graphic 149" descr="Medical insuranc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8000" y="2819400"/>
            <a:ext cx="533400" cy="533400"/>
          </a:xfrm>
          <a:prstGeom prst="rect">
            <a:avLst/>
          </a:prstGeom>
        </p:spPr>
      </p:pic>
      <p:pic>
        <p:nvPicPr>
          <p:cNvPr id="150" name="Graphic 150" descr="Critical illness cove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446000" y="2819400"/>
            <a:ext cx="533400" cy="533400"/>
          </a:xfrm>
          <a:prstGeom prst="rect">
            <a:avLst/>
          </a:prstGeom>
        </p:spPr>
      </p:pic>
      <p:sp>
        <p:nvSpPr>
          <p:cNvPr id="301" name="Text 301"/>
          <p:cNvSpPr txBox="1"/>
          <p:nvPr/>
        </p:nvSpPr>
        <p:spPr>
          <a:xfrm>
            <a:off x="914400" y="571500"/>
            <a:ext cx="11430000" cy="419100"/>
          </a:xfrm>
          <a:prstGeom prst="rect">
            <a:avLst/>
          </a:prstGeom>
          <a:noFill/>
        </p:spPr>
        <p:txBody>
          <a:bodyPr wrap="square" lIns="7200" tIns="0" rIns="0" bIns="0" anchor="t">
            <a:normAutofit/>
          </a:bodyPr>
          <a:lstStyle/>
          <a:p>
            <a:pPr marL="0" indent="0" algn="l">
              <a:buNone/>
            </a:pPr>
            <a:r>
              <a:rPr lang="en-US" sz="2100" b="1" kern="0" spc="390" dirty="0">
                <a:solidFill>
                  <a:srgbClr val="2A3480"/>
                </a:solidFill>
                <a:latin typeface="Barlow"/>
                <a:cs typeface="Barlow"/>
              </a:rPr>
              <a:t>PROTECTION PLAN · HOW COVER IS CLASSIFIED</a:t>
            </a:r>
          </a:p>
        </p:txBody>
      </p:sp>
      <p:sp>
        <p:nvSpPr>
          <p:cNvPr id="302" name="Text 302"/>
          <p:cNvSpPr txBox="1"/>
          <p:nvPr/>
        </p:nvSpPr>
        <p:spPr>
          <a:xfrm>
            <a:off x="914400" y="1092200"/>
            <a:ext cx="15748000" cy="774700"/>
          </a:xfrm>
          <a:prstGeom prst="rect">
            <a:avLst/>
          </a:prstGeom>
          <a:noFill/>
        </p:spPr>
        <p:txBody>
          <a:bodyPr wrap="square" lIns="7200" tIns="0" rIns="0" bIns="0" anchor="t">
            <a:normAutofit fontScale="92500"/>
          </a:bodyPr>
          <a:lstStyle/>
          <a:p>
            <a:pPr marL="0" indent="0" algn="l">
              <a:lnSpc>
                <a:spcPct val="80000"/>
              </a:lnSpc>
              <a:buNone/>
            </a:pPr>
            <a:r>
              <a:rPr lang="en-US" sz="4000" b="1" kern="0" spc="-80" dirty="0">
                <a:solidFill>
                  <a:srgbClr val="1D1F20"/>
                </a:solidFill>
                <a:latin typeface="Barlow Condensed"/>
                <a:cs typeface="Barlow Condensed"/>
              </a:rPr>
              <a:t>Protection does three separate jobs — replace income, pay hospital bills, absorb a health shock</a:t>
            </a:r>
          </a:p>
        </p:txBody>
      </p:sp>
      <p:sp>
        <p:nvSpPr>
          <p:cNvPr id="303" name="Shape 3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304" name="Shape 304"/>
          <p:cNvSpPr/>
          <p:nvPr/>
        </p:nvSpPr>
        <p:spPr>
          <a:xfrm>
            <a:off x="914400" y="2413000"/>
            <a:ext cx="5283200" cy="4775200"/>
          </a:xfrm>
          <a:prstGeom prst="rect">
            <a:avLst/>
          </a:prstGeom>
          <a:noFill/>
          <a:ln w="9525">
            <a:solidFill>
              <a:srgbClr val="1D1F20">
                <a:alpha val="22000"/>
              </a:srgbClr>
            </a:solidFill>
          </a:ln>
        </p:spPr>
        <p:txBody>
          <a:bodyPr/>
          <a:lstStyle/>
          <a:p>
            <a:endParaRPr/>
          </a:p>
        </p:txBody>
      </p:sp>
      <p:sp>
        <p:nvSpPr>
          <p:cNvPr id="305" name="Shape 305"/>
          <p:cNvSpPr/>
          <p:nvPr/>
        </p:nvSpPr>
        <p:spPr>
          <a:xfrm>
            <a:off x="914400" y="2413000"/>
            <a:ext cx="5283200" cy="63500"/>
          </a:xfrm>
          <a:prstGeom prst="rect">
            <a:avLst/>
          </a:prstGeom>
          <a:solidFill>
            <a:srgbClr val="26306F"/>
          </a:solidFill>
          <a:ln>
            <a:noFill/>
          </a:ln>
        </p:spPr>
        <p:txBody>
          <a:bodyPr/>
          <a:lstStyle/>
          <a:p>
            <a:endParaRPr/>
          </a:p>
        </p:txBody>
      </p:sp>
      <p:sp>
        <p:nvSpPr>
          <p:cNvPr id="306" name="Text 306"/>
          <p:cNvSpPr txBox="1"/>
          <p:nvPr/>
        </p:nvSpPr>
        <p:spPr>
          <a:xfrm>
            <a:off x="2082800" y="2946400"/>
            <a:ext cx="3810000" cy="355600"/>
          </a:xfrm>
          <a:prstGeom prst="rect">
            <a:avLst/>
          </a:prstGeom>
          <a:noFill/>
        </p:spPr>
        <p:txBody>
          <a:bodyPr wrap="square" lIns="7200" tIns="0" rIns="0" bIns="0" anchor="t">
            <a:normAutofit/>
          </a:bodyPr>
          <a:lstStyle/>
          <a:p>
            <a:pPr marL="0" indent="0" algn="l">
              <a:buNone/>
            </a:pPr>
            <a:r>
              <a:rPr lang="en-US" sz="1700" b="1" kern="0" spc="250" dirty="0">
                <a:solidFill>
                  <a:srgbClr val="2A3480"/>
                </a:solidFill>
                <a:latin typeface="Barlow"/>
                <a:cs typeface="Barlow"/>
              </a:rPr>
              <a:t>LIFE INSURANCE</a:t>
            </a:r>
          </a:p>
        </p:txBody>
      </p:sp>
      <p:sp>
        <p:nvSpPr>
          <p:cNvPr id="307" name="Text 307"/>
          <p:cNvSpPr txBox="1"/>
          <p:nvPr/>
        </p:nvSpPr>
        <p:spPr>
          <a:xfrm>
            <a:off x="1270000" y="3657600"/>
            <a:ext cx="4572000" cy="711200"/>
          </a:xfrm>
          <a:prstGeom prst="rect">
            <a:avLst/>
          </a:prstGeom>
          <a:noFill/>
        </p:spPr>
        <p:txBody>
          <a:bodyPr wrap="square" lIns="7200" tIns="0" rIns="0" bIns="0" anchor="t">
            <a:normAutofit/>
          </a:bodyPr>
          <a:lstStyle/>
          <a:p>
            <a:pPr marL="0" indent="0" algn="l">
              <a:lnSpc>
                <a:spcPct val="94000"/>
              </a:lnSpc>
              <a:buNone/>
            </a:pPr>
            <a:r>
              <a:rPr lang="en-US" sz="2200" b="1" kern="0" spc="-20" dirty="0">
                <a:solidFill>
                  <a:srgbClr val="1D1F20"/>
                </a:solidFill>
                <a:latin typeface="Barlow Condensed"/>
                <a:cs typeface="Barlow Condensed"/>
              </a:rPr>
              <a:t>Replaces the income the family would lose</a:t>
            </a:r>
          </a:p>
        </p:txBody>
      </p:sp>
      <p:sp>
        <p:nvSpPr>
          <p:cNvPr id="308" name="Shape 308"/>
          <p:cNvSpPr/>
          <p:nvPr/>
        </p:nvSpPr>
        <p:spPr>
          <a:xfrm>
            <a:off x="1270000" y="4368800"/>
            <a:ext cx="4572000" cy="12700"/>
          </a:xfrm>
          <a:prstGeom prst="rect">
            <a:avLst/>
          </a:prstGeom>
          <a:solidFill>
            <a:srgbClr val="1D1F20">
              <a:alpha val="25000"/>
            </a:srgbClr>
          </a:solidFill>
          <a:ln>
            <a:noFill/>
          </a:ln>
        </p:spPr>
        <p:txBody>
          <a:bodyPr/>
          <a:lstStyle/>
          <a:p>
            <a:endParaRPr/>
          </a:p>
        </p:txBody>
      </p:sp>
      <p:sp>
        <p:nvSpPr>
          <p:cNvPr id="309" name="Text 309"/>
          <p:cNvSpPr txBox="1"/>
          <p:nvPr/>
        </p:nvSpPr>
        <p:spPr>
          <a:xfrm>
            <a:off x="1270000" y="4622800"/>
            <a:ext cx="4572000" cy="3302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Plain cover — Term</a:t>
            </a:r>
          </a:p>
        </p:txBody>
      </p:sp>
      <p:sp>
        <p:nvSpPr>
          <p:cNvPr id="310" name="Text 310"/>
          <p:cNvSpPr txBox="1"/>
          <p:nvPr/>
        </p:nvSpPr>
        <p:spPr>
          <a:xfrm>
            <a:off x="1270000" y="4953000"/>
            <a:ext cx="4572000" cy="558800"/>
          </a:xfrm>
          <a:prstGeom prst="rect">
            <a:avLst/>
          </a:prstGeom>
          <a:noFill/>
        </p:spPr>
        <p:txBody>
          <a:bodyPr wrap="square" lIns="7200" tIns="0" rIns="0" bIns="0" anchor="t">
            <a:normAutofit/>
          </a:bodyPr>
          <a:lstStyle/>
          <a:p>
            <a:pPr marL="0" indent="0" algn="l">
              <a:lnSpc>
                <a:spcPct val="120000"/>
              </a:lnSpc>
              <a:buNone/>
            </a:pPr>
            <a:r>
              <a:rPr lang="en-US" sz="1600" b="0" kern="0" dirty="0">
                <a:solidFill>
                  <a:srgbClr val="2F7D3A">
                    <a:alpha val="100000"/>
                  </a:srgbClr>
                </a:solidFill>
                <a:latin typeface="Barlow"/>
                <a:cs typeface="Barlow"/>
              </a:rPr>
              <a:t>₹1.5 Cr on Rohan and ₹75 L on Aditi, both in force.</a:t>
            </a:r>
          </a:p>
        </p:txBody>
      </p:sp>
      <p:sp>
        <p:nvSpPr>
          <p:cNvPr id="311" name="Text 311"/>
          <p:cNvSpPr txBox="1"/>
          <p:nvPr/>
        </p:nvSpPr>
        <p:spPr>
          <a:xfrm>
            <a:off x="1270000" y="5486400"/>
            <a:ext cx="4572000" cy="3302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Equity linked — ULIP</a:t>
            </a:r>
          </a:p>
        </p:txBody>
      </p:sp>
      <p:sp>
        <p:nvSpPr>
          <p:cNvPr id="312" name="Text 312"/>
          <p:cNvSpPr txBox="1"/>
          <p:nvPr/>
        </p:nvSpPr>
        <p:spPr>
          <a:xfrm>
            <a:off x="1270000" y="5816600"/>
            <a:ext cx="4572000" cy="558800"/>
          </a:xfrm>
          <a:prstGeom prst="rect">
            <a:avLst/>
          </a:prstGeom>
          <a:noFill/>
        </p:spPr>
        <p:txBody>
          <a:bodyPr wrap="square" lIns="7200" tIns="0" rIns="0" bIns="0" anchor="t">
            <a:normAutofit/>
          </a:bodyPr>
          <a:lstStyle/>
          <a:p>
            <a:pPr marL="0" indent="0" algn="l">
              <a:lnSpc>
                <a:spcPct val="120000"/>
              </a:lnSpc>
              <a:buNone/>
            </a:pPr>
            <a:r>
              <a:rPr lang="en-US" sz="1600" b="0" kern="0" dirty="0">
                <a:solidFill>
                  <a:srgbClr val="1D1F20">
                    <a:alpha val="78000"/>
                  </a:srgbClr>
                </a:solidFill>
                <a:latin typeface="Barlow"/>
                <a:cs typeface="Barlow"/>
              </a:rPr>
              <a:t>Not held; charges dilute cover and returns alike.</a:t>
            </a:r>
          </a:p>
        </p:txBody>
      </p:sp>
      <p:sp>
        <p:nvSpPr>
          <p:cNvPr id="313" name="Text 313"/>
          <p:cNvSpPr txBox="1"/>
          <p:nvPr/>
        </p:nvSpPr>
        <p:spPr>
          <a:xfrm>
            <a:off x="1270000" y="6350000"/>
            <a:ext cx="4572000" cy="3302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Debt linked — Endowment</a:t>
            </a:r>
          </a:p>
        </p:txBody>
      </p:sp>
      <p:sp>
        <p:nvSpPr>
          <p:cNvPr id="314" name="Text 314"/>
          <p:cNvSpPr txBox="1"/>
          <p:nvPr/>
        </p:nvSpPr>
        <p:spPr>
          <a:xfrm>
            <a:off x="1270000" y="6680200"/>
            <a:ext cx="4572000" cy="558800"/>
          </a:xfrm>
          <a:prstGeom prst="rect">
            <a:avLst/>
          </a:prstGeom>
          <a:noFill/>
        </p:spPr>
        <p:txBody>
          <a:bodyPr wrap="square" lIns="7200" tIns="0" rIns="0" bIns="0" anchor="t">
            <a:normAutofit/>
          </a:bodyPr>
          <a:lstStyle/>
          <a:p>
            <a:pPr marL="0" indent="0" algn="l">
              <a:lnSpc>
                <a:spcPct val="120000"/>
              </a:lnSpc>
              <a:buNone/>
            </a:pPr>
            <a:r>
              <a:rPr lang="en-US" sz="1600" b="0" kern="0" dirty="0">
                <a:solidFill>
                  <a:srgbClr val="8A6216">
                    <a:alpha val="100000"/>
                  </a:srgbClr>
                </a:solidFill>
                <a:latin typeface="Barlow"/>
                <a:cs typeface="Barlow"/>
              </a:rPr>
              <a:t>₹9.6 L maturing 2032, returning about 4.6% a year.</a:t>
            </a:r>
          </a:p>
        </p:txBody>
      </p:sp>
      <p:sp>
        <p:nvSpPr>
          <p:cNvPr id="315" name="Shape 315"/>
          <p:cNvSpPr/>
          <p:nvPr/>
        </p:nvSpPr>
        <p:spPr>
          <a:xfrm>
            <a:off x="6502400" y="2413000"/>
            <a:ext cx="5283200" cy="4775200"/>
          </a:xfrm>
          <a:prstGeom prst="rect">
            <a:avLst/>
          </a:prstGeom>
          <a:noFill/>
          <a:ln w="9525">
            <a:solidFill>
              <a:srgbClr val="1D1F20">
                <a:alpha val="22000"/>
              </a:srgbClr>
            </a:solidFill>
          </a:ln>
        </p:spPr>
        <p:txBody>
          <a:bodyPr/>
          <a:lstStyle/>
          <a:p>
            <a:endParaRPr/>
          </a:p>
        </p:txBody>
      </p:sp>
      <p:sp>
        <p:nvSpPr>
          <p:cNvPr id="316" name="Shape 316"/>
          <p:cNvSpPr/>
          <p:nvPr/>
        </p:nvSpPr>
        <p:spPr>
          <a:xfrm>
            <a:off x="6502400" y="2413000"/>
            <a:ext cx="5283200" cy="63500"/>
          </a:xfrm>
          <a:prstGeom prst="rect">
            <a:avLst/>
          </a:prstGeom>
          <a:solidFill>
            <a:srgbClr val="26306F"/>
          </a:solidFill>
          <a:ln>
            <a:noFill/>
          </a:ln>
        </p:spPr>
        <p:txBody>
          <a:bodyPr/>
          <a:lstStyle/>
          <a:p>
            <a:endParaRPr/>
          </a:p>
        </p:txBody>
      </p:sp>
      <p:sp>
        <p:nvSpPr>
          <p:cNvPr id="317" name="Text 317"/>
          <p:cNvSpPr txBox="1"/>
          <p:nvPr/>
        </p:nvSpPr>
        <p:spPr>
          <a:xfrm>
            <a:off x="7670800" y="2946400"/>
            <a:ext cx="3810000" cy="355600"/>
          </a:xfrm>
          <a:prstGeom prst="rect">
            <a:avLst/>
          </a:prstGeom>
          <a:noFill/>
        </p:spPr>
        <p:txBody>
          <a:bodyPr wrap="square" lIns="7200" tIns="0" rIns="0" bIns="0" anchor="t">
            <a:normAutofit/>
          </a:bodyPr>
          <a:lstStyle/>
          <a:p>
            <a:pPr marL="0" indent="0" algn="l">
              <a:buNone/>
            </a:pPr>
            <a:r>
              <a:rPr lang="en-US" sz="1700" b="1" kern="0" spc="250" dirty="0">
                <a:solidFill>
                  <a:srgbClr val="2A3480"/>
                </a:solidFill>
                <a:latin typeface="Barlow"/>
                <a:cs typeface="Barlow"/>
              </a:rPr>
              <a:t>MEDICAL INSURANCE</a:t>
            </a:r>
          </a:p>
        </p:txBody>
      </p:sp>
      <p:sp>
        <p:nvSpPr>
          <p:cNvPr id="318" name="Text 318"/>
          <p:cNvSpPr txBox="1"/>
          <p:nvPr/>
        </p:nvSpPr>
        <p:spPr>
          <a:xfrm>
            <a:off x="6858000" y="3657600"/>
            <a:ext cx="4572000" cy="711200"/>
          </a:xfrm>
          <a:prstGeom prst="rect">
            <a:avLst/>
          </a:prstGeom>
          <a:noFill/>
        </p:spPr>
        <p:txBody>
          <a:bodyPr wrap="square" lIns="7200" tIns="0" rIns="0" bIns="0" anchor="t">
            <a:normAutofit/>
          </a:bodyPr>
          <a:lstStyle/>
          <a:p>
            <a:pPr marL="0" indent="0" algn="l">
              <a:lnSpc>
                <a:spcPct val="94000"/>
              </a:lnSpc>
              <a:buNone/>
            </a:pPr>
            <a:r>
              <a:rPr lang="en-US" sz="2200" b="1" kern="0" spc="-20" dirty="0">
                <a:solidFill>
                  <a:srgbClr val="1D1F20"/>
                </a:solidFill>
                <a:latin typeface="Barlow Condensed"/>
                <a:cs typeface="Barlow Condensed"/>
              </a:rPr>
              <a:t>Keeps a hospital bill away from your savings</a:t>
            </a:r>
          </a:p>
        </p:txBody>
      </p:sp>
      <p:sp>
        <p:nvSpPr>
          <p:cNvPr id="319" name="Shape 319"/>
          <p:cNvSpPr/>
          <p:nvPr/>
        </p:nvSpPr>
        <p:spPr>
          <a:xfrm>
            <a:off x="6858000" y="4368800"/>
            <a:ext cx="4572000" cy="12700"/>
          </a:xfrm>
          <a:prstGeom prst="rect">
            <a:avLst/>
          </a:prstGeom>
          <a:solidFill>
            <a:srgbClr val="1D1F20">
              <a:alpha val="25000"/>
            </a:srgbClr>
          </a:solidFill>
          <a:ln>
            <a:noFill/>
          </a:ln>
        </p:spPr>
        <p:txBody>
          <a:bodyPr/>
          <a:lstStyle/>
          <a:p>
            <a:endParaRPr/>
          </a:p>
        </p:txBody>
      </p:sp>
      <p:sp>
        <p:nvSpPr>
          <p:cNvPr id="320" name="Text 320"/>
          <p:cNvSpPr txBox="1"/>
          <p:nvPr/>
        </p:nvSpPr>
        <p:spPr>
          <a:xfrm>
            <a:off x="6858000" y="4622800"/>
            <a:ext cx="4572000" cy="3302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Family floater</a:t>
            </a:r>
          </a:p>
        </p:txBody>
      </p:sp>
      <p:sp>
        <p:nvSpPr>
          <p:cNvPr id="321" name="Text 321"/>
          <p:cNvSpPr txBox="1"/>
          <p:nvPr/>
        </p:nvSpPr>
        <p:spPr>
          <a:xfrm>
            <a:off x="6858000" y="4953000"/>
            <a:ext cx="4572000" cy="558800"/>
          </a:xfrm>
          <a:prstGeom prst="rect">
            <a:avLst/>
          </a:prstGeom>
          <a:noFill/>
        </p:spPr>
        <p:txBody>
          <a:bodyPr wrap="square" lIns="7200" tIns="0" rIns="0" bIns="0" anchor="t">
            <a:normAutofit/>
          </a:bodyPr>
          <a:lstStyle/>
          <a:p>
            <a:pPr marL="0" indent="0" algn="l">
              <a:lnSpc>
                <a:spcPct val="120000"/>
              </a:lnSpc>
              <a:buNone/>
            </a:pPr>
            <a:r>
              <a:rPr lang="en-US" sz="1600" b="0" kern="0" dirty="0">
                <a:solidFill>
                  <a:srgbClr val="2F7D3A">
                    <a:alpha val="100000"/>
                  </a:srgbClr>
                </a:solidFill>
                <a:latin typeface="Barlow"/>
                <a:cs typeface="Barlow"/>
              </a:rPr>
              <a:t>₹10 L shared across all four members, in force.</a:t>
            </a:r>
          </a:p>
        </p:txBody>
      </p:sp>
      <p:sp>
        <p:nvSpPr>
          <p:cNvPr id="322" name="Text 322"/>
          <p:cNvSpPr txBox="1"/>
          <p:nvPr/>
        </p:nvSpPr>
        <p:spPr>
          <a:xfrm>
            <a:off x="6858000" y="5842000"/>
            <a:ext cx="4572000" cy="3302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Super top-up</a:t>
            </a:r>
          </a:p>
        </p:txBody>
      </p:sp>
      <p:sp>
        <p:nvSpPr>
          <p:cNvPr id="323" name="Text 323"/>
          <p:cNvSpPr txBox="1"/>
          <p:nvPr/>
        </p:nvSpPr>
        <p:spPr>
          <a:xfrm>
            <a:off x="6858000" y="6172200"/>
            <a:ext cx="4572000" cy="558800"/>
          </a:xfrm>
          <a:prstGeom prst="rect">
            <a:avLst/>
          </a:prstGeom>
          <a:noFill/>
        </p:spPr>
        <p:txBody>
          <a:bodyPr wrap="square" lIns="7200" tIns="0" rIns="0" bIns="0" anchor="t">
            <a:normAutofit/>
          </a:bodyPr>
          <a:lstStyle/>
          <a:p>
            <a:pPr marL="0" indent="0" algn="l">
              <a:lnSpc>
                <a:spcPct val="120000"/>
              </a:lnSpc>
              <a:buNone/>
            </a:pPr>
            <a:r>
              <a:rPr lang="en-US" sz="1600" b="0" kern="0" dirty="0">
                <a:solidFill>
                  <a:srgbClr val="8A6216">
                    <a:alpha val="100000"/>
                  </a:srgbClr>
                </a:solidFill>
                <a:latin typeface="Barlow"/>
                <a:cs typeface="Barlow"/>
              </a:rPr>
              <a:t>Gap. ₹25 L above the ₹10 L limit costs about ₹9,000 a year.</a:t>
            </a:r>
          </a:p>
        </p:txBody>
      </p:sp>
      <p:sp>
        <p:nvSpPr>
          <p:cNvPr id="324" name="Shape 324"/>
          <p:cNvSpPr/>
          <p:nvPr/>
        </p:nvSpPr>
        <p:spPr>
          <a:xfrm>
            <a:off x="12090400" y="2413000"/>
            <a:ext cx="5283200" cy="4775200"/>
          </a:xfrm>
          <a:prstGeom prst="rect">
            <a:avLst/>
          </a:prstGeom>
          <a:noFill/>
          <a:ln w="9525">
            <a:solidFill>
              <a:srgbClr val="1D1F20">
                <a:alpha val="22000"/>
              </a:srgbClr>
            </a:solidFill>
          </a:ln>
        </p:spPr>
        <p:txBody>
          <a:bodyPr/>
          <a:lstStyle/>
          <a:p>
            <a:endParaRPr/>
          </a:p>
        </p:txBody>
      </p:sp>
      <p:sp>
        <p:nvSpPr>
          <p:cNvPr id="325" name="Shape 325"/>
          <p:cNvSpPr/>
          <p:nvPr/>
        </p:nvSpPr>
        <p:spPr>
          <a:xfrm>
            <a:off x="12090400" y="2413000"/>
            <a:ext cx="5283200" cy="63500"/>
          </a:xfrm>
          <a:prstGeom prst="rect">
            <a:avLst/>
          </a:prstGeom>
          <a:solidFill>
            <a:srgbClr val="26306F"/>
          </a:solidFill>
          <a:ln>
            <a:noFill/>
          </a:ln>
        </p:spPr>
        <p:txBody>
          <a:bodyPr/>
          <a:lstStyle/>
          <a:p>
            <a:endParaRPr/>
          </a:p>
        </p:txBody>
      </p:sp>
      <p:sp>
        <p:nvSpPr>
          <p:cNvPr id="326" name="Text 326"/>
          <p:cNvSpPr txBox="1"/>
          <p:nvPr/>
        </p:nvSpPr>
        <p:spPr>
          <a:xfrm>
            <a:off x="13258800" y="2946400"/>
            <a:ext cx="3810000" cy="355600"/>
          </a:xfrm>
          <a:prstGeom prst="rect">
            <a:avLst/>
          </a:prstGeom>
          <a:noFill/>
        </p:spPr>
        <p:txBody>
          <a:bodyPr wrap="square" lIns="7200" tIns="0" rIns="0" bIns="0" anchor="t">
            <a:normAutofit/>
          </a:bodyPr>
          <a:lstStyle/>
          <a:p>
            <a:pPr marL="0" indent="0" algn="l">
              <a:buNone/>
            </a:pPr>
            <a:r>
              <a:rPr lang="en-US" sz="1700" b="1" kern="0" spc="250" dirty="0">
                <a:solidFill>
                  <a:srgbClr val="2A3480"/>
                </a:solidFill>
                <a:latin typeface="Barlow"/>
                <a:cs typeface="Barlow"/>
              </a:rPr>
              <a:t>CRITICAL ILLNESS &amp; RIDERS</a:t>
            </a:r>
          </a:p>
        </p:txBody>
      </p:sp>
      <p:sp>
        <p:nvSpPr>
          <p:cNvPr id="327" name="Text 327"/>
          <p:cNvSpPr txBox="1"/>
          <p:nvPr/>
        </p:nvSpPr>
        <p:spPr>
          <a:xfrm>
            <a:off x="12446000" y="3657600"/>
            <a:ext cx="4572000" cy="711200"/>
          </a:xfrm>
          <a:prstGeom prst="rect">
            <a:avLst/>
          </a:prstGeom>
          <a:noFill/>
        </p:spPr>
        <p:txBody>
          <a:bodyPr wrap="square" lIns="7200" tIns="0" rIns="0" bIns="0" anchor="t">
            <a:normAutofit/>
          </a:bodyPr>
          <a:lstStyle/>
          <a:p>
            <a:pPr marL="0" indent="0" algn="l">
              <a:lnSpc>
                <a:spcPct val="94000"/>
              </a:lnSpc>
              <a:buNone/>
            </a:pPr>
            <a:r>
              <a:rPr lang="en-US" sz="2200" b="1" kern="0" spc="-20" dirty="0">
                <a:solidFill>
                  <a:srgbClr val="1D1F20"/>
                </a:solidFill>
                <a:latin typeface="Barlow Condensed"/>
                <a:cs typeface="Barlow Condensed"/>
              </a:rPr>
              <a:t>Replaces income when illness stops it</a:t>
            </a:r>
          </a:p>
        </p:txBody>
      </p:sp>
      <p:sp>
        <p:nvSpPr>
          <p:cNvPr id="328" name="Shape 328"/>
          <p:cNvSpPr/>
          <p:nvPr/>
        </p:nvSpPr>
        <p:spPr>
          <a:xfrm>
            <a:off x="12446000" y="4368800"/>
            <a:ext cx="4572000" cy="12700"/>
          </a:xfrm>
          <a:prstGeom prst="rect">
            <a:avLst/>
          </a:prstGeom>
          <a:solidFill>
            <a:srgbClr val="1D1F20">
              <a:alpha val="25000"/>
            </a:srgbClr>
          </a:solidFill>
          <a:ln>
            <a:noFill/>
          </a:ln>
        </p:spPr>
        <p:txBody>
          <a:bodyPr/>
          <a:lstStyle/>
          <a:p>
            <a:endParaRPr/>
          </a:p>
        </p:txBody>
      </p:sp>
      <p:sp>
        <p:nvSpPr>
          <p:cNvPr id="329" name="Text 329"/>
          <p:cNvSpPr txBox="1"/>
          <p:nvPr/>
        </p:nvSpPr>
        <p:spPr>
          <a:xfrm>
            <a:off x="12446000" y="4622800"/>
            <a:ext cx="4572000" cy="3302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Personal accident</a:t>
            </a:r>
          </a:p>
        </p:txBody>
      </p:sp>
      <p:sp>
        <p:nvSpPr>
          <p:cNvPr id="330" name="Text 330"/>
          <p:cNvSpPr txBox="1"/>
          <p:nvPr/>
        </p:nvSpPr>
        <p:spPr>
          <a:xfrm>
            <a:off x="12446000" y="4953000"/>
            <a:ext cx="4572000" cy="558800"/>
          </a:xfrm>
          <a:prstGeom prst="rect">
            <a:avLst/>
          </a:prstGeom>
          <a:noFill/>
        </p:spPr>
        <p:txBody>
          <a:bodyPr wrap="square" lIns="7200" tIns="0" rIns="0" bIns="0" anchor="t">
            <a:normAutofit/>
          </a:bodyPr>
          <a:lstStyle/>
          <a:p>
            <a:pPr marL="0" indent="0" algn="l">
              <a:lnSpc>
                <a:spcPct val="120000"/>
              </a:lnSpc>
              <a:buNone/>
            </a:pPr>
            <a:r>
              <a:rPr lang="en-US" sz="1600" b="0" kern="0" dirty="0">
                <a:solidFill>
                  <a:srgbClr val="2F7D3A">
                    <a:alpha val="100000"/>
                  </a:srgbClr>
                </a:solidFill>
                <a:latin typeface="Barlow"/>
                <a:cs typeface="Barlow"/>
              </a:rPr>
              <a:t>₹50 L on accidental death or disability, in force.</a:t>
            </a:r>
          </a:p>
        </p:txBody>
      </p:sp>
      <p:sp>
        <p:nvSpPr>
          <p:cNvPr id="331" name="Text 331"/>
          <p:cNvSpPr txBox="1"/>
          <p:nvPr/>
        </p:nvSpPr>
        <p:spPr>
          <a:xfrm>
            <a:off x="12446000" y="5486400"/>
            <a:ext cx="4572000" cy="3302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Critical illness</a:t>
            </a:r>
          </a:p>
        </p:txBody>
      </p:sp>
      <p:sp>
        <p:nvSpPr>
          <p:cNvPr id="332" name="Text 332"/>
          <p:cNvSpPr txBox="1"/>
          <p:nvPr/>
        </p:nvSpPr>
        <p:spPr>
          <a:xfrm>
            <a:off x="12446000" y="5816600"/>
            <a:ext cx="4572000" cy="558800"/>
          </a:xfrm>
          <a:prstGeom prst="rect">
            <a:avLst/>
          </a:prstGeom>
          <a:noFill/>
        </p:spPr>
        <p:txBody>
          <a:bodyPr wrap="square" lIns="7200" tIns="0" rIns="0" bIns="0" anchor="t">
            <a:normAutofit/>
          </a:bodyPr>
          <a:lstStyle/>
          <a:p>
            <a:pPr marL="0" indent="0" algn="l">
              <a:lnSpc>
                <a:spcPct val="120000"/>
              </a:lnSpc>
              <a:buNone/>
            </a:pPr>
            <a:r>
              <a:rPr lang="en-US" sz="1600" b="0" kern="0" dirty="0">
                <a:solidFill>
                  <a:srgbClr val="8A6216">
                    <a:alpha val="100000"/>
                  </a:srgbClr>
                </a:solidFill>
                <a:latin typeface="Barlow"/>
                <a:cs typeface="Barlow"/>
              </a:rPr>
              <a:t>Gap. A ₹25 L rider pays a lump sum on diagnosis.</a:t>
            </a:r>
          </a:p>
        </p:txBody>
      </p:sp>
      <p:sp>
        <p:nvSpPr>
          <p:cNvPr id="333" name="Text 333"/>
          <p:cNvSpPr txBox="1"/>
          <p:nvPr/>
        </p:nvSpPr>
        <p:spPr>
          <a:xfrm>
            <a:off x="12446000" y="6350000"/>
            <a:ext cx="4572000" cy="3302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Waiver of premium</a:t>
            </a:r>
          </a:p>
        </p:txBody>
      </p:sp>
      <p:sp>
        <p:nvSpPr>
          <p:cNvPr id="334" name="Text 334"/>
          <p:cNvSpPr txBox="1"/>
          <p:nvPr/>
        </p:nvSpPr>
        <p:spPr>
          <a:xfrm>
            <a:off x="12446000" y="6680200"/>
            <a:ext cx="4572000" cy="558800"/>
          </a:xfrm>
          <a:prstGeom prst="rect">
            <a:avLst/>
          </a:prstGeom>
          <a:noFill/>
        </p:spPr>
        <p:txBody>
          <a:bodyPr wrap="square" lIns="7200" tIns="0" rIns="0" bIns="0" anchor="t">
            <a:normAutofit/>
          </a:bodyPr>
          <a:lstStyle/>
          <a:p>
            <a:pPr marL="0" indent="0" algn="l">
              <a:lnSpc>
                <a:spcPct val="120000"/>
              </a:lnSpc>
              <a:buNone/>
            </a:pPr>
            <a:r>
              <a:rPr lang="en-US" sz="1600" b="0" kern="0" dirty="0">
                <a:solidFill>
                  <a:srgbClr val="1D1F20">
                    <a:alpha val="78000"/>
                  </a:srgbClr>
                </a:solidFill>
                <a:latin typeface="Barlow"/>
                <a:cs typeface="Barlow"/>
              </a:rPr>
              <a:t>Add at renewal. Keeps every policy alive if income stops.</a:t>
            </a:r>
          </a:p>
        </p:txBody>
      </p:sp>
      <p:sp>
        <p:nvSpPr>
          <p:cNvPr id="335" name="Shape 335"/>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336" name="Text 336"/>
          <p:cNvSpPr txBox="1"/>
          <p:nvPr/>
        </p:nvSpPr>
        <p:spPr>
          <a:xfrm>
            <a:off x="914400" y="7696200"/>
            <a:ext cx="2159000" cy="393700"/>
          </a:xfrm>
          <a:prstGeom prst="rect">
            <a:avLst/>
          </a:prstGeom>
          <a:noFill/>
        </p:spPr>
        <p:txBody>
          <a:bodyPr wrap="square" lIns="720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337" name="Text 337"/>
          <p:cNvSpPr txBox="1"/>
          <p:nvPr/>
        </p:nvSpPr>
        <p:spPr>
          <a:xfrm>
            <a:off x="3276600" y="7658100"/>
            <a:ext cx="13246100" cy="774700"/>
          </a:xfrm>
          <a:prstGeom prst="rect">
            <a:avLst/>
          </a:prstGeom>
          <a:noFill/>
        </p:spPr>
        <p:txBody>
          <a:bodyPr wrap="square" lIns="7200" tIns="0" rIns="0" bIns="0" anchor="t">
            <a:normAutofit/>
          </a:bodyPr>
          <a:lstStyle/>
          <a:p>
            <a:pPr marL="0" indent="0" algn="l">
              <a:lnSpc>
                <a:spcPct val="118000"/>
              </a:lnSpc>
              <a:buNone/>
            </a:pPr>
            <a:r>
              <a:rPr lang="en-US" sz="2100" b="0" kern="0" dirty="0">
                <a:solidFill>
                  <a:srgbClr val="1D1F20">
                    <a:alpha val="90000"/>
                  </a:srgbClr>
                </a:solidFill>
                <a:latin typeface="Barlow"/>
                <a:cs typeface="Barlow"/>
              </a:rPr>
              <a:t>Mixing cover with investment is what makes protection expensive. Keeping the three jobs separate — term for income, floater and top-up for health, riders for illness — buys far more cover for the same ₹1.35 lakh a year.</a:t>
            </a:r>
          </a:p>
        </p:txBody>
      </p:sp>
      <p:sp>
        <p:nvSpPr>
          <p:cNvPr id="338" name="Text 338"/>
          <p:cNvSpPr txBox="1"/>
          <p:nvPr/>
        </p:nvSpPr>
        <p:spPr>
          <a:xfrm>
            <a:off x="914400" y="9474200"/>
            <a:ext cx="5080000" cy="393700"/>
          </a:xfrm>
          <a:prstGeom prst="rect">
            <a:avLst/>
          </a:prstGeom>
          <a:noFill/>
        </p:spPr>
        <p:txBody>
          <a:bodyPr wrap="square" lIns="720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339" name="Text 339"/>
          <p:cNvSpPr txBox="1"/>
          <p:nvPr/>
        </p:nvSpPr>
        <p:spPr>
          <a:xfrm>
            <a:off x="14833600" y="9474200"/>
            <a:ext cx="2540000" cy="393700"/>
          </a:xfrm>
          <a:prstGeom prst="rect">
            <a:avLst/>
          </a:prstGeom>
          <a:noFill/>
        </p:spPr>
        <p:txBody>
          <a:bodyPr wrap="square" lIns="7200" tIns="0" rIns="0" bIns="0" anchor="t">
            <a:normAutofit/>
          </a:bodyPr>
          <a:lstStyle/>
          <a:p>
            <a:pPr marL="0" indent="0" algn="r">
              <a:buNone/>
            </a:pPr>
            <a:r>
              <a:rPr lang="en-US" sz="1600" b="0" kern="0" dirty="0">
                <a:solidFill>
                  <a:srgbClr val="2A3480"/>
                </a:solidFill>
                <a:latin typeface="Barlow"/>
                <a:cs typeface="Barlow"/>
              </a:rPr>
              <a:t>09 / 14</a:t>
            </a:r>
          </a:p>
        </p:txBody>
      </p:sp>
    </p:spTree>
    <p:extLst>
      <p:ext uri="{BB962C8B-B14F-4D97-AF65-F5344CB8AC3E}">
        <p14:creationId xmlns:p14="http://schemas.microsoft.com/office/powerpoint/2010/main" val="1042201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11430000" cy="419100"/>
          </a:xfrm>
          <a:prstGeom prst="rect">
            <a:avLst/>
          </a:prstGeom>
          <a:noFill/>
        </p:spPr>
        <p:txBody>
          <a:bodyPr wrap="square" lIns="7200" tIns="0" rIns="0" bIns="0" anchor="t">
            <a:normAutofit/>
          </a:bodyPr>
          <a:lstStyle/>
          <a:p>
            <a:pPr marL="0" indent="0" algn="l">
              <a:buNone/>
            </a:pPr>
            <a:r>
              <a:rPr lang="en-US" sz="2100" b="1" kern="0" spc="390" dirty="0">
                <a:solidFill>
                  <a:srgbClr val="2A3480"/>
                </a:solidFill>
                <a:latin typeface="Barlow"/>
                <a:cs typeface="Barlow"/>
              </a:rPr>
              <a:t>PROTECTION PLAN · THE COVER GAP</a:t>
            </a:r>
          </a:p>
        </p:txBody>
      </p:sp>
      <p:sp>
        <p:nvSpPr>
          <p:cNvPr id="102" name="Text 102"/>
          <p:cNvSpPr txBox="1"/>
          <p:nvPr/>
        </p:nvSpPr>
        <p:spPr>
          <a:xfrm>
            <a:off x="914400" y="1092200"/>
            <a:ext cx="15748000" cy="774700"/>
          </a:xfrm>
          <a:prstGeom prst="rect">
            <a:avLst/>
          </a:prstGeom>
          <a:noFill/>
        </p:spPr>
        <p:txBody>
          <a:bodyPr wrap="square" lIns="7200" tIns="0" rIns="0" bIns="0" anchor="t">
            <a:normAutofit/>
          </a:bodyPr>
          <a:lstStyle/>
          <a:p>
            <a:pPr marL="0" indent="0" algn="l">
              <a:lnSpc>
                <a:spcPct val="80000"/>
              </a:lnSpc>
              <a:buNone/>
            </a:pPr>
            <a:r>
              <a:rPr lang="en-US" sz="4400" b="1" kern="0" spc="-80" dirty="0">
                <a:solidFill>
                  <a:srgbClr val="1D1F20"/>
                </a:solidFill>
                <a:latin typeface="Barlow Condensed"/>
                <a:cs typeface="Barlow Condensed"/>
              </a:rPr>
              <a:t>Life cover stands at 4.2 times income, against the ten times this family needs</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Text 104"/>
          <p:cNvSpPr txBox="1"/>
          <p:nvPr/>
        </p:nvSpPr>
        <p:spPr>
          <a:xfrm>
            <a:off x="914400" y="2489200"/>
            <a:ext cx="8890000" cy="381000"/>
          </a:xfrm>
          <a:prstGeom prst="rect">
            <a:avLst/>
          </a:prstGeom>
          <a:noFill/>
        </p:spPr>
        <p:txBody>
          <a:bodyPr wrap="square" lIns="7200" tIns="0" rIns="0" bIns="0" anchor="t">
            <a:normAutofit/>
          </a:bodyPr>
          <a:lstStyle/>
          <a:p>
            <a:pPr marL="0" indent="0" algn="l">
              <a:buNone/>
            </a:pPr>
            <a:r>
              <a:rPr lang="en-US" sz="1800" b="0" kern="0" dirty="0">
                <a:solidFill>
                  <a:srgbClr val="1D1F20">
                    <a:alpha val="80000"/>
                  </a:srgbClr>
                </a:solidFill>
                <a:latin typeface="Barlow"/>
                <a:cs typeface="Barlow"/>
              </a:rPr>
              <a:t>Life cover in force against the recommended level, ₹ crore</a:t>
            </a:r>
          </a:p>
        </p:txBody>
      </p:sp>
      <p:sp>
        <p:nvSpPr>
          <p:cNvPr id="105" name="Shape 105"/>
          <p:cNvSpPr/>
          <p:nvPr/>
        </p:nvSpPr>
        <p:spPr>
          <a:xfrm>
            <a:off x="10363200" y="2489200"/>
            <a:ext cx="7010400" cy="4622800"/>
          </a:xfrm>
          <a:prstGeom prst="rect">
            <a:avLst/>
          </a:prstGeom>
          <a:noFill/>
          <a:ln w="9525">
            <a:solidFill>
              <a:srgbClr val="1D1F20">
                <a:alpha val="22000"/>
              </a:srgbClr>
            </a:solidFill>
          </a:ln>
        </p:spPr>
        <p:txBody>
          <a:bodyPr/>
          <a:lstStyle/>
          <a:p>
            <a:endParaRPr/>
          </a:p>
        </p:txBody>
      </p:sp>
      <p:sp>
        <p:nvSpPr>
          <p:cNvPr id="106" name="Shape 106"/>
          <p:cNvSpPr/>
          <p:nvPr/>
        </p:nvSpPr>
        <p:spPr>
          <a:xfrm>
            <a:off x="10363200" y="2489200"/>
            <a:ext cx="7010400" cy="63500"/>
          </a:xfrm>
          <a:prstGeom prst="rect">
            <a:avLst/>
          </a:prstGeom>
          <a:solidFill>
            <a:srgbClr val="26306F"/>
          </a:solidFill>
          <a:ln>
            <a:noFill/>
          </a:ln>
        </p:spPr>
        <p:txBody>
          <a:bodyPr/>
          <a:lstStyle/>
          <a:p>
            <a:endParaRPr/>
          </a:p>
        </p:txBody>
      </p:sp>
      <p:sp>
        <p:nvSpPr>
          <p:cNvPr id="107" name="Text 107"/>
          <p:cNvSpPr txBox="1"/>
          <p:nvPr/>
        </p:nvSpPr>
        <p:spPr>
          <a:xfrm>
            <a:off x="10769600" y="2844800"/>
            <a:ext cx="6096000" cy="406400"/>
          </a:xfrm>
          <a:prstGeom prst="rect">
            <a:avLst/>
          </a:prstGeom>
          <a:noFill/>
        </p:spPr>
        <p:txBody>
          <a:bodyPr wrap="square" lIns="7200" tIns="0" rIns="0" bIns="0" anchor="t">
            <a:normAutofit/>
          </a:bodyPr>
          <a:lstStyle/>
          <a:p>
            <a:pPr marL="0" indent="0" algn="l">
              <a:buNone/>
            </a:pPr>
            <a:r>
              <a:rPr lang="en-US" sz="1700" b="1" kern="0" spc="300" dirty="0">
                <a:solidFill>
                  <a:srgbClr val="2A3480"/>
                </a:solidFill>
                <a:latin typeface="Barlow"/>
                <a:cs typeface="Barlow"/>
              </a:rPr>
              <a:t>WHAT THE GAP MEANS</a:t>
            </a:r>
          </a:p>
        </p:txBody>
      </p:sp>
      <p:sp>
        <p:nvSpPr>
          <p:cNvPr id="108" name="Text 108"/>
          <p:cNvSpPr txBox="1"/>
          <p:nvPr/>
        </p:nvSpPr>
        <p:spPr>
          <a:xfrm>
            <a:off x="10769600" y="3327400"/>
            <a:ext cx="3810000" cy="533400"/>
          </a:xfrm>
          <a:prstGeom prst="rect">
            <a:avLst/>
          </a:prstGeom>
          <a:noFill/>
        </p:spPr>
        <p:txBody>
          <a:bodyPr wrap="square" lIns="7200" tIns="0" rIns="0" bIns="0" anchor="t">
            <a:normAutofit/>
          </a:bodyPr>
          <a:lstStyle/>
          <a:p>
            <a:pPr marL="0" indent="0" algn="l">
              <a:buNone/>
            </a:pPr>
            <a:r>
              <a:rPr lang="en-US" sz="3000" b="1" kern="0" spc="-40" dirty="0">
                <a:solidFill>
                  <a:srgbClr val="2F7D3A"/>
                </a:solidFill>
                <a:latin typeface="Barlow Condensed"/>
                <a:cs typeface="Barlow Condensed"/>
              </a:rPr>
              <a:t>₹3.15 Cr</a:t>
            </a:r>
          </a:p>
        </p:txBody>
      </p:sp>
      <p:sp>
        <p:nvSpPr>
          <p:cNvPr id="109" name="Text 109"/>
          <p:cNvSpPr txBox="1"/>
          <p:nvPr/>
        </p:nvSpPr>
        <p:spPr>
          <a:xfrm>
            <a:off x="10769600" y="3860800"/>
            <a:ext cx="6096000" cy="3556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short of the recommended cover</a:t>
            </a:r>
          </a:p>
        </p:txBody>
      </p:sp>
      <p:sp>
        <p:nvSpPr>
          <p:cNvPr id="110" name="Text 110"/>
          <p:cNvSpPr txBox="1"/>
          <p:nvPr/>
        </p:nvSpPr>
        <p:spPr>
          <a:xfrm>
            <a:off x="10769600" y="4216400"/>
            <a:ext cx="6096000" cy="558800"/>
          </a:xfrm>
          <a:prstGeom prst="rect">
            <a:avLst/>
          </a:prstGeom>
          <a:noFill/>
        </p:spPr>
        <p:txBody>
          <a:bodyPr wrap="square" lIns="7200" tIns="0" rIns="0" bIns="0" anchor="t">
            <a:normAutofit/>
          </a:bodyPr>
          <a:lstStyle/>
          <a:p>
            <a:pPr marL="0" indent="0" algn="l">
              <a:lnSpc>
                <a:spcPct val="118000"/>
              </a:lnSpc>
              <a:buNone/>
            </a:pPr>
            <a:r>
              <a:rPr lang="en-US" sz="1600" b="0" kern="0" dirty="0">
                <a:solidFill>
                  <a:srgbClr val="1D1F20">
                    <a:alpha val="80000"/>
                  </a:srgbClr>
                </a:solidFill>
                <a:latin typeface="Barlow"/>
                <a:cs typeface="Barlow"/>
              </a:rPr>
              <a:t>Enough to fund the family for roughly seventeen years.</a:t>
            </a:r>
          </a:p>
        </p:txBody>
      </p:sp>
      <p:sp>
        <p:nvSpPr>
          <p:cNvPr id="112" name="Text 112"/>
          <p:cNvSpPr txBox="1"/>
          <p:nvPr/>
        </p:nvSpPr>
        <p:spPr>
          <a:xfrm>
            <a:off x="10769600" y="4546600"/>
            <a:ext cx="3810000" cy="533400"/>
          </a:xfrm>
          <a:prstGeom prst="rect">
            <a:avLst/>
          </a:prstGeom>
          <a:noFill/>
        </p:spPr>
        <p:txBody>
          <a:bodyPr wrap="square" lIns="7200" tIns="0" rIns="0" bIns="0" anchor="t">
            <a:normAutofit/>
          </a:bodyPr>
          <a:lstStyle/>
          <a:p>
            <a:pPr marL="0" indent="0" algn="l">
              <a:buNone/>
            </a:pPr>
            <a:r>
              <a:rPr lang="en-US" sz="3000" b="1" kern="0" spc="-40" dirty="0">
                <a:solidFill>
                  <a:srgbClr val="1D1F20"/>
                </a:solidFill>
                <a:latin typeface="Barlow Condensed"/>
                <a:cs typeface="Barlow Condensed"/>
              </a:rPr>
              <a:t>₹44.2 L</a:t>
            </a:r>
          </a:p>
        </p:txBody>
      </p:sp>
      <p:sp>
        <p:nvSpPr>
          <p:cNvPr id="113" name="Text 113"/>
          <p:cNvSpPr txBox="1"/>
          <p:nvPr/>
        </p:nvSpPr>
        <p:spPr>
          <a:xfrm>
            <a:off x="10769600" y="5080000"/>
            <a:ext cx="6096000" cy="3556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of debt the payout clears first</a:t>
            </a:r>
          </a:p>
        </p:txBody>
      </p:sp>
      <p:sp>
        <p:nvSpPr>
          <p:cNvPr id="114" name="Text 114"/>
          <p:cNvSpPr txBox="1"/>
          <p:nvPr/>
        </p:nvSpPr>
        <p:spPr>
          <a:xfrm>
            <a:off x="10769600" y="5435600"/>
            <a:ext cx="6096000" cy="558800"/>
          </a:xfrm>
          <a:prstGeom prst="rect">
            <a:avLst/>
          </a:prstGeom>
          <a:noFill/>
        </p:spPr>
        <p:txBody>
          <a:bodyPr wrap="square" lIns="7200" tIns="0" rIns="0" bIns="0" anchor="t">
            <a:normAutofit/>
          </a:bodyPr>
          <a:lstStyle/>
          <a:p>
            <a:pPr marL="0" indent="0" algn="l">
              <a:lnSpc>
                <a:spcPct val="118000"/>
              </a:lnSpc>
              <a:buNone/>
            </a:pPr>
            <a:r>
              <a:rPr lang="en-US" sz="1600" b="0" kern="0" dirty="0">
                <a:solidFill>
                  <a:srgbClr val="1D1F20">
                    <a:alpha val="80000"/>
                  </a:srgbClr>
                </a:solidFill>
                <a:latin typeface="Barlow"/>
                <a:cs typeface="Barlow"/>
              </a:rPr>
              <a:t>Home and car loans come off the top before anything is left.</a:t>
            </a:r>
          </a:p>
        </p:txBody>
      </p:sp>
      <p:sp>
        <p:nvSpPr>
          <p:cNvPr id="116" name="Text 116"/>
          <p:cNvSpPr txBox="1"/>
          <p:nvPr/>
        </p:nvSpPr>
        <p:spPr>
          <a:xfrm>
            <a:off x="10769600" y="5765800"/>
            <a:ext cx="3810000" cy="533400"/>
          </a:xfrm>
          <a:prstGeom prst="rect">
            <a:avLst/>
          </a:prstGeom>
          <a:noFill/>
        </p:spPr>
        <p:txBody>
          <a:bodyPr wrap="square" lIns="7200" tIns="0" rIns="0" bIns="0" anchor="t">
            <a:normAutofit/>
          </a:bodyPr>
          <a:lstStyle/>
          <a:p>
            <a:pPr marL="0" indent="0" algn="l">
              <a:buNone/>
            </a:pPr>
            <a:r>
              <a:rPr lang="en-US" sz="3000" b="1" kern="0" spc="-40" dirty="0">
                <a:solidFill>
                  <a:srgbClr val="1D1F20"/>
                </a:solidFill>
                <a:latin typeface="Barlow Condensed"/>
                <a:cs typeface="Barlow Condensed"/>
              </a:rPr>
              <a:t>2036</a:t>
            </a:r>
          </a:p>
        </p:txBody>
      </p:sp>
      <p:sp>
        <p:nvSpPr>
          <p:cNvPr id="117" name="Text 117"/>
          <p:cNvSpPr txBox="1"/>
          <p:nvPr/>
        </p:nvSpPr>
        <p:spPr>
          <a:xfrm>
            <a:off x="10769600" y="6299200"/>
            <a:ext cx="6096000" cy="3556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the year cover must reach</a:t>
            </a:r>
          </a:p>
        </p:txBody>
      </p:sp>
      <p:sp>
        <p:nvSpPr>
          <p:cNvPr id="118" name="Text 118"/>
          <p:cNvSpPr txBox="1"/>
          <p:nvPr/>
        </p:nvSpPr>
        <p:spPr>
          <a:xfrm>
            <a:off x="10769600" y="6654800"/>
            <a:ext cx="6096000" cy="558800"/>
          </a:xfrm>
          <a:prstGeom prst="rect">
            <a:avLst/>
          </a:prstGeom>
          <a:noFill/>
        </p:spPr>
        <p:txBody>
          <a:bodyPr wrap="square" lIns="7200" tIns="0" rIns="0" bIns="0" anchor="t">
            <a:normAutofit/>
          </a:bodyPr>
          <a:lstStyle/>
          <a:p>
            <a:pPr marL="0" indent="0" algn="l">
              <a:lnSpc>
                <a:spcPct val="118000"/>
              </a:lnSpc>
              <a:buNone/>
            </a:pPr>
            <a:r>
              <a:rPr lang="en-US" sz="1600" b="0" kern="0" dirty="0">
                <a:solidFill>
                  <a:srgbClr val="1D1F20">
                    <a:alpha val="80000"/>
                  </a:srgbClr>
                </a:solidFill>
                <a:latin typeface="Barlow"/>
                <a:cs typeface="Barlow"/>
              </a:rPr>
              <a:t>Retirement year, when the earned income stops by design.</a:t>
            </a:r>
          </a:p>
        </p:txBody>
      </p:sp>
      <p:sp>
        <p:nvSpPr>
          <p:cNvPr id="119" name="Shape 119"/>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120" name="Text 120"/>
          <p:cNvSpPr txBox="1"/>
          <p:nvPr/>
        </p:nvSpPr>
        <p:spPr>
          <a:xfrm>
            <a:off x="914400" y="7696200"/>
            <a:ext cx="2159000" cy="393700"/>
          </a:xfrm>
          <a:prstGeom prst="rect">
            <a:avLst/>
          </a:prstGeom>
          <a:noFill/>
        </p:spPr>
        <p:txBody>
          <a:bodyPr wrap="square" lIns="720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121" name="Text 121"/>
          <p:cNvSpPr txBox="1"/>
          <p:nvPr/>
        </p:nvSpPr>
        <p:spPr>
          <a:xfrm>
            <a:off x="3276600" y="7658100"/>
            <a:ext cx="13246100" cy="774700"/>
          </a:xfrm>
          <a:prstGeom prst="rect">
            <a:avLst/>
          </a:prstGeom>
          <a:noFill/>
        </p:spPr>
        <p:txBody>
          <a:bodyPr wrap="square" lIns="7200" tIns="0" rIns="0" bIns="0" anchor="t">
            <a:normAutofit/>
          </a:bodyPr>
          <a:lstStyle/>
          <a:p>
            <a:pPr marL="0" indent="0" algn="l">
              <a:lnSpc>
                <a:spcPct val="118000"/>
              </a:lnSpc>
              <a:buNone/>
            </a:pPr>
            <a:r>
              <a:rPr lang="en-US" sz="2100" b="0" kern="0" dirty="0">
                <a:solidFill>
                  <a:srgbClr val="1D1F20">
                    <a:alpha val="90000"/>
                  </a:srgbClr>
                </a:solidFill>
                <a:latin typeface="Barlow"/>
                <a:cs typeface="Barlow"/>
              </a:rPr>
              <a:t>Cover is sized to what the family would have to replace, not to what feels affordable. Ten times income clears the loans, funds both children's education and leaves Aditi an income for the years the salary would have covered.</a:t>
            </a:r>
          </a:p>
        </p:txBody>
      </p:sp>
      <p:sp>
        <p:nvSpPr>
          <p:cNvPr id="122" name="Text 122"/>
          <p:cNvSpPr txBox="1"/>
          <p:nvPr/>
        </p:nvSpPr>
        <p:spPr>
          <a:xfrm>
            <a:off x="914400" y="9474200"/>
            <a:ext cx="5080000" cy="393700"/>
          </a:xfrm>
          <a:prstGeom prst="rect">
            <a:avLst/>
          </a:prstGeom>
          <a:noFill/>
        </p:spPr>
        <p:txBody>
          <a:bodyPr wrap="square" lIns="720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23" name="Text 123"/>
          <p:cNvSpPr txBox="1"/>
          <p:nvPr/>
        </p:nvSpPr>
        <p:spPr>
          <a:xfrm>
            <a:off x="14833600" y="9474200"/>
            <a:ext cx="2540000" cy="393700"/>
          </a:xfrm>
          <a:prstGeom prst="rect">
            <a:avLst/>
          </a:prstGeom>
          <a:noFill/>
        </p:spPr>
        <p:txBody>
          <a:bodyPr wrap="square" lIns="7200" tIns="0" rIns="0" bIns="0" anchor="t">
            <a:normAutofit/>
          </a:bodyPr>
          <a:lstStyle/>
          <a:p>
            <a:pPr marL="0" indent="0" algn="r">
              <a:buNone/>
            </a:pPr>
            <a:r>
              <a:rPr lang="en-US" sz="1600" b="0" kern="0" dirty="0">
                <a:solidFill>
                  <a:srgbClr val="2A3480"/>
                </a:solidFill>
                <a:latin typeface="Barlow"/>
                <a:cs typeface="Barlow"/>
              </a:rPr>
              <a:t>10 / 14</a:t>
            </a:r>
          </a:p>
        </p:txBody>
      </p:sp>
      <p:graphicFrame>
        <p:nvGraphicFramePr>
          <p:cNvPr id="124" name="Chart"/>
          <p:cNvGraphicFramePr/>
          <p:nvPr/>
        </p:nvGraphicFramePr>
        <p:xfrm>
          <a:off x="914400" y="2921000"/>
          <a:ext cx="8763000" cy="447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22846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11430000" cy="419100"/>
          </a:xfrm>
          <a:prstGeom prst="rect">
            <a:avLst/>
          </a:prstGeom>
          <a:noFill/>
        </p:spPr>
        <p:txBody>
          <a:bodyPr wrap="square" lIns="7200" tIns="0" rIns="0" bIns="0" anchor="t">
            <a:normAutofit/>
          </a:bodyPr>
          <a:lstStyle/>
          <a:p>
            <a:pPr marL="0" indent="0" algn="l">
              <a:buNone/>
            </a:pPr>
            <a:r>
              <a:rPr lang="en-US" sz="2100" b="1" kern="0" spc="390" dirty="0">
                <a:solidFill>
                  <a:srgbClr val="2A3480"/>
                </a:solidFill>
                <a:latin typeface="Barlow"/>
                <a:cs typeface="Barlow"/>
              </a:rPr>
              <a:t>PROTECTION PLAN · WHAT WE ARE SUGGESTING</a:t>
            </a:r>
          </a:p>
        </p:txBody>
      </p:sp>
      <p:sp>
        <p:nvSpPr>
          <p:cNvPr id="102" name="Text 102"/>
          <p:cNvSpPr txBox="1"/>
          <p:nvPr/>
        </p:nvSpPr>
        <p:spPr>
          <a:xfrm>
            <a:off x="914400" y="1092200"/>
            <a:ext cx="15748000" cy="774700"/>
          </a:xfrm>
          <a:prstGeom prst="rect">
            <a:avLst/>
          </a:prstGeom>
          <a:noFill/>
        </p:spPr>
        <p:txBody>
          <a:bodyPr wrap="square" lIns="7200" tIns="0" rIns="0" bIns="0" anchor="t">
            <a:normAutofit/>
          </a:bodyPr>
          <a:lstStyle/>
          <a:p>
            <a:pPr marL="0" indent="0" algn="l">
              <a:lnSpc>
                <a:spcPct val="80000"/>
              </a:lnSpc>
              <a:buNone/>
            </a:pPr>
            <a:r>
              <a:rPr lang="en-US" sz="4400" b="1" kern="0" spc="-80" dirty="0">
                <a:solidFill>
                  <a:srgbClr val="1D1F20"/>
                </a:solidFill>
                <a:latin typeface="Barlow Condensed"/>
                <a:cs typeface="Barlow Condensed"/>
              </a:rPr>
              <a:t>The same ₹1.35 lakh premium can buy 2.4 times the cover it buys today</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Shape 104"/>
          <p:cNvSpPr/>
          <p:nvPr/>
        </p:nvSpPr>
        <p:spPr>
          <a:xfrm>
            <a:off x="914400" y="2489200"/>
            <a:ext cx="7721600" cy="4622800"/>
          </a:xfrm>
          <a:prstGeom prst="rect">
            <a:avLst/>
          </a:prstGeom>
          <a:noFill/>
          <a:ln w="9525">
            <a:solidFill>
              <a:srgbClr val="1D1F20">
                <a:alpha val="22000"/>
              </a:srgbClr>
            </a:solidFill>
          </a:ln>
        </p:spPr>
        <p:txBody>
          <a:bodyPr/>
          <a:lstStyle/>
          <a:p>
            <a:endParaRPr/>
          </a:p>
        </p:txBody>
      </p:sp>
      <p:sp>
        <p:nvSpPr>
          <p:cNvPr id="105" name="Shape 105"/>
          <p:cNvSpPr/>
          <p:nvPr/>
        </p:nvSpPr>
        <p:spPr>
          <a:xfrm>
            <a:off x="914400" y="2489200"/>
            <a:ext cx="7721600" cy="63500"/>
          </a:xfrm>
          <a:prstGeom prst="rect">
            <a:avLst/>
          </a:prstGeom>
          <a:solidFill>
            <a:srgbClr val="26306F"/>
          </a:solidFill>
          <a:ln>
            <a:noFill/>
          </a:ln>
        </p:spPr>
        <p:txBody>
          <a:bodyPr/>
          <a:lstStyle/>
          <a:p>
            <a:endParaRPr/>
          </a:p>
        </p:txBody>
      </p:sp>
      <p:sp>
        <p:nvSpPr>
          <p:cNvPr id="106" name="Text 106"/>
          <p:cNvSpPr txBox="1"/>
          <p:nvPr/>
        </p:nvSpPr>
        <p:spPr>
          <a:xfrm>
            <a:off x="1270000" y="2844800"/>
            <a:ext cx="5080000" cy="406400"/>
          </a:xfrm>
          <a:prstGeom prst="rect">
            <a:avLst/>
          </a:prstGeom>
          <a:noFill/>
        </p:spPr>
        <p:txBody>
          <a:bodyPr wrap="square" lIns="7200" tIns="0" rIns="0" bIns="0" anchor="t">
            <a:normAutofit/>
          </a:bodyPr>
          <a:lstStyle/>
          <a:p>
            <a:pPr marL="0" indent="0" algn="l">
              <a:buNone/>
            </a:pPr>
            <a:r>
              <a:rPr lang="en-US" sz="1700" b="1" kern="0" spc="300" dirty="0">
                <a:solidFill>
                  <a:srgbClr val="26306F"/>
                </a:solidFill>
                <a:latin typeface="Barlow"/>
                <a:cs typeface="Barlow"/>
              </a:rPr>
              <a:t>TODAY</a:t>
            </a:r>
          </a:p>
        </p:txBody>
      </p:sp>
      <p:sp>
        <p:nvSpPr>
          <p:cNvPr id="107" name="Text 107"/>
          <p:cNvSpPr txBox="1"/>
          <p:nvPr/>
        </p:nvSpPr>
        <p:spPr>
          <a:xfrm>
            <a:off x="1270000" y="3251200"/>
            <a:ext cx="6858000" cy="406400"/>
          </a:xfrm>
          <a:prstGeom prst="rect">
            <a:avLst/>
          </a:prstGeom>
          <a:noFill/>
        </p:spPr>
        <p:txBody>
          <a:bodyPr wrap="square" lIns="7200" tIns="0" rIns="0" bIns="0" anchor="t">
            <a:normAutofit/>
          </a:bodyPr>
          <a:lstStyle/>
          <a:p>
            <a:pPr marL="0" indent="0" algn="l">
              <a:buNone/>
            </a:pPr>
            <a:r>
              <a:rPr lang="en-US" sz="2100" b="1" kern="0" dirty="0">
                <a:solidFill>
                  <a:srgbClr val="1D1F20"/>
                </a:solidFill>
                <a:latin typeface="Barlow Condensed"/>
                <a:cs typeface="Barlow Condensed"/>
              </a:rPr>
              <a:t>₹1.35 L a year buys 4.2× income</a:t>
            </a:r>
          </a:p>
        </p:txBody>
      </p:sp>
      <p:sp>
        <p:nvSpPr>
          <p:cNvPr id="108" name="Shape 108"/>
          <p:cNvSpPr/>
          <p:nvPr/>
        </p:nvSpPr>
        <p:spPr>
          <a:xfrm>
            <a:off x="1270000" y="3835400"/>
            <a:ext cx="7010400" cy="12700"/>
          </a:xfrm>
          <a:prstGeom prst="rect">
            <a:avLst/>
          </a:prstGeom>
          <a:solidFill>
            <a:srgbClr val="1D1F20">
              <a:alpha val="25000"/>
            </a:srgbClr>
          </a:solidFill>
          <a:ln>
            <a:noFill/>
          </a:ln>
        </p:spPr>
        <p:txBody>
          <a:bodyPr/>
          <a:lstStyle/>
          <a:p>
            <a:endParaRPr/>
          </a:p>
        </p:txBody>
      </p:sp>
      <p:sp>
        <p:nvSpPr>
          <p:cNvPr id="109" name="Text 109"/>
          <p:cNvSpPr txBox="1"/>
          <p:nvPr/>
        </p:nvSpPr>
        <p:spPr>
          <a:xfrm>
            <a:off x="1270000" y="4013200"/>
            <a:ext cx="3302000" cy="355600"/>
          </a:xfrm>
          <a:prstGeom prst="rect">
            <a:avLst/>
          </a:prstGeom>
          <a:noFill/>
        </p:spPr>
        <p:txBody>
          <a:bodyPr wrap="square" lIns="7200" tIns="0" rIns="0" bIns="0" anchor="t">
            <a:normAutofit/>
          </a:bodyPr>
          <a:lstStyle/>
          <a:p>
            <a:pPr marL="0" indent="0" algn="l">
              <a:buNone/>
            </a:pPr>
            <a:r>
              <a:rPr lang="en-US" sz="1800" b="0" kern="0" dirty="0">
                <a:solidFill>
                  <a:srgbClr val="1D1F20">
                    <a:alpha val="88000"/>
                  </a:srgbClr>
                </a:solidFill>
                <a:latin typeface="Barlow"/>
                <a:cs typeface="Barlow"/>
              </a:rPr>
              <a:t>Term cover</a:t>
            </a:r>
          </a:p>
        </p:txBody>
      </p:sp>
      <p:sp>
        <p:nvSpPr>
          <p:cNvPr id="110" name="Text 110"/>
          <p:cNvSpPr txBox="1"/>
          <p:nvPr/>
        </p:nvSpPr>
        <p:spPr>
          <a:xfrm>
            <a:off x="4470400" y="4013200"/>
            <a:ext cx="2413000" cy="355600"/>
          </a:xfrm>
          <a:prstGeom prst="rect">
            <a:avLst/>
          </a:prstGeom>
          <a:noFill/>
        </p:spPr>
        <p:txBody>
          <a:bodyPr wrap="square" lIns="7200" tIns="0" rIns="0" bIns="0" anchor="t">
            <a:normAutofit/>
          </a:bodyPr>
          <a:lstStyle/>
          <a:p>
            <a:pPr marL="0" indent="0" algn="l">
              <a:buNone/>
            </a:pPr>
            <a:r>
              <a:rPr lang="en-US" sz="1800" b="1" kern="0" dirty="0">
                <a:solidFill>
                  <a:srgbClr val="1D1F20"/>
                </a:solidFill>
                <a:latin typeface="Barlow"/>
                <a:cs typeface="Barlow"/>
              </a:rPr>
              <a:t>₹2.25 Cr</a:t>
            </a:r>
          </a:p>
        </p:txBody>
      </p:sp>
      <p:sp>
        <p:nvSpPr>
          <p:cNvPr id="111" name="Text 111"/>
          <p:cNvSpPr txBox="1"/>
          <p:nvPr/>
        </p:nvSpPr>
        <p:spPr>
          <a:xfrm>
            <a:off x="6883400" y="4013200"/>
            <a:ext cx="1397000" cy="355600"/>
          </a:xfrm>
          <a:prstGeom prst="rect">
            <a:avLst/>
          </a:prstGeom>
          <a:noFill/>
        </p:spPr>
        <p:txBody>
          <a:bodyPr wrap="square" lIns="7200" tIns="0" rIns="0" bIns="0" anchor="t">
            <a:normAutofit/>
          </a:bodyPr>
          <a:lstStyle/>
          <a:p>
            <a:pPr marL="0" indent="0" algn="r">
              <a:buNone/>
            </a:pPr>
            <a:r>
              <a:rPr lang="en-US" sz="1800" b="0" kern="0" dirty="0">
                <a:solidFill>
                  <a:srgbClr val="1D1F20">
                    <a:alpha val="70000"/>
                  </a:srgbClr>
                </a:solidFill>
                <a:latin typeface="Barlow"/>
                <a:cs typeface="Barlow"/>
              </a:rPr>
              <a:t>₹39,000</a:t>
            </a:r>
          </a:p>
        </p:txBody>
      </p:sp>
      <p:sp>
        <p:nvSpPr>
          <p:cNvPr id="112" name="Shape 112"/>
          <p:cNvSpPr/>
          <p:nvPr/>
        </p:nvSpPr>
        <p:spPr>
          <a:xfrm>
            <a:off x="1270000" y="4470400"/>
            <a:ext cx="7010400" cy="12700"/>
          </a:xfrm>
          <a:prstGeom prst="rect">
            <a:avLst/>
          </a:prstGeom>
          <a:solidFill>
            <a:srgbClr val="1D1F20">
              <a:alpha val="25000"/>
            </a:srgbClr>
          </a:solidFill>
          <a:ln>
            <a:noFill/>
          </a:ln>
        </p:spPr>
        <p:txBody>
          <a:bodyPr/>
          <a:lstStyle/>
          <a:p>
            <a:endParaRPr/>
          </a:p>
        </p:txBody>
      </p:sp>
      <p:sp>
        <p:nvSpPr>
          <p:cNvPr id="113" name="Text 113"/>
          <p:cNvSpPr txBox="1"/>
          <p:nvPr/>
        </p:nvSpPr>
        <p:spPr>
          <a:xfrm>
            <a:off x="1270000" y="4572000"/>
            <a:ext cx="3302000" cy="355600"/>
          </a:xfrm>
          <a:prstGeom prst="rect">
            <a:avLst/>
          </a:prstGeom>
          <a:noFill/>
        </p:spPr>
        <p:txBody>
          <a:bodyPr wrap="square" lIns="7200" tIns="0" rIns="0" bIns="0" anchor="t">
            <a:normAutofit/>
          </a:bodyPr>
          <a:lstStyle/>
          <a:p>
            <a:pPr marL="0" indent="0" algn="l">
              <a:buNone/>
            </a:pPr>
            <a:r>
              <a:rPr lang="en-US" sz="1800" b="0" kern="0" dirty="0">
                <a:solidFill>
                  <a:srgbClr val="1D1F20">
                    <a:alpha val="88000"/>
                  </a:srgbClr>
                </a:solidFill>
                <a:latin typeface="Barlow"/>
                <a:cs typeface="Barlow"/>
              </a:rPr>
              <a:t>Health floater</a:t>
            </a:r>
          </a:p>
        </p:txBody>
      </p:sp>
      <p:sp>
        <p:nvSpPr>
          <p:cNvPr id="114" name="Text 114"/>
          <p:cNvSpPr txBox="1"/>
          <p:nvPr/>
        </p:nvSpPr>
        <p:spPr>
          <a:xfrm>
            <a:off x="4470400" y="4572000"/>
            <a:ext cx="2413000" cy="355600"/>
          </a:xfrm>
          <a:prstGeom prst="rect">
            <a:avLst/>
          </a:prstGeom>
          <a:noFill/>
        </p:spPr>
        <p:txBody>
          <a:bodyPr wrap="square" lIns="7200" tIns="0" rIns="0" bIns="0" anchor="t">
            <a:normAutofit/>
          </a:bodyPr>
          <a:lstStyle/>
          <a:p>
            <a:pPr marL="0" indent="0" algn="l">
              <a:buNone/>
            </a:pPr>
            <a:r>
              <a:rPr lang="en-US" sz="1800" b="1" kern="0" dirty="0">
                <a:solidFill>
                  <a:srgbClr val="1D1F20"/>
                </a:solidFill>
                <a:latin typeface="Barlow"/>
                <a:cs typeface="Barlow"/>
              </a:rPr>
              <a:t>₹10 L</a:t>
            </a:r>
          </a:p>
        </p:txBody>
      </p:sp>
      <p:sp>
        <p:nvSpPr>
          <p:cNvPr id="115" name="Text 115"/>
          <p:cNvSpPr txBox="1"/>
          <p:nvPr/>
        </p:nvSpPr>
        <p:spPr>
          <a:xfrm>
            <a:off x="6883400" y="4572000"/>
            <a:ext cx="1397000" cy="355600"/>
          </a:xfrm>
          <a:prstGeom prst="rect">
            <a:avLst/>
          </a:prstGeom>
          <a:noFill/>
        </p:spPr>
        <p:txBody>
          <a:bodyPr wrap="square" lIns="7200" tIns="0" rIns="0" bIns="0" anchor="t">
            <a:normAutofit/>
          </a:bodyPr>
          <a:lstStyle/>
          <a:p>
            <a:pPr marL="0" indent="0" algn="r">
              <a:buNone/>
            </a:pPr>
            <a:r>
              <a:rPr lang="en-US" sz="1800" b="0" kern="0" dirty="0">
                <a:solidFill>
                  <a:srgbClr val="1D1F20">
                    <a:alpha val="70000"/>
                  </a:srgbClr>
                </a:solidFill>
                <a:latin typeface="Barlow"/>
                <a:cs typeface="Barlow"/>
              </a:rPr>
              <a:t>₹38,500</a:t>
            </a:r>
          </a:p>
        </p:txBody>
      </p:sp>
      <p:sp>
        <p:nvSpPr>
          <p:cNvPr id="116" name="Shape 116"/>
          <p:cNvSpPr/>
          <p:nvPr/>
        </p:nvSpPr>
        <p:spPr>
          <a:xfrm>
            <a:off x="1270000" y="5029200"/>
            <a:ext cx="7010400" cy="12700"/>
          </a:xfrm>
          <a:prstGeom prst="rect">
            <a:avLst/>
          </a:prstGeom>
          <a:solidFill>
            <a:srgbClr val="1D1F20">
              <a:alpha val="25000"/>
            </a:srgbClr>
          </a:solidFill>
          <a:ln>
            <a:noFill/>
          </a:ln>
        </p:spPr>
        <p:txBody>
          <a:bodyPr/>
          <a:lstStyle/>
          <a:p>
            <a:endParaRPr/>
          </a:p>
        </p:txBody>
      </p:sp>
      <p:sp>
        <p:nvSpPr>
          <p:cNvPr id="117" name="Text 117"/>
          <p:cNvSpPr txBox="1"/>
          <p:nvPr/>
        </p:nvSpPr>
        <p:spPr>
          <a:xfrm>
            <a:off x="1270000" y="5130800"/>
            <a:ext cx="3302000" cy="355600"/>
          </a:xfrm>
          <a:prstGeom prst="rect">
            <a:avLst/>
          </a:prstGeom>
          <a:noFill/>
        </p:spPr>
        <p:txBody>
          <a:bodyPr wrap="square" lIns="7200" tIns="0" rIns="0" bIns="0" anchor="t">
            <a:normAutofit/>
          </a:bodyPr>
          <a:lstStyle/>
          <a:p>
            <a:pPr marL="0" indent="0" algn="l">
              <a:buNone/>
            </a:pPr>
            <a:r>
              <a:rPr lang="en-US" sz="1800" b="0" kern="0" dirty="0">
                <a:solidFill>
                  <a:srgbClr val="1D1F20">
                    <a:alpha val="88000"/>
                  </a:srgbClr>
                </a:solidFill>
                <a:latin typeface="Barlow"/>
                <a:cs typeface="Barlow"/>
              </a:rPr>
              <a:t>Endowment</a:t>
            </a:r>
          </a:p>
        </p:txBody>
      </p:sp>
      <p:sp>
        <p:nvSpPr>
          <p:cNvPr id="118" name="Text 118"/>
          <p:cNvSpPr txBox="1"/>
          <p:nvPr/>
        </p:nvSpPr>
        <p:spPr>
          <a:xfrm>
            <a:off x="4470400" y="5130800"/>
            <a:ext cx="2413000" cy="355600"/>
          </a:xfrm>
          <a:prstGeom prst="rect">
            <a:avLst/>
          </a:prstGeom>
          <a:noFill/>
        </p:spPr>
        <p:txBody>
          <a:bodyPr wrap="square" lIns="7200" tIns="0" rIns="0" bIns="0" anchor="t">
            <a:normAutofit/>
          </a:bodyPr>
          <a:lstStyle/>
          <a:p>
            <a:pPr marL="0" indent="0" algn="l">
              <a:buNone/>
            </a:pPr>
            <a:r>
              <a:rPr lang="en-US" sz="1800" b="1" kern="0" dirty="0">
                <a:solidFill>
                  <a:srgbClr val="1D1F20"/>
                </a:solidFill>
                <a:latin typeface="Barlow"/>
                <a:cs typeface="Barlow"/>
              </a:rPr>
              <a:t>₹9.6 L at 2032</a:t>
            </a:r>
          </a:p>
        </p:txBody>
      </p:sp>
      <p:sp>
        <p:nvSpPr>
          <p:cNvPr id="119" name="Text 119"/>
          <p:cNvSpPr txBox="1"/>
          <p:nvPr/>
        </p:nvSpPr>
        <p:spPr>
          <a:xfrm>
            <a:off x="6883400" y="5130800"/>
            <a:ext cx="1397000" cy="355600"/>
          </a:xfrm>
          <a:prstGeom prst="rect">
            <a:avLst/>
          </a:prstGeom>
          <a:noFill/>
        </p:spPr>
        <p:txBody>
          <a:bodyPr wrap="square" lIns="7200" tIns="0" rIns="0" bIns="0" anchor="t">
            <a:normAutofit/>
          </a:bodyPr>
          <a:lstStyle/>
          <a:p>
            <a:pPr marL="0" indent="0" algn="r">
              <a:buNone/>
            </a:pPr>
            <a:r>
              <a:rPr lang="en-US" sz="1800" b="0" kern="0" dirty="0">
                <a:solidFill>
                  <a:srgbClr val="1D1F20">
                    <a:alpha val="70000"/>
                  </a:srgbClr>
                </a:solidFill>
                <a:latin typeface="Barlow"/>
                <a:cs typeface="Barlow"/>
              </a:rPr>
              <a:t>₹51,000</a:t>
            </a:r>
          </a:p>
        </p:txBody>
      </p:sp>
      <p:sp>
        <p:nvSpPr>
          <p:cNvPr id="120" name="Shape 120"/>
          <p:cNvSpPr/>
          <p:nvPr/>
        </p:nvSpPr>
        <p:spPr>
          <a:xfrm>
            <a:off x="1270000" y="5588000"/>
            <a:ext cx="7010400" cy="12700"/>
          </a:xfrm>
          <a:prstGeom prst="rect">
            <a:avLst/>
          </a:prstGeom>
          <a:solidFill>
            <a:srgbClr val="1D1F20">
              <a:alpha val="25000"/>
            </a:srgbClr>
          </a:solidFill>
          <a:ln>
            <a:noFill/>
          </a:ln>
        </p:spPr>
        <p:txBody>
          <a:bodyPr/>
          <a:lstStyle/>
          <a:p>
            <a:endParaRPr/>
          </a:p>
        </p:txBody>
      </p:sp>
      <p:sp>
        <p:nvSpPr>
          <p:cNvPr id="121" name="Text 121"/>
          <p:cNvSpPr txBox="1"/>
          <p:nvPr/>
        </p:nvSpPr>
        <p:spPr>
          <a:xfrm>
            <a:off x="1270000" y="5689600"/>
            <a:ext cx="3302000" cy="355600"/>
          </a:xfrm>
          <a:prstGeom prst="rect">
            <a:avLst/>
          </a:prstGeom>
          <a:noFill/>
        </p:spPr>
        <p:txBody>
          <a:bodyPr wrap="square" lIns="7200" tIns="0" rIns="0" bIns="0" anchor="t">
            <a:normAutofit/>
          </a:bodyPr>
          <a:lstStyle/>
          <a:p>
            <a:pPr marL="0" indent="0" algn="l">
              <a:buNone/>
            </a:pPr>
            <a:r>
              <a:rPr lang="en-US" sz="1800" b="0" kern="0" dirty="0">
                <a:solidFill>
                  <a:srgbClr val="1D1F20">
                    <a:alpha val="88000"/>
                  </a:srgbClr>
                </a:solidFill>
                <a:latin typeface="Barlow"/>
                <a:cs typeface="Barlow"/>
              </a:rPr>
              <a:t>Personal accident</a:t>
            </a:r>
          </a:p>
        </p:txBody>
      </p:sp>
      <p:sp>
        <p:nvSpPr>
          <p:cNvPr id="122" name="Text 122"/>
          <p:cNvSpPr txBox="1"/>
          <p:nvPr/>
        </p:nvSpPr>
        <p:spPr>
          <a:xfrm>
            <a:off x="4470400" y="5689600"/>
            <a:ext cx="2413000" cy="355600"/>
          </a:xfrm>
          <a:prstGeom prst="rect">
            <a:avLst/>
          </a:prstGeom>
          <a:noFill/>
        </p:spPr>
        <p:txBody>
          <a:bodyPr wrap="square" lIns="7200" tIns="0" rIns="0" bIns="0" anchor="t">
            <a:normAutofit/>
          </a:bodyPr>
          <a:lstStyle/>
          <a:p>
            <a:pPr marL="0" indent="0" algn="l">
              <a:buNone/>
            </a:pPr>
            <a:r>
              <a:rPr lang="en-US" sz="1800" b="1" kern="0" dirty="0">
                <a:solidFill>
                  <a:srgbClr val="1D1F20"/>
                </a:solidFill>
                <a:latin typeface="Barlow"/>
                <a:cs typeface="Barlow"/>
              </a:rPr>
              <a:t>₹50 L</a:t>
            </a:r>
          </a:p>
        </p:txBody>
      </p:sp>
      <p:sp>
        <p:nvSpPr>
          <p:cNvPr id="123" name="Text 123"/>
          <p:cNvSpPr txBox="1"/>
          <p:nvPr/>
        </p:nvSpPr>
        <p:spPr>
          <a:xfrm>
            <a:off x="6883400" y="5689600"/>
            <a:ext cx="1397000" cy="355600"/>
          </a:xfrm>
          <a:prstGeom prst="rect">
            <a:avLst/>
          </a:prstGeom>
          <a:noFill/>
        </p:spPr>
        <p:txBody>
          <a:bodyPr wrap="square" lIns="7200" tIns="0" rIns="0" bIns="0" anchor="t">
            <a:normAutofit/>
          </a:bodyPr>
          <a:lstStyle/>
          <a:p>
            <a:pPr marL="0" indent="0" algn="r">
              <a:buNone/>
            </a:pPr>
            <a:r>
              <a:rPr lang="en-US" sz="1800" b="0" kern="0" dirty="0">
                <a:solidFill>
                  <a:srgbClr val="1D1F20">
                    <a:alpha val="70000"/>
                  </a:srgbClr>
                </a:solidFill>
                <a:latin typeface="Barlow"/>
                <a:cs typeface="Barlow"/>
              </a:rPr>
              <a:t>₹6,400</a:t>
            </a:r>
          </a:p>
        </p:txBody>
      </p:sp>
      <p:sp>
        <p:nvSpPr>
          <p:cNvPr id="124" name="Shape 124"/>
          <p:cNvSpPr/>
          <p:nvPr/>
        </p:nvSpPr>
        <p:spPr>
          <a:xfrm>
            <a:off x="1270000" y="6146800"/>
            <a:ext cx="7010400" cy="12700"/>
          </a:xfrm>
          <a:prstGeom prst="rect">
            <a:avLst/>
          </a:prstGeom>
          <a:solidFill>
            <a:srgbClr val="1D1F20">
              <a:alpha val="25000"/>
            </a:srgbClr>
          </a:solidFill>
          <a:ln>
            <a:noFill/>
          </a:ln>
        </p:spPr>
        <p:txBody>
          <a:bodyPr/>
          <a:lstStyle/>
          <a:p>
            <a:endParaRPr/>
          </a:p>
        </p:txBody>
      </p:sp>
      <p:sp>
        <p:nvSpPr>
          <p:cNvPr id="125" name="Text 125"/>
          <p:cNvSpPr txBox="1"/>
          <p:nvPr/>
        </p:nvSpPr>
        <p:spPr>
          <a:xfrm>
            <a:off x="1270000" y="6375400"/>
            <a:ext cx="3810000" cy="4318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Total premium</a:t>
            </a:r>
          </a:p>
        </p:txBody>
      </p:sp>
      <p:sp>
        <p:nvSpPr>
          <p:cNvPr id="126" name="Text 126"/>
          <p:cNvSpPr txBox="1"/>
          <p:nvPr/>
        </p:nvSpPr>
        <p:spPr>
          <a:xfrm>
            <a:off x="5740400" y="6350000"/>
            <a:ext cx="2540000" cy="457200"/>
          </a:xfrm>
          <a:prstGeom prst="rect">
            <a:avLst/>
          </a:prstGeom>
          <a:noFill/>
        </p:spPr>
        <p:txBody>
          <a:bodyPr wrap="square" lIns="7200" tIns="0" rIns="0" bIns="0" anchor="t">
            <a:normAutofit/>
          </a:bodyPr>
          <a:lstStyle/>
          <a:p>
            <a:pPr marL="0" indent="0" algn="r">
              <a:buNone/>
            </a:pPr>
            <a:r>
              <a:rPr lang="en-US" sz="2200" b="1" kern="0" dirty="0">
                <a:solidFill>
                  <a:srgbClr val="26306F"/>
                </a:solidFill>
                <a:latin typeface="Barlow Condensed"/>
                <a:cs typeface="Barlow Condensed"/>
              </a:rPr>
              <a:t>₹1.35 L a year</a:t>
            </a:r>
          </a:p>
        </p:txBody>
      </p:sp>
      <p:sp>
        <p:nvSpPr>
          <p:cNvPr id="127" name="Shape 127"/>
          <p:cNvSpPr/>
          <p:nvPr/>
        </p:nvSpPr>
        <p:spPr>
          <a:xfrm>
            <a:off x="9652000" y="2489200"/>
            <a:ext cx="7721600" cy="4622800"/>
          </a:xfrm>
          <a:prstGeom prst="rect">
            <a:avLst/>
          </a:prstGeom>
          <a:noFill/>
          <a:ln w="9525">
            <a:solidFill>
              <a:srgbClr val="1D1F20">
                <a:alpha val="22000"/>
              </a:srgbClr>
            </a:solidFill>
          </a:ln>
        </p:spPr>
        <p:txBody>
          <a:bodyPr/>
          <a:lstStyle/>
          <a:p>
            <a:endParaRPr/>
          </a:p>
        </p:txBody>
      </p:sp>
      <p:sp>
        <p:nvSpPr>
          <p:cNvPr id="128" name="Shape 128"/>
          <p:cNvSpPr/>
          <p:nvPr/>
        </p:nvSpPr>
        <p:spPr>
          <a:xfrm>
            <a:off x="9652000" y="2489200"/>
            <a:ext cx="7721600" cy="63500"/>
          </a:xfrm>
          <a:prstGeom prst="rect">
            <a:avLst/>
          </a:prstGeom>
          <a:solidFill>
            <a:srgbClr val="2F7D3A"/>
          </a:solidFill>
          <a:ln>
            <a:noFill/>
          </a:ln>
        </p:spPr>
        <p:txBody>
          <a:bodyPr/>
          <a:lstStyle/>
          <a:p>
            <a:endParaRPr/>
          </a:p>
        </p:txBody>
      </p:sp>
      <p:sp>
        <p:nvSpPr>
          <p:cNvPr id="129" name="Text 129"/>
          <p:cNvSpPr txBox="1"/>
          <p:nvPr/>
        </p:nvSpPr>
        <p:spPr>
          <a:xfrm>
            <a:off x="10007600" y="2844800"/>
            <a:ext cx="5080000" cy="406400"/>
          </a:xfrm>
          <a:prstGeom prst="rect">
            <a:avLst/>
          </a:prstGeom>
          <a:noFill/>
        </p:spPr>
        <p:txBody>
          <a:bodyPr wrap="square" lIns="7200" tIns="0" rIns="0" bIns="0" anchor="t">
            <a:normAutofit/>
          </a:bodyPr>
          <a:lstStyle/>
          <a:p>
            <a:pPr marL="0" indent="0" algn="l">
              <a:buNone/>
            </a:pPr>
            <a:r>
              <a:rPr lang="en-US" sz="1700" b="1" kern="0" spc="300" dirty="0">
                <a:solidFill>
                  <a:srgbClr val="2F7D3A"/>
                </a:solidFill>
                <a:latin typeface="Barlow"/>
                <a:cs typeface="Barlow"/>
              </a:rPr>
              <a:t>RECOMMENDED</a:t>
            </a:r>
          </a:p>
        </p:txBody>
      </p:sp>
      <p:sp>
        <p:nvSpPr>
          <p:cNvPr id="130" name="Text 130"/>
          <p:cNvSpPr txBox="1"/>
          <p:nvPr/>
        </p:nvSpPr>
        <p:spPr>
          <a:xfrm>
            <a:off x="10007600" y="3251200"/>
            <a:ext cx="6858000" cy="406400"/>
          </a:xfrm>
          <a:prstGeom prst="rect">
            <a:avLst/>
          </a:prstGeom>
          <a:noFill/>
        </p:spPr>
        <p:txBody>
          <a:bodyPr wrap="square" lIns="7200" tIns="0" rIns="0" bIns="0" anchor="t">
            <a:normAutofit/>
          </a:bodyPr>
          <a:lstStyle/>
          <a:p>
            <a:pPr marL="0" indent="0" algn="l">
              <a:buNone/>
            </a:pPr>
            <a:r>
              <a:rPr lang="en-US" sz="2100" b="1" kern="0" dirty="0">
                <a:solidFill>
                  <a:srgbClr val="1D1F20"/>
                </a:solidFill>
                <a:latin typeface="Barlow Condensed"/>
                <a:cs typeface="Barlow Condensed"/>
              </a:rPr>
              <a:t>₹1.35 L a year buys 10× income</a:t>
            </a:r>
          </a:p>
        </p:txBody>
      </p:sp>
      <p:sp>
        <p:nvSpPr>
          <p:cNvPr id="131" name="Shape 131"/>
          <p:cNvSpPr/>
          <p:nvPr/>
        </p:nvSpPr>
        <p:spPr>
          <a:xfrm>
            <a:off x="10007600" y="3835400"/>
            <a:ext cx="7010400" cy="12700"/>
          </a:xfrm>
          <a:prstGeom prst="rect">
            <a:avLst/>
          </a:prstGeom>
          <a:solidFill>
            <a:srgbClr val="1D1F20">
              <a:alpha val="25000"/>
            </a:srgbClr>
          </a:solidFill>
          <a:ln>
            <a:noFill/>
          </a:ln>
        </p:spPr>
        <p:txBody>
          <a:bodyPr/>
          <a:lstStyle/>
          <a:p>
            <a:endParaRPr/>
          </a:p>
        </p:txBody>
      </p:sp>
      <p:sp>
        <p:nvSpPr>
          <p:cNvPr id="132" name="Text 132"/>
          <p:cNvSpPr txBox="1"/>
          <p:nvPr/>
        </p:nvSpPr>
        <p:spPr>
          <a:xfrm>
            <a:off x="10007600" y="4013200"/>
            <a:ext cx="3302000" cy="355600"/>
          </a:xfrm>
          <a:prstGeom prst="rect">
            <a:avLst/>
          </a:prstGeom>
          <a:noFill/>
        </p:spPr>
        <p:txBody>
          <a:bodyPr wrap="square" lIns="7200" tIns="0" rIns="0" bIns="0" anchor="t">
            <a:normAutofit/>
          </a:bodyPr>
          <a:lstStyle/>
          <a:p>
            <a:pPr marL="0" indent="0" algn="l">
              <a:buNone/>
            </a:pPr>
            <a:r>
              <a:rPr lang="en-US" sz="1800" b="0" kern="0" dirty="0">
                <a:solidFill>
                  <a:srgbClr val="1D1F20">
                    <a:alpha val="88000"/>
                  </a:srgbClr>
                </a:solidFill>
                <a:latin typeface="Barlow"/>
                <a:cs typeface="Barlow"/>
              </a:rPr>
              <a:t>Term cover</a:t>
            </a:r>
          </a:p>
        </p:txBody>
      </p:sp>
      <p:sp>
        <p:nvSpPr>
          <p:cNvPr id="133" name="Text 133"/>
          <p:cNvSpPr txBox="1"/>
          <p:nvPr/>
        </p:nvSpPr>
        <p:spPr>
          <a:xfrm>
            <a:off x="13208000" y="4013200"/>
            <a:ext cx="2413000" cy="355600"/>
          </a:xfrm>
          <a:prstGeom prst="rect">
            <a:avLst/>
          </a:prstGeom>
          <a:noFill/>
        </p:spPr>
        <p:txBody>
          <a:bodyPr wrap="square" lIns="7200" tIns="0" rIns="0" bIns="0" anchor="t">
            <a:normAutofit/>
          </a:bodyPr>
          <a:lstStyle/>
          <a:p>
            <a:pPr marL="0" indent="0" algn="l">
              <a:buNone/>
            </a:pPr>
            <a:r>
              <a:rPr lang="en-US" sz="1800" b="1" kern="0" dirty="0">
                <a:solidFill>
                  <a:srgbClr val="1D1F20"/>
                </a:solidFill>
                <a:latin typeface="Barlow"/>
                <a:cs typeface="Barlow"/>
              </a:rPr>
              <a:t>₹5.40 Cr</a:t>
            </a:r>
          </a:p>
        </p:txBody>
      </p:sp>
      <p:sp>
        <p:nvSpPr>
          <p:cNvPr id="134" name="Text 134"/>
          <p:cNvSpPr txBox="1"/>
          <p:nvPr/>
        </p:nvSpPr>
        <p:spPr>
          <a:xfrm>
            <a:off x="15621000" y="4013200"/>
            <a:ext cx="1397000" cy="355600"/>
          </a:xfrm>
          <a:prstGeom prst="rect">
            <a:avLst/>
          </a:prstGeom>
          <a:noFill/>
        </p:spPr>
        <p:txBody>
          <a:bodyPr wrap="square" lIns="7200" tIns="0" rIns="0" bIns="0" anchor="t">
            <a:normAutofit/>
          </a:bodyPr>
          <a:lstStyle/>
          <a:p>
            <a:pPr marL="0" indent="0" algn="r">
              <a:buNone/>
            </a:pPr>
            <a:r>
              <a:rPr lang="en-US" sz="1800" b="0" kern="0" dirty="0">
                <a:solidFill>
                  <a:srgbClr val="1D1F20">
                    <a:alpha val="70000"/>
                  </a:srgbClr>
                </a:solidFill>
                <a:latin typeface="Barlow"/>
                <a:cs typeface="Barlow"/>
              </a:rPr>
              <a:t>₹81,000</a:t>
            </a:r>
          </a:p>
        </p:txBody>
      </p:sp>
      <p:sp>
        <p:nvSpPr>
          <p:cNvPr id="135" name="Shape 135"/>
          <p:cNvSpPr/>
          <p:nvPr/>
        </p:nvSpPr>
        <p:spPr>
          <a:xfrm>
            <a:off x="10007600" y="4470400"/>
            <a:ext cx="7010400" cy="12700"/>
          </a:xfrm>
          <a:prstGeom prst="rect">
            <a:avLst/>
          </a:prstGeom>
          <a:solidFill>
            <a:srgbClr val="1D1F20">
              <a:alpha val="25000"/>
            </a:srgbClr>
          </a:solidFill>
          <a:ln>
            <a:noFill/>
          </a:ln>
        </p:spPr>
        <p:txBody>
          <a:bodyPr/>
          <a:lstStyle/>
          <a:p>
            <a:endParaRPr/>
          </a:p>
        </p:txBody>
      </p:sp>
      <p:sp>
        <p:nvSpPr>
          <p:cNvPr id="136" name="Text 136"/>
          <p:cNvSpPr txBox="1"/>
          <p:nvPr/>
        </p:nvSpPr>
        <p:spPr>
          <a:xfrm>
            <a:off x="10007600" y="4572000"/>
            <a:ext cx="3302000" cy="355600"/>
          </a:xfrm>
          <a:prstGeom prst="rect">
            <a:avLst/>
          </a:prstGeom>
          <a:noFill/>
        </p:spPr>
        <p:txBody>
          <a:bodyPr wrap="square" lIns="7200" tIns="0" rIns="0" bIns="0" anchor="t">
            <a:normAutofit/>
          </a:bodyPr>
          <a:lstStyle/>
          <a:p>
            <a:pPr marL="0" indent="0" algn="l">
              <a:buNone/>
            </a:pPr>
            <a:r>
              <a:rPr lang="en-US" sz="1800" b="0" kern="0" dirty="0">
                <a:solidFill>
                  <a:srgbClr val="1D1F20">
                    <a:alpha val="88000"/>
                  </a:srgbClr>
                </a:solidFill>
                <a:latin typeface="Barlow"/>
                <a:cs typeface="Barlow"/>
              </a:rPr>
              <a:t>Health floater + top-up</a:t>
            </a:r>
          </a:p>
        </p:txBody>
      </p:sp>
      <p:sp>
        <p:nvSpPr>
          <p:cNvPr id="137" name="Text 137"/>
          <p:cNvSpPr txBox="1"/>
          <p:nvPr/>
        </p:nvSpPr>
        <p:spPr>
          <a:xfrm>
            <a:off x="13208000" y="4572000"/>
            <a:ext cx="2413000" cy="355600"/>
          </a:xfrm>
          <a:prstGeom prst="rect">
            <a:avLst/>
          </a:prstGeom>
          <a:noFill/>
        </p:spPr>
        <p:txBody>
          <a:bodyPr wrap="square" lIns="7200" tIns="0" rIns="0" bIns="0" anchor="t">
            <a:normAutofit/>
          </a:bodyPr>
          <a:lstStyle/>
          <a:p>
            <a:pPr marL="0" indent="0" algn="l">
              <a:buNone/>
            </a:pPr>
            <a:r>
              <a:rPr lang="en-US" sz="1800" b="1" kern="0" dirty="0">
                <a:solidFill>
                  <a:srgbClr val="1D1F20"/>
                </a:solidFill>
                <a:latin typeface="Barlow"/>
                <a:cs typeface="Barlow"/>
              </a:rPr>
              <a:t>₹35 L</a:t>
            </a:r>
          </a:p>
        </p:txBody>
      </p:sp>
      <p:sp>
        <p:nvSpPr>
          <p:cNvPr id="138" name="Text 138"/>
          <p:cNvSpPr txBox="1"/>
          <p:nvPr/>
        </p:nvSpPr>
        <p:spPr>
          <a:xfrm>
            <a:off x="15621000" y="4572000"/>
            <a:ext cx="1397000" cy="355600"/>
          </a:xfrm>
          <a:prstGeom prst="rect">
            <a:avLst/>
          </a:prstGeom>
          <a:noFill/>
        </p:spPr>
        <p:txBody>
          <a:bodyPr wrap="square" lIns="7200" tIns="0" rIns="0" bIns="0" anchor="t">
            <a:normAutofit/>
          </a:bodyPr>
          <a:lstStyle/>
          <a:p>
            <a:pPr marL="0" indent="0" algn="r">
              <a:buNone/>
            </a:pPr>
            <a:r>
              <a:rPr lang="en-US" sz="1800" b="0" kern="0" dirty="0">
                <a:solidFill>
                  <a:srgbClr val="1D1F20">
                    <a:alpha val="70000"/>
                  </a:srgbClr>
                </a:solidFill>
                <a:latin typeface="Barlow"/>
                <a:cs typeface="Barlow"/>
              </a:rPr>
              <a:t>₹47,500</a:t>
            </a:r>
          </a:p>
        </p:txBody>
      </p:sp>
      <p:sp>
        <p:nvSpPr>
          <p:cNvPr id="139" name="Shape 139"/>
          <p:cNvSpPr/>
          <p:nvPr/>
        </p:nvSpPr>
        <p:spPr>
          <a:xfrm>
            <a:off x="10007600" y="5029200"/>
            <a:ext cx="7010400" cy="12700"/>
          </a:xfrm>
          <a:prstGeom prst="rect">
            <a:avLst/>
          </a:prstGeom>
          <a:solidFill>
            <a:srgbClr val="1D1F20">
              <a:alpha val="25000"/>
            </a:srgbClr>
          </a:solidFill>
          <a:ln>
            <a:noFill/>
          </a:ln>
        </p:spPr>
        <p:txBody>
          <a:bodyPr/>
          <a:lstStyle/>
          <a:p>
            <a:endParaRPr/>
          </a:p>
        </p:txBody>
      </p:sp>
      <p:sp>
        <p:nvSpPr>
          <p:cNvPr id="140" name="Text 140"/>
          <p:cNvSpPr txBox="1"/>
          <p:nvPr/>
        </p:nvSpPr>
        <p:spPr>
          <a:xfrm>
            <a:off x="10007600" y="5130800"/>
            <a:ext cx="3302000" cy="355600"/>
          </a:xfrm>
          <a:prstGeom prst="rect">
            <a:avLst/>
          </a:prstGeom>
          <a:noFill/>
        </p:spPr>
        <p:txBody>
          <a:bodyPr wrap="square" lIns="7200" tIns="0" rIns="0" bIns="0" anchor="t">
            <a:normAutofit/>
          </a:bodyPr>
          <a:lstStyle/>
          <a:p>
            <a:pPr marL="0" indent="0" algn="l">
              <a:buNone/>
            </a:pPr>
            <a:r>
              <a:rPr lang="en-US" sz="1800" b="0" kern="0" dirty="0">
                <a:solidFill>
                  <a:srgbClr val="1D1F20">
                    <a:alpha val="88000"/>
                  </a:srgbClr>
                </a:solidFill>
                <a:latin typeface="Barlow"/>
                <a:cs typeface="Barlow"/>
              </a:rPr>
              <a:t>Endowment</a:t>
            </a:r>
          </a:p>
        </p:txBody>
      </p:sp>
      <p:sp>
        <p:nvSpPr>
          <p:cNvPr id="141" name="Text 141"/>
          <p:cNvSpPr txBox="1"/>
          <p:nvPr/>
        </p:nvSpPr>
        <p:spPr>
          <a:xfrm>
            <a:off x="13208000" y="5130800"/>
            <a:ext cx="2413000" cy="355600"/>
          </a:xfrm>
          <a:prstGeom prst="rect">
            <a:avLst/>
          </a:prstGeom>
          <a:noFill/>
        </p:spPr>
        <p:txBody>
          <a:bodyPr wrap="square" lIns="7200" tIns="0" rIns="0" bIns="0" anchor="t">
            <a:normAutofit fontScale="77500" lnSpcReduction="20000"/>
          </a:bodyPr>
          <a:lstStyle/>
          <a:p>
            <a:pPr marL="0" indent="0" algn="l">
              <a:buNone/>
            </a:pPr>
            <a:r>
              <a:rPr lang="en-US" sz="1800" b="1" kern="0" dirty="0">
                <a:solidFill>
                  <a:srgbClr val="1D1F20"/>
                </a:solidFill>
                <a:latin typeface="Barlow"/>
                <a:cs typeface="Barlow"/>
              </a:rPr>
              <a:t>held to maturity, not renewed</a:t>
            </a:r>
          </a:p>
        </p:txBody>
      </p:sp>
      <p:sp>
        <p:nvSpPr>
          <p:cNvPr id="142" name="Text 142"/>
          <p:cNvSpPr txBox="1"/>
          <p:nvPr/>
        </p:nvSpPr>
        <p:spPr>
          <a:xfrm>
            <a:off x="15621000" y="5130800"/>
            <a:ext cx="1397000" cy="355600"/>
          </a:xfrm>
          <a:prstGeom prst="rect">
            <a:avLst/>
          </a:prstGeom>
          <a:noFill/>
        </p:spPr>
        <p:txBody>
          <a:bodyPr wrap="square" lIns="7200" tIns="0" rIns="0" bIns="0" anchor="t">
            <a:normAutofit/>
          </a:bodyPr>
          <a:lstStyle/>
          <a:p>
            <a:pPr marL="0" indent="0" algn="r">
              <a:buNone/>
            </a:pPr>
            <a:r>
              <a:rPr lang="en-US" sz="1800" b="0" kern="0" dirty="0">
                <a:solidFill>
                  <a:srgbClr val="1D1F20">
                    <a:alpha val="70000"/>
                  </a:srgbClr>
                </a:solidFill>
                <a:latin typeface="Barlow"/>
                <a:cs typeface="Barlow"/>
              </a:rPr>
              <a:t>₹0</a:t>
            </a:r>
          </a:p>
        </p:txBody>
      </p:sp>
      <p:sp>
        <p:nvSpPr>
          <p:cNvPr id="143" name="Shape 143"/>
          <p:cNvSpPr/>
          <p:nvPr/>
        </p:nvSpPr>
        <p:spPr>
          <a:xfrm>
            <a:off x="10007600" y="5588000"/>
            <a:ext cx="7010400" cy="12700"/>
          </a:xfrm>
          <a:prstGeom prst="rect">
            <a:avLst/>
          </a:prstGeom>
          <a:solidFill>
            <a:srgbClr val="1D1F20">
              <a:alpha val="25000"/>
            </a:srgbClr>
          </a:solidFill>
          <a:ln>
            <a:noFill/>
          </a:ln>
        </p:spPr>
        <p:txBody>
          <a:bodyPr/>
          <a:lstStyle/>
          <a:p>
            <a:endParaRPr/>
          </a:p>
        </p:txBody>
      </p:sp>
      <p:sp>
        <p:nvSpPr>
          <p:cNvPr id="144" name="Text 144"/>
          <p:cNvSpPr txBox="1"/>
          <p:nvPr/>
        </p:nvSpPr>
        <p:spPr>
          <a:xfrm>
            <a:off x="10007600" y="5689600"/>
            <a:ext cx="3302000" cy="355600"/>
          </a:xfrm>
          <a:prstGeom prst="rect">
            <a:avLst/>
          </a:prstGeom>
          <a:noFill/>
        </p:spPr>
        <p:txBody>
          <a:bodyPr wrap="square" lIns="7200" tIns="0" rIns="0" bIns="0" anchor="t">
            <a:normAutofit/>
          </a:bodyPr>
          <a:lstStyle/>
          <a:p>
            <a:pPr marL="0" indent="0" algn="l">
              <a:buNone/>
            </a:pPr>
            <a:r>
              <a:rPr lang="en-US" sz="1800" b="0" kern="0" dirty="0">
                <a:solidFill>
                  <a:srgbClr val="1D1F20">
                    <a:alpha val="88000"/>
                  </a:srgbClr>
                </a:solidFill>
                <a:latin typeface="Barlow"/>
                <a:cs typeface="Barlow"/>
              </a:rPr>
              <a:t>Personal accident</a:t>
            </a:r>
          </a:p>
        </p:txBody>
      </p:sp>
      <p:sp>
        <p:nvSpPr>
          <p:cNvPr id="145" name="Text 145"/>
          <p:cNvSpPr txBox="1"/>
          <p:nvPr/>
        </p:nvSpPr>
        <p:spPr>
          <a:xfrm>
            <a:off x="13208000" y="5689600"/>
            <a:ext cx="2413000" cy="355600"/>
          </a:xfrm>
          <a:prstGeom prst="rect">
            <a:avLst/>
          </a:prstGeom>
          <a:noFill/>
        </p:spPr>
        <p:txBody>
          <a:bodyPr wrap="square" lIns="7200" tIns="0" rIns="0" bIns="0" anchor="t">
            <a:normAutofit/>
          </a:bodyPr>
          <a:lstStyle/>
          <a:p>
            <a:pPr marL="0" indent="0" algn="l">
              <a:buNone/>
            </a:pPr>
            <a:r>
              <a:rPr lang="en-US" sz="1800" b="1" kern="0" dirty="0">
                <a:solidFill>
                  <a:srgbClr val="1D1F20"/>
                </a:solidFill>
                <a:latin typeface="Barlow"/>
                <a:cs typeface="Barlow"/>
              </a:rPr>
              <a:t>₹50 L</a:t>
            </a:r>
          </a:p>
        </p:txBody>
      </p:sp>
      <p:sp>
        <p:nvSpPr>
          <p:cNvPr id="146" name="Text 146"/>
          <p:cNvSpPr txBox="1"/>
          <p:nvPr/>
        </p:nvSpPr>
        <p:spPr>
          <a:xfrm>
            <a:off x="15621000" y="5689600"/>
            <a:ext cx="1397000" cy="355600"/>
          </a:xfrm>
          <a:prstGeom prst="rect">
            <a:avLst/>
          </a:prstGeom>
          <a:noFill/>
        </p:spPr>
        <p:txBody>
          <a:bodyPr wrap="square" lIns="7200" tIns="0" rIns="0" bIns="0" anchor="t">
            <a:normAutofit/>
          </a:bodyPr>
          <a:lstStyle/>
          <a:p>
            <a:pPr marL="0" indent="0" algn="r">
              <a:buNone/>
            </a:pPr>
            <a:r>
              <a:rPr lang="en-US" sz="1800" b="0" kern="0" dirty="0">
                <a:solidFill>
                  <a:srgbClr val="1D1F20">
                    <a:alpha val="70000"/>
                  </a:srgbClr>
                </a:solidFill>
                <a:latin typeface="Barlow"/>
                <a:cs typeface="Barlow"/>
              </a:rPr>
              <a:t>₹6,400</a:t>
            </a:r>
          </a:p>
        </p:txBody>
      </p:sp>
      <p:sp>
        <p:nvSpPr>
          <p:cNvPr id="147" name="Shape 147"/>
          <p:cNvSpPr/>
          <p:nvPr/>
        </p:nvSpPr>
        <p:spPr>
          <a:xfrm>
            <a:off x="10007600" y="6146800"/>
            <a:ext cx="7010400" cy="12700"/>
          </a:xfrm>
          <a:prstGeom prst="rect">
            <a:avLst/>
          </a:prstGeom>
          <a:solidFill>
            <a:srgbClr val="1D1F20">
              <a:alpha val="25000"/>
            </a:srgbClr>
          </a:solidFill>
          <a:ln>
            <a:noFill/>
          </a:ln>
        </p:spPr>
        <p:txBody>
          <a:bodyPr/>
          <a:lstStyle/>
          <a:p>
            <a:endParaRPr/>
          </a:p>
        </p:txBody>
      </p:sp>
      <p:sp>
        <p:nvSpPr>
          <p:cNvPr id="148" name="Text 148"/>
          <p:cNvSpPr txBox="1"/>
          <p:nvPr/>
        </p:nvSpPr>
        <p:spPr>
          <a:xfrm>
            <a:off x="10007600" y="6375400"/>
            <a:ext cx="3810000" cy="4318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Total premium</a:t>
            </a:r>
          </a:p>
        </p:txBody>
      </p:sp>
      <p:sp>
        <p:nvSpPr>
          <p:cNvPr id="149" name="Text 149"/>
          <p:cNvSpPr txBox="1"/>
          <p:nvPr/>
        </p:nvSpPr>
        <p:spPr>
          <a:xfrm>
            <a:off x="14478000" y="6350000"/>
            <a:ext cx="2540000" cy="457200"/>
          </a:xfrm>
          <a:prstGeom prst="rect">
            <a:avLst/>
          </a:prstGeom>
          <a:noFill/>
        </p:spPr>
        <p:txBody>
          <a:bodyPr wrap="square" lIns="7200" tIns="0" rIns="0" bIns="0" anchor="t">
            <a:normAutofit/>
          </a:bodyPr>
          <a:lstStyle/>
          <a:p>
            <a:pPr marL="0" indent="0" algn="r">
              <a:buNone/>
            </a:pPr>
            <a:r>
              <a:rPr lang="en-US" sz="2200" b="1" kern="0" dirty="0">
                <a:solidFill>
                  <a:srgbClr val="2F7D3A"/>
                </a:solidFill>
                <a:latin typeface="Barlow Condensed"/>
                <a:cs typeface="Barlow Condensed"/>
              </a:rPr>
              <a:t>₹1.35 L a year</a:t>
            </a:r>
          </a:p>
        </p:txBody>
      </p:sp>
      <p:sp>
        <p:nvSpPr>
          <p:cNvPr id="150" name="Shape 150"/>
          <p:cNvSpPr/>
          <p:nvPr/>
        </p:nvSpPr>
        <p:spPr>
          <a:xfrm>
            <a:off x="8763000" y="4470400"/>
            <a:ext cx="635000" cy="660400"/>
          </a:xfrm>
          <a:prstGeom prst="rightArrow">
            <a:avLst>
              <a:gd name="adj1" fmla="val 55000"/>
              <a:gd name="adj2" fmla="val 50000"/>
            </a:avLst>
          </a:prstGeom>
          <a:solidFill>
            <a:srgbClr val="2F7D3A"/>
          </a:solidFill>
          <a:ln>
            <a:noFill/>
          </a:ln>
        </p:spPr>
        <p:txBody>
          <a:bodyPr/>
          <a:lstStyle/>
          <a:p>
            <a:endParaRPr/>
          </a:p>
        </p:txBody>
      </p:sp>
      <p:sp>
        <p:nvSpPr>
          <p:cNvPr id="152" name="Shape 152"/>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153" name="Text 153"/>
          <p:cNvSpPr txBox="1"/>
          <p:nvPr/>
        </p:nvSpPr>
        <p:spPr>
          <a:xfrm>
            <a:off x="914400" y="7696200"/>
            <a:ext cx="2159000" cy="393700"/>
          </a:xfrm>
          <a:prstGeom prst="rect">
            <a:avLst/>
          </a:prstGeom>
          <a:noFill/>
        </p:spPr>
        <p:txBody>
          <a:bodyPr wrap="square" lIns="720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154" name="Text 154"/>
          <p:cNvSpPr txBox="1"/>
          <p:nvPr/>
        </p:nvSpPr>
        <p:spPr>
          <a:xfrm>
            <a:off x="3276600" y="7658100"/>
            <a:ext cx="13246100" cy="774700"/>
          </a:xfrm>
          <a:prstGeom prst="rect">
            <a:avLst/>
          </a:prstGeom>
          <a:noFill/>
        </p:spPr>
        <p:txBody>
          <a:bodyPr wrap="square" lIns="7200" tIns="0" rIns="0" bIns="0" anchor="t">
            <a:normAutofit/>
          </a:bodyPr>
          <a:lstStyle/>
          <a:p>
            <a:pPr marL="0" indent="0" algn="l">
              <a:lnSpc>
                <a:spcPct val="118000"/>
              </a:lnSpc>
              <a:buNone/>
            </a:pPr>
            <a:r>
              <a:rPr lang="en-US" sz="2100" b="0" kern="0" dirty="0">
                <a:solidFill>
                  <a:srgbClr val="1D1F20">
                    <a:alpha val="90000"/>
                  </a:srgbClr>
                </a:solidFill>
                <a:latin typeface="Barlow"/>
                <a:cs typeface="Barlow"/>
              </a:rPr>
              <a:t>The endowment stays until it matures in 2032, so nothing already paid is lost. Its ₹51,000 renewal is simply not repeated: ₹42,000 of it buys the additional term cover and ₹9,000 buys the health top-up.</a:t>
            </a:r>
          </a:p>
        </p:txBody>
      </p:sp>
      <p:sp>
        <p:nvSpPr>
          <p:cNvPr id="155" name="Text 155"/>
          <p:cNvSpPr txBox="1"/>
          <p:nvPr/>
        </p:nvSpPr>
        <p:spPr>
          <a:xfrm>
            <a:off x="914400" y="9474200"/>
            <a:ext cx="5080000" cy="393700"/>
          </a:xfrm>
          <a:prstGeom prst="rect">
            <a:avLst/>
          </a:prstGeom>
          <a:noFill/>
        </p:spPr>
        <p:txBody>
          <a:bodyPr wrap="square" lIns="720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56" name="Text 156"/>
          <p:cNvSpPr txBox="1"/>
          <p:nvPr/>
        </p:nvSpPr>
        <p:spPr>
          <a:xfrm>
            <a:off x="14833600" y="9474200"/>
            <a:ext cx="2540000" cy="393700"/>
          </a:xfrm>
          <a:prstGeom prst="rect">
            <a:avLst/>
          </a:prstGeom>
          <a:noFill/>
        </p:spPr>
        <p:txBody>
          <a:bodyPr wrap="square" lIns="7200" tIns="0" rIns="0" bIns="0" anchor="t">
            <a:normAutofit/>
          </a:bodyPr>
          <a:lstStyle/>
          <a:p>
            <a:pPr marL="0" indent="0" algn="r">
              <a:buNone/>
            </a:pPr>
            <a:r>
              <a:rPr lang="en-US" sz="1600" b="0" kern="0" dirty="0">
                <a:solidFill>
                  <a:srgbClr val="2A3480"/>
                </a:solidFill>
                <a:latin typeface="Barlow"/>
                <a:cs typeface="Barlow"/>
              </a:rPr>
              <a:t>11 / 14</a:t>
            </a:r>
          </a:p>
        </p:txBody>
      </p:sp>
    </p:spTree>
    <p:extLst>
      <p:ext uri="{BB962C8B-B14F-4D97-AF65-F5344CB8AC3E}">
        <p14:creationId xmlns:p14="http://schemas.microsoft.com/office/powerpoint/2010/main" val="3389283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2F2F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
          </a:blip>
          <a:srcRect t="5882" b="5882"/>
          <a:stretch/>
        </p:blipFill>
        <p:spPr>
          <a:xfrm>
            <a:off x="0" y="0"/>
            <a:ext cx="18287930" cy="10287001"/>
          </a:xfrm>
          <a:prstGeom prst="rect">
            <a:avLst/>
          </a:prstGeom>
        </p:spPr>
      </p:pic>
      <p:sp>
        <p:nvSpPr>
          <p:cNvPr id="3" name="Text 0"/>
          <p:cNvSpPr/>
          <p:nvPr/>
        </p:nvSpPr>
        <p:spPr>
          <a:xfrm>
            <a:off x="914372" y="571429"/>
            <a:ext cx="4088798"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LIQUID ASSETS</a:t>
            </a:r>
            <a:endParaRPr lang="en-US" sz="2100" b="1" dirty="0">
              <a:solidFill>
                <a:srgbClr val="2A3480"/>
              </a:solidFill>
              <a:latin typeface="Barlow"/>
            </a:endParaRPr>
          </a:p>
        </p:txBody>
      </p:sp>
      <p:sp>
        <p:nvSpPr>
          <p:cNvPr id="4" name="Text 1"/>
          <p:cNvSpPr/>
          <p:nvPr/>
        </p:nvSpPr>
        <p:spPr>
          <a:xfrm>
            <a:off x="914372" y="1088501"/>
            <a:ext cx="4088798"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Fixed Deposits</a:t>
            </a:r>
            <a:endParaRPr lang="en-US" sz="6000" dirty="0"/>
          </a:p>
        </p:txBody>
      </p:sp>
      <p:pic>
        <p:nvPicPr>
          <p:cNvPr id="5" name="Image 1" descr="preencoded.png"/>
          <p:cNvPicPr>
            <a:picLocks noChangeAspect="1"/>
          </p:cNvPicPr>
          <p:nvPr/>
        </p:nvPicPr>
        <p:blipFill>
          <a:blip r:embed="rId4"/>
          <a:stretch>
            <a:fillRect/>
          </a:stretch>
        </p:blipFill>
        <p:spPr>
          <a:xfrm>
            <a:off x="15297193" y="571429"/>
            <a:ext cx="2076365" cy="590493"/>
          </a:xfrm>
          <a:prstGeom prst="rect">
            <a:avLst/>
          </a:prstGeom>
        </p:spPr>
      </p:pic>
      <p:sp>
        <p:nvSpPr>
          <p:cNvPr id="6"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7" name="Shape 3"/>
          <p:cNvSpPr/>
          <p:nvPr/>
        </p:nvSpPr>
        <p:spPr>
          <a:xfrm>
            <a:off x="914372" y="2903070"/>
            <a:ext cx="3564150" cy="9525"/>
          </a:xfrm>
          <a:prstGeom prst="rect">
            <a:avLst/>
          </a:prstGeom>
          <a:solidFill>
            <a:srgbClr val="1F1F1F">
              <a:alpha val="16000"/>
            </a:srgbClr>
          </a:solidFill>
          <a:ln/>
        </p:spPr>
        <p:txBody>
          <a:bodyPr/>
          <a:lstStyle/>
          <a:p>
            <a:endParaRPr lang="en-US"/>
          </a:p>
        </p:txBody>
      </p:sp>
      <p:sp>
        <p:nvSpPr>
          <p:cNvPr id="8" name="Text 4"/>
          <p:cNvSpPr/>
          <p:nvPr/>
        </p:nvSpPr>
        <p:spPr>
          <a:xfrm>
            <a:off x="914372" y="2439010"/>
            <a:ext cx="3671075"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BANK / ISSUER</a:t>
            </a:r>
            <a:endParaRPr lang="en-US" sz="2100" dirty="0"/>
          </a:p>
        </p:txBody>
      </p:sp>
      <p:sp>
        <p:nvSpPr>
          <p:cNvPr id="9" name="Shape 5"/>
          <p:cNvSpPr/>
          <p:nvPr/>
        </p:nvSpPr>
        <p:spPr>
          <a:xfrm>
            <a:off x="4478522" y="2903070"/>
            <a:ext cx="1772330" cy="9525"/>
          </a:xfrm>
          <a:prstGeom prst="rect">
            <a:avLst/>
          </a:prstGeom>
          <a:solidFill>
            <a:srgbClr val="1F1F1F">
              <a:alpha val="16000"/>
            </a:srgbClr>
          </a:solidFill>
          <a:ln/>
        </p:spPr>
        <p:txBody>
          <a:bodyPr/>
          <a:lstStyle/>
          <a:p>
            <a:endParaRPr lang="en-US"/>
          </a:p>
        </p:txBody>
      </p:sp>
      <p:sp>
        <p:nvSpPr>
          <p:cNvPr id="10" name="Text 6"/>
          <p:cNvSpPr/>
          <p:nvPr/>
        </p:nvSpPr>
        <p:spPr>
          <a:xfrm>
            <a:off x="4478522" y="2439010"/>
            <a:ext cx="1848530"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AMOUNT</a:t>
            </a:r>
            <a:endParaRPr lang="en-US" sz="2100" dirty="0"/>
          </a:p>
        </p:txBody>
      </p:sp>
      <p:sp>
        <p:nvSpPr>
          <p:cNvPr id="11" name="Shape 7"/>
          <p:cNvSpPr/>
          <p:nvPr/>
        </p:nvSpPr>
        <p:spPr>
          <a:xfrm>
            <a:off x="6250853" y="2903070"/>
            <a:ext cx="2103792" cy="9525"/>
          </a:xfrm>
          <a:prstGeom prst="rect">
            <a:avLst/>
          </a:prstGeom>
          <a:solidFill>
            <a:srgbClr val="1F1F1F">
              <a:alpha val="16000"/>
            </a:srgbClr>
          </a:solidFill>
          <a:ln/>
        </p:spPr>
        <p:txBody>
          <a:bodyPr/>
          <a:lstStyle/>
          <a:p>
            <a:endParaRPr lang="en-US"/>
          </a:p>
        </p:txBody>
      </p:sp>
      <p:sp>
        <p:nvSpPr>
          <p:cNvPr id="12" name="Text 8"/>
          <p:cNvSpPr/>
          <p:nvPr/>
        </p:nvSpPr>
        <p:spPr>
          <a:xfrm>
            <a:off x="6250853" y="2439010"/>
            <a:ext cx="2179992"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INTEREST RATE</a:t>
            </a:r>
            <a:endParaRPr lang="en-US" sz="2100" dirty="0"/>
          </a:p>
        </p:txBody>
      </p:sp>
      <p:sp>
        <p:nvSpPr>
          <p:cNvPr id="13" name="Shape 9"/>
          <p:cNvSpPr/>
          <p:nvPr/>
        </p:nvSpPr>
        <p:spPr>
          <a:xfrm>
            <a:off x="8354645" y="2903070"/>
            <a:ext cx="2123777" cy="9525"/>
          </a:xfrm>
          <a:prstGeom prst="rect">
            <a:avLst/>
          </a:prstGeom>
          <a:solidFill>
            <a:srgbClr val="1F1F1F">
              <a:alpha val="16000"/>
            </a:srgbClr>
          </a:solidFill>
          <a:ln/>
        </p:spPr>
        <p:txBody>
          <a:bodyPr/>
          <a:lstStyle/>
          <a:p>
            <a:endParaRPr lang="en-US"/>
          </a:p>
        </p:txBody>
      </p:sp>
      <p:sp>
        <p:nvSpPr>
          <p:cNvPr id="14" name="Text 10"/>
          <p:cNvSpPr/>
          <p:nvPr/>
        </p:nvSpPr>
        <p:spPr>
          <a:xfrm>
            <a:off x="8354645" y="2439010"/>
            <a:ext cx="2199977"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MATURITY DATE</a:t>
            </a:r>
            <a:endParaRPr lang="en-US" sz="2100" dirty="0"/>
          </a:p>
        </p:txBody>
      </p:sp>
      <p:sp>
        <p:nvSpPr>
          <p:cNvPr id="15" name="Shape 11"/>
          <p:cNvSpPr/>
          <p:nvPr/>
        </p:nvSpPr>
        <p:spPr>
          <a:xfrm>
            <a:off x="10478422" y="2903070"/>
            <a:ext cx="6895137" cy="9525"/>
          </a:xfrm>
          <a:prstGeom prst="rect">
            <a:avLst/>
          </a:prstGeom>
          <a:solidFill>
            <a:srgbClr val="1F1F1F">
              <a:alpha val="16000"/>
            </a:srgbClr>
          </a:solidFill>
          <a:ln/>
        </p:spPr>
        <p:txBody>
          <a:bodyPr/>
          <a:lstStyle/>
          <a:p>
            <a:endParaRPr lang="en-US"/>
          </a:p>
        </p:txBody>
      </p:sp>
      <p:sp>
        <p:nvSpPr>
          <p:cNvPr id="16" name="Text 12"/>
          <p:cNvSpPr/>
          <p:nvPr/>
        </p:nvSpPr>
        <p:spPr>
          <a:xfrm>
            <a:off x="10478422" y="2439010"/>
            <a:ext cx="7101991"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REMARKS</a:t>
            </a:r>
            <a:endParaRPr lang="en-US" sz="2100" dirty="0"/>
          </a:p>
        </p:txBody>
      </p:sp>
      <p:sp>
        <p:nvSpPr>
          <p:cNvPr id="17" name="Shape 13"/>
          <p:cNvSpPr/>
          <p:nvPr/>
        </p:nvSpPr>
        <p:spPr>
          <a:xfrm>
            <a:off x="914372" y="3678748"/>
            <a:ext cx="3564150" cy="9525"/>
          </a:xfrm>
          <a:prstGeom prst="rect">
            <a:avLst/>
          </a:prstGeom>
          <a:solidFill>
            <a:srgbClr val="1A1A26">
              <a:alpha val="8000"/>
            </a:srgbClr>
          </a:solidFill>
          <a:ln/>
        </p:spPr>
        <p:txBody>
          <a:bodyPr/>
          <a:lstStyle/>
          <a:p>
            <a:endParaRPr lang="en-US"/>
          </a:p>
        </p:txBody>
      </p:sp>
      <p:sp>
        <p:nvSpPr>
          <p:cNvPr id="18" name="Text 14"/>
          <p:cNvSpPr/>
          <p:nvPr/>
        </p:nvSpPr>
        <p:spPr>
          <a:xfrm>
            <a:off x="914372" y="3074066"/>
            <a:ext cx="3518675"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Public sector bank</a:t>
            </a:r>
            <a:endParaRPr lang="en-US" sz="2250" dirty="0"/>
          </a:p>
        </p:txBody>
      </p:sp>
      <p:sp>
        <p:nvSpPr>
          <p:cNvPr id="19" name="Shape 15"/>
          <p:cNvSpPr/>
          <p:nvPr/>
        </p:nvSpPr>
        <p:spPr>
          <a:xfrm>
            <a:off x="4478522" y="3678748"/>
            <a:ext cx="1772330" cy="9525"/>
          </a:xfrm>
          <a:prstGeom prst="rect">
            <a:avLst/>
          </a:prstGeom>
          <a:solidFill>
            <a:srgbClr val="1A1A26">
              <a:alpha val="8000"/>
            </a:srgbClr>
          </a:solidFill>
          <a:ln/>
        </p:spPr>
        <p:txBody>
          <a:bodyPr/>
          <a:lstStyle/>
          <a:p>
            <a:endParaRPr lang="en-US"/>
          </a:p>
        </p:txBody>
      </p:sp>
      <p:sp>
        <p:nvSpPr>
          <p:cNvPr id="20" name="Text 16"/>
          <p:cNvSpPr/>
          <p:nvPr/>
        </p:nvSpPr>
        <p:spPr>
          <a:xfrm>
            <a:off x="4478522" y="3074066"/>
            <a:ext cx="1696130"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₹8,00,000</a:t>
            </a:r>
            <a:endParaRPr lang="en-US" sz="2250" dirty="0"/>
          </a:p>
        </p:txBody>
      </p:sp>
      <p:sp>
        <p:nvSpPr>
          <p:cNvPr id="21" name="Shape 17"/>
          <p:cNvSpPr/>
          <p:nvPr/>
        </p:nvSpPr>
        <p:spPr>
          <a:xfrm>
            <a:off x="6250853" y="3678748"/>
            <a:ext cx="2103792" cy="9525"/>
          </a:xfrm>
          <a:prstGeom prst="rect">
            <a:avLst/>
          </a:prstGeom>
          <a:solidFill>
            <a:srgbClr val="1A1A26">
              <a:alpha val="8000"/>
            </a:srgbClr>
          </a:solidFill>
          <a:ln/>
        </p:spPr>
        <p:txBody>
          <a:bodyPr/>
          <a:lstStyle/>
          <a:p>
            <a:endParaRPr lang="en-US"/>
          </a:p>
        </p:txBody>
      </p:sp>
      <p:sp>
        <p:nvSpPr>
          <p:cNvPr id="22" name="Text 18"/>
          <p:cNvSpPr/>
          <p:nvPr/>
        </p:nvSpPr>
        <p:spPr>
          <a:xfrm>
            <a:off x="6250853" y="3074066"/>
            <a:ext cx="2027592"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7.10%</a:t>
            </a:r>
            <a:endParaRPr lang="en-US" sz="2250" dirty="0"/>
          </a:p>
        </p:txBody>
      </p:sp>
      <p:sp>
        <p:nvSpPr>
          <p:cNvPr id="23" name="Shape 19"/>
          <p:cNvSpPr/>
          <p:nvPr/>
        </p:nvSpPr>
        <p:spPr>
          <a:xfrm>
            <a:off x="8354645" y="3678748"/>
            <a:ext cx="2123777" cy="9525"/>
          </a:xfrm>
          <a:prstGeom prst="rect">
            <a:avLst/>
          </a:prstGeom>
          <a:solidFill>
            <a:srgbClr val="1A1A26">
              <a:alpha val="8000"/>
            </a:srgbClr>
          </a:solidFill>
          <a:ln/>
        </p:spPr>
        <p:txBody>
          <a:bodyPr/>
          <a:lstStyle/>
          <a:p>
            <a:endParaRPr lang="en-US"/>
          </a:p>
        </p:txBody>
      </p:sp>
      <p:sp>
        <p:nvSpPr>
          <p:cNvPr id="24" name="Text 20"/>
          <p:cNvSpPr/>
          <p:nvPr/>
        </p:nvSpPr>
        <p:spPr>
          <a:xfrm>
            <a:off x="8354645" y="3074066"/>
            <a:ext cx="2047577"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Mar 2027</a:t>
            </a:r>
            <a:endParaRPr lang="en-US" sz="2250" dirty="0"/>
          </a:p>
        </p:txBody>
      </p:sp>
      <p:sp>
        <p:nvSpPr>
          <p:cNvPr id="25" name="Shape 21"/>
          <p:cNvSpPr/>
          <p:nvPr/>
        </p:nvSpPr>
        <p:spPr>
          <a:xfrm>
            <a:off x="10478422" y="3678748"/>
            <a:ext cx="6895137" cy="9525"/>
          </a:xfrm>
          <a:prstGeom prst="rect">
            <a:avLst/>
          </a:prstGeom>
          <a:solidFill>
            <a:srgbClr val="1A1A26">
              <a:alpha val="8000"/>
            </a:srgbClr>
          </a:solidFill>
          <a:ln/>
        </p:spPr>
        <p:txBody>
          <a:bodyPr/>
          <a:lstStyle/>
          <a:p>
            <a:endParaRPr lang="en-US"/>
          </a:p>
        </p:txBody>
      </p:sp>
      <p:sp>
        <p:nvSpPr>
          <p:cNvPr id="26" name="Text 22"/>
          <p:cNvSpPr/>
          <p:nvPr/>
        </p:nvSpPr>
        <p:spPr>
          <a:xfrm>
            <a:off x="10478422" y="3074066"/>
            <a:ext cx="7101991"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alpha val="90000"/>
                  </a:srgbClr>
                </a:solidFill>
                <a:latin typeface="Barlow" pitchFamily="34" charset="0"/>
                <a:ea typeface="Barlow" pitchFamily="34" charset="-122"/>
                <a:cs typeface="Barlow" pitchFamily="34" charset="-120"/>
              </a:rPr>
              <a:t>Retain — core emergency reserve</a:t>
            </a:r>
            <a:endParaRPr lang="en-US" sz="2250" dirty="0"/>
          </a:p>
        </p:txBody>
      </p:sp>
      <p:sp>
        <p:nvSpPr>
          <p:cNvPr id="27" name="Shape 23"/>
          <p:cNvSpPr/>
          <p:nvPr/>
        </p:nvSpPr>
        <p:spPr>
          <a:xfrm>
            <a:off x="914372" y="4454426"/>
            <a:ext cx="3564150" cy="9525"/>
          </a:xfrm>
          <a:prstGeom prst="rect">
            <a:avLst/>
          </a:prstGeom>
          <a:solidFill>
            <a:srgbClr val="1A1A26">
              <a:alpha val="8000"/>
            </a:srgbClr>
          </a:solidFill>
          <a:ln/>
        </p:spPr>
        <p:txBody>
          <a:bodyPr/>
          <a:lstStyle/>
          <a:p>
            <a:endParaRPr lang="en-US"/>
          </a:p>
        </p:txBody>
      </p:sp>
      <p:sp>
        <p:nvSpPr>
          <p:cNvPr id="28" name="Text 24"/>
          <p:cNvSpPr/>
          <p:nvPr/>
        </p:nvSpPr>
        <p:spPr>
          <a:xfrm>
            <a:off x="914372" y="3849744"/>
            <a:ext cx="3518675"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Private bank</a:t>
            </a:r>
            <a:endParaRPr lang="en-US" sz="2250" dirty="0"/>
          </a:p>
        </p:txBody>
      </p:sp>
      <p:sp>
        <p:nvSpPr>
          <p:cNvPr id="29" name="Shape 25"/>
          <p:cNvSpPr/>
          <p:nvPr/>
        </p:nvSpPr>
        <p:spPr>
          <a:xfrm>
            <a:off x="4478522" y="4454426"/>
            <a:ext cx="1772330" cy="9525"/>
          </a:xfrm>
          <a:prstGeom prst="rect">
            <a:avLst/>
          </a:prstGeom>
          <a:solidFill>
            <a:srgbClr val="1A1A26">
              <a:alpha val="8000"/>
            </a:srgbClr>
          </a:solidFill>
          <a:ln/>
        </p:spPr>
        <p:txBody>
          <a:bodyPr/>
          <a:lstStyle/>
          <a:p>
            <a:endParaRPr lang="en-US"/>
          </a:p>
        </p:txBody>
      </p:sp>
      <p:sp>
        <p:nvSpPr>
          <p:cNvPr id="30" name="Text 26"/>
          <p:cNvSpPr/>
          <p:nvPr/>
        </p:nvSpPr>
        <p:spPr>
          <a:xfrm>
            <a:off x="4478522" y="3849744"/>
            <a:ext cx="1696130"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₹4,00,000</a:t>
            </a:r>
            <a:endParaRPr lang="en-US" sz="2250" dirty="0"/>
          </a:p>
        </p:txBody>
      </p:sp>
      <p:sp>
        <p:nvSpPr>
          <p:cNvPr id="31" name="Shape 27"/>
          <p:cNvSpPr/>
          <p:nvPr/>
        </p:nvSpPr>
        <p:spPr>
          <a:xfrm>
            <a:off x="6250853" y="4454426"/>
            <a:ext cx="2103792" cy="9525"/>
          </a:xfrm>
          <a:prstGeom prst="rect">
            <a:avLst/>
          </a:prstGeom>
          <a:solidFill>
            <a:srgbClr val="1A1A26">
              <a:alpha val="8000"/>
            </a:srgbClr>
          </a:solidFill>
          <a:ln/>
        </p:spPr>
        <p:txBody>
          <a:bodyPr/>
          <a:lstStyle/>
          <a:p>
            <a:endParaRPr lang="en-US"/>
          </a:p>
        </p:txBody>
      </p:sp>
      <p:sp>
        <p:nvSpPr>
          <p:cNvPr id="32" name="Text 28"/>
          <p:cNvSpPr/>
          <p:nvPr/>
        </p:nvSpPr>
        <p:spPr>
          <a:xfrm>
            <a:off x="6250853" y="3849744"/>
            <a:ext cx="2027592"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7.40%</a:t>
            </a:r>
            <a:endParaRPr lang="en-US" sz="2250" dirty="0"/>
          </a:p>
        </p:txBody>
      </p:sp>
      <p:sp>
        <p:nvSpPr>
          <p:cNvPr id="33" name="Shape 29"/>
          <p:cNvSpPr/>
          <p:nvPr/>
        </p:nvSpPr>
        <p:spPr>
          <a:xfrm>
            <a:off x="8354645" y="4454426"/>
            <a:ext cx="2123777" cy="9525"/>
          </a:xfrm>
          <a:prstGeom prst="rect">
            <a:avLst/>
          </a:prstGeom>
          <a:solidFill>
            <a:srgbClr val="1A1A26">
              <a:alpha val="8000"/>
            </a:srgbClr>
          </a:solidFill>
          <a:ln/>
        </p:spPr>
        <p:txBody>
          <a:bodyPr/>
          <a:lstStyle/>
          <a:p>
            <a:endParaRPr lang="en-US"/>
          </a:p>
        </p:txBody>
      </p:sp>
      <p:sp>
        <p:nvSpPr>
          <p:cNvPr id="34" name="Text 30"/>
          <p:cNvSpPr/>
          <p:nvPr/>
        </p:nvSpPr>
        <p:spPr>
          <a:xfrm>
            <a:off x="8354645" y="3849744"/>
            <a:ext cx="2047577"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Sep 2027</a:t>
            </a:r>
            <a:endParaRPr lang="en-US" sz="2250" dirty="0"/>
          </a:p>
        </p:txBody>
      </p:sp>
      <p:sp>
        <p:nvSpPr>
          <p:cNvPr id="35" name="Shape 31"/>
          <p:cNvSpPr/>
          <p:nvPr/>
        </p:nvSpPr>
        <p:spPr>
          <a:xfrm>
            <a:off x="10478422" y="4454426"/>
            <a:ext cx="6895137" cy="9525"/>
          </a:xfrm>
          <a:prstGeom prst="rect">
            <a:avLst/>
          </a:prstGeom>
          <a:solidFill>
            <a:srgbClr val="1A1A26">
              <a:alpha val="8000"/>
            </a:srgbClr>
          </a:solidFill>
          <a:ln/>
        </p:spPr>
        <p:txBody>
          <a:bodyPr/>
          <a:lstStyle/>
          <a:p>
            <a:endParaRPr lang="en-US"/>
          </a:p>
        </p:txBody>
      </p:sp>
      <p:sp>
        <p:nvSpPr>
          <p:cNvPr id="36" name="Text 32"/>
          <p:cNvSpPr/>
          <p:nvPr/>
        </p:nvSpPr>
        <p:spPr>
          <a:xfrm>
            <a:off x="10478422" y="3849744"/>
            <a:ext cx="7101991"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alpha val="90000"/>
                  </a:srgbClr>
                </a:solidFill>
                <a:latin typeface="Barlow" pitchFamily="34" charset="0"/>
                <a:ea typeface="Barlow" pitchFamily="34" charset="-122"/>
                <a:cs typeface="Barlow" pitchFamily="34" charset="-120"/>
              </a:rPr>
              <a:t>Reallocate on maturity to the retirement portfolio</a:t>
            </a:r>
            <a:endParaRPr lang="en-US" sz="2250" dirty="0"/>
          </a:p>
        </p:txBody>
      </p:sp>
      <p:sp>
        <p:nvSpPr>
          <p:cNvPr id="37" name="Shape 33"/>
          <p:cNvSpPr/>
          <p:nvPr/>
        </p:nvSpPr>
        <p:spPr>
          <a:xfrm>
            <a:off x="914372" y="5230104"/>
            <a:ext cx="3564150" cy="9525"/>
          </a:xfrm>
          <a:prstGeom prst="rect">
            <a:avLst/>
          </a:prstGeom>
          <a:solidFill>
            <a:srgbClr val="1A1A26">
              <a:alpha val="8000"/>
            </a:srgbClr>
          </a:solidFill>
          <a:ln/>
        </p:spPr>
        <p:txBody>
          <a:bodyPr/>
          <a:lstStyle/>
          <a:p>
            <a:endParaRPr lang="en-US"/>
          </a:p>
        </p:txBody>
      </p:sp>
      <p:sp>
        <p:nvSpPr>
          <p:cNvPr id="38" name="Text 34"/>
          <p:cNvSpPr/>
          <p:nvPr/>
        </p:nvSpPr>
        <p:spPr>
          <a:xfrm>
            <a:off x="914372" y="4625423"/>
            <a:ext cx="3518675"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Small finance bank</a:t>
            </a:r>
            <a:endParaRPr lang="en-US" sz="2250" dirty="0"/>
          </a:p>
        </p:txBody>
      </p:sp>
      <p:sp>
        <p:nvSpPr>
          <p:cNvPr id="39" name="Shape 35"/>
          <p:cNvSpPr/>
          <p:nvPr/>
        </p:nvSpPr>
        <p:spPr>
          <a:xfrm>
            <a:off x="4478522" y="5230104"/>
            <a:ext cx="1772330" cy="9525"/>
          </a:xfrm>
          <a:prstGeom prst="rect">
            <a:avLst/>
          </a:prstGeom>
          <a:solidFill>
            <a:srgbClr val="1A1A26">
              <a:alpha val="8000"/>
            </a:srgbClr>
          </a:solidFill>
          <a:ln/>
        </p:spPr>
        <p:txBody>
          <a:bodyPr/>
          <a:lstStyle/>
          <a:p>
            <a:endParaRPr lang="en-US"/>
          </a:p>
        </p:txBody>
      </p:sp>
      <p:sp>
        <p:nvSpPr>
          <p:cNvPr id="40" name="Text 36"/>
          <p:cNvSpPr/>
          <p:nvPr/>
        </p:nvSpPr>
        <p:spPr>
          <a:xfrm>
            <a:off x="4478522" y="4625423"/>
            <a:ext cx="1696130"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₹5,00,000</a:t>
            </a:r>
            <a:endParaRPr lang="en-US" sz="2250" dirty="0"/>
          </a:p>
        </p:txBody>
      </p:sp>
      <p:sp>
        <p:nvSpPr>
          <p:cNvPr id="41" name="Shape 37"/>
          <p:cNvSpPr/>
          <p:nvPr/>
        </p:nvSpPr>
        <p:spPr>
          <a:xfrm>
            <a:off x="6250853" y="5230104"/>
            <a:ext cx="2103792" cy="9525"/>
          </a:xfrm>
          <a:prstGeom prst="rect">
            <a:avLst/>
          </a:prstGeom>
          <a:solidFill>
            <a:srgbClr val="1A1A26">
              <a:alpha val="8000"/>
            </a:srgbClr>
          </a:solidFill>
          <a:ln/>
        </p:spPr>
        <p:txBody>
          <a:bodyPr/>
          <a:lstStyle/>
          <a:p>
            <a:endParaRPr lang="en-US"/>
          </a:p>
        </p:txBody>
      </p:sp>
      <p:sp>
        <p:nvSpPr>
          <p:cNvPr id="42" name="Text 38"/>
          <p:cNvSpPr/>
          <p:nvPr/>
        </p:nvSpPr>
        <p:spPr>
          <a:xfrm>
            <a:off x="6250853" y="4625423"/>
            <a:ext cx="2027592"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7.90%</a:t>
            </a:r>
            <a:endParaRPr lang="en-US" sz="2250" dirty="0"/>
          </a:p>
        </p:txBody>
      </p:sp>
      <p:sp>
        <p:nvSpPr>
          <p:cNvPr id="43" name="Shape 39"/>
          <p:cNvSpPr/>
          <p:nvPr/>
        </p:nvSpPr>
        <p:spPr>
          <a:xfrm>
            <a:off x="8354645" y="5230104"/>
            <a:ext cx="2123777" cy="9525"/>
          </a:xfrm>
          <a:prstGeom prst="rect">
            <a:avLst/>
          </a:prstGeom>
          <a:solidFill>
            <a:srgbClr val="1A1A26">
              <a:alpha val="8000"/>
            </a:srgbClr>
          </a:solidFill>
          <a:ln/>
        </p:spPr>
        <p:txBody>
          <a:bodyPr/>
          <a:lstStyle/>
          <a:p>
            <a:endParaRPr lang="en-US"/>
          </a:p>
        </p:txBody>
      </p:sp>
      <p:sp>
        <p:nvSpPr>
          <p:cNvPr id="44" name="Text 40"/>
          <p:cNvSpPr/>
          <p:nvPr/>
        </p:nvSpPr>
        <p:spPr>
          <a:xfrm>
            <a:off x="8354645" y="4625423"/>
            <a:ext cx="2047577"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Jan 2028</a:t>
            </a:r>
            <a:endParaRPr lang="en-US" sz="2250" dirty="0"/>
          </a:p>
        </p:txBody>
      </p:sp>
      <p:sp>
        <p:nvSpPr>
          <p:cNvPr id="45" name="Shape 41"/>
          <p:cNvSpPr/>
          <p:nvPr/>
        </p:nvSpPr>
        <p:spPr>
          <a:xfrm>
            <a:off x="10478422" y="5230104"/>
            <a:ext cx="6895137" cy="9525"/>
          </a:xfrm>
          <a:prstGeom prst="rect">
            <a:avLst/>
          </a:prstGeom>
          <a:solidFill>
            <a:srgbClr val="1A1A26">
              <a:alpha val="8000"/>
            </a:srgbClr>
          </a:solidFill>
          <a:ln/>
        </p:spPr>
        <p:txBody>
          <a:bodyPr/>
          <a:lstStyle/>
          <a:p>
            <a:endParaRPr lang="en-US"/>
          </a:p>
        </p:txBody>
      </p:sp>
      <p:sp>
        <p:nvSpPr>
          <p:cNvPr id="46" name="Text 42"/>
          <p:cNvSpPr/>
          <p:nvPr/>
        </p:nvSpPr>
        <p:spPr>
          <a:xfrm>
            <a:off x="10478422" y="4625423"/>
            <a:ext cx="7101991"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alpha val="90000"/>
                  </a:srgbClr>
                </a:solidFill>
                <a:latin typeface="Barlow" pitchFamily="34" charset="0"/>
                <a:ea typeface="Barlow" pitchFamily="34" charset="-122"/>
                <a:cs typeface="Barlow" pitchFamily="34" charset="-120"/>
              </a:rPr>
              <a:t>Retain — part of the emergency reserve</a:t>
            </a:r>
            <a:endParaRPr lang="en-US" sz="2250" dirty="0"/>
          </a:p>
        </p:txBody>
      </p:sp>
      <p:sp>
        <p:nvSpPr>
          <p:cNvPr id="47" name="Shape 43"/>
          <p:cNvSpPr/>
          <p:nvPr/>
        </p:nvSpPr>
        <p:spPr>
          <a:xfrm>
            <a:off x="914372" y="6005782"/>
            <a:ext cx="3564150" cy="9525"/>
          </a:xfrm>
          <a:prstGeom prst="rect">
            <a:avLst/>
          </a:prstGeom>
          <a:solidFill>
            <a:srgbClr val="1A1A26">
              <a:alpha val="8000"/>
            </a:srgbClr>
          </a:solidFill>
          <a:ln/>
        </p:spPr>
        <p:txBody>
          <a:bodyPr/>
          <a:lstStyle/>
          <a:p>
            <a:endParaRPr lang="en-US"/>
          </a:p>
        </p:txBody>
      </p:sp>
      <p:sp>
        <p:nvSpPr>
          <p:cNvPr id="48" name="Text 44"/>
          <p:cNvSpPr/>
          <p:nvPr/>
        </p:nvSpPr>
        <p:spPr>
          <a:xfrm>
            <a:off x="914372" y="5401101"/>
            <a:ext cx="3518675"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Corporate deposit</a:t>
            </a:r>
            <a:endParaRPr lang="en-US" sz="2250" dirty="0"/>
          </a:p>
        </p:txBody>
      </p:sp>
      <p:sp>
        <p:nvSpPr>
          <p:cNvPr id="49" name="Shape 45"/>
          <p:cNvSpPr/>
          <p:nvPr/>
        </p:nvSpPr>
        <p:spPr>
          <a:xfrm>
            <a:off x="4478522" y="6005782"/>
            <a:ext cx="1772330" cy="9525"/>
          </a:xfrm>
          <a:prstGeom prst="rect">
            <a:avLst/>
          </a:prstGeom>
          <a:solidFill>
            <a:srgbClr val="1A1A26">
              <a:alpha val="8000"/>
            </a:srgbClr>
          </a:solidFill>
          <a:ln/>
        </p:spPr>
        <p:txBody>
          <a:bodyPr/>
          <a:lstStyle/>
          <a:p>
            <a:endParaRPr lang="en-US"/>
          </a:p>
        </p:txBody>
      </p:sp>
      <p:sp>
        <p:nvSpPr>
          <p:cNvPr id="50" name="Text 46"/>
          <p:cNvSpPr/>
          <p:nvPr/>
        </p:nvSpPr>
        <p:spPr>
          <a:xfrm>
            <a:off x="4478522" y="5401101"/>
            <a:ext cx="1696130"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₹6,00,000</a:t>
            </a:r>
            <a:endParaRPr lang="en-US" sz="2250" dirty="0"/>
          </a:p>
        </p:txBody>
      </p:sp>
      <p:sp>
        <p:nvSpPr>
          <p:cNvPr id="51" name="Shape 47"/>
          <p:cNvSpPr/>
          <p:nvPr/>
        </p:nvSpPr>
        <p:spPr>
          <a:xfrm>
            <a:off x="6250853" y="6005782"/>
            <a:ext cx="2103792" cy="9525"/>
          </a:xfrm>
          <a:prstGeom prst="rect">
            <a:avLst/>
          </a:prstGeom>
          <a:solidFill>
            <a:srgbClr val="1A1A26">
              <a:alpha val="8000"/>
            </a:srgbClr>
          </a:solidFill>
          <a:ln/>
        </p:spPr>
        <p:txBody>
          <a:bodyPr/>
          <a:lstStyle/>
          <a:p>
            <a:endParaRPr lang="en-US"/>
          </a:p>
        </p:txBody>
      </p:sp>
      <p:sp>
        <p:nvSpPr>
          <p:cNvPr id="52" name="Text 48"/>
          <p:cNvSpPr/>
          <p:nvPr/>
        </p:nvSpPr>
        <p:spPr>
          <a:xfrm>
            <a:off x="6250853" y="5401101"/>
            <a:ext cx="2027592"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8.20%</a:t>
            </a:r>
            <a:endParaRPr lang="en-US" sz="2250" dirty="0"/>
          </a:p>
        </p:txBody>
      </p:sp>
      <p:sp>
        <p:nvSpPr>
          <p:cNvPr id="53" name="Shape 49"/>
          <p:cNvSpPr/>
          <p:nvPr/>
        </p:nvSpPr>
        <p:spPr>
          <a:xfrm>
            <a:off x="8354645" y="6005782"/>
            <a:ext cx="2123777" cy="9525"/>
          </a:xfrm>
          <a:prstGeom prst="rect">
            <a:avLst/>
          </a:prstGeom>
          <a:solidFill>
            <a:srgbClr val="1A1A26">
              <a:alpha val="8000"/>
            </a:srgbClr>
          </a:solidFill>
          <a:ln/>
        </p:spPr>
        <p:txBody>
          <a:bodyPr/>
          <a:lstStyle/>
          <a:p>
            <a:endParaRPr lang="en-US"/>
          </a:p>
        </p:txBody>
      </p:sp>
      <p:sp>
        <p:nvSpPr>
          <p:cNvPr id="54" name="Text 50"/>
          <p:cNvSpPr/>
          <p:nvPr/>
        </p:nvSpPr>
        <p:spPr>
          <a:xfrm>
            <a:off x="8354645" y="5401101"/>
            <a:ext cx="2047577"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Jul 2028</a:t>
            </a:r>
            <a:endParaRPr lang="en-US" sz="2250" dirty="0"/>
          </a:p>
        </p:txBody>
      </p:sp>
      <p:sp>
        <p:nvSpPr>
          <p:cNvPr id="55" name="Shape 51"/>
          <p:cNvSpPr/>
          <p:nvPr/>
        </p:nvSpPr>
        <p:spPr>
          <a:xfrm>
            <a:off x="10478422" y="6005782"/>
            <a:ext cx="6895137" cy="9525"/>
          </a:xfrm>
          <a:prstGeom prst="rect">
            <a:avLst/>
          </a:prstGeom>
          <a:solidFill>
            <a:srgbClr val="1A1A26">
              <a:alpha val="8000"/>
            </a:srgbClr>
          </a:solidFill>
          <a:ln/>
        </p:spPr>
        <p:txBody>
          <a:bodyPr/>
          <a:lstStyle/>
          <a:p>
            <a:endParaRPr lang="en-US"/>
          </a:p>
        </p:txBody>
      </p:sp>
      <p:sp>
        <p:nvSpPr>
          <p:cNvPr id="56" name="Text 52"/>
          <p:cNvSpPr/>
          <p:nvPr/>
        </p:nvSpPr>
        <p:spPr>
          <a:xfrm>
            <a:off x="10478422" y="5401101"/>
            <a:ext cx="7101991"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alpha val="90000"/>
                  </a:srgbClr>
                </a:solidFill>
                <a:latin typeface="Barlow" pitchFamily="34" charset="0"/>
                <a:ea typeface="Barlow" pitchFamily="34" charset="-122"/>
                <a:cs typeface="Barlow" pitchFamily="34" charset="-120"/>
              </a:rPr>
              <a:t>AAA rated; carried into the retirement bucket</a:t>
            </a:r>
            <a:endParaRPr lang="en-US" sz="2250" dirty="0"/>
          </a:p>
        </p:txBody>
      </p:sp>
      <p:sp>
        <p:nvSpPr>
          <p:cNvPr id="57" name="Shape 53"/>
          <p:cNvSpPr/>
          <p:nvPr/>
        </p:nvSpPr>
        <p:spPr>
          <a:xfrm>
            <a:off x="914372" y="6781460"/>
            <a:ext cx="3564150" cy="9525"/>
          </a:xfrm>
          <a:prstGeom prst="rect">
            <a:avLst/>
          </a:prstGeom>
          <a:solidFill>
            <a:srgbClr val="1A1A26">
              <a:alpha val="8000"/>
            </a:srgbClr>
          </a:solidFill>
          <a:ln/>
        </p:spPr>
        <p:txBody>
          <a:bodyPr/>
          <a:lstStyle/>
          <a:p>
            <a:endParaRPr lang="en-US"/>
          </a:p>
        </p:txBody>
      </p:sp>
      <p:sp>
        <p:nvSpPr>
          <p:cNvPr id="58" name="Text 54"/>
          <p:cNvSpPr/>
          <p:nvPr/>
        </p:nvSpPr>
        <p:spPr>
          <a:xfrm>
            <a:off x="914372" y="6176779"/>
            <a:ext cx="3518675"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Post office term deposit</a:t>
            </a:r>
            <a:endParaRPr lang="en-US" sz="2250" dirty="0"/>
          </a:p>
        </p:txBody>
      </p:sp>
      <p:sp>
        <p:nvSpPr>
          <p:cNvPr id="59" name="Shape 55"/>
          <p:cNvSpPr/>
          <p:nvPr/>
        </p:nvSpPr>
        <p:spPr>
          <a:xfrm>
            <a:off x="4478522" y="6781460"/>
            <a:ext cx="1772330" cy="9525"/>
          </a:xfrm>
          <a:prstGeom prst="rect">
            <a:avLst/>
          </a:prstGeom>
          <a:solidFill>
            <a:srgbClr val="1A1A26">
              <a:alpha val="8000"/>
            </a:srgbClr>
          </a:solidFill>
          <a:ln/>
        </p:spPr>
        <p:txBody>
          <a:bodyPr/>
          <a:lstStyle/>
          <a:p>
            <a:endParaRPr lang="en-US"/>
          </a:p>
        </p:txBody>
      </p:sp>
      <p:sp>
        <p:nvSpPr>
          <p:cNvPr id="60" name="Text 56"/>
          <p:cNvSpPr/>
          <p:nvPr/>
        </p:nvSpPr>
        <p:spPr>
          <a:xfrm>
            <a:off x="4478522" y="6176779"/>
            <a:ext cx="1696130"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₹5,00,000</a:t>
            </a:r>
            <a:endParaRPr lang="en-US" sz="2250" dirty="0"/>
          </a:p>
        </p:txBody>
      </p:sp>
      <p:sp>
        <p:nvSpPr>
          <p:cNvPr id="61" name="Shape 57"/>
          <p:cNvSpPr/>
          <p:nvPr/>
        </p:nvSpPr>
        <p:spPr>
          <a:xfrm>
            <a:off x="6250853" y="6781460"/>
            <a:ext cx="2103792" cy="9525"/>
          </a:xfrm>
          <a:prstGeom prst="rect">
            <a:avLst/>
          </a:prstGeom>
          <a:solidFill>
            <a:srgbClr val="1A1A26">
              <a:alpha val="8000"/>
            </a:srgbClr>
          </a:solidFill>
          <a:ln/>
        </p:spPr>
        <p:txBody>
          <a:bodyPr/>
          <a:lstStyle/>
          <a:p>
            <a:endParaRPr lang="en-US"/>
          </a:p>
        </p:txBody>
      </p:sp>
      <p:sp>
        <p:nvSpPr>
          <p:cNvPr id="62" name="Text 58"/>
          <p:cNvSpPr/>
          <p:nvPr/>
        </p:nvSpPr>
        <p:spPr>
          <a:xfrm>
            <a:off x="6250853" y="6176779"/>
            <a:ext cx="2027592"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7.50%</a:t>
            </a:r>
            <a:endParaRPr lang="en-US" sz="2250" dirty="0"/>
          </a:p>
        </p:txBody>
      </p:sp>
      <p:sp>
        <p:nvSpPr>
          <p:cNvPr id="63" name="Shape 59"/>
          <p:cNvSpPr/>
          <p:nvPr/>
        </p:nvSpPr>
        <p:spPr>
          <a:xfrm>
            <a:off x="8354645" y="6781460"/>
            <a:ext cx="2123777" cy="9525"/>
          </a:xfrm>
          <a:prstGeom prst="rect">
            <a:avLst/>
          </a:prstGeom>
          <a:solidFill>
            <a:srgbClr val="1A1A26">
              <a:alpha val="8000"/>
            </a:srgbClr>
          </a:solidFill>
          <a:ln/>
        </p:spPr>
        <p:txBody>
          <a:bodyPr/>
          <a:lstStyle/>
          <a:p>
            <a:endParaRPr lang="en-US"/>
          </a:p>
        </p:txBody>
      </p:sp>
      <p:sp>
        <p:nvSpPr>
          <p:cNvPr id="64" name="Text 60"/>
          <p:cNvSpPr/>
          <p:nvPr/>
        </p:nvSpPr>
        <p:spPr>
          <a:xfrm>
            <a:off x="8354645" y="6176779"/>
            <a:ext cx="2047577"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Nov 2029</a:t>
            </a:r>
            <a:endParaRPr lang="en-US" sz="2250" dirty="0"/>
          </a:p>
        </p:txBody>
      </p:sp>
      <p:sp>
        <p:nvSpPr>
          <p:cNvPr id="65" name="Shape 61"/>
          <p:cNvSpPr/>
          <p:nvPr/>
        </p:nvSpPr>
        <p:spPr>
          <a:xfrm>
            <a:off x="10478422" y="6781460"/>
            <a:ext cx="6895137" cy="9525"/>
          </a:xfrm>
          <a:prstGeom prst="rect">
            <a:avLst/>
          </a:prstGeom>
          <a:solidFill>
            <a:srgbClr val="1A1A26">
              <a:alpha val="8000"/>
            </a:srgbClr>
          </a:solidFill>
          <a:ln/>
        </p:spPr>
        <p:txBody>
          <a:bodyPr/>
          <a:lstStyle/>
          <a:p>
            <a:endParaRPr lang="en-US"/>
          </a:p>
        </p:txBody>
      </p:sp>
      <p:sp>
        <p:nvSpPr>
          <p:cNvPr id="66" name="Text 62"/>
          <p:cNvSpPr/>
          <p:nvPr/>
        </p:nvSpPr>
        <p:spPr>
          <a:xfrm>
            <a:off x="10478422" y="6176779"/>
            <a:ext cx="7101991"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alpha val="90000"/>
                  </a:srgbClr>
                </a:solidFill>
                <a:latin typeface="Barlow" pitchFamily="34" charset="0"/>
                <a:ea typeface="Barlow" pitchFamily="34" charset="-122"/>
                <a:cs typeface="Barlow" pitchFamily="34" charset="-120"/>
              </a:rPr>
              <a:t>Retain — part of the emergency reserve</a:t>
            </a:r>
            <a:endParaRPr lang="en-US" sz="2250" dirty="0"/>
          </a:p>
        </p:txBody>
      </p:sp>
      <p:sp>
        <p:nvSpPr>
          <p:cNvPr id="67" name="Text 63"/>
          <p:cNvSpPr/>
          <p:nvPr/>
        </p:nvSpPr>
        <p:spPr>
          <a:xfrm>
            <a:off x="914372" y="6961981"/>
            <a:ext cx="3518675" cy="603562"/>
          </a:xfrm>
          <a:prstGeom prst="rect">
            <a:avLst/>
          </a:prstGeom>
          <a:noFill/>
          <a:ln/>
        </p:spPr>
        <p:txBody>
          <a:bodyPr wrap="square" lIns="25400" tIns="25400" rIns="25400" bIns="25400" rtlCol="0" anchor="ctr">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Total</a:t>
            </a:r>
            <a:endParaRPr lang="en-US" sz="2850" dirty="0"/>
          </a:p>
        </p:txBody>
      </p:sp>
      <p:sp>
        <p:nvSpPr>
          <p:cNvPr id="68" name="Text 64"/>
          <p:cNvSpPr/>
          <p:nvPr/>
        </p:nvSpPr>
        <p:spPr>
          <a:xfrm>
            <a:off x="4478522" y="6961981"/>
            <a:ext cx="1696130" cy="603562"/>
          </a:xfrm>
          <a:prstGeom prst="rect">
            <a:avLst/>
          </a:prstGeom>
          <a:noFill/>
          <a:ln/>
        </p:spPr>
        <p:txBody>
          <a:bodyPr wrap="square" lIns="25400" tIns="25400" rIns="25400" bIns="25400" rtlCol="0" anchor="ctr">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₹28,00,000</a:t>
            </a:r>
            <a:endParaRPr lang="en-US" sz="2850" dirty="0"/>
          </a:p>
        </p:txBody>
      </p:sp>
      <p:sp>
        <p:nvSpPr>
          <p:cNvPr id="69" name="Text 65"/>
          <p:cNvSpPr/>
          <p:nvPr/>
        </p:nvSpPr>
        <p:spPr>
          <a:xfrm>
            <a:off x="6250853" y="6961981"/>
            <a:ext cx="2027592" cy="603562"/>
          </a:xfrm>
          <a:prstGeom prst="rect">
            <a:avLst/>
          </a:prstGeom>
          <a:noFill/>
          <a:ln/>
        </p:spPr>
        <p:txBody>
          <a:bodyPr wrap="square" lIns="25400" tIns="25400" rIns="25400" bIns="25400" rtlCol="0" anchor="ctr">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7.59% avg</a:t>
            </a:r>
            <a:endParaRPr lang="en-US" sz="2850" dirty="0"/>
          </a:p>
        </p:txBody>
      </p:sp>
      <p:sp>
        <p:nvSpPr>
          <p:cNvPr id="70" name="Shape 66"/>
          <p:cNvSpPr/>
          <p:nvPr/>
        </p:nvSpPr>
        <p:spPr>
          <a:xfrm>
            <a:off x="914372" y="8008867"/>
            <a:ext cx="16459187" cy="9525"/>
          </a:xfrm>
          <a:prstGeom prst="rect">
            <a:avLst/>
          </a:prstGeom>
          <a:solidFill>
            <a:srgbClr val="1D1F20">
              <a:alpha val="18000"/>
            </a:srgbClr>
          </a:solidFill>
          <a:ln/>
        </p:spPr>
        <p:txBody>
          <a:bodyPr/>
          <a:lstStyle/>
          <a:p>
            <a:endParaRPr lang="en-US"/>
          </a:p>
        </p:txBody>
      </p:sp>
      <p:sp>
        <p:nvSpPr>
          <p:cNvPr id="71" name="Text 67"/>
          <p:cNvSpPr/>
          <p:nvPr/>
        </p:nvSpPr>
        <p:spPr>
          <a:xfrm>
            <a:off x="914372" y="8246539"/>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72" name="Text 68"/>
          <p:cNvSpPr/>
          <p:nvPr/>
        </p:nvSpPr>
        <p:spPr>
          <a:xfrm>
            <a:off x="3276487" y="8208439"/>
            <a:ext cx="13244441" cy="1133688"/>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At ₹1.5 lakh of monthly expenses, ₹28 lakh is about nineteen months of cover; twelve is comfortable. After tax these deposits earn about 5.3% against 6% inflation, so roughly ₹10 lakh should move out of deposits and into the retirement portfolio as a lumpsum.</a:t>
            </a:r>
            <a:endParaRPr lang="en-US" sz="2100" dirty="0"/>
          </a:p>
        </p:txBody>
      </p:sp>
      <p:sp>
        <p:nvSpPr>
          <p:cNvPr id="73" name="Text 69"/>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74" name="Text 70"/>
          <p:cNvSpPr/>
          <p:nvPr/>
        </p:nvSpPr>
        <p:spPr>
          <a:xfrm>
            <a:off x="16741180" y="9475462"/>
            <a:ext cx="708578"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10 / 32</a:t>
            </a:r>
            <a:endParaRPr lang="en-US" sz="2100" dirty="0"/>
          </a:p>
        </p:txBody>
      </p:sp>
    </p:spTree>
    <p:extLst>
      <p:ext uri="{BB962C8B-B14F-4D97-AF65-F5344CB8AC3E}">
        <p14:creationId xmlns:p14="http://schemas.microsoft.com/office/powerpoint/2010/main" val="3966404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11430000" cy="419100"/>
          </a:xfrm>
          <a:prstGeom prst="rect">
            <a:avLst/>
          </a:prstGeom>
          <a:noFill/>
        </p:spPr>
        <p:txBody>
          <a:bodyPr wrap="square" lIns="7200" tIns="0" rIns="0" bIns="0" anchor="t">
            <a:normAutofit/>
          </a:bodyPr>
          <a:lstStyle/>
          <a:p>
            <a:pPr marL="0" indent="0" algn="l">
              <a:buNone/>
            </a:pPr>
            <a:r>
              <a:rPr lang="en-US" sz="2100" b="1" kern="0" spc="390" dirty="0">
                <a:solidFill>
                  <a:srgbClr val="2A3480"/>
                </a:solidFill>
                <a:latin typeface="Barlow"/>
                <a:cs typeface="Barlow"/>
              </a:rPr>
              <a:t>HOME LOAN · FUNDING THE PREPAYMENT</a:t>
            </a:r>
          </a:p>
        </p:txBody>
      </p:sp>
      <p:sp>
        <p:nvSpPr>
          <p:cNvPr id="102" name="Text 102"/>
          <p:cNvSpPr txBox="1"/>
          <p:nvPr/>
        </p:nvSpPr>
        <p:spPr>
          <a:xfrm>
            <a:off x="914400" y="1092200"/>
            <a:ext cx="15748000" cy="774700"/>
          </a:xfrm>
          <a:prstGeom prst="rect">
            <a:avLst/>
          </a:prstGeom>
          <a:noFill/>
        </p:spPr>
        <p:txBody>
          <a:bodyPr wrap="square" lIns="7200" tIns="0" rIns="0" bIns="0" anchor="t">
            <a:normAutofit/>
          </a:bodyPr>
          <a:lstStyle/>
          <a:p>
            <a:pPr marL="0" indent="0" algn="l">
              <a:lnSpc>
                <a:spcPct val="80000"/>
              </a:lnSpc>
              <a:buNone/>
            </a:pPr>
            <a:r>
              <a:rPr lang="en-US" sz="4400" b="1" kern="0" spc="-80" dirty="0">
                <a:solidFill>
                  <a:srgbClr val="1D1F20"/>
                </a:solidFill>
                <a:latin typeface="Barlow Condensed"/>
                <a:cs typeface="Barlow Condensed"/>
              </a:rPr>
              <a:t>The prepayment comes from idle deposits, not from the family's monthly budget</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Shape 104"/>
          <p:cNvSpPr/>
          <p:nvPr/>
        </p:nvSpPr>
        <p:spPr>
          <a:xfrm>
            <a:off x="914400" y="2540000"/>
            <a:ext cx="4978400" cy="4318000"/>
          </a:xfrm>
          <a:prstGeom prst="rect">
            <a:avLst/>
          </a:prstGeom>
          <a:solidFill>
            <a:srgbClr val="26306F"/>
          </a:solidFill>
          <a:ln>
            <a:noFill/>
          </a:ln>
        </p:spPr>
        <p:txBody>
          <a:bodyPr/>
          <a:lstStyle/>
          <a:p>
            <a:endParaRPr/>
          </a:p>
        </p:txBody>
      </p:sp>
      <p:sp>
        <p:nvSpPr>
          <p:cNvPr id="105" name="Text 105"/>
          <p:cNvSpPr txBox="1"/>
          <p:nvPr/>
        </p:nvSpPr>
        <p:spPr>
          <a:xfrm>
            <a:off x="1320800" y="2997200"/>
            <a:ext cx="4191000" cy="381000"/>
          </a:xfrm>
          <a:prstGeom prst="rect">
            <a:avLst/>
          </a:prstGeom>
          <a:noFill/>
        </p:spPr>
        <p:txBody>
          <a:bodyPr wrap="square" lIns="7200" tIns="0" rIns="0" bIns="0" anchor="t">
            <a:normAutofit/>
          </a:bodyPr>
          <a:lstStyle/>
          <a:p>
            <a:pPr marL="0" indent="0" algn="l">
              <a:buNone/>
            </a:pPr>
            <a:r>
              <a:rPr lang="en-US" sz="1700" b="1" kern="0" spc="300" dirty="0">
                <a:solidFill>
                  <a:srgbClr val="B9C0DF"/>
                </a:solidFill>
                <a:latin typeface="Barlow"/>
                <a:cs typeface="Barlow"/>
              </a:rPr>
              <a:t>TODAY'S DEPOSIT BOOK</a:t>
            </a:r>
          </a:p>
        </p:txBody>
      </p:sp>
      <p:sp>
        <p:nvSpPr>
          <p:cNvPr id="106" name="Text 106"/>
          <p:cNvSpPr txBox="1"/>
          <p:nvPr/>
        </p:nvSpPr>
        <p:spPr>
          <a:xfrm>
            <a:off x="1320800" y="3581400"/>
            <a:ext cx="4191000" cy="914400"/>
          </a:xfrm>
          <a:prstGeom prst="rect">
            <a:avLst/>
          </a:prstGeom>
          <a:noFill/>
        </p:spPr>
        <p:txBody>
          <a:bodyPr wrap="square" lIns="7200" tIns="0" rIns="0" bIns="0" anchor="t">
            <a:normAutofit/>
          </a:bodyPr>
          <a:lstStyle/>
          <a:p>
            <a:pPr marL="0" indent="0" algn="l">
              <a:lnSpc>
                <a:spcPct val="82000"/>
              </a:lnSpc>
              <a:buNone/>
            </a:pPr>
            <a:r>
              <a:rPr lang="en-US" sz="6600" b="1" kern="0" spc="-80" dirty="0">
                <a:solidFill>
                  <a:srgbClr val="FFFFFF"/>
                </a:solidFill>
                <a:latin typeface="Barlow Condensed"/>
                <a:cs typeface="Barlow Condensed"/>
              </a:rPr>
              <a:t>₹28.0 L</a:t>
            </a:r>
          </a:p>
        </p:txBody>
      </p:sp>
      <p:sp>
        <p:nvSpPr>
          <p:cNvPr id="107" name="Text 107"/>
          <p:cNvSpPr txBox="1"/>
          <p:nvPr/>
        </p:nvSpPr>
        <p:spPr>
          <a:xfrm>
            <a:off x="1320800" y="4622800"/>
            <a:ext cx="4191000" cy="1524000"/>
          </a:xfrm>
          <a:prstGeom prst="rect">
            <a:avLst/>
          </a:prstGeom>
          <a:noFill/>
        </p:spPr>
        <p:txBody>
          <a:bodyPr wrap="square" lIns="7200" tIns="0" rIns="0" bIns="0" anchor="t">
            <a:normAutofit/>
          </a:bodyPr>
          <a:lstStyle/>
          <a:p>
            <a:pPr marL="0" indent="0" algn="l">
              <a:lnSpc>
                <a:spcPct val="126000"/>
              </a:lnSpc>
              <a:buNone/>
            </a:pPr>
            <a:r>
              <a:rPr lang="en-US" sz="1800" b="0" kern="0" dirty="0">
                <a:solidFill>
                  <a:srgbClr val="FFFFFF">
                    <a:alpha val="90000"/>
                  </a:srgbClr>
                </a:solidFill>
                <a:latin typeface="Barlow"/>
                <a:cs typeface="Barlow"/>
              </a:rPr>
              <a:t>Held in fixed deposits earning about 5.3% after tax — nineteen months of household expenses, where twelve is the agreed reserve.</a:t>
            </a:r>
          </a:p>
        </p:txBody>
      </p:sp>
      <p:sp>
        <p:nvSpPr>
          <p:cNvPr id="108" name="Shape 108"/>
          <p:cNvSpPr/>
          <p:nvPr/>
        </p:nvSpPr>
        <p:spPr>
          <a:xfrm>
            <a:off x="6146800" y="4318000"/>
            <a:ext cx="711200" cy="762000"/>
          </a:xfrm>
          <a:prstGeom prst="rightArrow">
            <a:avLst>
              <a:gd name="adj1" fmla="val 55000"/>
              <a:gd name="adj2" fmla="val 50000"/>
            </a:avLst>
          </a:prstGeom>
          <a:solidFill>
            <a:srgbClr val="26306F"/>
          </a:solidFill>
          <a:ln>
            <a:noFill/>
          </a:ln>
        </p:spPr>
        <p:txBody>
          <a:bodyPr/>
          <a:lstStyle/>
          <a:p>
            <a:endParaRPr/>
          </a:p>
        </p:txBody>
      </p:sp>
      <p:sp>
        <p:nvSpPr>
          <p:cNvPr id="109" name="Shape 109"/>
          <p:cNvSpPr/>
          <p:nvPr/>
        </p:nvSpPr>
        <p:spPr>
          <a:xfrm>
            <a:off x="7112000" y="2540000"/>
            <a:ext cx="10261600" cy="1320800"/>
          </a:xfrm>
          <a:prstGeom prst="rect">
            <a:avLst/>
          </a:prstGeom>
          <a:noFill/>
          <a:ln w="9525">
            <a:solidFill>
              <a:srgbClr val="1D1F20">
                <a:alpha val="22000"/>
              </a:srgbClr>
            </a:solidFill>
          </a:ln>
        </p:spPr>
        <p:txBody>
          <a:bodyPr/>
          <a:lstStyle/>
          <a:p>
            <a:endParaRPr/>
          </a:p>
        </p:txBody>
      </p:sp>
      <p:sp>
        <p:nvSpPr>
          <p:cNvPr id="110" name="Shape 110"/>
          <p:cNvSpPr/>
          <p:nvPr/>
        </p:nvSpPr>
        <p:spPr>
          <a:xfrm>
            <a:off x="7112000" y="2540000"/>
            <a:ext cx="63500" cy="1320800"/>
          </a:xfrm>
          <a:prstGeom prst="rect">
            <a:avLst/>
          </a:prstGeom>
          <a:solidFill>
            <a:srgbClr val="26306F"/>
          </a:solidFill>
          <a:ln>
            <a:noFill/>
          </a:ln>
        </p:spPr>
        <p:txBody>
          <a:bodyPr/>
          <a:lstStyle/>
          <a:p>
            <a:endParaRPr/>
          </a:p>
        </p:txBody>
      </p:sp>
      <p:sp>
        <p:nvSpPr>
          <p:cNvPr id="111" name="Text 111"/>
          <p:cNvSpPr txBox="1"/>
          <p:nvPr/>
        </p:nvSpPr>
        <p:spPr>
          <a:xfrm>
            <a:off x="7518400" y="2819400"/>
            <a:ext cx="2794000" cy="558800"/>
          </a:xfrm>
          <a:prstGeom prst="rect">
            <a:avLst/>
          </a:prstGeom>
          <a:noFill/>
        </p:spPr>
        <p:txBody>
          <a:bodyPr wrap="square" lIns="7200" tIns="0" rIns="0" bIns="0" anchor="t">
            <a:normAutofit/>
          </a:bodyPr>
          <a:lstStyle/>
          <a:p>
            <a:pPr marL="0" indent="0" algn="l">
              <a:buNone/>
            </a:pPr>
            <a:r>
              <a:rPr lang="en-US" sz="3200" b="1" kern="0" spc="-40" dirty="0">
                <a:solidFill>
                  <a:srgbClr val="26306F"/>
                </a:solidFill>
                <a:latin typeface="Barlow Condensed"/>
                <a:cs typeface="Barlow Condensed"/>
              </a:rPr>
              <a:t>₹18.0 L</a:t>
            </a:r>
          </a:p>
        </p:txBody>
      </p:sp>
      <p:sp>
        <p:nvSpPr>
          <p:cNvPr id="112" name="Text 112"/>
          <p:cNvSpPr txBox="1"/>
          <p:nvPr/>
        </p:nvSpPr>
        <p:spPr>
          <a:xfrm>
            <a:off x="10414000" y="2794000"/>
            <a:ext cx="6604000" cy="381000"/>
          </a:xfrm>
          <a:prstGeom prst="rect">
            <a:avLst/>
          </a:prstGeom>
          <a:noFill/>
        </p:spPr>
        <p:txBody>
          <a:bodyPr wrap="square" lIns="7200" tIns="0" rIns="0" bIns="0" anchor="t">
            <a:normAutofit/>
          </a:bodyPr>
          <a:lstStyle/>
          <a:p>
            <a:pPr marL="0" indent="0" algn="l">
              <a:buNone/>
            </a:pPr>
            <a:r>
              <a:rPr lang="en-US" sz="2100" b="1" kern="0" dirty="0">
                <a:solidFill>
                  <a:srgbClr val="1D1F20"/>
                </a:solidFill>
                <a:latin typeface="Barlow"/>
                <a:cs typeface="Barlow"/>
              </a:rPr>
              <a:t>stays as the emergency reserve</a:t>
            </a:r>
          </a:p>
        </p:txBody>
      </p:sp>
      <p:sp>
        <p:nvSpPr>
          <p:cNvPr id="113" name="Text 113"/>
          <p:cNvSpPr txBox="1"/>
          <p:nvPr/>
        </p:nvSpPr>
        <p:spPr>
          <a:xfrm>
            <a:off x="10414000" y="3200400"/>
            <a:ext cx="6604000" cy="381000"/>
          </a:xfrm>
          <a:prstGeom prst="rect">
            <a:avLst/>
          </a:prstGeom>
          <a:noFill/>
        </p:spPr>
        <p:txBody>
          <a:bodyPr wrap="square" lIns="7200" tIns="0" rIns="0" bIns="0" anchor="t">
            <a:normAutofit/>
          </a:bodyPr>
          <a:lstStyle/>
          <a:p>
            <a:pPr marL="0" indent="0" algn="l">
              <a:buNone/>
            </a:pPr>
            <a:r>
              <a:rPr lang="en-US" sz="1700" b="0" kern="0" dirty="0">
                <a:solidFill>
                  <a:srgbClr val="1D1F20">
                    <a:alpha val="82000"/>
                  </a:srgbClr>
                </a:solidFill>
                <a:latin typeface="Barlow"/>
                <a:cs typeface="Barlow"/>
              </a:rPr>
              <a:t>Twelve months of expenses at ₹1.5 L a month, untouched.</a:t>
            </a:r>
          </a:p>
        </p:txBody>
      </p:sp>
      <p:sp>
        <p:nvSpPr>
          <p:cNvPr id="114" name="Shape 114"/>
          <p:cNvSpPr/>
          <p:nvPr/>
        </p:nvSpPr>
        <p:spPr>
          <a:xfrm>
            <a:off x="7112000" y="4038600"/>
            <a:ext cx="10261600" cy="1320800"/>
          </a:xfrm>
          <a:prstGeom prst="rect">
            <a:avLst/>
          </a:prstGeom>
          <a:noFill/>
          <a:ln w="9525">
            <a:solidFill>
              <a:srgbClr val="1D1F20">
                <a:alpha val="22000"/>
              </a:srgbClr>
            </a:solidFill>
          </a:ln>
        </p:spPr>
        <p:txBody>
          <a:bodyPr/>
          <a:lstStyle/>
          <a:p>
            <a:endParaRPr/>
          </a:p>
        </p:txBody>
      </p:sp>
      <p:sp>
        <p:nvSpPr>
          <p:cNvPr id="115" name="Shape 115"/>
          <p:cNvSpPr/>
          <p:nvPr/>
        </p:nvSpPr>
        <p:spPr>
          <a:xfrm>
            <a:off x="7112000" y="4038600"/>
            <a:ext cx="63500" cy="1320800"/>
          </a:xfrm>
          <a:prstGeom prst="rect">
            <a:avLst/>
          </a:prstGeom>
          <a:solidFill>
            <a:srgbClr val="2F7D3A"/>
          </a:solidFill>
          <a:ln>
            <a:noFill/>
          </a:ln>
        </p:spPr>
        <p:txBody>
          <a:bodyPr/>
          <a:lstStyle/>
          <a:p>
            <a:endParaRPr/>
          </a:p>
        </p:txBody>
      </p:sp>
      <p:sp>
        <p:nvSpPr>
          <p:cNvPr id="116" name="Text 116"/>
          <p:cNvSpPr txBox="1"/>
          <p:nvPr/>
        </p:nvSpPr>
        <p:spPr>
          <a:xfrm>
            <a:off x="7518400" y="4318000"/>
            <a:ext cx="2794000" cy="558800"/>
          </a:xfrm>
          <a:prstGeom prst="rect">
            <a:avLst/>
          </a:prstGeom>
          <a:noFill/>
        </p:spPr>
        <p:txBody>
          <a:bodyPr wrap="square" lIns="7200" tIns="0" rIns="0" bIns="0" anchor="t">
            <a:normAutofit/>
          </a:bodyPr>
          <a:lstStyle/>
          <a:p>
            <a:pPr marL="0" indent="0" algn="l">
              <a:buNone/>
            </a:pPr>
            <a:r>
              <a:rPr lang="en-US" sz="3200" b="1" kern="0" spc="-40" dirty="0">
                <a:solidFill>
                  <a:srgbClr val="2F7D3A"/>
                </a:solidFill>
                <a:latin typeface="Barlow Condensed"/>
                <a:cs typeface="Barlow Condensed"/>
              </a:rPr>
              <a:t>₹5.0 L</a:t>
            </a:r>
          </a:p>
        </p:txBody>
      </p:sp>
      <p:sp>
        <p:nvSpPr>
          <p:cNvPr id="117" name="Text 117"/>
          <p:cNvSpPr txBox="1"/>
          <p:nvPr/>
        </p:nvSpPr>
        <p:spPr>
          <a:xfrm>
            <a:off x="10414000" y="4292600"/>
            <a:ext cx="6604000" cy="381000"/>
          </a:xfrm>
          <a:prstGeom prst="rect">
            <a:avLst/>
          </a:prstGeom>
          <a:noFill/>
        </p:spPr>
        <p:txBody>
          <a:bodyPr wrap="square" lIns="7200" tIns="0" rIns="0" bIns="0" anchor="t">
            <a:normAutofit/>
          </a:bodyPr>
          <a:lstStyle/>
          <a:p>
            <a:pPr marL="0" indent="0" algn="l">
              <a:buNone/>
            </a:pPr>
            <a:r>
              <a:rPr lang="en-US" sz="2100" b="1" kern="0" dirty="0">
                <a:solidFill>
                  <a:srgbClr val="1D1F20"/>
                </a:solidFill>
                <a:latin typeface="Barlow"/>
                <a:cs typeface="Barlow"/>
              </a:rPr>
              <a:t>prepays the home loan</a:t>
            </a:r>
          </a:p>
        </p:txBody>
      </p:sp>
      <p:sp>
        <p:nvSpPr>
          <p:cNvPr id="118" name="Text 118"/>
          <p:cNvSpPr txBox="1"/>
          <p:nvPr/>
        </p:nvSpPr>
        <p:spPr>
          <a:xfrm>
            <a:off x="10414000" y="4699000"/>
            <a:ext cx="6604000" cy="381000"/>
          </a:xfrm>
          <a:prstGeom prst="rect">
            <a:avLst/>
          </a:prstGeom>
          <a:noFill/>
        </p:spPr>
        <p:txBody>
          <a:bodyPr wrap="square" lIns="7200" tIns="0" rIns="0" bIns="0" anchor="t">
            <a:normAutofit/>
          </a:bodyPr>
          <a:lstStyle/>
          <a:p>
            <a:pPr marL="0" indent="0" algn="l">
              <a:buNone/>
            </a:pPr>
            <a:r>
              <a:rPr lang="en-US" sz="1700" b="0" kern="0" dirty="0">
                <a:solidFill>
                  <a:srgbClr val="1D1F20">
                    <a:alpha val="82000"/>
                  </a:srgbClr>
                </a:solidFill>
                <a:latin typeface="Barlow"/>
                <a:cs typeface="Barlow"/>
              </a:rPr>
              <a:t>Earns 8.4% risk-free by cancelling interest; saves ₹11.2 L.</a:t>
            </a:r>
          </a:p>
        </p:txBody>
      </p:sp>
      <p:sp>
        <p:nvSpPr>
          <p:cNvPr id="119" name="Shape 119"/>
          <p:cNvSpPr/>
          <p:nvPr/>
        </p:nvSpPr>
        <p:spPr>
          <a:xfrm>
            <a:off x="7112000" y="5537200"/>
            <a:ext cx="10261600" cy="1320800"/>
          </a:xfrm>
          <a:prstGeom prst="rect">
            <a:avLst/>
          </a:prstGeom>
          <a:noFill/>
          <a:ln w="9525">
            <a:solidFill>
              <a:srgbClr val="1D1F20">
                <a:alpha val="22000"/>
              </a:srgbClr>
            </a:solidFill>
          </a:ln>
        </p:spPr>
        <p:txBody>
          <a:bodyPr/>
          <a:lstStyle/>
          <a:p>
            <a:endParaRPr/>
          </a:p>
        </p:txBody>
      </p:sp>
      <p:sp>
        <p:nvSpPr>
          <p:cNvPr id="120" name="Shape 120"/>
          <p:cNvSpPr/>
          <p:nvPr/>
        </p:nvSpPr>
        <p:spPr>
          <a:xfrm>
            <a:off x="7112000" y="5537200"/>
            <a:ext cx="63500" cy="1320800"/>
          </a:xfrm>
          <a:prstGeom prst="rect">
            <a:avLst/>
          </a:prstGeom>
          <a:solidFill>
            <a:srgbClr val="2F7D3A"/>
          </a:solidFill>
          <a:ln>
            <a:noFill/>
          </a:ln>
        </p:spPr>
        <p:txBody>
          <a:bodyPr/>
          <a:lstStyle/>
          <a:p>
            <a:endParaRPr/>
          </a:p>
        </p:txBody>
      </p:sp>
      <p:sp>
        <p:nvSpPr>
          <p:cNvPr id="121" name="Text 121"/>
          <p:cNvSpPr txBox="1"/>
          <p:nvPr/>
        </p:nvSpPr>
        <p:spPr>
          <a:xfrm>
            <a:off x="7518400" y="5816600"/>
            <a:ext cx="2794000" cy="558800"/>
          </a:xfrm>
          <a:prstGeom prst="rect">
            <a:avLst/>
          </a:prstGeom>
          <a:noFill/>
        </p:spPr>
        <p:txBody>
          <a:bodyPr wrap="square" lIns="7200" tIns="0" rIns="0" bIns="0" anchor="t">
            <a:normAutofit/>
          </a:bodyPr>
          <a:lstStyle/>
          <a:p>
            <a:pPr marL="0" indent="0" algn="l">
              <a:buNone/>
            </a:pPr>
            <a:r>
              <a:rPr lang="en-US" sz="3200" b="1" kern="0" spc="-40" dirty="0">
                <a:solidFill>
                  <a:srgbClr val="2F7D3A"/>
                </a:solidFill>
                <a:latin typeface="Barlow Condensed"/>
                <a:cs typeface="Barlow Condensed"/>
              </a:rPr>
              <a:t>₹5.0 L</a:t>
            </a:r>
          </a:p>
        </p:txBody>
      </p:sp>
      <p:sp>
        <p:nvSpPr>
          <p:cNvPr id="122" name="Text 122"/>
          <p:cNvSpPr txBox="1"/>
          <p:nvPr/>
        </p:nvSpPr>
        <p:spPr>
          <a:xfrm>
            <a:off x="10414000" y="5791200"/>
            <a:ext cx="6604000" cy="381000"/>
          </a:xfrm>
          <a:prstGeom prst="rect">
            <a:avLst/>
          </a:prstGeom>
          <a:noFill/>
        </p:spPr>
        <p:txBody>
          <a:bodyPr wrap="square" lIns="7200" tIns="0" rIns="0" bIns="0" anchor="t">
            <a:normAutofit/>
          </a:bodyPr>
          <a:lstStyle/>
          <a:p>
            <a:pPr marL="0" indent="0" algn="l">
              <a:buNone/>
            </a:pPr>
            <a:r>
              <a:rPr lang="en-US" sz="2100" b="1" kern="0" dirty="0">
                <a:solidFill>
                  <a:srgbClr val="1D1F20"/>
                </a:solidFill>
                <a:latin typeface="Barlow"/>
                <a:cs typeface="Barlow"/>
              </a:rPr>
              <a:t>moves to the retirement portfolio</a:t>
            </a:r>
          </a:p>
        </p:txBody>
      </p:sp>
      <p:sp>
        <p:nvSpPr>
          <p:cNvPr id="123" name="Text 123"/>
          <p:cNvSpPr txBox="1"/>
          <p:nvPr/>
        </p:nvSpPr>
        <p:spPr>
          <a:xfrm>
            <a:off x="10414000" y="6197600"/>
            <a:ext cx="6604000" cy="381000"/>
          </a:xfrm>
          <a:prstGeom prst="rect">
            <a:avLst/>
          </a:prstGeom>
          <a:noFill/>
        </p:spPr>
        <p:txBody>
          <a:bodyPr wrap="square" lIns="7200" tIns="0" rIns="0" bIns="0" anchor="t">
            <a:normAutofit/>
          </a:bodyPr>
          <a:lstStyle/>
          <a:p>
            <a:pPr marL="0" indent="0" algn="l">
              <a:buNone/>
            </a:pPr>
            <a:r>
              <a:rPr lang="en-US" sz="1700" b="0" kern="0" dirty="0">
                <a:solidFill>
                  <a:srgbClr val="1D1F20">
                    <a:alpha val="82000"/>
                  </a:srgbClr>
                </a:solidFill>
                <a:latin typeface="Barlow"/>
                <a:cs typeface="Barlow"/>
              </a:rPr>
              <a:t>Grows at an expected 10-11% instead of 5.3% after tax.</a:t>
            </a:r>
          </a:p>
        </p:txBody>
      </p:sp>
      <p:sp>
        <p:nvSpPr>
          <p:cNvPr id="124" name="Shape 124"/>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125" name="Text 125"/>
          <p:cNvSpPr txBox="1"/>
          <p:nvPr/>
        </p:nvSpPr>
        <p:spPr>
          <a:xfrm>
            <a:off x="914400" y="7696200"/>
            <a:ext cx="2159000" cy="393700"/>
          </a:xfrm>
          <a:prstGeom prst="rect">
            <a:avLst/>
          </a:prstGeom>
          <a:noFill/>
        </p:spPr>
        <p:txBody>
          <a:bodyPr wrap="square" lIns="720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126" name="Text 126"/>
          <p:cNvSpPr txBox="1"/>
          <p:nvPr/>
        </p:nvSpPr>
        <p:spPr>
          <a:xfrm>
            <a:off x="3276600" y="7658100"/>
            <a:ext cx="13246100" cy="774700"/>
          </a:xfrm>
          <a:prstGeom prst="rect">
            <a:avLst/>
          </a:prstGeom>
          <a:noFill/>
        </p:spPr>
        <p:txBody>
          <a:bodyPr wrap="square" lIns="7200" tIns="0" rIns="0" bIns="0" anchor="t">
            <a:normAutofit fontScale="92500"/>
          </a:bodyPr>
          <a:lstStyle/>
          <a:p>
            <a:pPr marL="0" indent="0" algn="l">
              <a:lnSpc>
                <a:spcPct val="118000"/>
              </a:lnSpc>
              <a:buNone/>
            </a:pPr>
            <a:r>
              <a:rPr lang="en-US" sz="2100" b="0" kern="0" dirty="0">
                <a:solidFill>
                  <a:srgbClr val="1D1F20">
                    <a:alpha val="90000"/>
                  </a:srgbClr>
                </a:solidFill>
                <a:latin typeface="Barlow"/>
                <a:cs typeface="Barlow"/>
              </a:rPr>
              <a:t>The reserve stays fully intact at twelve months. Only the excess above it is put to work, so the family takes on no additional risk and gives up no liquidity it actually needs. The ₹2 lakh car-loan prepayment comes from monthly surplus, not from this pool.</a:t>
            </a:r>
          </a:p>
        </p:txBody>
      </p:sp>
      <p:sp>
        <p:nvSpPr>
          <p:cNvPr id="127" name="Text 127"/>
          <p:cNvSpPr txBox="1"/>
          <p:nvPr/>
        </p:nvSpPr>
        <p:spPr>
          <a:xfrm>
            <a:off x="914400" y="9474200"/>
            <a:ext cx="5080000" cy="393700"/>
          </a:xfrm>
          <a:prstGeom prst="rect">
            <a:avLst/>
          </a:prstGeom>
          <a:noFill/>
        </p:spPr>
        <p:txBody>
          <a:bodyPr wrap="square" lIns="720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28" name="Text 128"/>
          <p:cNvSpPr txBox="1"/>
          <p:nvPr/>
        </p:nvSpPr>
        <p:spPr>
          <a:xfrm>
            <a:off x="14833600" y="9474200"/>
            <a:ext cx="2540000" cy="393700"/>
          </a:xfrm>
          <a:prstGeom prst="rect">
            <a:avLst/>
          </a:prstGeom>
          <a:noFill/>
        </p:spPr>
        <p:txBody>
          <a:bodyPr wrap="square" lIns="7200" tIns="0" rIns="0" bIns="0" anchor="t">
            <a:normAutofit/>
          </a:bodyPr>
          <a:lstStyle/>
          <a:p>
            <a:pPr marL="0" indent="0" algn="r">
              <a:buNone/>
            </a:pPr>
            <a:r>
              <a:rPr lang="en-US" sz="1600" b="0" kern="0" dirty="0">
                <a:solidFill>
                  <a:srgbClr val="2A3480"/>
                </a:solidFill>
                <a:latin typeface="Barlow"/>
                <a:cs typeface="Barlow"/>
              </a:rPr>
              <a:t>07 / 14</a:t>
            </a:r>
          </a:p>
        </p:txBody>
      </p:sp>
    </p:spTree>
    <p:extLst>
      <p:ext uri="{BB962C8B-B14F-4D97-AF65-F5344CB8AC3E}">
        <p14:creationId xmlns:p14="http://schemas.microsoft.com/office/powerpoint/2010/main" val="2430208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1B50"/>
        </a:solidFill>
        <a:effectLst/>
      </p:bgPr>
    </p:bg>
    <p:spTree>
      <p:nvGrpSpPr>
        <p:cNvPr id="1" name="Shape 561"/>
        <p:cNvGrpSpPr/>
        <p:nvPr/>
      </p:nvGrpSpPr>
      <p:grpSpPr>
        <a:xfrm>
          <a:off x="0" y="0"/>
          <a:ext cx="0" cy="0"/>
          <a:chOff x="0" y="0"/>
          <a:chExt cx="0" cy="0"/>
        </a:xfrm>
      </p:grpSpPr>
      <p:sp>
        <p:nvSpPr>
          <p:cNvPr id="563" name="Google Shape;563;p16"/>
          <p:cNvSpPr/>
          <p:nvPr/>
        </p:nvSpPr>
        <p:spPr>
          <a:xfrm>
            <a:off x="914372" y="4034118"/>
            <a:ext cx="8844056" cy="1097164"/>
          </a:xfrm>
          <a:prstGeom prst="rect">
            <a:avLst/>
          </a:prstGeom>
          <a:noFill/>
          <a:ln>
            <a:noFill/>
          </a:ln>
        </p:spPr>
        <p:txBody>
          <a:bodyPr spcFirstLastPara="1" wrap="square" lIns="25400" tIns="25400" rIns="25400" bIns="25400" anchor="t" anchorCtr="0">
            <a:noAutofit/>
          </a:bodyPr>
          <a:lstStyle/>
          <a:p>
            <a:pPr marL="0" marR="0" lvl="0" indent="0" algn="l" rtl="0">
              <a:lnSpc>
                <a:spcPct val="76502"/>
              </a:lnSpc>
              <a:spcBef>
                <a:spcPts val="0"/>
              </a:spcBef>
              <a:spcAft>
                <a:spcPts val="0"/>
              </a:spcAft>
              <a:buClr>
                <a:srgbClr val="F2F2F3"/>
              </a:buClr>
              <a:buSzPts val="8850"/>
              <a:buFont typeface="Barlow Condensed"/>
              <a:buNone/>
            </a:pPr>
            <a:r>
              <a:rPr lang="en-US" sz="8000" b="1" i="0" u="none" strike="noStrike" cap="none" dirty="0">
                <a:solidFill>
                  <a:srgbClr val="F2F2F3"/>
                </a:solidFill>
                <a:latin typeface="Barlow Condensed"/>
                <a:ea typeface="Barlow Condensed"/>
                <a:cs typeface="Barlow Condensed"/>
                <a:sym typeface="Barlow Condensed"/>
              </a:rPr>
              <a:t>Closing the Home Loan</a:t>
            </a:r>
            <a:endParaRPr sz="8000" b="0" i="0" u="none" strike="noStrike" cap="none" dirty="0">
              <a:solidFill>
                <a:schemeClr val="dk1"/>
              </a:solidFill>
              <a:latin typeface="Calibri"/>
              <a:ea typeface="Calibri"/>
              <a:cs typeface="Calibri"/>
              <a:sym typeface="Calibri"/>
            </a:endParaRPr>
          </a:p>
        </p:txBody>
      </p:sp>
      <p:sp>
        <p:nvSpPr>
          <p:cNvPr id="564" name="Google Shape;564;p16"/>
          <p:cNvSpPr/>
          <p:nvPr/>
        </p:nvSpPr>
        <p:spPr>
          <a:xfrm>
            <a:off x="914372" y="5474182"/>
            <a:ext cx="7238930" cy="9525"/>
          </a:xfrm>
          <a:prstGeom prst="rect">
            <a:avLst/>
          </a:prstGeom>
          <a:solidFill>
            <a:srgbClr val="F2F2F3">
              <a:alpha val="2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6"/>
          <p:cNvSpPr/>
          <p:nvPr/>
        </p:nvSpPr>
        <p:spPr>
          <a:xfrm>
            <a:off x="914372" y="5807486"/>
            <a:ext cx="8229628" cy="1446865"/>
          </a:xfrm>
          <a:prstGeom prst="rect">
            <a:avLst/>
          </a:prstGeom>
          <a:noFill/>
          <a:ln>
            <a:noFill/>
          </a:ln>
        </p:spPr>
        <p:txBody>
          <a:bodyPr spcFirstLastPara="1" wrap="square" lIns="25400" tIns="25400" rIns="25400" bIns="25400" anchor="t" anchorCtr="0">
            <a:noAutofit/>
          </a:bodyPr>
          <a:lstStyle/>
          <a:p>
            <a:pPr marL="0" marR="0" lvl="0" indent="0" algn="l" rtl="0">
              <a:lnSpc>
                <a:spcPct val="121800"/>
              </a:lnSpc>
              <a:spcBef>
                <a:spcPts val="0"/>
              </a:spcBef>
              <a:spcAft>
                <a:spcPts val="0"/>
              </a:spcAft>
              <a:buClr>
                <a:srgbClr val="F2F2F3"/>
              </a:buClr>
              <a:buSzPts val="2550"/>
              <a:buFont typeface="Barlow"/>
              <a:buNone/>
            </a:pPr>
            <a:r>
              <a:rPr lang="en-US" sz="2550" b="0" i="0" u="none" strike="noStrike" cap="none" dirty="0">
                <a:solidFill>
                  <a:srgbClr val="F2F2F3"/>
                </a:solidFill>
                <a:latin typeface="Barlow"/>
                <a:ea typeface="Barlow"/>
                <a:cs typeface="Barlow"/>
                <a:sym typeface="Barlow"/>
              </a:rPr>
              <a:t>Seven years in, ₹3</a:t>
            </a:r>
            <a:r>
              <a:rPr lang="en-US" sz="2550" dirty="0">
                <a:solidFill>
                  <a:srgbClr val="F2F2F3"/>
                </a:solidFill>
                <a:latin typeface="Barlow"/>
                <a:ea typeface="Barlow"/>
                <a:cs typeface="Barlow"/>
                <a:sym typeface="Barlow"/>
              </a:rPr>
              <a:t>6</a:t>
            </a:r>
            <a:r>
              <a:rPr lang="en-US" sz="2550" b="0" i="0" u="none" strike="noStrike" cap="none" dirty="0">
                <a:solidFill>
                  <a:srgbClr val="F2F2F3"/>
                </a:solidFill>
                <a:latin typeface="Barlow"/>
                <a:ea typeface="Barlow"/>
                <a:cs typeface="Barlow"/>
                <a:sym typeface="Barlow"/>
              </a:rPr>
              <a:t> lakh has left your account, and ₹38 lakh is still outstanding. This section shows why — and what a single ₹5 lakh decision changes.</a:t>
            </a:r>
            <a:endParaRPr sz="2550" b="0" i="0" u="none" strike="noStrike" cap="none" dirty="0">
              <a:solidFill>
                <a:schemeClr val="dk1"/>
              </a:solidFill>
              <a:latin typeface="Calibri"/>
              <a:ea typeface="Calibri"/>
              <a:cs typeface="Calibri"/>
              <a:sym typeface="Calibri"/>
            </a:endParaRPr>
          </a:p>
        </p:txBody>
      </p:sp>
      <p:sp>
        <p:nvSpPr>
          <p:cNvPr id="566" name="Google Shape;566;p16"/>
          <p:cNvSpPr/>
          <p:nvPr/>
        </p:nvSpPr>
        <p:spPr>
          <a:xfrm>
            <a:off x="914372" y="7749623"/>
            <a:ext cx="2403745"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INTEREST SAVED</a:t>
            </a:r>
            <a:endParaRPr sz="1800" b="0" i="0" u="none" strike="noStrike" cap="none">
              <a:solidFill>
                <a:schemeClr val="dk1"/>
              </a:solidFill>
              <a:latin typeface="Calibri"/>
              <a:ea typeface="Calibri"/>
              <a:cs typeface="Calibri"/>
              <a:sym typeface="Calibri"/>
            </a:endParaRPr>
          </a:p>
        </p:txBody>
      </p:sp>
      <p:sp>
        <p:nvSpPr>
          <p:cNvPr id="567" name="Google Shape;567;p16"/>
          <p:cNvSpPr/>
          <p:nvPr/>
        </p:nvSpPr>
        <p:spPr>
          <a:xfrm>
            <a:off x="914372" y="8180161"/>
            <a:ext cx="2403745" cy="571472"/>
          </a:xfrm>
          <a:prstGeom prst="rect">
            <a:avLst/>
          </a:prstGeom>
          <a:noFill/>
          <a:ln>
            <a:noFill/>
          </a:ln>
        </p:spPr>
        <p:txBody>
          <a:bodyPr spcFirstLastPara="1" wrap="squar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b="0" i="0" u="none" strike="noStrike" cap="none" dirty="0">
                <a:solidFill>
                  <a:srgbClr val="94BCE3"/>
                </a:solidFill>
                <a:latin typeface="Barlow Condensed"/>
                <a:ea typeface="Barlow Condensed"/>
                <a:cs typeface="Barlow Condensed"/>
                <a:sym typeface="Barlow Condensed"/>
              </a:rPr>
              <a:t>₹</a:t>
            </a:r>
            <a:r>
              <a:rPr lang="en-US" sz="4200" dirty="0">
                <a:solidFill>
                  <a:srgbClr val="94BCE3"/>
                </a:solidFill>
                <a:latin typeface="Barlow Condensed"/>
                <a:ea typeface="Barlow Condensed"/>
                <a:cs typeface="Barlow Condensed"/>
                <a:sym typeface="Barlow Condensed"/>
              </a:rPr>
              <a:t>11.2</a:t>
            </a:r>
            <a:r>
              <a:rPr lang="en-US" sz="4200" b="0" i="0" u="none" strike="noStrike" cap="none" dirty="0">
                <a:solidFill>
                  <a:srgbClr val="94BCE3"/>
                </a:solidFill>
                <a:latin typeface="Barlow Condensed"/>
                <a:ea typeface="Barlow Condensed"/>
                <a:cs typeface="Barlow Condensed"/>
                <a:sym typeface="Barlow Condensed"/>
              </a:rPr>
              <a:t> L</a:t>
            </a:r>
            <a:endParaRPr sz="4200" b="0" i="0" u="none" strike="noStrike" cap="none" dirty="0">
              <a:solidFill>
                <a:schemeClr val="dk1"/>
              </a:solidFill>
              <a:latin typeface="Calibri"/>
              <a:ea typeface="Calibri"/>
              <a:cs typeface="Calibri"/>
              <a:sym typeface="Calibri"/>
            </a:endParaRPr>
          </a:p>
        </p:txBody>
      </p:sp>
      <p:sp>
        <p:nvSpPr>
          <p:cNvPr id="568" name="Google Shape;568;p16"/>
          <p:cNvSpPr/>
          <p:nvPr/>
        </p:nvSpPr>
        <p:spPr>
          <a:xfrm>
            <a:off x="3632966" y="7749623"/>
            <a:ext cx="2558412"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TENURE REDUCED</a:t>
            </a:r>
            <a:endParaRPr sz="1800" b="0" i="0" u="none" strike="noStrike" cap="none">
              <a:solidFill>
                <a:schemeClr val="dk1"/>
              </a:solidFill>
              <a:latin typeface="Calibri"/>
              <a:ea typeface="Calibri"/>
              <a:cs typeface="Calibri"/>
              <a:sym typeface="Calibri"/>
            </a:endParaRPr>
          </a:p>
        </p:txBody>
      </p:sp>
      <p:sp>
        <p:nvSpPr>
          <p:cNvPr id="569" name="Google Shape;569;p16"/>
          <p:cNvSpPr/>
          <p:nvPr/>
        </p:nvSpPr>
        <p:spPr>
          <a:xfrm>
            <a:off x="3632966" y="8180161"/>
            <a:ext cx="2558412" cy="571472"/>
          </a:xfrm>
          <a:prstGeom prst="rect">
            <a:avLst/>
          </a:prstGeom>
          <a:noFill/>
          <a:ln>
            <a:noFill/>
          </a:ln>
        </p:spPr>
        <p:txBody>
          <a:bodyPr spcFirstLastPara="1" wrap="squar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dirty="0">
                <a:solidFill>
                  <a:srgbClr val="94BCE3"/>
                </a:solidFill>
                <a:latin typeface="Barlow Condensed"/>
                <a:ea typeface="Barlow Condensed"/>
                <a:cs typeface="Barlow Condensed"/>
                <a:sym typeface="Barlow Condensed"/>
              </a:rPr>
              <a:t>5</a:t>
            </a:r>
            <a:r>
              <a:rPr lang="en-US" sz="4200" b="0" i="0" u="none" strike="noStrike" cap="none" dirty="0">
                <a:solidFill>
                  <a:srgbClr val="94BCE3"/>
                </a:solidFill>
                <a:latin typeface="Barlow Condensed"/>
                <a:ea typeface="Barlow Condensed"/>
                <a:cs typeface="Barlow Condensed"/>
                <a:sym typeface="Barlow Condensed"/>
              </a:rPr>
              <a:t> years</a:t>
            </a:r>
            <a:endParaRPr sz="4200" b="0" i="0" u="none" strike="noStrike" cap="none" dirty="0">
              <a:solidFill>
                <a:schemeClr val="dk1"/>
              </a:solidFill>
              <a:latin typeface="Calibri"/>
              <a:ea typeface="Calibri"/>
              <a:cs typeface="Calibri"/>
              <a:sym typeface="Calibri"/>
            </a:endParaRPr>
          </a:p>
        </p:txBody>
      </p:sp>
      <p:sp>
        <p:nvSpPr>
          <p:cNvPr id="570" name="Google Shape;570;p16"/>
          <p:cNvSpPr/>
          <p:nvPr/>
        </p:nvSpPr>
        <p:spPr>
          <a:xfrm>
            <a:off x="914372" y="9323090"/>
            <a:ext cx="9445108"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ARMSTRONG CAPITAL · GOAL BASED PLANNING</a:t>
            </a:r>
            <a:endParaRPr sz="1800" b="0" i="0" u="none" strike="noStrike" cap="none">
              <a:solidFill>
                <a:schemeClr val="dk1"/>
              </a:solidFill>
              <a:latin typeface="Calibri"/>
              <a:ea typeface="Calibri"/>
              <a:cs typeface="Calibri"/>
              <a:sym typeface="Calibri"/>
            </a:endParaRPr>
          </a:p>
        </p:txBody>
      </p:sp>
      <p:sp>
        <p:nvSpPr>
          <p:cNvPr id="571" name="Google Shape;571;p16"/>
          <p:cNvSpPr/>
          <p:nvPr/>
        </p:nvSpPr>
        <p:spPr>
          <a:xfrm>
            <a:off x="10110391" y="0"/>
            <a:ext cx="8177539" cy="10287001"/>
          </a:xfrm>
          <a:prstGeom prst="rect">
            <a:avLst/>
          </a:prstGeom>
          <a:solidFill>
            <a:srgbClr val="2026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2" name="Google Shape;572;p16" descr="preencoded.png"/>
          <p:cNvPicPr preferRelativeResize="0"/>
          <p:nvPr/>
        </p:nvPicPr>
        <p:blipFill rotWithShape="1">
          <a:blip r:embed="rId3">
            <a:alphaModFix amt="90000"/>
          </a:blip>
          <a:srcRect l="27730" r="27730"/>
          <a:stretch/>
        </p:blipFill>
        <p:spPr>
          <a:xfrm>
            <a:off x="10110391" y="0"/>
            <a:ext cx="8177539" cy="10287001"/>
          </a:xfrm>
          <a:prstGeom prst="rect">
            <a:avLst/>
          </a:prstGeom>
          <a:noFill/>
          <a:ln>
            <a:noFill/>
          </a:ln>
        </p:spPr>
      </p:pic>
      <p:sp>
        <p:nvSpPr>
          <p:cNvPr id="573" name="Google Shape;573;p16"/>
          <p:cNvSpPr/>
          <p:nvPr/>
        </p:nvSpPr>
        <p:spPr>
          <a:xfrm>
            <a:off x="10110391" y="0"/>
            <a:ext cx="8177539" cy="10287001"/>
          </a:xfrm>
          <a:prstGeom prst="rect">
            <a:avLst/>
          </a:prstGeom>
          <a:solidFill>
            <a:srgbClr val="141A45">
              <a:alpha val="5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6"/>
          <p:cNvSpPr/>
          <p:nvPr/>
        </p:nvSpPr>
        <p:spPr>
          <a:xfrm>
            <a:off x="10110391" y="0"/>
            <a:ext cx="8177539" cy="10287001"/>
          </a:xfrm>
          <a:prstGeom prst="rect">
            <a:avLst/>
          </a:prstGeom>
          <a:gradFill>
            <a:gsLst>
              <a:gs pos="0">
                <a:srgbClr val="141A45"/>
              </a:gs>
              <a:gs pos="30000">
                <a:srgbClr val="141A45">
                  <a:alpha val="0"/>
                </a:srgbClr>
              </a:gs>
              <a:gs pos="100000">
                <a:srgbClr val="141A45">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11430000" cy="419100"/>
          </a:xfrm>
          <a:prstGeom prst="rect">
            <a:avLst/>
          </a:prstGeom>
          <a:noFill/>
        </p:spPr>
        <p:txBody>
          <a:bodyPr wrap="square" lIns="0" tIns="0" rIns="0" bIns="0" anchor="t">
            <a:normAutofit/>
          </a:bodyPr>
          <a:lstStyle/>
          <a:p>
            <a:pPr marL="0" indent="0" algn="l">
              <a:buNone/>
            </a:pPr>
            <a:r>
              <a:rPr lang="en-US" sz="2100" b="1" kern="0" spc="390" dirty="0">
                <a:solidFill>
                  <a:srgbClr val="2A3480"/>
                </a:solidFill>
                <a:latin typeface="Barlow"/>
                <a:cs typeface="Barlow"/>
              </a:rPr>
              <a:t>HOME LOAN · LIFE OF THE LOAN</a:t>
            </a:r>
          </a:p>
        </p:txBody>
      </p:sp>
      <p:sp>
        <p:nvSpPr>
          <p:cNvPr id="102" name="Text 102"/>
          <p:cNvSpPr txBox="1"/>
          <p:nvPr/>
        </p:nvSpPr>
        <p:spPr>
          <a:xfrm>
            <a:off x="914400" y="1092200"/>
            <a:ext cx="15240000" cy="774700"/>
          </a:xfrm>
          <a:prstGeom prst="rect">
            <a:avLst/>
          </a:prstGeom>
          <a:noFill/>
        </p:spPr>
        <p:txBody>
          <a:bodyPr wrap="square" lIns="0" tIns="0" rIns="0" bIns="0" anchor="t">
            <a:normAutofit fontScale="92500"/>
          </a:bodyPr>
          <a:lstStyle/>
          <a:p>
            <a:pPr marL="0" indent="0" algn="l">
              <a:lnSpc>
                <a:spcPct val="80000"/>
              </a:lnSpc>
              <a:buNone/>
            </a:pPr>
            <a:r>
              <a:rPr lang="en-US" sz="4400" b="1" kern="0" spc="-80" dirty="0">
                <a:solidFill>
                  <a:srgbClr val="1D1F20"/>
                </a:solidFill>
                <a:latin typeface="Barlow Condensed"/>
                <a:cs typeface="Barlow Condensed"/>
              </a:rPr>
              <a:t>Seven years in, the loan is only a quarter repaid — prepaying now ends it in 2034</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Text 104"/>
          <p:cNvSpPr txBox="1"/>
          <p:nvPr/>
        </p:nvSpPr>
        <p:spPr>
          <a:xfrm>
            <a:off x="1905000" y="2616200"/>
            <a:ext cx="8890000" cy="381000"/>
          </a:xfrm>
          <a:prstGeom prst="rect">
            <a:avLst/>
          </a:prstGeom>
          <a:noFill/>
        </p:spPr>
        <p:txBody>
          <a:bodyPr wrap="square" lIns="0" tIns="0" rIns="0" bIns="0" anchor="t">
            <a:normAutofit/>
          </a:bodyPr>
          <a:lstStyle/>
          <a:p>
            <a:pPr marL="0" indent="0" algn="l">
              <a:buNone/>
            </a:pPr>
            <a:r>
              <a:rPr lang="en-US" sz="1700" b="1" kern="0" spc="300" dirty="0">
                <a:solidFill>
                  <a:srgbClr val="1D1F20">
                    <a:alpha val="75000"/>
                  </a:srgbClr>
                </a:solidFill>
                <a:latin typeface="Barlow"/>
                <a:cs typeface="Barlow"/>
              </a:rPr>
              <a:t>IF THE LOAN CONTINUES AS IT IS</a:t>
            </a:r>
          </a:p>
        </p:txBody>
      </p:sp>
      <p:sp>
        <p:nvSpPr>
          <p:cNvPr id="105" name="Shape 105"/>
          <p:cNvSpPr/>
          <p:nvPr/>
        </p:nvSpPr>
        <p:spPr>
          <a:xfrm>
            <a:off x="1905000" y="3048000"/>
            <a:ext cx="5200650" cy="431800"/>
          </a:xfrm>
          <a:prstGeom prst="rect">
            <a:avLst/>
          </a:prstGeom>
          <a:solidFill>
            <a:srgbClr val="26306F"/>
          </a:solidFill>
          <a:ln>
            <a:noFill/>
          </a:ln>
        </p:spPr>
        <p:txBody>
          <a:bodyPr/>
          <a:lstStyle/>
          <a:p>
            <a:endParaRPr/>
          </a:p>
        </p:txBody>
      </p:sp>
      <p:sp>
        <p:nvSpPr>
          <p:cNvPr id="106" name="Shape 106"/>
          <p:cNvSpPr/>
          <p:nvPr/>
        </p:nvSpPr>
        <p:spPr>
          <a:xfrm>
            <a:off x="7105650" y="3048000"/>
            <a:ext cx="9658350" cy="431800"/>
          </a:xfrm>
          <a:prstGeom prst="rect">
            <a:avLst/>
          </a:prstGeom>
          <a:solidFill>
            <a:srgbClr val="C6C8CF"/>
          </a:solidFill>
          <a:ln>
            <a:noFill/>
          </a:ln>
        </p:spPr>
        <p:txBody>
          <a:bodyPr/>
          <a:lstStyle/>
          <a:p>
            <a:endParaRPr/>
          </a:p>
        </p:txBody>
      </p:sp>
      <p:sp>
        <p:nvSpPr>
          <p:cNvPr id="107" name="Text 107"/>
          <p:cNvSpPr txBox="1"/>
          <p:nvPr/>
        </p:nvSpPr>
        <p:spPr>
          <a:xfrm>
            <a:off x="2082800" y="3162300"/>
            <a:ext cx="4064000" cy="355600"/>
          </a:xfrm>
          <a:prstGeom prst="rect">
            <a:avLst/>
          </a:prstGeom>
          <a:noFill/>
        </p:spPr>
        <p:txBody>
          <a:bodyPr wrap="square" lIns="0" tIns="0" rIns="0" bIns="0" anchor="t">
            <a:normAutofit/>
          </a:bodyPr>
          <a:lstStyle/>
          <a:p>
            <a:pPr marL="0" indent="0" algn="l">
              <a:buNone/>
            </a:pPr>
            <a:r>
              <a:rPr lang="en-US" sz="1700" b="1" kern="0" dirty="0">
                <a:solidFill>
                  <a:srgbClr val="FFFFFF"/>
                </a:solidFill>
                <a:latin typeface="Barlow"/>
                <a:cs typeface="Barlow"/>
              </a:rPr>
              <a:t>₹35.7 L paid  ·  2019–2026</a:t>
            </a:r>
          </a:p>
        </p:txBody>
      </p:sp>
      <p:sp>
        <p:nvSpPr>
          <p:cNvPr id="108" name="Text 108"/>
          <p:cNvSpPr txBox="1"/>
          <p:nvPr/>
        </p:nvSpPr>
        <p:spPr>
          <a:xfrm>
            <a:off x="7283450" y="3162300"/>
            <a:ext cx="5334000" cy="355600"/>
          </a:xfrm>
          <a:prstGeom prst="rect">
            <a:avLst/>
          </a:prstGeom>
          <a:noFill/>
        </p:spPr>
        <p:txBody>
          <a:bodyPr wrap="square" lIns="0" tIns="0" rIns="0" bIns="0" anchor="t">
            <a:normAutofit/>
          </a:bodyPr>
          <a:lstStyle/>
          <a:p>
            <a:pPr marL="0" indent="0" algn="l">
              <a:buNone/>
            </a:pPr>
            <a:r>
              <a:rPr lang="en-US" sz="1700" b="1" kern="0" dirty="0">
                <a:solidFill>
                  <a:srgbClr val="1D1F20">
                    <a:alpha val="80000"/>
                  </a:srgbClr>
                </a:solidFill>
                <a:latin typeface="Barlow"/>
                <a:cs typeface="Barlow"/>
              </a:rPr>
              <a:t>₹66.3 L still to pay, of which ₹27.4 L is interest</a:t>
            </a:r>
          </a:p>
        </p:txBody>
      </p:sp>
      <p:sp>
        <p:nvSpPr>
          <p:cNvPr id="109" name="Text 109"/>
          <p:cNvSpPr txBox="1"/>
          <p:nvPr/>
        </p:nvSpPr>
        <p:spPr>
          <a:xfrm>
            <a:off x="1905000" y="4140200"/>
            <a:ext cx="8890000" cy="381000"/>
          </a:xfrm>
          <a:prstGeom prst="rect">
            <a:avLst/>
          </a:prstGeom>
          <a:noFill/>
        </p:spPr>
        <p:txBody>
          <a:bodyPr wrap="square" lIns="0" tIns="0" rIns="0" bIns="0" anchor="t">
            <a:normAutofit/>
          </a:bodyPr>
          <a:lstStyle/>
          <a:p>
            <a:pPr marL="0" indent="0" algn="l">
              <a:buNone/>
            </a:pPr>
            <a:r>
              <a:rPr lang="en-US" sz="1700" b="1" kern="0" spc="300" dirty="0">
                <a:solidFill>
                  <a:srgbClr val="2F7D3A"/>
                </a:solidFill>
                <a:latin typeface="Barlow"/>
                <a:cs typeface="Barlow"/>
              </a:rPr>
              <a:t>WITH ₹5 LAKH PREPAID IN 2026 AND A 5% EMI STEP-UP</a:t>
            </a:r>
          </a:p>
        </p:txBody>
      </p:sp>
      <p:sp>
        <p:nvSpPr>
          <p:cNvPr id="110" name="Shape 110"/>
          <p:cNvSpPr/>
          <p:nvPr/>
        </p:nvSpPr>
        <p:spPr>
          <a:xfrm>
            <a:off x="1905000" y="4572000"/>
            <a:ext cx="5200650" cy="431800"/>
          </a:xfrm>
          <a:prstGeom prst="rect">
            <a:avLst/>
          </a:prstGeom>
          <a:solidFill>
            <a:srgbClr val="26306F"/>
          </a:solidFill>
          <a:ln>
            <a:noFill/>
          </a:ln>
        </p:spPr>
        <p:txBody>
          <a:bodyPr/>
          <a:lstStyle/>
          <a:p>
            <a:endParaRPr/>
          </a:p>
        </p:txBody>
      </p:sp>
      <p:sp>
        <p:nvSpPr>
          <p:cNvPr id="111" name="Shape 111"/>
          <p:cNvSpPr/>
          <p:nvPr/>
        </p:nvSpPr>
        <p:spPr>
          <a:xfrm>
            <a:off x="7105650" y="4572000"/>
            <a:ext cx="5943600" cy="431800"/>
          </a:xfrm>
          <a:prstGeom prst="rect">
            <a:avLst/>
          </a:prstGeom>
          <a:solidFill>
            <a:srgbClr val="2F7D3A"/>
          </a:solidFill>
          <a:ln>
            <a:noFill/>
          </a:ln>
        </p:spPr>
        <p:txBody>
          <a:bodyPr/>
          <a:lstStyle/>
          <a:p>
            <a:endParaRPr/>
          </a:p>
        </p:txBody>
      </p:sp>
      <p:sp>
        <p:nvSpPr>
          <p:cNvPr id="112" name="Text 112"/>
          <p:cNvSpPr txBox="1"/>
          <p:nvPr/>
        </p:nvSpPr>
        <p:spPr>
          <a:xfrm>
            <a:off x="2082800" y="4686300"/>
            <a:ext cx="4064000" cy="355600"/>
          </a:xfrm>
          <a:prstGeom prst="rect">
            <a:avLst/>
          </a:prstGeom>
          <a:noFill/>
        </p:spPr>
        <p:txBody>
          <a:bodyPr wrap="square" lIns="0" tIns="0" rIns="0" bIns="0" anchor="t">
            <a:normAutofit/>
          </a:bodyPr>
          <a:lstStyle/>
          <a:p>
            <a:pPr marL="0" indent="0" algn="l">
              <a:buNone/>
            </a:pPr>
            <a:r>
              <a:rPr lang="en-US" sz="1700" b="1" kern="0" dirty="0">
                <a:solidFill>
                  <a:srgbClr val="FFFFFF"/>
                </a:solidFill>
                <a:latin typeface="Barlow"/>
                <a:cs typeface="Barlow"/>
              </a:rPr>
              <a:t>₹35.7 L paid  ·  2019–2026</a:t>
            </a:r>
          </a:p>
        </p:txBody>
      </p:sp>
      <p:sp>
        <p:nvSpPr>
          <p:cNvPr id="113" name="Text 113"/>
          <p:cNvSpPr txBox="1"/>
          <p:nvPr/>
        </p:nvSpPr>
        <p:spPr>
          <a:xfrm>
            <a:off x="7283450" y="4686300"/>
            <a:ext cx="4572000" cy="355600"/>
          </a:xfrm>
          <a:prstGeom prst="rect">
            <a:avLst/>
          </a:prstGeom>
          <a:noFill/>
        </p:spPr>
        <p:txBody>
          <a:bodyPr wrap="square" lIns="0" tIns="0" rIns="0" bIns="0" anchor="t">
            <a:normAutofit/>
          </a:bodyPr>
          <a:lstStyle/>
          <a:p>
            <a:pPr marL="0" indent="0" algn="l">
              <a:buNone/>
            </a:pPr>
            <a:r>
              <a:rPr lang="en-US" sz="1700" b="1" kern="0" dirty="0">
                <a:solidFill>
                  <a:srgbClr val="FFFFFF"/>
                </a:solidFill>
                <a:latin typeface="Barlow"/>
                <a:cs typeface="Barlow"/>
              </a:rPr>
              <a:t>₹16.2 L interest from here</a:t>
            </a:r>
          </a:p>
        </p:txBody>
      </p:sp>
      <p:sp>
        <p:nvSpPr>
          <p:cNvPr id="114" name="Shape 114"/>
          <p:cNvSpPr/>
          <p:nvPr/>
        </p:nvSpPr>
        <p:spPr>
          <a:xfrm>
            <a:off x="13049250" y="4572000"/>
            <a:ext cx="3714750" cy="431800"/>
          </a:xfrm>
          <a:prstGeom prst="rect">
            <a:avLst/>
          </a:prstGeom>
          <a:noFill/>
          <a:ln w="12700">
            <a:solidFill>
              <a:srgbClr val="2F7D3A"/>
            </a:solidFill>
            <a:prstDash val="dash"/>
          </a:ln>
        </p:spPr>
        <p:txBody>
          <a:bodyPr/>
          <a:lstStyle/>
          <a:p>
            <a:endParaRPr/>
          </a:p>
        </p:txBody>
      </p:sp>
      <p:sp>
        <p:nvSpPr>
          <p:cNvPr id="115" name="Text 115"/>
          <p:cNvSpPr txBox="1"/>
          <p:nvPr/>
        </p:nvSpPr>
        <p:spPr>
          <a:xfrm>
            <a:off x="13049250" y="5105400"/>
            <a:ext cx="3714750" cy="355600"/>
          </a:xfrm>
          <a:prstGeom prst="rect">
            <a:avLst/>
          </a:prstGeom>
          <a:noFill/>
        </p:spPr>
        <p:txBody>
          <a:bodyPr wrap="square" lIns="0" tIns="0" rIns="0" bIns="0" anchor="t">
            <a:normAutofit/>
          </a:bodyPr>
          <a:lstStyle/>
          <a:p>
            <a:pPr marL="0" indent="0" algn="ctr">
              <a:buNone/>
            </a:pPr>
            <a:r>
              <a:rPr lang="en-US" sz="1700" b="1" kern="0" dirty="0">
                <a:solidFill>
                  <a:srgbClr val="2F7D3A"/>
                </a:solidFill>
                <a:latin typeface="Barlow"/>
                <a:cs typeface="Barlow"/>
              </a:rPr>
              <a:t>5 years saved</a:t>
            </a:r>
          </a:p>
        </p:txBody>
      </p:sp>
      <p:sp>
        <p:nvSpPr>
          <p:cNvPr id="116" name="Shape 116"/>
          <p:cNvSpPr/>
          <p:nvPr/>
        </p:nvSpPr>
        <p:spPr>
          <a:xfrm>
            <a:off x="7092950" y="2489200"/>
            <a:ext cx="25400" cy="2794000"/>
          </a:xfrm>
          <a:prstGeom prst="rect">
            <a:avLst/>
          </a:prstGeom>
          <a:solidFill>
            <a:srgbClr val="2A3480">
              <a:alpha val="55000"/>
            </a:srgbClr>
          </a:solidFill>
          <a:ln>
            <a:noFill/>
          </a:ln>
        </p:spPr>
        <p:txBody>
          <a:bodyPr/>
          <a:lstStyle/>
          <a:p>
            <a:endParaRPr/>
          </a:p>
        </p:txBody>
      </p:sp>
      <p:sp>
        <p:nvSpPr>
          <p:cNvPr id="117" name="Text 117"/>
          <p:cNvSpPr txBox="1"/>
          <p:nvPr/>
        </p:nvSpPr>
        <p:spPr>
          <a:xfrm>
            <a:off x="6343650" y="2133600"/>
            <a:ext cx="1524000" cy="330200"/>
          </a:xfrm>
          <a:prstGeom prst="rect">
            <a:avLst/>
          </a:prstGeom>
          <a:noFill/>
        </p:spPr>
        <p:txBody>
          <a:bodyPr wrap="square" lIns="0" tIns="0" rIns="0" bIns="0" anchor="t">
            <a:normAutofit/>
          </a:bodyPr>
          <a:lstStyle/>
          <a:p>
            <a:pPr marL="0" indent="0" algn="ctr">
              <a:buNone/>
            </a:pPr>
            <a:r>
              <a:rPr lang="en-US" sz="1500" b="1" kern="0" spc="200" dirty="0">
                <a:solidFill>
                  <a:srgbClr val="2A3480"/>
                </a:solidFill>
                <a:latin typeface="Barlow"/>
                <a:cs typeface="Barlow"/>
              </a:rPr>
              <a:t>TODAY · 2026</a:t>
            </a:r>
          </a:p>
        </p:txBody>
      </p:sp>
      <p:sp>
        <p:nvSpPr>
          <p:cNvPr id="118" name="Shape 118"/>
          <p:cNvSpPr/>
          <p:nvPr/>
        </p:nvSpPr>
        <p:spPr>
          <a:xfrm>
            <a:off x="1905000" y="5664200"/>
            <a:ext cx="14859000" cy="12700"/>
          </a:xfrm>
          <a:prstGeom prst="rect">
            <a:avLst/>
          </a:prstGeom>
          <a:solidFill>
            <a:srgbClr val="1D1F20">
              <a:alpha val="25000"/>
            </a:srgbClr>
          </a:solidFill>
          <a:ln w="19050">
            <a:solidFill>
              <a:schemeClr val="tx1"/>
            </a:solidFill>
          </a:ln>
        </p:spPr>
        <p:txBody>
          <a:bodyPr/>
          <a:lstStyle/>
          <a:p>
            <a:endParaRPr b="1" dirty="0"/>
          </a:p>
        </p:txBody>
      </p:sp>
      <p:sp>
        <p:nvSpPr>
          <p:cNvPr id="119" name="Shape 119"/>
          <p:cNvSpPr/>
          <p:nvPr/>
        </p:nvSpPr>
        <p:spPr>
          <a:xfrm>
            <a:off x="1905000" y="5664200"/>
            <a:ext cx="12700" cy="127000"/>
          </a:xfrm>
          <a:prstGeom prst="rect">
            <a:avLst/>
          </a:prstGeom>
          <a:solidFill>
            <a:srgbClr val="1D1F20">
              <a:alpha val="25000"/>
            </a:srgbClr>
          </a:solidFill>
          <a:ln>
            <a:noFill/>
          </a:ln>
        </p:spPr>
        <p:txBody>
          <a:bodyPr/>
          <a:lstStyle/>
          <a:p>
            <a:endParaRPr/>
          </a:p>
        </p:txBody>
      </p:sp>
      <p:sp>
        <p:nvSpPr>
          <p:cNvPr id="120" name="Text 120"/>
          <p:cNvSpPr txBox="1"/>
          <p:nvPr/>
        </p:nvSpPr>
        <p:spPr>
          <a:xfrm>
            <a:off x="635000" y="5867400"/>
            <a:ext cx="2540000" cy="355600"/>
          </a:xfrm>
          <a:prstGeom prst="rect">
            <a:avLst/>
          </a:prstGeom>
          <a:noFill/>
        </p:spPr>
        <p:txBody>
          <a:bodyPr wrap="square" lIns="0" tIns="0" rIns="0" bIns="0" anchor="t">
            <a:normAutofit/>
          </a:bodyPr>
          <a:lstStyle/>
          <a:p>
            <a:pPr marL="0" indent="0" algn="l">
              <a:buNone/>
            </a:pPr>
            <a:r>
              <a:rPr lang="en-US" sz="1700" b="1" kern="0" dirty="0">
                <a:solidFill>
                  <a:srgbClr val="1D1F20">
                    <a:alpha val="75000"/>
                  </a:srgbClr>
                </a:solidFill>
                <a:latin typeface="Barlow"/>
                <a:cs typeface="Barlow"/>
              </a:rPr>
              <a:t>2019 · loan taken</a:t>
            </a:r>
          </a:p>
        </p:txBody>
      </p:sp>
      <p:sp>
        <p:nvSpPr>
          <p:cNvPr id="121" name="Shape 121"/>
          <p:cNvSpPr/>
          <p:nvPr/>
        </p:nvSpPr>
        <p:spPr>
          <a:xfrm>
            <a:off x="7105650" y="5664200"/>
            <a:ext cx="12700" cy="127000"/>
          </a:xfrm>
          <a:prstGeom prst="rect">
            <a:avLst/>
          </a:prstGeom>
          <a:solidFill>
            <a:srgbClr val="1D1F20">
              <a:alpha val="25000"/>
            </a:srgbClr>
          </a:solidFill>
          <a:ln>
            <a:noFill/>
          </a:ln>
        </p:spPr>
        <p:txBody>
          <a:bodyPr/>
          <a:lstStyle/>
          <a:p>
            <a:endParaRPr/>
          </a:p>
        </p:txBody>
      </p:sp>
      <p:sp>
        <p:nvSpPr>
          <p:cNvPr id="122" name="Text 122"/>
          <p:cNvSpPr txBox="1"/>
          <p:nvPr/>
        </p:nvSpPr>
        <p:spPr>
          <a:xfrm>
            <a:off x="5835650" y="5867400"/>
            <a:ext cx="2540000" cy="355600"/>
          </a:xfrm>
          <a:prstGeom prst="rect">
            <a:avLst/>
          </a:prstGeom>
          <a:noFill/>
        </p:spPr>
        <p:txBody>
          <a:bodyPr wrap="square" lIns="0" tIns="0" rIns="0" bIns="0" anchor="t">
            <a:normAutofit/>
          </a:bodyPr>
          <a:lstStyle/>
          <a:p>
            <a:pPr marL="0" indent="0" algn="ctr">
              <a:buNone/>
            </a:pPr>
            <a:r>
              <a:rPr lang="en-US" sz="1700" b="1" kern="0" dirty="0">
                <a:solidFill>
                  <a:srgbClr val="1D1F20">
                    <a:alpha val="75000"/>
                  </a:srgbClr>
                </a:solidFill>
                <a:latin typeface="Barlow"/>
                <a:cs typeface="Barlow"/>
              </a:rPr>
              <a:t>2026</a:t>
            </a:r>
          </a:p>
        </p:txBody>
      </p:sp>
      <p:sp>
        <p:nvSpPr>
          <p:cNvPr id="123" name="Shape 123"/>
          <p:cNvSpPr/>
          <p:nvPr/>
        </p:nvSpPr>
        <p:spPr>
          <a:xfrm>
            <a:off x="13049250" y="5664200"/>
            <a:ext cx="12700" cy="127000"/>
          </a:xfrm>
          <a:prstGeom prst="rect">
            <a:avLst/>
          </a:prstGeom>
          <a:solidFill>
            <a:srgbClr val="1D1F20">
              <a:alpha val="25000"/>
            </a:srgbClr>
          </a:solidFill>
          <a:ln>
            <a:noFill/>
          </a:ln>
        </p:spPr>
        <p:txBody>
          <a:bodyPr/>
          <a:lstStyle/>
          <a:p>
            <a:endParaRPr/>
          </a:p>
        </p:txBody>
      </p:sp>
      <p:sp>
        <p:nvSpPr>
          <p:cNvPr id="124" name="Text 124"/>
          <p:cNvSpPr txBox="1"/>
          <p:nvPr/>
        </p:nvSpPr>
        <p:spPr>
          <a:xfrm>
            <a:off x="11779250" y="5867400"/>
            <a:ext cx="2540000" cy="355600"/>
          </a:xfrm>
          <a:prstGeom prst="rect">
            <a:avLst/>
          </a:prstGeom>
          <a:noFill/>
        </p:spPr>
        <p:txBody>
          <a:bodyPr wrap="square" lIns="0" tIns="0" rIns="0" bIns="0" anchor="t">
            <a:normAutofit/>
          </a:bodyPr>
          <a:lstStyle/>
          <a:p>
            <a:pPr marL="0" indent="0" algn="ctr">
              <a:buNone/>
            </a:pPr>
            <a:r>
              <a:rPr lang="en-US" sz="1700" b="1" kern="0" dirty="0">
                <a:solidFill>
                  <a:srgbClr val="2F7D3A">
                    <a:alpha val="100000"/>
                  </a:srgbClr>
                </a:solidFill>
                <a:latin typeface="Barlow"/>
                <a:cs typeface="Barlow"/>
              </a:rPr>
              <a:t>2034 · loan free</a:t>
            </a:r>
          </a:p>
        </p:txBody>
      </p:sp>
      <p:sp>
        <p:nvSpPr>
          <p:cNvPr id="125" name="Shape 125"/>
          <p:cNvSpPr/>
          <p:nvPr/>
        </p:nvSpPr>
        <p:spPr>
          <a:xfrm>
            <a:off x="16764000" y="5664200"/>
            <a:ext cx="12700" cy="127000"/>
          </a:xfrm>
          <a:prstGeom prst="rect">
            <a:avLst/>
          </a:prstGeom>
          <a:solidFill>
            <a:srgbClr val="1D1F20">
              <a:alpha val="25000"/>
            </a:srgbClr>
          </a:solidFill>
          <a:ln>
            <a:noFill/>
          </a:ln>
        </p:spPr>
        <p:txBody>
          <a:bodyPr/>
          <a:lstStyle/>
          <a:p>
            <a:endParaRPr/>
          </a:p>
        </p:txBody>
      </p:sp>
      <p:sp>
        <p:nvSpPr>
          <p:cNvPr id="126" name="Text 126"/>
          <p:cNvSpPr txBox="1"/>
          <p:nvPr/>
        </p:nvSpPr>
        <p:spPr>
          <a:xfrm>
            <a:off x="14224000" y="5867400"/>
            <a:ext cx="2540000" cy="355600"/>
          </a:xfrm>
          <a:prstGeom prst="rect">
            <a:avLst/>
          </a:prstGeom>
          <a:noFill/>
        </p:spPr>
        <p:txBody>
          <a:bodyPr wrap="square" lIns="0" tIns="0" rIns="0" bIns="0" anchor="t">
            <a:normAutofit/>
          </a:bodyPr>
          <a:lstStyle/>
          <a:p>
            <a:pPr marL="0" indent="0" algn="r">
              <a:buNone/>
            </a:pPr>
            <a:r>
              <a:rPr lang="en-US" sz="1700" b="1" kern="0" dirty="0">
                <a:solidFill>
                  <a:srgbClr val="1D1F20">
                    <a:alpha val="75000"/>
                  </a:srgbClr>
                </a:solidFill>
                <a:latin typeface="Barlow"/>
                <a:cs typeface="Barlow"/>
              </a:rPr>
              <a:t>2039</a:t>
            </a:r>
          </a:p>
        </p:txBody>
      </p:sp>
      <p:sp>
        <p:nvSpPr>
          <p:cNvPr id="127" name="Shape 127"/>
          <p:cNvSpPr/>
          <p:nvPr/>
        </p:nvSpPr>
        <p:spPr>
          <a:xfrm>
            <a:off x="914400" y="6426200"/>
            <a:ext cx="16459200" cy="12700"/>
          </a:xfrm>
          <a:prstGeom prst="rect">
            <a:avLst/>
          </a:prstGeom>
          <a:solidFill>
            <a:srgbClr val="1D1F20">
              <a:alpha val="25000"/>
            </a:srgbClr>
          </a:solidFill>
          <a:ln>
            <a:noFill/>
          </a:ln>
        </p:spPr>
        <p:txBody>
          <a:bodyPr/>
          <a:lstStyle/>
          <a:p>
            <a:endParaRPr/>
          </a:p>
        </p:txBody>
      </p:sp>
      <p:sp>
        <p:nvSpPr>
          <p:cNvPr id="128" name="Text 128"/>
          <p:cNvSpPr txBox="1"/>
          <p:nvPr/>
        </p:nvSpPr>
        <p:spPr>
          <a:xfrm>
            <a:off x="914400" y="6654800"/>
            <a:ext cx="5080000" cy="558800"/>
          </a:xfrm>
          <a:prstGeom prst="rect">
            <a:avLst/>
          </a:prstGeom>
          <a:noFill/>
        </p:spPr>
        <p:txBody>
          <a:bodyPr wrap="square" lIns="0" tIns="0" rIns="0" bIns="0" anchor="t">
            <a:normAutofit/>
          </a:bodyPr>
          <a:lstStyle/>
          <a:p>
            <a:pPr marL="0" indent="0" algn="l">
              <a:buNone/>
            </a:pPr>
            <a:r>
              <a:rPr lang="en-US" sz="3200" b="1" kern="0" spc="-40" dirty="0">
                <a:solidFill>
                  <a:srgbClr val="1D1F20"/>
                </a:solidFill>
                <a:latin typeface="Barlow Condensed"/>
                <a:cs typeface="Barlow Condensed"/>
              </a:rPr>
              <a:t>₹35.7 L</a:t>
            </a:r>
          </a:p>
        </p:txBody>
      </p:sp>
      <p:sp>
        <p:nvSpPr>
          <p:cNvPr id="129" name="Text 129"/>
          <p:cNvSpPr txBox="1"/>
          <p:nvPr/>
        </p:nvSpPr>
        <p:spPr>
          <a:xfrm>
            <a:off x="914400" y="7188200"/>
            <a:ext cx="5080000" cy="330200"/>
          </a:xfrm>
          <a:prstGeom prst="rect">
            <a:avLst/>
          </a:prstGeom>
          <a:noFill/>
        </p:spPr>
        <p:txBody>
          <a:bodyPr wrap="square" lIns="0" tIns="0" rIns="0" bIns="0" anchor="t">
            <a:normAutofit/>
          </a:bodyPr>
          <a:lstStyle/>
          <a:p>
            <a:pPr marL="0" indent="0" algn="l">
              <a:buNone/>
            </a:pPr>
            <a:r>
              <a:rPr lang="en-US" sz="1700" b="0" kern="0" dirty="0">
                <a:solidFill>
                  <a:srgbClr val="1D1F20">
                    <a:alpha val="88000"/>
                  </a:srgbClr>
                </a:solidFill>
                <a:latin typeface="Barlow"/>
                <a:cs typeface="Barlow"/>
              </a:rPr>
              <a:t>paid over seven years</a:t>
            </a:r>
          </a:p>
        </p:txBody>
      </p:sp>
      <p:sp>
        <p:nvSpPr>
          <p:cNvPr id="130" name="Text 130"/>
          <p:cNvSpPr txBox="1"/>
          <p:nvPr/>
        </p:nvSpPr>
        <p:spPr>
          <a:xfrm>
            <a:off x="6502400" y="6654800"/>
            <a:ext cx="5080000" cy="558800"/>
          </a:xfrm>
          <a:prstGeom prst="rect">
            <a:avLst/>
          </a:prstGeom>
          <a:noFill/>
        </p:spPr>
        <p:txBody>
          <a:bodyPr wrap="square" lIns="0" tIns="0" rIns="0" bIns="0" anchor="t">
            <a:normAutofit/>
          </a:bodyPr>
          <a:lstStyle/>
          <a:p>
            <a:pPr marL="0" indent="0" algn="l">
              <a:buNone/>
            </a:pPr>
            <a:r>
              <a:rPr lang="en-US" sz="3200" b="1" kern="0" spc="-40" dirty="0">
                <a:solidFill>
                  <a:srgbClr val="2F7D3A"/>
                </a:solidFill>
                <a:latin typeface="Barlow Condensed"/>
                <a:cs typeface="Barlow Condensed"/>
              </a:rPr>
              <a:t>₹11.2 L</a:t>
            </a:r>
          </a:p>
        </p:txBody>
      </p:sp>
      <p:sp>
        <p:nvSpPr>
          <p:cNvPr id="131" name="Text 131"/>
          <p:cNvSpPr txBox="1"/>
          <p:nvPr/>
        </p:nvSpPr>
        <p:spPr>
          <a:xfrm>
            <a:off x="6502400" y="7188200"/>
            <a:ext cx="5080000" cy="330200"/>
          </a:xfrm>
          <a:prstGeom prst="rect">
            <a:avLst/>
          </a:prstGeom>
          <a:noFill/>
        </p:spPr>
        <p:txBody>
          <a:bodyPr wrap="square" lIns="0" tIns="0" rIns="0" bIns="0" anchor="t">
            <a:normAutofit/>
          </a:bodyPr>
          <a:lstStyle/>
          <a:p>
            <a:pPr marL="0" indent="0" algn="l">
              <a:buNone/>
            </a:pPr>
            <a:r>
              <a:rPr lang="en-US" sz="1700" b="0" kern="0" dirty="0">
                <a:solidFill>
                  <a:srgbClr val="1D1F20">
                    <a:alpha val="88000"/>
                  </a:srgbClr>
                </a:solidFill>
                <a:latin typeface="Barlow"/>
                <a:cs typeface="Barlow"/>
              </a:rPr>
              <a:t>interest never paid</a:t>
            </a:r>
          </a:p>
        </p:txBody>
      </p:sp>
      <p:sp>
        <p:nvSpPr>
          <p:cNvPr id="132" name="Text 132"/>
          <p:cNvSpPr txBox="1"/>
          <p:nvPr/>
        </p:nvSpPr>
        <p:spPr>
          <a:xfrm>
            <a:off x="12090400" y="6654800"/>
            <a:ext cx="5080000" cy="558800"/>
          </a:xfrm>
          <a:prstGeom prst="rect">
            <a:avLst/>
          </a:prstGeom>
          <a:noFill/>
        </p:spPr>
        <p:txBody>
          <a:bodyPr wrap="square" lIns="0" tIns="0" rIns="0" bIns="0" anchor="t">
            <a:normAutofit/>
          </a:bodyPr>
          <a:lstStyle/>
          <a:p>
            <a:pPr marL="0" indent="0" algn="l">
              <a:buNone/>
            </a:pPr>
            <a:r>
              <a:rPr lang="en-US" sz="3200" b="1" kern="0" spc="-40" dirty="0">
                <a:solidFill>
                  <a:srgbClr val="1D1F20"/>
                </a:solidFill>
                <a:latin typeface="Barlow Condensed"/>
                <a:cs typeface="Barlow Condensed"/>
              </a:rPr>
              <a:t>₹42,500</a:t>
            </a:r>
          </a:p>
        </p:txBody>
      </p:sp>
      <p:sp>
        <p:nvSpPr>
          <p:cNvPr id="133" name="Text 133"/>
          <p:cNvSpPr txBox="1"/>
          <p:nvPr/>
        </p:nvSpPr>
        <p:spPr>
          <a:xfrm>
            <a:off x="12090400" y="7188200"/>
            <a:ext cx="5080000" cy="330200"/>
          </a:xfrm>
          <a:prstGeom prst="rect">
            <a:avLst/>
          </a:prstGeom>
          <a:noFill/>
        </p:spPr>
        <p:txBody>
          <a:bodyPr wrap="square" lIns="0" tIns="0" rIns="0" bIns="0" anchor="t">
            <a:normAutofit/>
          </a:bodyPr>
          <a:lstStyle/>
          <a:p>
            <a:pPr marL="0" indent="0" algn="l">
              <a:buNone/>
            </a:pPr>
            <a:r>
              <a:rPr lang="en-US" sz="1700" b="0" kern="0" dirty="0">
                <a:solidFill>
                  <a:srgbClr val="1D1F20">
                    <a:alpha val="88000"/>
                  </a:srgbClr>
                </a:solidFill>
                <a:latin typeface="Barlow"/>
                <a:cs typeface="Barlow"/>
              </a:rPr>
              <a:t>EMI freed five years early</a:t>
            </a:r>
          </a:p>
        </p:txBody>
      </p:sp>
      <p:sp>
        <p:nvSpPr>
          <p:cNvPr id="134" name="Shape 134"/>
          <p:cNvSpPr/>
          <p:nvPr/>
        </p:nvSpPr>
        <p:spPr>
          <a:xfrm>
            <a:off x="914400" y="7620000"/>
            <a:ext cx="16459200" cy="12700"/>
          </a:xfrm>
          <a:prstGeom prst="rect">
            <a:avLst/>
          </a:prstGeom>
          <a:solidFill>
            <a:srgbClr val="1D1F20">
              <a:alpha val="25000"/>
            </a:srgbClr>
          </a:solidFill>
          <a:ln>
            <a:noFill/>
          </a:ln>
        </p:spPr>
        <p:txBody>
          <a:bodyPr/>
          <a:lstStyle/>
          <a:p>
            <a:endParaRPr/>
          </a:p>
        </p:txBody>
      </p:sp>
      <p:sp>
        <p:nvSpPr>
          <p:cNvPr id="135" name="Text 135"/>
          <p:cNvSpPr txBox="1"/>
          <p:nvPr/>
        </p:nvSpPr>
        <p:spPr>
          <a:xfrm>
            <a:off x="3505200" y="7878485"/>
            <a:ext cx="13868400" cy="635000"/>
          </a:xfrm>
          <a:prstGeom prst="rect">
            <a:avLst/>
          </a:prstGeom>
          <a:noFill/>
        </p:spPr>
        <p:txBody>
          <a:bodyPr wrap="square" lIns="0" tIns="0" rIns="0" bIns="0" anchor="t">
            <a:normAutofit/>
          </a:bodyPr>
          <a:lstStyle/>
          <a:p>
            <a:pPr marL="0" indent="0" algn="l">
              <a:lnSpc>
                <a:spcPct val="120000"/>
              </a:lnSpc>
              <a:buNone/>
            </a:pPr>
            <a:r>
              <a:rPr lang="en-US" b="1" kern="0" dirty="0">
                <a:solidFill>
                  <a:schemeClr val="tx1">
                    <a:alpha val="65000"/>
                  </a:schemeClr>
                </a:solidFill>
                <a:latin typeface="Barlow"/>
                <a:cs typeface="Barlow"/>
              </a:rPr>
              <a:t>Loan start year, original principal and amount paid to date are derived from the stated EMI of ₹42,500, the 8.40% rate and the 2039 closing year; outstanding, interest and prepayment figures are as confirmed at review.</a:t>
            </a:r>
          </a:p>
        </p:txBody>
      </p:sp>
      <p:sp>
        <p:nvSpPr>
          <p:cNvPr id="136" name="Text 136"/>
          <p:cNvSpPr txBox="1"/>
          <p:nvPr/>
        </p:nvSpPr>
        <p:spPr>
          <a:xfrm>
            <a:off x="914400" y="9474200"/>
            <a:ext cx="5080000" cy="393700"/>
          </a:xfrm>
          <a:prstGeom prst="rect">
            <a:avLst/>
          </a:prstGeom>
          <a:noFill/>
        </p:spPr>
        <p:txBody>
          <a:bodyPr wrap="square" lIns="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37" name="Text 137"/>
          <p:cNvSpPr txBox="1"/>
          <p:nvPr/>
        </p:nvSpPr>
        <p:spPr>
          <a:xfrm>
            <a:off x="14833600" y="9474200"/>
            <a:ext cx="2540000" cy="393700"/>
          </a:xfrm>
          <a:prstGeom prst="rect">
            <a:avLst/>
          </a:prstGeom>
          <a:noFill/>
        </p:spPr>
        <p:txBody>
          <a:bodyPr wrap="square" lIns="0" tIns="0" rIns="0" bIns="0" anchor="t">
            <a:normAutofit/>
          </a:bodyPr>
          <a:lstStyle/>
          <a:p>
            <a:pPr marL="0" indent="0" algn="r">
              <a:buNone/>
            </a:pPr>
            <a:r>
              <a:rPr lang="en-US" sz="1600" b="0" kern="0" dirty="0">
                <a:solidFill>
                  <a:srgbClr val="2A3480"/>
                </a:solidFill>
                <a:latin typeface="Barlow"/>
                <a:cs typeface="Barlow"/>
              </a:rPr>
              <a:t>04 / 14</a:t>
            </a:r>
          </a:p>
        </p:txBody>
      </p:sp>
      <p:sp>
        <p:nvSpPr>
          <p:cNvPr id="3" name="Text 36">
            <a:extLst>
              <a:ext uri="{FF2B5EF4-FFF2-40B4-BE49-F238E27FC236}">
                <a16:creationId xmlns:a16="http://schemas.microsoft.com/office/drawing/2014/main" id="{4EA2A8AE-196D-A376-3546-E97E28A725AD}"/>
              </a:ext>
            </a:extLst>
          </p:cNvPr>
          <p:cNvSpPr/>
          <p:nvPr/>
        </p:nvSpPr>
        <p:spPr>
          <a:xfrm>
            <a:off x="914372" y="7967441"/>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Tree>
    <p:extLst>
      <p:ext uri="{BB962C8B-B14F-4D97-AF65-F5344CB8AC3E}">
        <p14:creationId xmlns:p14="http://schemas.microsoft.com/office/powerpoint/2010/main" val="31146807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11430000" cy="419100"/>
          </a:xfrm>
          <a:prstGeom prst="rect">
            <a:avLst/>
          </a:prstGeom>
          <a:noFill/>
        </p:spPr>
        <p:txBody>
          <a:bodyPr wrap="square" lIns="7200" tIns="0" rIns="0" bIns="0" anchor="t">
            <a:normAutofit/>
          </a:bodyPr>
          <a:lstStyle/>
          <a:p>
            <a:pPr marL="0" indent="0" algn="l">
              <a:buNone/>
            </a:pPr>
            <a:r>
              <a:rPr lang="en-US" sz="2100" b="1" kern="0" spc="390" dirty="0">
                <a:solidFill>
                  <a:srgbClr val="2A3480"/>
                </a:solidFill>
                <a:latin typeface="Barlow"/>
                <a:cs typeface="Barlow"/>
              </a:rPr>
              <a:t>HOME LOAN · WHERE THE EMI GOES</a:t>
            </a:r>
          </a:p>
        </p:txBody>
      </p:sp>
      <p:sp>
        <p:nvSpPr>
          <p:cNvPr id="102" name="Text 102"/>
          <p:cNvSpPr txBox="1"/>
          <p:nvPr/>
        </p:nvSpPr>
        <p:spPr>
          <a:xfrm>
            <a:off x="914400" y="1092200"/>
            <a:ext cx="15748000" cy="774700"/>
          </a:xfrm>
          <a:prstGeom prst="rect">
            <a:avLst/>
          </a:prstGeom>
          <a:noFill/>
        </p:spPr>
        <p:txBody>
          <a:bodyPr wrap="square" lIns="7200" tIns="0" rIns="0" bIns="0" anchor="t">
            <a:normAutofit/>
          </a:bodyPr>
          <a:lstStyle/>
          <a:p>
            <a:pPr marL="0" indent="0" algn="l">
              <a:lnSpc>
                <a:spcPct val="80000"/>
              </a:lnSpc>
              <a:buNone/>
            </a:pPr>
            <a:r>
              <a:rPr lang="en-US" sz="4400" b="1" kern="0" spc="-80" dirty="0">
                <a:solidFill>
                  <a:srgbClr val="1D1F20"/>
                </a:solidFill>
                <a:latin typeface="Barlow Condensed"/>
                <a:cs typeface="Barlow Condensed"/>
              </a:rPr>
              <a:t>₹26,600 of today's ₹42,500 EMI is interest — only ₹15,900 reduces the loan</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Text 104"/>
          <p:cNvSpPr txBox="1"/>
          <p:nvPr/>
        </p:nvSpPr>
        <p:spPr>
          <a:xfrm>
            <a:off x="914400" y="2489200"/>
            <a:ext cx="8890000" cy="381000"/>
          </a:xfrm>
          <a:prstGeom prst="rect">
            <a:avLst/>
          </a:prstGeom>
          <a:noFill/>
        </p:spPr>
        <p:txBody>
          <a:bodyPr wrap="square" lIns="7200" tIns="0" rIns="0" bIns="0" anchor="t">
            <a:normAutofit/>
          </a:bodyPr>
          <a:lstStyle/>
          <a:p>
            <a:pPr marL="0" indent="0" algn="l">
              <a:buNone/>
            </a:pPr>
            <a:r>
              <a:rPr lang="en-US" sz="1800" b="0" kern="0" dirty="0">
                <a:solidFill>
                  <a:srgbClr val="1D1F20">
                    <a:alpha val="80000"/>
                  </a:srgbClr>
                </a:solidFill>
                <a:latin typeface="Barlow"/>
                <a:cs typeface="Barlow"/>
              </a:rPr>
              <a:t>EMI split into interest and principal, ₹ thousand a month</a:t>
            </a:r>
          </a:p>
        </p:txBody>
      </p:sp>
      <p:sp>
        <p:nvSpPr>
          <p:cNvPr id="105" name="Shape 105"/>
          <p:cNvSpPr/>
          <p:nvPr/>
        </p:nvSpPr>
        <p:spPr>
          <a:xfrm>
            <a:off x="12192000" y="2489200"/>
            <a:ext cx="203200" cy="203200"/>
          </a:xfrm>
          <a:prstGeom prst="rect">
            <a:avLst/>
          </a:prstGeom>
          <a:solidFill>
            <a:srgbClr val="26306F"/>
          </a:solidFill>
          <a:ln>
            <a:noFill/>
          </a:ln>
        </p:spPr>
        <p:txBody>
          <a:bodyPr/>
          <a:lstStyle/>
          <a:p>
            <a:endParaRPr/>
          </a:p>
        </p:txBody>
      </p:sp>
      <p:sp>
        <p:nvSpPr>
          <p:cNvPr id="106" name="Text 106"/>
          <p:cNvSpPr txBox="1"/>
          <p:nvPr/>
        </p:nvSpPr>
        <p:spPr>
          <a:xfrm>
            <a:off x="12496800" y="2463800"/>
            <a:ext cx="1524000" cy="330200"/>
          </a:xfrm>
          <a:prstGeom prst="rect">
            <a:avLst/>
          </a:prstGeom>
          <a:noFill/>
        </p:spPr>
        <p:txBody>
          <a:bodyPr wrap="square" lIns="7200" tIns="0" rIns="0" bIns="0" anchor="t">
            <a:normAutofit/>
          </a:bodyPr>
          <a:lstStyle/>
          <a:p>
            <a:pPr marL="0" indent="0" algn="l">
              <a:buNone/>
            </a:pPr>
            <a:r>
              <a:rPr lang="en-US" sz="1700" b="0" kern="0" dirty="0">
                <a:solidFill>
                  <a:srgbClr val="1D1F20">
                    <a:alpha val="85000"/>
                  </a:srgbClr>
                </a:solidFill>
                <a:latin typeface="Barlow"/>
                <a:cs typeface="Barlow"/>
              </a:rPr>
              <a:t>Interest</a:t>
            </a:r>
          </a:p>
        </p:txBody>
      </p:sp>
      <p:sp>
        <p:nvSpPr>
          <p:cNvPr id="107" name="Shape 107"/>
          <p:cNvSpPr/>
          <p:nvPr/>
        </p:nvSpPr>
        <p:spPr>
          <a:xfrm>
            <a:off x="13817600" y="2489200"/>
            <a:ext cx="203200" cy="203200"/>
          </a:xfrm>
          <a:prstGeom prst="rect">
            <a:avLst/>
          </a:prstGeom>
          <a:solidFill>
            <a:srgbClr val="2F7D3A"/>
          </a:solidFill>
          <a:ln>
            <a:noFill/>
          </a:ln>
        </p:spPr>
        <p:txBody>
          <a:bodyPr/>
          <a:lstStyle/>
          <a:p>
            <a:endParaRPr/>
          </a:p>
        </p:txBody>
      </p:sp>
      <p:sp>
        <p:nvSpPr>
          <p:cNvPr id="108" name="Text 108"/>
          <p:cNvSpPr txBox="1"/>
          <p:nvPr/>
        </p:nvSpPr>
        <p:spPr>
          <a:xfrm>
            <a:off x="14122400" y="2463800"/>
            <a:ext cx="1524000" cy="330200"/>
          </a:xfrm>
          <a:prstGeom prst="rect">
            <a:avLst/>
          </a:prstGeom>
          <a:noFill/>
        </p:spPr>
        <p:txBody>
          <a:bodyPr wrap="square" lIns="7200" tIns="0" rIns="0" bIns="0" anchor="t">
            <a:normAutofit/>
          </a:bodyPr>
          <a:lstStyle/>
          <a:p>
            <a:pPr marL="0" indent="0" algn="l">
              <a:buNone/>
            </a:pPr>
            <a:r>
              <a:rPr lang="en-US" sz="1700" b="0" kern="0" dirty="0">
                <a:solidFill>
                  <a:srgbClr val="1D1F20">
                    <a:alpha val="85000"/>
                  </a:srgbClr>
                </a:solidFill>
                <a:latin typeface="Barlow"/>
                <a:cs typeface="Barlow"/>
              </a:rPr>
              <a:t>Principal</a:t>
            </a:r>
          </a:p>
        </p:txBody>
      </p:sp>
      <p:sp>
        <p:nvSpPr>
          <p:cNvPr id="109" name="Shape 109"/>
          <p:cNvSpPr/>
          <p:nvPr/>
        </p:nvSpPr>
        <p:spPr>
          <a:xfrm>
            <a:off x="12192000" y="3175000"/>
            <a:ext cx="12700" cy="3810000"/>
          </a:xfrm>
          <a:prstGeom prst="rect">
            <a:avLst/>
          </a:prstGeom>
          <a:solidFill>
            <a:srgbClr val="1D1F20">
              <a:alpha val="25000"/>
            </a:srgbClr>
          </a:solidFill>
          <a:ln>
            <a:noFill/>
          </a:ln>
        </p:spPr>
        <p:txBody>
          <a:bodyPr/>
          <a:lstStyle/>
          <a:p>
            <a:endParaRPr/>
          </a:p>
        </p:txBody>
      </p:sp>
      <p:sp>
        <p:nvSpPr>
          <p:cNvPr id="110" name="Text 110"/>
          <p:cNvSpPr txBox="1"/>
          <p:nvPr/>
        </p:nvSpPr>
        <p:spPr>
          <a:xfrm>
            <a:off x="12598400" y="3175000"/>
            <a:ext cx="4775200" cy="584200"/>
          </a:xfrm>
          <a:prstGeom prst="rect">
            <a:avLst/>
          </a:prstGeom>
          <a:noFill/>
        </p:spPr>
        <p:txBody>
          <a:bodyPr wrap="square" lIns="7200" tIns="0" rIns="0" bIns="0" anchor="t">
            <a:normAutofit/>
          </a:bodyPr>
          <a:lstStyle/>
          <a:p>
            <a:pPr marL="0" indent="0" algn="l">
              <a:buNone/>
            </a:pPr>
            <a:r>
              <a:rPr lang="en-US" sz="3400" b="1" kern="0" spc="-40" dirty="0">
                <a:solidFill>
                  <a:srgbClr val="26306F"/>
                </a:solidFill>
                <a:latin typeface="Barlow Condensed"/>
                <a:cs typeface="Barlow Condensed"/>
              </a:rPr>
              <a:t>63%</a:t>
            </a:r>
          </a:p>
        </p:txBody>
      </p:sp>
      <p:sp>
        <p:nvSpPr>
          <p:cNvPr id="111" name="Text 111"/>
          <p:cNvSpPr txBox="1"/>
          <p:nvPr/>
        </p:nvSpPr>
        <p:spPr>
          <a:xfrm>
            <a:off x="12598400" y="3784600"/>
            <a:ext cx="4775200" cy="355600"/>
          </a:xfrm>
          <a:prstGeom prst="rect">
            <a:avLst/>
          </a:prstGeom>
          <a:noFill/>
        </p:spPr>
        <p:txBody>
          <a:bodyPr wrap="square" lIns="7200" tIns="0" rIns="0" bIns="0" anchor="t">
            <a:normAutofit/>
          </a:bodyPr>
          <a:lstStyle/>
          <a:p>
            <a:pPr marL="0" indent="0" algn="l">
              <a:buNone/>
            </a:pPr>
            <a:r>
              <a:rPr lang="en-US" sz="1800" b="1" kern="0" dirty="0">
                <a:solidFill>
                  <a:srgbClr val="1D1F20"/>
                </a:solidFill>
                <a:latin typeface="Barlow"/>
                <a:cs typeface="Barlow"/>
              </a:rPr>
              <a:t>of the EMI is interest today</a:t>
            </a:r>
          </a:p>
        </p:txBody>
      </p:sp>
      <p:sp>
        <p:nvSpPr>
          <p:cNvPr id="112" name="Text 112"/>
          <p:cNvSpPr txBox="1"/>
          <p:nvPr/>
        </p:nvSpPr>
        <p:spPr>
          <a:xfrm>
            <a:off x="12598400" y="4165600"/>
            <a:ext cx="4775200" cy="762000"/>
          </a:xfrm>
          <a:prstGeom prst="rect">
            <a:avLst/>
          </a:prstGeom>
          <a:noFill/>
        </p:spPr>
        <p:txBody>
          <a:bodyPr wrap="square" lIns="7200" tIns="0" rIns="0" bIns="0" anchor="t">
            <a:normAutofit/>
          </a:bodyPr>
          <a:lstStyle/>
          <a:p>
            <a:pPr marL="0" indent="0" algn="l">
              <a:lnSpc>
                <a:spcPct val="122000"/>
              </a:lnSpc>
              <a:buNone/>
            </a:pPr>
            <a:r>
              <a:rPr lang="en-US" sz="1600" b="0" kern="0" dirty="0">
                <a:solidFill>
                  <a:srgbClr val="1D1F20">
                    <a:alpha val="80000"/>
                  </a:srgbClr>
                </a:solidFill>
                <a:latin typeface="Barlow"/>
                <a:cs typeface="Barlow"/>
              </a:rPr>
              <a:t>Every month of delay costs ₹26,600 in interest alone.</a:t>
            </a:r>
          </a:p>
        </p:txBody>
      </p:sp>
      <p:sp>
        <p:nvSpPr>
          <p:cNvPr id="113" name="Text 113"/>
          <p:cNvSpPr txBox="1"/>
          <p:nvPr/>
        </p:nvSpPr>
        <p:spPr>
          <a:xfrm>
            <a:off x="12598400" y="4495800"/>
            <a:ext cx="4775200" cy="584200"/>
          </a:xfrm>
          <a:prstGeom prst="rect">
            <a:avLst/>
          </a:prstGeom>
          <a:noFill/>
        </p:spPr>
        <p:txBody>
          <a:bodyPr wrap="square" lIns="7200" tIns="0" rIns="0" bIns="0" anchor="t">
            <a:normAutofit/>
          </a:bodyPr>
          <a:lstStyle/>
          <a:p>
            <a:pPr marL="0" indent="0" algn="l">
              <a:buNone/>
            </a:pPr>
            <a:r>
              <a:rPr lang="en-US" sz="3400" b="1" kern="0" spc="-40" dirty="0">
                <a:solidFill>
                  <a:srgbClr val="26306F"/>
                </a:solidFill>
                <a:latin typeface="Barlow Condensed"/>
                <a:cs typeface="Barlow Condensed"/>
              </a:rPr>
              <a:t>2032</a:t>
            </a:r>
          </a:p>
        </p:txBody>
      </p:sp>
      <p:sp>
        <p:nvSpPr>
          <p:cNvPr id="114" name="Text 114"/>
          <p:cNvSpPr txBox="1"/>
          <p:nvPr/>
        </p:nvSpPr>
        <p:spPr>
          <a:xfrm>
            <a:off x="12598400" y="5105400"/>
            <a:ext cx="4775200" cy="355600"/>
          </a:xfrm>
          <a:prstGeom prst="rect">
            <a:avLst/>
          </a:prstGeom>
          <a:noFill/>
        </p:spPr>
        <p:txBody>
          <a:bodyPr wrap="square" lIns="7200" tIns="0" rIns="0" bIns="0" anchor="t">
            <a:normAutofit/>
          </a:bodyPr>
          <a:lstStyle/>
          <a:p>
            <a:pPr marL="0" indent="0" algn="l">
              <a:buNone/>
            </a:pPr>
            <a:r>
              <a:rPr lang="en-US" sz="1800" b="1" kern="0" dirty="0">
                <a:solidFill>
                  <a:srgbClr val="1D1F20"/>
                </a:solidFill>
                <a:latin typeface="Barlow"/>
                <a:cs typeface="Barlow"/>
              </a:rPr>
              <a:t>the year the split flips</a:t>
            </a:r>
          </a:p>
        </p:txBody>
      </p:sp>
      <p:sp>
        <p:nvSpPr>
          <p:cNvPr id="115" name="Text 115"/>
          <p:cNvSpPr txBox="1"/>
          <p:nvPr/>
        </p:nvSpPr>
        <p:spPr>
          <a:xfrm>
            <a:off x="12598400" y="5486400"/>
            <a:ext cx="4775200" cy="762000"/>
          </a:xfrm>
          <a:prstGeom prst="rect">
            <a:avLst/>
          </a:prstGeom>
          <a:noFill/>
        </p:spPr>
        <p:txBody>
          <a:bodyPr wrap="square" lIns="7200" tIns="0" rIns="0" bIns="0" anchor="t">
            <a:normAutofit/>
          </a:bodyPr>
          <a:lstStyle/>
          <a:p>
            <a:pPr marL="0" indent="0" algn="l">
              <a:lnSpc>
                <a:spcPct val="122000"/>
              </a:lnSpc>
              <a:buNone/>
            </a:pPr>
            <a:r>
              <a:rPr lang="en-US" sz="1600" b="0" kern="0" dirty="0">
                <a:solidFill>
                  <a:srgbClr val="1D1F20">
                    <a:alpha val="80000"/>
                  </a:srgbClr>
                </a:solidFill>
                <a:latin typeface="Barlow"/>
                <a:cs typeface="Barlow"/>
              </a:rPr>
              <a:t>Principal overtakes interest only six years from now.</a:t>
            </a:r>
          </a:p>
        </p:txBody>
      </p:sp>
      <p:sp>
        <p:nvSpPr>
          <p:cNvPr id="116" name="Text 116"/>
          <p:cNvSpPr txBox="1"/>
          <p:nvPr/>
        </p:nvSpPr>
        <p:spPr>
          <a:xfrm>
            <a:off x="12598400" y="5816600"/>
            <a:ext cx="4775200" cy="584200"/>
          </a:xfrm>
          <a:prstGeom prst="rect">
            <a:avLst/>
          </a:prstGeom>
          <a:noFill/>
        </p:spPr>
        <p:txBody>
          <a:bodyPr wrap="square" lIns="7200" tIns="0" rIns="0" bIns="0" anchor="t">
            <a:normAutofit/>
          </a:bodyPr>
          <a:lstStyle/>
          <a:p>
            <a:pPr marL="0" indent="0" algn="l">
              <a:buNone/>
            </a:pPr>
            <a:r>
              <a:rPr lang="en-US" sz="3400" b="1" kern="0" spc="-40" dirty="0">
                <a:solidFill>
                  <a:srgbClr val="2F7D3A"/>
                </a:solidFill>
                <a:latin typeface="Barlow Condensed"/>
                <a:cs typeface="Barlow Condensed"/>
              </a:rPr>
              <a:t>₹5 L</a:t>
            </a:r>
          </a:p>
        </p:txBody>
      </p:sp>
      <p:sp>
        <p:nvSpPr>
          <p:cNvPr id="117" name="Text 117"/>
          <p:cNvSpPr txBox="1"/>
          <p:nvPr/>
        </p:nvSpPr>
        <p:spPr>
          <a:xfrm>
            <a:off x="12598400" y="6426200"/>
            <a:ext cx="4775200" cy="355600"/>
          </a:xfrm>
          <a:prstGeom prst="rect">
            <a:avLst/>
          </a:prstGeom>
          <a:noFill/>
        </p:spPr>
        <p:txBody>
          <a:bodyPr wrap="square" lIns="7200" tIns="0" rIns="0" bIns="0" anchor="t">
            <a:normAutofit/>
          </a:bodyPr>
          <a:lstStyle/>
          <a:p>
            <a:pPr marL="0" indent="0" algn="l">
              <a:buNone/>
            </a:pPr>
            <a:r>
              <a:rPr lang="en-US" sz="1800" b="1" kern="0" dirty="0">
                <a:solidFill>
                  <a:srgbClr val="1D1F20"/>
                </a:solidFill>
                <a:latin typeface="Barlow"/>
                <a:cs typeface="Barlow"/>
              </a:rPr>
              <a:t>prepaid moves the flip to 2029</a:t>
            </a:r>
          </a:p>
        </p:txBody>
      </p:sp>
      <p:sp>
        <p:nvSpPr>
          <p:cNvPr id="118" name="Text 118"/>
          <p:cNvSpPr txBox="1"/>
          <p:nvPr/>
        </p:nvSpPr>
        <p:spPr>
          <a:xfrm>
            <a:off x="12598400" y="6807200"/>
            <a:ext cx="4775200" cy="762000"/>
          </a:xfrm>
          <a:prstGeom prst="rect">
            <a:avLst/>
          </a:prstGeom>
          <a:noFill/>
        </p:spPr>
        <p:txBody>
          <a:bodyPr wrap="square" lIns="7200" tIns="0" rIns="0" bIns="0" anchor="t">
            <a:normAutofit/>
          </a:bodyPr>
          <a:lstStyle/>
          <a:p>
            <a:pPr marL="0" indent="0" algn="l">
              <a:lnSpc>
                <a:spcPct val="122000"/>
              </a:lnSpc>
              <a:buNone/>
            </a:pPr>
            <a:r>
              <a:rPr lang="en-US" sz="1600" b="0" kern="0" dirty="0">
                <a:solidFill>
                  <a:srgbClr val="1D1F20">
                    <a:alpha val="80000"/>
                  </a:srgbClr>
                </a:solidFill>
                <a:latin typeface="Barlow"/>
                <a:cs typeface="Barlow"/>
              </a:rPr>
              <a:t>Prepayment attacks principal directly, so the crossover arrives three years sooner.</a:t>
            </a:r>
          </a:p>
        </p:txBody>
      </p:sp>
      <p:sp>
        <p:nvSpPr>
          <p:cNvPr id="119" name="Shape 119"/>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120" name="Text 120"/>
          <p:cNvSpPr txBox="1"/>
          <p:nvPr/>
        </p:nvSpPr>
        <p:spPr>
          <a:xfrm>
            <a:off x="914400" y="7696200"/>
            <a:ext cx="2159000" cy="393700"/>
          </a:xfrm>
          <a:prstGeom prst="rect">
            <a:avLst/>
          </a:prstGeom>
          <a:noFill/>
        </p:spPr>
        <p:txBody>
          <a:bodyPr wrap="square" lIns="720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121" name="Text 121"/>
          <p:cNvSpPr txBox="1"/>
          <p:nvPr/>
        </p:nvSpPr>
        <p:spPr>
          <a:xfrm>
            <a:off x="3276600" y="7658100"/>
            <a:ext cx="13246100" cy="774700"/>
          </a:xfrm>
          <a:prstGeom prst="rect">
            <a:avLst/>
          </a:prstGeom>
          <a:noFill/>
        </p:spPr>
        <p:txBody>
          <a:bodyPr wrap="square" lIns="7200" tIns="0" rIns="0" bIns="0" anchor="t">
            <a:normAutofit/>
          </a:bodyPr>
          <a:lstStyle/>
          <a:p>
            <a:pPr marL="0" indent="0" algn="l">
              <a:lnSpc>
                <a:spcPct val="118000"/>
              </a:lnSpc>
              <a:buNone/>
            </a:pPr>
            <a:r>
              <a:rPr lang="en-US" sz="2100" b="0" kern="0" dirty="0">
                <a:solidFill>
                  <a:srgbClr val="1D1F20">
                    <a:alpha val="90000"/>
                  </a:srgbClr>
                </a:solidFill>
                <a:latin typeface="Barlow"/>
                <a:cs typeface="Barlow"/>
              </a:rPr>
              <a:t>An EMI is not a fixed cost split evenly over the years. In the early years it is mostly rent on the borrowed money, which is why a prepayment made now is worth several times the same amount paid in 2034.</a:t>
            </a:r>
          </a:p>
        </p:txBody>
      </p:sp>
      <p:sp>
        <p:nvSpPr>
          <p:cNvPr id="122" name="Text 122"/>
          <p:cNvSpPr txBox="1"/>
          <p:nvPr/>
        </p:nvSpPr>
        <p:spPr>
          <a:xfrm>
            <a:off x="914400" y="9474200"/>
            <a:ext cx="5080000" cy="393700"/>
          </a:xfrm>
          <a:prstGeom prst="rect">
            <a:avLst/>
          </a:prstGeom>
          <a:noFill/>
        </p:spPr>
        <p:txBody>
          <a:bodyPr wrap="square" lIns="720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23" name="Text 123"/>
          <p:cNvSpPr txBox="1"/>
          <p:nvPr/>
        </p:nvSpPr>
        <p:spPr>
          <a:xfrm>
            <a:off x="14833600" y="9474200"/>
            <a:ext cx="2540000" cy="393700"/>
          </a:xfrm>
          <a:prstGeom prst="rect">
            <a:avLst/>
          </a:prstGeom>
          <a:noFill/>
        </p:spPr>
        <p:txBody>
          <a:bodyPr wrap="square" lIns="7200" tIns="0" rIns="0" bIns="0" anchor="t">
            <a:normAutofit/>
          </a:bodyPr>
          <a:lstStyle/>
          <a:p>
            <a:pPr marL="0" indent="0" algn="r">
              <a:buNone/>
            </a:pPr>
            <a:r>
              <a:rPr lang="en-US" sz="1600" b="0" kern="0" dirty="0">
                <a:solidFill>
                  <a:srgbClr val="2A3480"/>
                </a:solidFill>
                <a:latin typeface="Barlow"/>
                <a:cs typeface="Barlow"/>
              </a:rPr>
              <a:t>05 / 14</a:t>
            </a:r>
          </a:p>
        </p:txBody>
      </p:sp>
      <p:graphicFrame>
        <p:nvGraphicFramePr>
          <p:cNvPr id="124" name="Chart"/>
          <p:cNvGraphicFramePr/>
          <p:nvPr/>
        </p:nvGraphicFramePr>
        <p:xfrm>
          <a:off x="914400" y="2997200"/>
          <a:ext cx="10795000" cy="381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86830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11430000" cy="419100"/>
          </a:xfrm>
          <a:prstGeom prst="rect">
            <a:avLst/>
          </a:prstGeom>
          <a:noFill/>
        </p:spPr>
        <p:txBody>
          <a:bodyPr wrap="square" lIns="7200" tIns="0" rIns="0" bIns="0" anchor="t">
            <a:normAutofit/>
          </a:bodyPr>
          <a:lstStyle/>
          <a:p>
            <a:pPr marL="0" indent="0" algn="l">
              <a:buNone/>
            </a:pPr>
            <a:r>
              <a:rPr lang="en-US" sz="2100" b="1" kern="0" spc="390" dirty="0">
                <a:solidFill>
                  <a:srgbClr val="2A3480"/>
                </a:solidFill>
                <a:latin typeface="Barlow"/>
                <a:cs typeface="Barlow"/>
              </a:rPr>
              <a:t>HOME LOAN · IMPACT OF PREPAYMENT</a:t>
            </a:r>
          </a:p>
        </p:txBody>
      </p:sp>
      <p:sp>
        <p:nvSpPr>
          <p:cNvPr id="102" name="Text 102"/>
          <p:cNvSpPr txBox="1"/>
          <p:nvPr/>
        </p:nvSpPr>
        <p:spPr>
          <a:xfrm>
            <a:off x="914400" y="1092200"/>
            <a:ext cx="15748000" cy="774700"/>
          </a:xfrm>
          <a:prstGeom prst="rect">
            <a:avLst/>
          </a:prstGeom>
          <a:noFill/>
        </p:spPr>
        <p:txBody>
          <a:bodyPr wrap="square" lIns="7200" tIns="0" rIns="0" bIns="0" anchor="t">
            <a:normAutofit/>
          </a:bodyPr>
          <a:lstStyle/>
          <a:p>
            <a:pPr marL="0" indent="0" algn="l">
              <a:lnSpc>
                <a:spcPct val="80000"/>
              </a:lnSpc>
              <a:buNone/>
            </a:pPr>
            <a:r>
              <a:rPr lang="en-US" sz="4400" b="1" kern="0" spc="-80" dirty="0">
                <a:solidFill>
                  <a:srgbClr val="1D1F20"/>
                </a:solidFill>
                <a:latin typeface="Barlow Condensed"/>
                <a:cs typeface="Barlow Condensed"/>
              </a:rPr>
              <a:t>₹5 lakh prepaid today removes ₹11.2 lakh of interest and five years of EMI</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Text 104"/>
          <p:cNvSpPr txBox="1"/>
          <p:nvPr/>
        </p:nvSpPr>
        <p:spPr>
          <a:xfrm>
            <a:off x="914400" y="2489200"/>
            <a:ext cx="8890000" cy="381000"/>
          </a:xfrm>
          <a:prstGeom prst="rect">
            <a:avLst/>
          </a:prstGeom>
          <a:noFill/>
        </p:spPr>
        <p:txBody>
          <a:bodyPr wrap="square" lIns="7200" tIns="0" rIns="0" bIns="0" anchor="t">
            <a:normAutofit/>
          </a:bodyPr>
          <a:lstStyle/>
          <a:p>
            <a:pPr marL="0" indent="0" algn="l">
              <a:buNone/>
            </a:pPr>
            <a:r>
              <a:rPr lang="en-US" sz="1800" b="0" kern="0" dirty="0">
                <a:solidFill>
                  <a:srgbClr val="1D1F20">
                    <a:alpha val="80000"/>
                  </a:srgbClr>
                </a:solidFill>
                <a:latin typeface="Barlow"/>
                <a:cs typeface="Barlow"/>
              </a:rPr>
              <a:t>Interest still payable on the home loan, ₹ lakh</a:t>
            </a:r>
          </a:p>
        </p:txBody>
      </p:sp>
      <p:sp>
        <p:nvSpPr>
          <p:cNvPr id="105" name="Shape 105"/>
          <p:cNvSpPr/>
          <p:nvPr/>
        </p:nvSpPr>
        <p:spPr>
          <a:xfrm>
            <a:off x="10363200" y="2489200"/>
            <a:ext cx="7010400" cy="4622800"/>
          </a:xfrm>
          <a:prstGeom prst="rect">
            <a:avLst/>
          </a:prstGeom>
          <a:noFill/>
          <a:ln w="9525">
            <a:solidFill>
              <a:srgbClr val="1D1F20">
                <a:alpha val="22000"/>
              </a:srgbClr>
            </a:solidFill>
          </a:ln>
        </p:spPr>
        <p:txBody>
          <a:bodyPr/>
          <a:lstStyle/>
          <a:p>
            <a:endParaRPr/>
          </a:p>
        </p:txBody>
      </p:sp>
      <p:sp>
        <p:nvSpPr>
          <p:cNvPr id="106" name="Shape 106"/>
          <p:cNvSpPr/>
          <p:nvPr/>
        </p:nvSpPr>
        <p:spPr>
          <a:xfrm>
            <a:off x="10363200" y="2489200"/>
            <a:ext cx="7010400" cy="63500"/>
          </a:xfrm>
          <a:prstGeom prst="rect">
            <a:avLst/>
          </a:prstGeom>
          <a:solidFill>
            <a:srgbClr val="2F7D3A"/>
          </a:solidFill>
          <a:ln>
            <a:noFill/>
          </a:ln>
        </p:spPr>
        <p:txBody>
          <a:bodyPr/>
          <a:lstStyle/>
          <a:p>
            <a:endParaRPr/>
          </a:p>
        </p:txBody>
      </p:sp>
      <p:sp>
        <p:nvSpPr>
          <p:cNvPr id="107" name="Text 107"/>
          <p:cNvSpPr txBox="1"/>
          <p:nvPr/>
        </p:nvSpPr>
        <p:spPr>
          <a:xfrm>
            <a:off x="10769600" y="2844800"/>
            <a:ext cx="6096000" cy="406400"/>
          </a:xfrm>
          <a:prstGeom prst="rect">
            <a:avLst/>
          </a:prstGeom>
          <a:noFill/>
        </p:spPr>
        <p:txBody>
          <a:bodyPr wrap="square" lIns="7200" tIns="0" rIns="0" bIns="0" anchor="t">
            <a:normAutofit/>
          </a:bodyPr>
          <a:lstStyle/>
          <a:p>
            <a:pPr marL="0" indent="0" algn="l">
              <a:buNone/>
            </a:pPr>
            <a:r>
              <a:rPr lang="en-US" sz="1700" b="1" kern="0" spc="300" dirty="0">
                <a:solidFill>
                  <a:srgbClr val="2A3480"/>
                </a:solidFill>
                <a:latin typeface="Barlow"/>
                <a:cs typeface="Barlow"/>
              </a:rPr>
              <a:t>WHAT THE FAMILY GAINS</a:t>
            </a:r>
          </a:p>
        </p:txBody>
      </p:sp>
      <p:sp>
        <p:nvSpPr>
          <p:cNvPr id="108" name="Text 108"/>
          <p:cNvSpPr txBox="1"/>
          <p:nvPr/>
        </p:nvSpPr>
        <p:spPr>
          <a:xfrm>
            <a:off x="10769600" y="3149600"/>
            <a:ext cx="3810000" cy="533400"/>
          </a:xfrm>
          <a:prstGeom prst="rect">
            <a:avLst/>
          </a:prstGeom>
          <a:noFill/>
        </p:spPr>
        <p:txBody>
          <a:bodyPr wrap="square" lIns="7200" tIns="0" rIns="0" bIns="0" anchor="t">
            <a:normAutofit/>
          </a:bodyPr>
          <a:lstStyle/>
          <a:p>
            <a:pPr marL="0" indent="0" algn="l">
              <a:buNone/>
            </a:pPr>
            <a:r>
              <a:rPr lang="en-US" sz="3000" b="1" kern="0" spc="-40" dirty="0">
                <a:solidFill>
                  <a:srgbClr val="2F7D3A"/>
                </a:solidFill>
                <a:latin typeface="Barlow Condensed"/>
                <a:cs typeface="Barlow Condensed"/>
              </a:rPr>
              <a:t>₹11.2 L</a:t>
            </a:r>
          </a:p>
        </p:txBody>
      </p:sp>
      <p:sp>
        <p:nvSpPr>
          <p:cNvPr id="109" name="Text 109"/>
          <p:cNvSpPr txBox="1"/>
          <p:nvPr/>
        </p:nvSpPr>
        <p:spPr>
          <a:xfrm>
            <a:off x="10769600" y="3683000"/>
            <a:ext cx="6096000" cy="3556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interest never paid</a:t>
            </a:r>
          </a:p>
        </p:txBody>
      </p:sp>
      <p:sp>
        <p:nvSpPr>
          <p:cNvPr id="110" name="Text 110"/>
          <p:cNvSpPr txBox="1"/>
          <p:nvPr/>
        </p:nvSpPr>
        <p:spPr>
          <a:xfrm>
            <a:off x="10769600" y="4038600"/>
            <a:ext cx="6096000" cy="355600"/>
          </a:xfrm>
          <a:prstGeom prst="rect">
            <a:avLst/>
          </a:prstGeom>
          <a:noFill/>
        </p:spPr>
        <p:txBody>
          <a:bodyPr wrap="square" lIns="7200" tIns="0" rIns="0" bIns="0" anchor="t">
            <a:normAutofit/>
          </a:bodyPr>
          <a:lstStyle/>
          <a:p>
            <a:pPr marL="0" indent="0" algn="l">
              <a:buNone/>
            </a:pPr>
            <a:r>
              <a:rPr lang="en-US" sz="1600" b="0" kern="0" dirty="0">
                <a:solidFill>
                  <a:srgbClr val="1D1F20">
                    <a:alpha val="80000"/>
                  </a:srgbClr>
                </a:solidFill>
                <a:latin typeface="Barlow"/>
                <a:cs typeface="Barlow"/>
              </a:rPr>
              <a:t>a 224% return on the ₹5 lakh, tax-free</a:t>
            </a:r>
          </a:p>
        </p:txBody>
      </p:sp>
      <p:sp>
        <p:nvSpPr>
          <p:cNvPr id="111" name="Shape 111"/>
          <p:cNvSpPr/>
          <p:nvPr/>
        </p:nvSpPr>
        <p:spPr>
          <a:xfrm>
            <a:off x="10769600" y="4495800"/>
            <a:ext cx="6197600" cy="12700"/>
          </a:xfrm>
          <a:prstGeom prst="rect">
            <a:avLst/>
          </a:prstGeom>
          <a:solidFill>
            <a:srgbClr val="1D1F20">
              <a:alpha val="25000"/>
            </a:srgbClr>
          </a:solidFill>
          <a:ln>
            <a:noFill/>
          </a:ln>
        </p:spPr>
        <p:txBody>
          <a:bodyPr/>
          <a:lstStyle/>
          <a:p>
            <a:endParaRPr/>
          </a:p>
        </p:txBody>
      </p:sp>
      <p:sp>
        <p:nvSpPr>
          <p:cNvPr id="112" name="Text 112"/>
          <p:cNvSpPr txBox="1"/>
          <p:nvPr/>
        </p:nvSpPr>
        <p:spPr>
          <a:xfrm>
            <a:off x="10769600" y="4470400"/>
            <a:ext cx="3810000" cy="533400"/>
          </a:xfrm>
          <a:prstGeom prst="rect">
            <a:avLst/>
          </a:prstGeom>
          <a:noFill/>
        </p:spPr>
        <p:txBody>
          <a:bodyPr wrap="square" lIns="7200" tIns="0" rIns="0" bIns="0" anchor="t">
            <a:normAutofit/>
          </a:bodyPr>
          <a:lstStyle/>
          <a:p>
            <a:pPr marL="0" indent="0" algn="l">
              <a:buNone/>
            </a:pPr>
            <a:r>
              <a:rPr lang="en-US" sz="3000" b="1" kern="0" spc="-40" dirty="0">
                <a:solidFill>
                  <a:srgbClr val="1D1F20"/>
                </a:solidFill>
                <a:latin typeface="Barlow Condensed"/>
                <a:cs typeface="Barlow Condensed"/>
              </a:rPr>
              <a:t>5 years</a:t>
            </a:r>
          </a:p>
        </p:txBody>
      </p:sp>
      <p:sp>
        <p:nvSpPr>
          <p:cNvPr id="113" name="Text 113"/>
          <p:cNvSpPr txBox="1"/>
          <p:nvPr/>
        </p:nvSpPr>
        <p:spPr>
          <a:xfrm>
            <a:off x="10769600" y="5003800"/>
            <a:ext cx="6096000" cy="3556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of EMI removed</a:t>
            </a:r>
          </a:p>
        </p:txBody>
      </p:sp>
      <p:sp>
        <p:nvSpPr>
          <p:cNvPr id="114" name="Text 114"/>
          <p:cNvSpPr txBox="1"/>
          <p:nvPr/>
        </p:nvSpPr>
        <p:spPr>
          <a:xfrm>
            <a:off x="10769600" y="5359400"/>
            <a:ext cx="6096000" cy="355600"/>
          </a:xfrm>
          <a:prstGeom prst="rect">
            <a:avLst/>
          </a:prstGeom>
          <a:noFill/>
        </p:spPr>
        <p:txBody>
          <a:bodyPr wrap="square" lIns="7200" tIns="0" rIns="0" bIns="0" anchor="t">
            <a:normAutofit/>
          </a:bodyPr>
          <a:lstStyle/>
          <a:p>
            <a:pPr marL="0" indent="0" algn="l">
              <a:buNone/>
            </a:pPr>
            <a:r>
              <a:rPr lang="en-US" sz="1600" b="0" kern="0" dirty="0">
                <a:solidFill>
                  <a:srgbClr val="1D1F20">
                    <a:alpha val="80000"/>
                  </a:srgbClr>
                </a:solidFill>
                <a:latin typeface="Barlow"/>
                <a:cs typeface="Barlow"/>
              </a:rPr>
              <a:t>the loan ends in 2034, two years before retirement</a:t>
            </a:r>
          </a:p>
        </p:txBody>
      </p:sp>
      <p:sp>
        <p:nvSpPr>
          <p:cNvPr id="115" name="Shape 115"/>
          <p:cNvSpPr/>
          <p:nvPr/>
        </p:nvSpPr>
        <p:spPr>
          <a:xfrm>
            <a:off x="10769600" y="5816600"/>
            <a:ext cx="6197600" cy="12700"/>
          </a:xfrm>
          <a:prstGeom prst="rect">
            <a:avLst/>
          </a:prstGeom>
          <a:solidFill>
            <a:srgbClr val="1D1F20">
              <a:alpha val="25000"/>
            </a:srgbClr>
          </a:solidFill>
          <a:ln>
            <a:noFill/>
          </a:ln>
        </p:spPr>
        <p:txBody>
          <a:bodyPr/>
          <a:lstStyle/>
          <a:p>
            <a:endParaRPr/>
          </a:p>
        </p:txBody>
      </p:sp>
      <p:sp>
        <p:nvSpPr>
          <p:cNvPr id="116" name="Text 116"/>
          <p:cNvSpPr txBox="1"/>
          <p:nvPr/>
        </p:nvSpPr>
        <p:spPr>
          <a:xfrm>
            <a:off x="10769600" y="5791200"/>
            <a:ext cx="3810000" cy="533400"/>
          </a:xfrm>
          <a:prstGeom prst="rect">
            <a:avLst/>
          </a:prstGeom>
          <a:noFill/>
        </p:spPr>
        <p:txBody>
          <a:bodyPr wrap="square" lIns="7200" tIns="0" rIns="0" bIns="0" anchor="t">
            <a:normAutofit/>
          </a:bodyPr>
          <a:lstStyle/>
          <a:p>
            <a:pPr marL="0" indent="0" algn="l">
              <a:buNone/>
            </a:pPr>
            <a:r>
              <a:rPr lang="en-US" sz="3000" b="1" kern="0" spc="-40" dirty="0">
                <a:solidFill>
                  <a:srgbClr val="1D1F20"/>
                </a:solidFill>
                <a:latin typeface="Barlow Condensed"/>
                <a:cs typeface="Barlow Condensed"/>
              </a:rPr>
              <a:t>₹42,500</a:t>
            </a:r>
          </a:p>
        </p:txBody>
      </p:sp>
      <p:sp>
        <p:nvSpPr>
          <p:cNvPr id="117" name="Text 117"/>
          <p:cNvSpPr txBox="1"/>
          <p:nvPr/>
        </p:nvSpPr>
        <p:spPr>
          <a:xfrm>
            <a:off x="10769600" y="6324600"/>
            <a:ext cx="6096000" cy="3556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a month freed from 2034</a:t>
            </a:r>
          </a:p>
        </p:txBody>
      </p:sp>
      <p:sp>
        <p:nvSpPr>
          <p:cNvPr id="118" name="Text 118"/>
          <p:cNvSpPr txBox="1"/>
          <p:nvPr/>
        </p:nvSpPr>
        <p:spPr>
          <a:xfrm>
            <a:off x="10769600" y="6680200"/>
            <a:ext cx="6096000" cy="355600"/>
          </a:xfrm>
          <a:prstGeom prst="rect">
            <a:avLst/>
          </a:prstGeom>
          <a:noFill/>
        </p:spPr>
        <p:txBody>
          <a:bodyPr wrap="square" lIns="7200" tIns="0" rIns="0" bIns="0" anchor="t">
            <a:normAutofit/>
          </a:bodyPr>
          <a:lstStyle/>
          <a:p>
            <a:pPr marL="0" indent="0" algn="l">
              <a:buNone/>
            </a:pPr>
            <a:r>
              <a:rPr lang="en-US" sz="1600" b="0" kern="0" dirty="0">
                <a:solidFill>
                  <a:srgbClr val="1D1F20">
                    <a:alpha val="80000"/>
                  </a:srgbClr>
                </a:solidFill>
                <a:latin typeface="Barlow"/>
                <a:cs typeface="Barlow"/>
              </a:rPr>
              <a:t>re-tagged to the retirement SIP, not to spending</a:t>
            </a:r>
          </a:p>
        </p:txBody>
      </p:sp>
      <p:sp>
        <p:nvSpPr>
          <p:cNvPr id="119" name="Shape 119"/>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120" name="Text 120"/>
          <p:cNvSpPr txBox="1"/>
          <p:nvPr/>
        </p:nvSpPr>
        <p:spPr>
          <a:xfrm>
            <a:off x="914400" y="7696200"/>
            <a:ext cx="2159000" cy="393700"/>
          </a:xfrm>
          <a:prstGeom prst="rect">
            <a:avLst/>
          </a:prstGeom>
          <a:noFill/>
        </p:spPr>
        <p:txBody>
          <a:bodyPr wrap="square" lIns="720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121" name="Text 121"/>
          <p:cNvSpPr txBox="1"/>
          <p:nvPr/>
        </p:nvSpPr>
        <p:spPr>
          <a:xfrm>
            <a:off x="3276600" y="7658100"/>
            <a:ext cx="13246100" cy="774700"/>
          </a:xfrm>
          <a:prstGeom prst="rect">
            <a:avLst/>
          </a:prstGeom>
          <a:noFill/>
        </p:spPr>
        <p:txBody>
          <a:bodyPr wrap="square" lIns="7200" tIns="0" rIns="0" bIns="0" anchor="t">
            <a:normAutofit/>
          </a:bodyPr>
          <a:lstStyle/>
          <a:p>
            <a:pPr marL="0" indent="0" algn="l">
              <a:lnSpc>
                <a:spcPct val="118000"/>
              </a:lnSpc>
              <a:buNone/>
            </a:pPr>
            <a:r>
              <a:rPr lang="en-US" sz="2100" b="0" kern="0" dirty="0">
                <a:solidFill>
                  <a:srgbClr val="1D1F20">
                    <a:alpha val="90000"/>
                  </a:srgbClr>
                </a:solidFill>
                <a:latin typeface="Barlow"/>
                <a:cs typeface="Barlow"/>
              </a:rPr>
              <a:t>The deposits behind the prepayment earn about 5.3% after tax while the loan charges 8.4%. Moving ₹5 lakh across that gap is the single highest-certainty return available in the plan, and it needs no market view.</a:t>
            </a:r>
          </a:p>
        </p:txBody>
      </p:sp>
      <p:sp>
        <p:nvSpPr>
          <p:cNvPr id="122" name="Text 122"/>
          <p:cNvSpPr txBox="1"/>
          <p:nvPr/>
        </p:nvSpPr>
        <p:spPr>
          <a:xfrm>
            <a:off x="914400" y="9474200"/>
            <a:ext cx="5080000" cy="393700"/>
          </a:xfrm>
          <a:prstGeom prst="rect">
            <a:avLst/>
          </a:prstGeom>
          <a:noFill/>
        </p:spPr>
        <p:txBody>
          <a:bodyPr wrap="square" lIns="720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23" name="Text 123"/>
          <p:cNvSpPr txBox="1"/>
          <p:nvPr/>
        </p:nvSpPr>
        <p:spPr>
          <a:xfrm>
            <a:off x="14833600" y="9474200"/>
            <a:ext cx="2540000" cy="393700"/>
          </a:xfrm>
          <a:prstGeom prst="rect">
            <a:avLst/>
          </a:prstGeom>
          <a:noFill/>
        </p:spPr>
        <p:txBody>
          <a:bodyPr wrap="square" lIns="7200" tIns="0" rIns="0" bIns="0" anchor="t">
            <a:normAutofit/>
          </a:bodyPr>
          <a:lstStyle/>
          <a:p>
            <a:pPr marL="0" indent="0" algn="r">
              <a:buNone/>
            </a:pPr>
            <a:r>
              <a:rPr lang="en-US" sz="1600" b="0" kern="0" dirty="0">
                <a:solidFill>
                  <a:srgbClr val="2A3480"/>
                </a:solidFill>
                <a:latin typeface="Barlow"/>
                <a:cs typeface="Barlow"/>
              </a:rPr>
              <a:t>06 / 14</a:t>
            </a:r>
          </a:p>
        </p:txBody>
      </p:sp>
      <p:graphicFrame>
        <p:nvGraphicFramePr>
          <p:cNvPr id="124" name="Chart"/>
          <p:cNvGraphicFramePr/>
          <p:nvPr/>
        </p:nvGraphicFramePr>
        <p:xfrm>
          <a:off x="914400" y="2921000"/>
          <a:ext cx="8763000" cy="447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66115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41A45"/>
        </a:solidFill>
        <a:effectLst/>
      </p:bgPr>
    </p:bg>
    <p:spTree>
      <p:nvGrpSpPr>
        <p:cNvPr id="1" name="">
          <a:extLst>
            <a:ext uri="{FF2B5EF4-FFF2-40B4-BE49-F238E27FC236}">
              <a16:creationId xmlns:a16="http://schemas.microsoft.com/office/drawing/2014/main" id="{DE362EFC-416B-B167-0299-85AC4C5CB50D}"/>
            </a:ext>
          </a:extLst>
        </p:cNvPr>
        <p:cNvGrpSpPr/>
        <p:nvPr/>
      </p:nvGrpSpPr>
      <p:grpSpPr>
        <a:xfrm>
          <a:off x="0" y="0"/>
          <a:ext cx="0" cy="0"/>
          <a:chOff x="0" y="0"/>
          <a:chExt cx="0" cy="0"/>
        </a:xfrm>
      </p:grpSpPr>
      <p:sp>
        <p:nvSpPr>
          <p:cNvPr id="3" name="Google Shape;686;p20">
            <a:extLst>
              <a:ext uri="{FF2B5EF4-FFF2-40B4-BE49-F238E27FC236}">
                <a16:creationId xmlns:a16="http://schemas.microsoft.com/office/drawing/2014/main" id="{1365D28F-AB52-32F1-47B6-9042BE22EF2F}"/>
              </a:ext>
            </a:extLst>
          </p:cNvPr>
          <p:cNvSpPr/>
          <p:nvPr/>
        </p:nvSpPr>
        <p:spPr>
          <a:xfrm>
            <a:off x="0" y="0"/>
            <a:ext cx="8177539" cy="10287001"/>
          </a:xfrm>
          <a:prstGeom prst="rect">
            <a:avLst/>
          </a:prstGeom>
          <a:solidFill>
            <a:srgbClr val="2026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Google Shape;687;p20" descr="preencoded.png">
            <a:extLst>
              <a:ext uri="{FF2B5EF4-FFF2-40B4-BE49-F238E27FC236}">
                <a16:creationId xmlns:a16="http://schemas.microsoft.com/office/drawing/2014/main" id="{4910403C-A20F-1A4A-97AD-99638EB53EF5}"/>
              </a:ext>
            </a:extLst>
          </p:cNvPr>
          <p:cNvPicPr preferRelativeResize="0"/>
          <p:nvPr/>
        </p:nvPicPr>
        <p:blipFill rotWithShape="1">
          <a:blip r:embed="rId3">
            <a:alphaModFix amt="90000"/>
          </a:blip>
          <a:srcRect l="10253" r="10253"/>
          <a:stretch/>
        </p:blipFill>
        <p:spPr>
          <a:xfrm>
            <a:off x="0" y="0"/>
            <a:ext cx="8177539" cy="10287001"/>
          </a:xfrm>
          <a:prstGeom prst="rect">
            <a:avLst/>
          </a:prstGeom>
          <a:noFill/>
          <a:ln>
            <a:noFill/>
          </a:ln>
        </p:spPr>
      </p:pic>
      <p:sp>
        <p:nvSpPr>
          <p:cNvPr id="7" name="Google Shape;688;p20">
            <a:extLst>
              <a:ext uri="{FF2B5EF4-FFF2-40B4-BE49-F238E27FC236}">
                <a16:creationId xmlns:a16="http://schemas.microsoft.com/office/drawing/2014/main" id="{D20ED2E6-B763-888E-AD8B-5F105A517556}"/>
              </a:ext>
            </a:extLst>
          </p:cNvPr>
          <p:cNvSpPr/>
          <p:nvPr/>
        </p:nvSpPr>
        <p:spPr>
          <a:xfrm>
            <a:off x="0" y="0"/>
            <a:ext cx="8177539" cy="10287001"/>
          </a:xfrm>
          <a:prstGeom prst="rect">
            <a:avLst/>
          </a:prstGeom>
          <a:solidFill>
            <a:srgbClr val="141A45">
              <a:alpha val="5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89;p20">
            <a:extLst>
              <a:ext uri="{FF2B5EF4-FFF2-40B4-BE49-F238E27FC236}">
                <a16:creationId xmlns:a16="http://schemas.microsoft.com/office/drawing/2014/main" id="{CF98BBB1-4030-7DD6-60A1-BA8ACF9D6426}"/>
              </a:ext>
            </a:extLst>
          </p:cNvPr>
          <p:cNvSpPr/>
          <p:nvPr/>
        </p:nvSpPr>
        <p:spPr>
          <a:xfrm>
            <a:off x="0" y="0"/>
            <a:ext cx="8177539" cy="10287001"/>
          </a:xfrm>
          <a:prstGeom prst="rect">
            <a:avLst/>
          </a:prstGeom>
          <a:gradFill>
            <a:gsLst>
              <a:gs pos="0">
                <a:srgbClr val="141A45"/>
              </a:gs>
              <a:gs pos="30000">
                <a:srgbClr val="141A45">
                  <a:alpha val="0"/>
                </a:srgbClr>
              </a:gs>
              <a:gs pos="100000">
                <a:srgbClr val="141A45">
                  <a:alpha val="0"/>
                </a:srgbClr>
              </a:gs>
            </a:gsLst>
            <a:lin ang="108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91;p20">
            <a:extLst>
              <a:ext uri="{FF2B5EF4-FFF2-40B4-BE49-F238E27FC236}">
                <a16:creationId xmlns:a16="http://schemas.microsoft.com/office/drawing/2014/main" id="{5D619025-E150-4D29-17B5-6CB31000295F}"/>
              </a:ext>
            </a:extLst>
          </p:cNvPr>
          <p:cNvSpPr/>
          <p:nvPr/>
        </p:nvSpPr>
        <p:spPr>
          <a:xfrm>
            <a:off x="8787097" y="3025180"/>
            <a:ext cx="8844056" cy="2106102"/>
          </a:xfrm>
          <a:prstGeom prst="rect">
            <a:avLst/>
          </a:prstGeom>
          <a:noFill/>
          <a:ln>
            <a:noFill/>
          </a:ln>
        </p:spPr>
        <p:txBody>
          <a:bodyPr spcFirstLastPara="1" wrap="square" lIns="25400" tIns="25400" rIns="25400" bIns="25400" anchor="t" anchorCtr="0">
            <a:noAutofit/>
          </a:bodyPr>
          <a:lstStyle/>
          <a:p>
            <a:pPr marL="0" marR="0" lvl="0" indent="0" algn="l" rtl="0">
              <a:lnSpc>
                <a:spcPct val="76502"/>
              </a:lnSpc>
              <a:spcBef>
                <a:spcPts val="0"/>
              </a:spcBef>
              <a:spcAft>
                <a:spcPts val="0"/>
              </a:spcAft>
              <a:buClr>
                <a:srgbClr val="F2F2F3"/>
              </a:buClr>
              <a:buSzPts val="8850"/>
              <a:buFont typeface="Barlow Condensed"/>
              <a:buNone/>
            </a:pPr>
            <a:r>
              <a:rPr lang="en-US" sz="8850" b="1" i="0" u="none" strike="noStrike" cap="none">
                <a:solidFill>
                  <a:srgbClr val="F2F2F3"/>
                </a:solidFill>
                <a:latin typeface="Barlow Condensed"/>
                <a:ea typeface="Barlow Condensed"/>
                <a:cs typeface="Barlow Condensed"/>
                <a:sym typeface="Barlow Condensed"/>
              </a:rPr>
              <a:t>Funding Each Goal</a:t>
            </a:r>
            <a:endParaRPr sz="8850" b="0" i="0" u="none" strike="noStrike" cap="none">
              <a:solidFill>
                <a:schemeClr val="dk1"/>
              </a:solidFill>
              <a:latin typeface="Calibri"/>
              <a:ea typeface="Calibri"/>
              <a:cs typeface="Calibri"/>
              <a:sym typeface="Calibri"/>
            </a:endParaRPr>
          </a:p>
        </p:txBody>
      </p:sp>
      <p:sp>
        <p:nvSpPr>
          <p:cNvPr id="13" name="Google Shape;692;p20">
            <a:extLst>
              <a:ext uri="{FF2B5EF4-FFF2-40B4-BE49-F238E27FC236}">
                <a16:creationId xmlns:a16="http://schemas.microsoft.com/office/drawing/2014/main" id="{53F6F54E-6BE7-ED1F-5EA2-FE53396E4926}"/>
              </a:ext>
            </a:extLst>
          </p:cNvPr>
          <p:cNvSpPr/>
          <p:nvPr/>
        </p:nvSpPr>
        <p:spPr>
          <a:xfrm>
            <a:off x="8787097" y="5474182"/>
            <a:ext cx="7238930" cy="9525"/>
          </a:xfrm>
          <a:prstGeom prst="rect">
            <a:avLst/>
          </a:prstGeom>
          <a:solidFill>
            <a:srgbClr val="F2F2F3">
              <a:alpha val="2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93;p20">
            <a:extLst>
              <a:ext uri="{FF2B5EF4-FFF2-40B4-BE49-F238E27FC236}">
                <a16:creationId xmlns:a16="http://schemas.microsoft.com/office/drawing/2014/main" id="{ACB83102-6E96-E592-A85E-174AD960261C}"/>
              </a:ext>
            </a:extLst>
          </p:cNvPr>
          <p:cNvSpPr/>
          <p:nvPr/>
        </p:nvSpPr>
        <p:spPr>
          <a:xfrm>
            <a:off x="8787097" y="5807486"/>
            <a:ext cx="7848528" cy="1446865"/>
          </a:xfrm>
          <a:prstGeom prst="rect">
            <a:avLst/>
          </a:prstGeom>
          <a:noFill/>
          <a:ln>
            <a:noFill/>
          </a:ln>
        </p:spPr>
        <p:txBody>
          <a:bodyPr spcFirstLastPara="1" wrap="square" lIns="25400" tIns="25400" rIns="25400" bIns="25400" anchor="t" anchorCtr="0">
            <a:noAutofit/>
          </a:bodyPr>
          <a:lstStyle/>
          <a:p>
            <a:pPr marL="0" marR="0" lvl="0" indent="0" algn="l" rtl="0">
              <a:lnSpc>
                <a:spcPct val="121800"/>
              </a:lnSpc>
              <a:spcBef>
                <a:spcPts val="0"/>
              </a:spcBef>
              <a:spcAft>
                <a:spcPts val="0"/>
              </a:spcAft>
              <a:buClr>
                <a:srgbClr val="F2F2F3"/>
              </a:buClr>
              <a:buSzPts val="2550"/>
              <a:buFont typeface="Barlow"/>
              <a:buNone/>
            </a:pPr>
            <a:r>
              <a:rPr lang="en-US" sz="2550" b="0" i="0" u="none" strike="noStrike" cap="none">
                <a:solidFill>
                  <a:srgbClr val="F2F2F3"/>
                </a:solidFill>
                <a:latin typeface="Barlow"/>
                <a:ea typeface="Barlow"/>
                <a:cs typeface="Barlow"/>
                <a:sym typeface="Barlow"/>
              </a:rPr>
              <a:t>Eight goals, in the order the money is needed. Each slide states the target in the year it falls due, and the exact sources that meet it.</a:t>
            </a:r>
            <a:endParaRPr sz="2550" b="0" i="0" u="none" strike="noStrike" cap="none">
              <a:solidFill>
                <a:schemeClr val="dk1"/>
              </a:solidFill>
              <a:latin typeface="Calibri"/>
              <a:ea typeface="Calibri"/>
              <a:cs typeface="Calibri"/>
              <a:sym typeface="Calibri"/>
            </a:endParaRPr>
          </a:p>
        </p:txBody>
      </p:sp>
      <p:sp>
        <p:nvSpPr>
          <p:cNvPr id="17" name="Google Shape;694;p20">
            <a:extLst>
              <a:ext uri="{FF2B5EF4-FFF2-40B4-BE49-F238E27FC236}">
                <a16:creationId xmlns:a16="http://schemas.microsoft.com/office/drawing/2014/main" id="{523077BB-EFFA-FCB7-4E3C-6834ED3280E7}"/>
              </a:ext>
            </a:extLst>
          </p:cNvPr>
          <p:cNvSpPr/>
          <p:nvPr/>
        </p:nvSpPr>
        <p:spPr>
          <a:xfrm>
            <a:off x="8787097" y="7749623"/>
            <a:ext cx="2316198"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FIRST GOAL DUE</a:t>
            </a:r>
            <a:endParaRPr sz="1800" b="0" i="0" u="none" strike="noStrike" cap="none">
              <a:solidFill>
                <a:schemeClr val="dk1"/>
              </a:solidFill>
              <a:latin typeface="Calibri"/>
              <a:ea typeface="Calibri"/>
              <a:cs typeface="Calibri"/>
              <a:sym typeface="Calibri"/>
            </a:endParaRPr>
          </a:p>
        </p:txBody>
      </p:sp>
      <p:sp>
        <p:nvSpPr>
          <p:cNvPr id="21" name="Google Shape;695;p20">
            <a:extLst>
              <a:ext uri="{FF2B5EF4-FFF2-40B4-BE49-F238E27FC236}">
                <a16:creationId xmlns:a16="http://schemas.microsoft.com/office/drawing/2014/main" id="{84B81ADD-0693-AFE4-78D3-459C830DDAA2}"/>
              </a:ext>
            </a:extLst>
          </p:cNvPr>
          <p:cNvSpPr/>
          <p:nvPr/>
        </p:nvSpPr>
        <p:spPr>
          <a:xfrm>
            <a:off x="8787097" y="8180161"/>
            <a:ext cx="2316198" cy="571472"/>
          </a:xfrm>
          <a:prstGeom prst="rect">
            <a:avLst/>
          </a:prstGeom>
          <a:noFill/>
          <a:ln>
            <a:noFill/>
          </a:ln>
        </p:spPr>
        <p:txBody>
          <a:bodyPr spcFirstLastPara="1" wrap="squar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b="0" i="0" u="none" strike="noStrike" cap="none">
                <a:solidFill>
                  <a:srgbClr val="94BCE3"/>
                </a:solidFill>
                <a:latin typeface="Barlow Condensed"/>
                <a:ea typeface="Barlow Condensed"/>
                <a:cs typeface="Barlow Condensed"/>
                <a:sym typeface="Barlow Condensed"/>
              </a:rPr>
              <a:t>2028</a:t>
            </a:r>
            <a:endParaRPr sz="4200" b="0" i="0" u="none" strike="noStrike" cap="none">
              <a:solidFill>
                <a:schemeClr val="dk1"/>
              </a:solidFill>
              <a:latin typeface="Calibri"/>
              <a:ea typeface="Calibri"/>
              <a:cs typeface="Calibri"/>
              <a:sym typeface="Calibri"/>
            </a:endParaRPr>
          </a:p>
        </p:txBody>
      </p:sp>
      <p:sp>
        <p:nvSpPr>
          <p:cNvPr id="25" name="Google Shape;696;p20">
            <a:extLst>
              <a:ext uri="{FF2B5EF4-FFF2-40B4-BE49-F238E27FC236}">
                <a16:creationId xmlns:a16="http://schemas.microsoft.com/office/drawing/2014/main" id="{E46CBCFE-F6F8-8D7D-FF94-03ACFE84EE7E}"/>
              </a:ext>
            </a:extLst>
          </p:cNvPr>
          <p:cNvSpPr/>
          <p:nvPr/>
        </p:nvSpPr>
        <p:spPr>
          <a:xfrm>
            <a:off x="11426103" y="7749623"/>
            <a:ext cx="2216178"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LAST GOAL DUE</a:t>
            </a:r>
            <a:endParaRPr sz="1800" b="0" i="0" u="none" strike="noStrike" cap="none">
              <a:solidFill>
                <a:schemeClr val="dk1"/>
              </a:solidFill>
              <a:latin typeface="Calibri"/>
              <a:ea typeface="Calibri"/>
              <a:cs typeface="Calibri"/>
              <a:sym typeface="Calibri"/>
            </a:endParaRPr>
          </a:p>
        </p:txBody>
      </p:sp>
      <p:sp>
        <p:nvSpPr>
          <p:cNvPr id="29" name="Google Shape;697;p20">
            <a:extLst>
              <a:ext uri="{FF2B5EF4-FFF2-40B4-BE49-F238E27FC236}">
                <a16:creationId xmlns:a16="http://schemas.microsoft.com/office/drawing/2014/main" id="{397AA8C2-FB52-8BCA-F532-02F8961AD11D}"/>
              </a:ext>
            </a:extLst>
          </p:cNvPr>
          <p:cNvSpPr/>
          <p:nvPr/>
        </p:nvSpPr>
        <p:spPr>
          <a:xfrm>
            <a:off x="11426103" y="8180161"/>
            <a:ext cx="2216178" cy="571472"/>
          </a:xfrm>
          <a:prstGeom prst="rect">
            <a:avLst/>
          </a:prstGeom>
          <a:noFill/>
          <a:ln>
            <a:noFill/>
          </a:ln>
        </p:spPr>
        <p:txBody>
          <a:bodyPr spcFirstLastPara="1" wrap="squar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b="0" i="0" u="none" strike="noStrike" cap="none">
                <a:solidFill>
                  <a:srgbClr val="94BCE3"/>
                </a:solidFill>
                <a:latin typeface="Barlow Condensed"/>
                <a:ea typeface="Barlow Condensed"/>
                <a:cs typeface="Barlow Condensed"/>
                <a:sym typeface="Barlow Condensed"/>
              </a:rPr>
              <a:t>2044</a:t>
            </a:r>
            <a:endParaRPr sz="4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20382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p32"/>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853" name="Google Shape;853;p32" descr="image.jpg"/>
          <p:cNvPicPr preferRelativeResize="0"/>
          <p:nvPr/>
        </p:nvPicPr>
        <p:blipFill rotWithShape="1">
          <a:blip r:embed="rId3">
            <a:alphaModFix amt="7058"/>
          </a:blip>
          <a:srcRect/>
          <a:stretch/>
        </p:blipFill>
        <p:spPr>
          <a:xfrm>
            <a:off x="0" y="0"/>
            <a:ext cx="18287872" cy="10286999"/>
          </a:xfrm>
          <a:prstGeom prst="rect">
            <a:avLst/>
          </a:prstGeom>
          <a:noFill/>
          <a:ln>
            <a:noFill/>
          </a:ln>
        </p:spPr>
      </p:pic>
      <p:sp>
        <p:nvSpPr>
          <p:cNvPr id="854" name="Google Shape;854;p32"/>
          <p:cNvSpPr txBox="1"/>
          <p:nvPr/>
        </p:nvSpPr>
        <p:spPr>
          <a:xfrm>
            <a:off x="863803" y="376292"/>
            <a:ext cx="7121557" cy="106382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2A3480"/>
                </a:solidFill>
                <a:latin typeface="Barlow"/>
                <a:ea typeface="Barlow"/>
                <a:cs typeface="Barlow"/>
                <a:sym typeface="Barlow"/>
              </a:rPr>
              <a:t>GOAL · 2028</a:t>
            </a:r>
            <a:endParaRPr/>
          </a:p>
          <a:p>
            <a:pPr marL="0" marR="0" lvl="0" indent="0" algn="l" rtl="0">
              <a:lnSpc>
                <a:spcPct val="100000"/>
              </a:lnSpc>
              <a:spcBef>
                <a:spcPts val="0"/>
              </a:spcBef>
              <a:spcAft>
                <a:spcPts val="0"/>
              </a:spcAft>
              <a:buNone/>
            </a:pPr>
            <a:r>
              <a:rPr lang="en-US" sz="4950" b="1" i="0" u="none" strike="noStrike" cap="none">
                <a:solidFill>
                  <a:srgbClr val="1D1F20"/>
                </a:solidFill>
                <a:latin typeface="Barlow Condensed"/>
                <a:ea typeface="Barlow Condensed"/>
                <a:cs typeface="Barlow Condensed"/>
                <a:sym typeface="Barlow Condensed"/>
              </a:rPr>
              <a:t>International Family Vacation</a:t>
            </a:r>
            <a:endParaRPr/>
          </a:p>
        </p:txBody>
      </p:sp>
      <p:pic>
        <p:nvPicPr>
          <p:cNvPr id="855" name="Google Shape;855;p32" descr="image.png"/>
          <p:cNvPicPr preferRelativeResize="0"/>
          <p:nvPr/>
        </p:nvPicPr>
        <p:blipFill rotWithShape="1">
          <a:blip r:embed="rId4">
            <a:alphaModFix/>
          </a:blip>
          <a:srcRect/>
          <a:stretch/>
        </p:blipFill>
        <p:spPr>
          <a:xfrm>
            <a:off x="15373350" y="304736"/>
            <a:ext cx="2076323" cy="590486"/>
          </a:xfrm>
          <a:prstGeom prst="rect">
            <a:avLst/>
          </a:prstGeom>
          <a:noFill/>
          <a:ln>
            <a:noFill/>
          </a:ln>
        </p:spPr>
      </p:pic>
      <p:sp>
        <p:nvSpPr>
          <p:cNvPr id="856" name="Google Shape;856;p32"/>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7" name="Google Shape;857;p32"/>
          <p:cNvSpPr txBox="1"/>
          <p:nvPr/>
        </p:nvSpPr>
        <p:spPr>
          <a:xfrm>
            <a:off x="863803" y="1699879"/>
            <a:ext cx="1412508"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THE TARGET</a:t>
            </a:r>
            <a:endParaRPr/>
          </a:p>
        </p:txBody>
      </p:sp>
      <p:sp>
        <p:nvSpPr>
          <p:cNvPr id="858" name="Google Shape;858;p32"/>
          <p:cNvSpPr/>
          <p:nvPr/>
        </p:nvSpPr>
        <p:spPr>
          <a:xfrm>
            <a:off x="838187" y="2836036"/>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9" name="Google Shape;859;p32"/>
          <p:cNvSpPr txBox="1"/>
          <p:nvPr/>
        </p:nvSpPr>
        <p:spPr>
          <a:xfrm>
            <a:off x="863803" y="2387630"/>
            <a:ext cx="1223118"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Cost today</a:t>
            </a:r>
            <a:endParaRPr/>
          </a:p>
        </p:txBody>
      </p:sp>
      <p:sp>
        <p:nvSpPr>
          <p:cNvPr id="860" name="Google Shape;860;p32"/>
          <p:cNvSpPr txBox="1"/>
          <p:nvPr/>
        </p:nvSpPr>
        <p:spPr>
          <a:xfrm>
            <a:off x="7501128" y="2324577"/>
            <a:ext cx="912674" cy="40709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₹9.00 L</a:t>
            </a:r>
            <a:endParaRPr/>
          </a:p>
        </p:txBody>
      </p:sp>
      <p:sp>
        <p:nvSpPr>
          <p:cNvPr id="861" name="Google Shape;861;p32"/>
          <p:cNvSpPr/>
          <p:nvPr/>
        </p:nvSpPr>
        <p:spPr>
          <a:xfrm>
            <a:off x="838187" y="3556507"/>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2" name="Google Shape;862;p32"/>
          <p:cNvSpPr txBox="1"/>
          <p:nvPr/>
        </p:nvSpPr>
        <p:spPr>
          <a:xfrm>
            <a:off x="863803" y="3108482"/>
            <a:ext cx="2027012"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Inflation assumed</a:t>
            </a:r>
            <a:endParaRPr/>
          </a:p>
        </p:txBody>
      </p:sp>
      <p:sp>
        <p:nvSpPr>
          <p:cNvPr id="863" name="Google Shape;863;p32"/>
          <p:cNvSpPr txBox="1"/>
          <p:nvPr/>
        </p:nvSpPr>
        <p:spPr>
          <a:xfrm>
            <a:off x="7956804" y="3045048"/>
            <a:ext cx="461119" cy="40709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6%</a:t>
            </a:r>
            <a:endParaRPr/>
          </a:p>
        </p:txBody>
      </p:sp>
      <p:sp>
        <p:nvSpPr>
          <p:cNvPr id="864" name="Google Shape;864;p32"/>
          <p:cNvSpPr/>
          <p:nvPr/>
        </p:nvSpPr>
        <p:spPr>
          <a:xfrm>
            <a:off x="838187" y="4277105"/>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5" name="Google Shape;865;p32"/>
          <p:cNvSpPr txBox="1"/>
          <p:nvPr/>
        </p:nvSpPr>
        <p:spPr>
          <a:xfrm>
            <a:off x="863803" y="3829080"/>
            <a:ext cx="1466147"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Years to goal</a:t>
            </a:r>
            <a:endParaRPr/>
          </a:p>
        </p:txBody>
      </p:sp>
      <p:sp>
        <p:nvSpPr>
          <p:cNvPr id="866" name="Google Shape;866;p32"/>
          <p:cNvSpPr txBox="1"/>
          <p:nvPr/>
        </p:nvSpPr>
        <p:spPr>
          <a:xfrm>
            <a:off x="8212201" y="3765646"/>
            <a:ext cx="206081" cy="40709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2</a:t>
            </a:r>
            <a:endParaRPr/>
          </a:p>
        </p:txBody>
      </p:sp>
      <p:sp>
        <p:nvSpPr>
          <p:cNvPr id="867" name="Google Shape;867;p32"/>
          <p:cNvSpPr/>
          <p:nvPr/>
        </p:nvSpPr>
        <p:spPr>
          <a:xfrm>
            <a:off x="838187" y="4495672"/>
            <a:ext cx="7478141" cy="1554353"/>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8" name="Google Shape;868;p32"/>
          <p:cNvSpPr txBox="1"/>
          <p:nvPr/>
        </p:nvSpPr>
        <p:spPr>
          <a:xfrm>
            <a:off x="1130503" y="4780153"/>
            <a:ext cx="2674253" cy="11209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REQUIRED IN 2028</a:t>
            </a:r>
            <a:endParaRPr/>
          </a:p>
          <a:p>
            <a:pPr marL="0" marR="0" lvl="0" indent="0" algn="l" rtl="0">
              <a:lnSpc>
                <a:spcPct val="100000"/>
              </a:lnSpc>
              <a:spcBef>
                <a:spcPts val="0"/>
              </a:spcBef>
              <a:spcAft>
                <a:spcPts val="0"/>
              </a:spcAft>
              <a:buNone/>
            </a:pPr>
            <a:r>
              <a:rPr lang="en-US" sz="5700" b="0" i="0" u="none" strike="noStrike" cap="none">
                <a:solidFill>
                  <a:srgbClr val="F2F2F3"/>
                </a:solidFill>
                <a:latin typeface="Barlow Condensed"/>
                <a:ea typeface="Barlow Condensed"/>
                <a:cs typeface="Barlow Condensed"/>
                <a:sym typeface="Barlow Condensed"/>
              </a:rPr>
              <a:t>₹10.1 Lakh</a:t>
            </a:r>
            <a:endParaRPr/>
          </a:p>
        </p:txBody>
      </p:sp>
      <p:sp>
        <p:nvSpPr>
          <p:cNvPr id="869" name="Google Shape;869;p32"/>
          <p:cNvSpPr txBox="1"/>
          <p:nvPr/>
        </p:nvSpPr>
        <p:spPr>
          <a:xfrm>
            <a:off x="863803" y="8059023"/>
            <a:ext cx="7570859" cy="642457"/>
          </a:xfrm>
          <a:prstGeom prst="rect">
            <a:avLst/>
          </a:prstGeom>
          <a:noFill/>
          <a:ln>
            <a:noFill/>
          </a:ln>
        </p:spPr>
        <p:txBody>
          <a:bodyPr spcFirstLastPara="1" wrap="square" lIns="0" tIns="0" rIns="0" bIns="0" anchor="t" anchorCtr="0">
            <a:noAutofit/>
          </a:bodyPr>
          <a:lstStyle/>
          <a:p>
            <a:pPr marL="0" marR="0" lvl="0" indent="0" algn="l" rtl="0">
              <a:lnSpc>
                <a:spcPct val="120200"/>
              </a:lnSpc>
              <a:spcBef>
                <a:spcPts val="0"/>
              </a:spcBef>
              <a:spcAft>
                <a:spcPts val="0"/>
              </a:spcAft>
              <a:buNone/>
            </a:pPr>
            <a:r>
              <a:rPr lang="en-US" sz="1850" b="0" i="0" u="none" strike="noStrike" cap="none">
                <a:solidFill>
                  <a:srgbClr val="1D1F20"/>
                </a:solidFill>
                <a:latin typeface="Barlow"/>
                <a:ea typeface="Barlow"/>
                <a:cs typeface="Barlow"/>
                <a:sym typeface="Barlow"/>
              </a:rPr>
              <a:t>Held in arbitrage and short-duration debt funds. At a two-year horizon the priority is that the money is intact in 2028, not that it grows.</a:t>
            </a:r>
            <a:endParaRPr/>
          </a:p>
        </p:txBody>
      </p:sp>
      <p:sp>
        <p:nvSpPr>
          <p:cNvPr id="870" name="Google Shape;870;p32"/>
          <p:cNvSpPr txBox="1"/>
          <p:nvPr/>
        </p:nvSpPr>
        <p:spPr>
          <a:xfrm>
            <a:off x="8875776" y="1699879"/>
            <a:ext cx="2287231"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HOW WE GET THERE</a:t>
            </a:r>
            <a:endParaRPr/>
          </a:p>
        </p:txBody>
      </p:sp>
      <p:sp>
        <p:nvSpPr>
          <p:cNvPr id="871" name="Google Shape;871;p32"/>
          <p:cNvSpPr/>
          <p:nvPr/>
        </p:nvSpPr>
        <p:spPr>
          <a:xfrm>
            <a:off x="8849741" y="2124519"/>
            <a:ext cx="8599931" cy="1110043"/>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2" name="Google Shape;872;p32"/>
          <p:cNvSpPr txBox="1"/>
          <p:nvPr/>
        </p:nvSpPr>
        <p:spPr>
          <a:xfrm>
            <a:off x="9123553" y="2277990"/>
            <a:ext cx="2734228" cy="4574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1D1F20"/>
                </a:solidFill>
                <a:latin typeface="Barlow Condensed"/>
                <a:ea typeface="Barlow Condensed"/>
                <a:cs typeface="Barlow Condensed"/>
                <a:sym typeface="Barlow Condensed"/>
              </a:rPr>
              <a:t>SIP ₹20,000 a month</a:t>
            </a:r>
            <a:endParaRPr/>
          </a:p>
        </p:txBody>
      </p:sp>
      <p:sp>
        <p:nvSpPr>
          <p:cNvPr id="873" name="Google Shape;873;p32"/>
          <p:cNvSpPr txBox="1"/>
          <p:nvPr/>
        </p:nvSpPr>
        <p:spPr>
          <a:xfrm>
            <a:off x="9123553" y="2772267"/>
            <a:ext cx="5702874"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Arbitrage funds · 7% assumed · Sept 2026 – Mar 2028</a:t>
            </a:r>
            <a:endParaRPr/>
          </a:p>
        </p:txBody>
      </p:sp>
      <p:sp>
        <p:nvSpPr>
          <p:cNvPr id="874" name="Google Shape;874;p32"/>
          <p:cNvSpPr txBox="1"/>
          <p:nvPr/>
        </p:nvSpPr>
        <p:spPr>
          <a:xfrm>
            <a:off x="16244569" y="2475514"/>
            <a:ext cx="1112662" cy="5050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26306F"/>
                </a:solidFill>
                <a:latin typeface="Barlow Condensed"/>
                <a:ea typeface="Barlow Condensed"/>
                <a:cs typeface="Barlow Condensed"/>
                <a:sym typeface="Barlow Condensed"/>
              </a:rPr>
              <a:t>₹4.00 L</a:t>
            </a:r>
            <a:endParaRPr/>
          </a:p>
        </p:txBody>
      </p:sp>
      <p:sp>
        <p:nvSpPr>
          <p:cNvPr id="875" name="Google Shape;875;p32"/>
          <p:cNvSpPr/>
          <p:nvPr/>
        </p:nvSpPr>
        <p:spPr>
          <a:xfrm>
            <a:off x="8849741" y="3348799"/>
            <a:ext cx="8599931" cy="1110043"/>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6" name="Google Shape;876;p32"/>
          <p:cNvSpPr txBox="1"/>
          <p:nvPr/>
        </p:nvSpPr>
        <p:spPr>
          <a:xfrm>
            <a:off x="9123553" y="3502944"/>
            <a:ext cx="3513934" cy="4570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1D1F20"/>
                </a:solidFill>
                <a:latin typeface="Barlow Condensed"/>
                <a:ea typeface="Barlow Condensed"/>
                <a:cs typeface="Barlow Condensed"/>
                <a:sym typeface="Barlow Condensed"/>
              </a:rPr>
              <a:t>Existing deposit, re-tagged</a:t>
            </a:r>
            <a:endParaRPr/>
          </a:p>
        </p:txBody>
      </p:sp>
      <p:sp>
        <p:nvSpPr>
          <p:cNvPr id="877" name="Google Shape;877;p32"/>
          <p:cNvSpPr txBox="1"/>
          <p:nvPr/>
        </p:nvSpPr>
        <p:spPr>
          <a:xfrm>
            <a:off x="9123553" y="3996547"/>
            <a:ext cx="4874606"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₹5.50 L from the FD book · 7% · matures 2028</a:t>
            </a:r>
            <a:endParaRPr/>
          </a:p>
        </p:txBody>
      </p:sp>
      <p:sp>
        <p:nvSpPr>
          <p:cNvPr id="878" name="Google Shape;878;p32"/>
          <p:cNvSpPr txBox="1"/>
          <p:nvPr/>
        </p:nvSpPr>
        <p:spPr>
          <a:xfrm>
            <a:off x="16244569" y="3699794"/>
            <a:ext cx="1095827" cy="5050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26306F"/>
                </a:solidFill>
                <a:latin typeface="Barlow Condensed"/>
                <a:ea typeface="Barlow Condensed"/>
                <a:cs typeface="Barlow Condensed"/>
                <a:sym typeface="Barlow Condensed"/>
              </a:rPr>
              <a:t>₹6.30 L</a:t>
            </a:r>
            <a:endParaRPr/>
          </a:p>
        </p:txBody>
      </p:sp>
      <p:sp>
        <p:nvSpPr>
          <p:cNvPr id="879" name="Google Shape;879;p32"/>
          <p:cNvSpPr/>
          <p:nvPr/>
        </p:nvSpPr>
        <p:spPr>
          <a:xfrm>
            <a:off x="8849741" y="4573079"/>
            <a:ext cx="8599931" cy="1110043"/>
          </a:xfrm>
          <a:prstGeom prst="rect">
            <a:avLst/>
          </a:prstGeom>
          <a:solidFill>
            <a:srgbClr val="2F7D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0" name="Google Shape;880;p32"/>
          <p:cNvSpPr txBox="1"/>
          <p:nvPr/>
        </p:nvSpPr>
        <p:spPr>
          <a:xfrm>
            <a:off x="9123553" y="4727351"/>
            <a:ext cx="3187296" cy="4570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F2F2F3"/>
                </a:solidFill>
                <a:latin typeface="Barlow Condensed"/>
                <a:ea typeface="Barlow Condensed"/>
                <a:cs typeface="Barlow Condensed"/>
                <a:sym typeface="Barlow Condensed"/>
              </a:rPr>
              <a:t>Corpus available in 2028</a:t>
            </a:r>
            <a:endParaRPr/>
          </a:p>
        </p:txBody>
      </p:sp>
      <p:sp>
        <p:nvSpPr>
          <p:cNvPr id="881" name="Google Shape;881;p32"/>
          <p:cNvSpPr txBox="1"/>
          <p:nvPr/>
        </p:nvSpPr>
        <p:spPr>
          <a:xfrm>
            <a:off x="9123553" y="5220954"/>
            <a:ext cx="285551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F2F2F3"/>
                </a:solidFill>
                <a:latin typeface="Barlow"/>
                <a:ea typeface="Barlow"/>
                <a:cs typeface="Barlow"/>
                <a:sym typeface="Barlow"/>
              </a:rPr>
              <a:t>₹19,000 clear of the target</a:t>
            </a:r>
            <a:endParaRPr/>
          </a:p>
        </p:txBody>
      </p:sp>
      <p:sp>
        <p:nvSpPr>
          <p:cNvPr id="882" name="Google Shape;882;p32"/>
          <p:cNvSpPr txBox="1"/>
          <p:nvPr/>
        </p:nvSpPr>
        <p:spPr>
          <a:xfrm>
            <a:off x="16248634" y="4923908"/>
            <a:ext cx="1035076" cy="50540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F2F2F3"/>
                </a:solidFill>
                <a:latin typeface="Barlow Condensed"/>
                <a:ea typeface="Barlow Condensed"/>
                <a:cs typeface="Barlow Condensed"/>
                <a:sym typeface="Barlow Condensed"/>
              </a:rPr>
              <a:t>₹10.3 L</a:t>
            </a:r>
            <a:endParaRPr/>
          </a:p>
        </p:txBody>
      </p:sp>
      <p:sp>
        <p:nvSpPr>
          <p:cNvPr id="883" name="Google Shape;883;p32"/>
          <p:cNvSpPr/>
          <p:nvPr/>
        </p:nvSpPr>
        <p:spPr>
          <a:xfrm>
            <a:off x="8849741" y="7843049"/>
            <a:ext cx="8599931" cy="836130"/>
          </a:xfrm>
          <a:prstGeom prst="rect">
            <a:avLst/>
          </a:prstGeom>
          <a:solidFill>
            <a:srgbClr val="141A4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4" name="Google Shape;884;p32"/>
          <p:cNvSpPr txBox="1"/>
          <p:nvPr/>
        </p:nvSpPr>
        <p:spPr>
          <a:xfrm>
            <a:off x="9123553" y="8155289"/>
            <a:ext cx="4846467"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F2F2F3"/>
                </a:solidFill>
                <a:latin typeface="Barlow"/>
                <a:ea typeface="Barlow"/>
                <a:cs typeface="Barlow"/>
                <a:sym typeface="Barlow"/>
              </a:rPr>
              <a:t>From April 2028 the ₹20,000 SIP redirects to</a:t>
            </a:r>
            <a:endParaRPr/>
          </a:p>
        </p:txBody>
      </p:sp>
      <p:sp>
        <p:nvSpPr>
          <p:cNvPr id="885" name="Google Shape;885;p32"/>
          <p:cNvSpPr txBox="1"/>
          <p:nvPr/>
        </p:nvSpPr>
        <p:spPr>
          <a:xfrm>
            <a:off x="14375003" y="8090661"/>
            <a:ext cx="3031370" cy="4320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F2F2F3"/>
                </a:solidFill>
                <a:latin typeface="Barlow Condensed"/>
                <a:ea typeface="Barlow Condensed"/>
                <a:cs typeface="Barlow Condensed"/>
                <a:sym typeface="Barlow Condensed"/>
              </a:rPr>
              <a:t>Home construction 2034</a:t>
            </a:r>
            <a:endParaRPr/>
          </a:p>
        </p:txBody>
      </p:sp>
      <p:sp>
        <p:nvSpPr>
          <p:cNvPr id="886" name="Google Shape;886;p32"/>
          <p:cNvSpPr/>
          <p:nvPr/>
        </p:nvSpPr>
        <p:spPr>
          <a:xfrm>
            <a:off x="838187" y="8774480"/>
            <a:ext cx="16611600" cy="853427"/>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7" name="Google Shape;887;p32"/>
          <p:cNvSpPr txBox="1"/>
          <p:nvPr/>
        </p:nvSpPr>
        <p:spPr>
          <a:xfrm>
            <a:off x="1082344" y="8935211"/>
            <a:ext cx="16637587" cy="63215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2A3480"/>
                </a:solidFill>
                <a:latin typeface="Barlow"/>
                <a:ea typeface="Barlow"/>
                <a:cs typeface="Barlow"/>
                <a:sym typeface="Barlow"/>
              </a:rPr>
              <a:t>ADVISOR COMMENT</a:t>
            </a:r>
            <a:endParaRPr/>
          </a:p>
          <a:p>
            <a:pPr marL="0" marR="0" lvl="0" indent="0" algn="l" rtl="0">
              <a:lnSpc>
                <a:spcPct val="100000"/>
              </a:lnSpc>
              <a:spcBef>
                <a:spcPts val="440"/>
              </a:spcBef>
              <a:spcAft>
                <a:spcPts val="0"/>
              </a:spcAft>
              <a:buNone/>
            </a:pPr>
            <a:r>
              <a:rPr lang="en-US" sz="1850" b="0" i="0" u="none" strike="noStrike" cap="none">
                <a:solidFill>
                  <a:srgbClr val="1D1F20"/>
                </a:solidFill>
                <a:latin typeface="Barlow"/>
                <a:ea typeface="Barlow"/>
                <a:cs typeface="Barlow"/>
                <a:sym typeface="Barlow"/>
              </a:rPr>
              <a:t>Book the trip out of this corpus and nothing else. Funding a discretionary goal from the education or retirement pots is how a well-built plan quietly drifts.</a:t>
            </a:r>
            <a:endParaRPr/>
          </a:p>
        </p:txBody>
      </p:sp>
      <p:sp>
        <p:nvSpPr>
          <p:cNvPr id="888" name="Google Shape;888;p32"/>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Armstrong Capital · Goal Based Planning</a:t>
            </a:r>
            <a:endParaRPr/>
          </a:p>
        </p:txBody>
      </p:sp>
      <p:sp>
        <p:nvSpPr>
          <p:cNvPr id="889" name="Google Shape;889;p32"/>
          <p:cNvSpPr txBox="1"/>
          <p:nvPr/>
        </p:nvSpPr>
        <p:spPr>
          <a:xfrm>
            <a:off x="16587469" y="9779215"/>
            <a:ext cx="754676"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20 / 46</a:t>
            </a:r>
            <a:endParaRPr/>
          </a:p>
        </p:txBody>
      </p:sp>
      <p:pic>
        <p:nvPicPr>
          <p:cNvPr id="890" name="Google Shape;890;p32" descr="image.png"/>
          <p:cNvPicPr preferRelativeResize="0"/>
          <p:nvPr/>
        </p:nvPicPr>
        <p:blipFill rotWithShape="1">
          <a:blip r:embed="rId5">
            <a:alphaModFix/>
          </a:blip>
          <a:srcRect/>
          <a:stretch/>
        </p:blipFill>
        <p:spPr>
          <a:xfrm>
            <a:off x="996950" y="6343650"/>
            <a:ext cx="749300" cy="8826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34"/>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43" name="Google Shape;943;p34" descr="image.jpg"/>
          <p:cNvPicPr preferRelativeResize="0"/>
          <p:nvPr/>
        </p:nvPicPr>
        <p:blipFill rotWithShape="1">
          <a:blip r:embed="rId3">
            <a:alphaModFix/>
          </a:blip>
          <a:srcRect/>
          <a:stretch/>
        </p:blipFill>
        <p:spPr>
          <a:xfrm>
            <a:off x="0" y="0"/>
            <a:ext cx="18287999" cy="10286997"/>
          </a:xfrm>
          <a:prstGeom prst="rect">
            <a:avLst/>
          </a:prstGeom>
          <a:noFill/>
          <a:ln>
            <a:noFill/>
          </a:ln>
        </p:spPr>
      </p:pic>
      <p:sp>
        <p:nvSpPr>
          <p:cNvPr id="944" name="Google Shape;944;p34"/>
          <p:cNvSpPr/>
          <p:nvPr/>
        </p:nvSpPr>
        <p:spPr>
          <a:xfrm>
            <a:off x="0" y="0"/>
            <a:ext cx="18288000" cy="10287000"/>
          </a:xfrm>
          <a:prstGeom prst="rect">
            <a:avLst/>
          </a:prstGeom>
          <a:solidFill>
            <a:srgbClr val="F2F2F0">
              <a:alpha val="8902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5" name="Google Shape;945;p34"/>
          <p:cNvSpPr txBox="1"/>
          <p:nvPr/>
        </p:nvSpPr>
        <p:spPr>
          <a:xfrm>
            <a:off x="863803" y="376292"/>
            <a:ext cx="7140578" cy="106382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2A3480"/>
                </a:solidFill>
                <a:latin typeface="Barlow"/>
                <a:ea typeface="Barlow"/>
                <a:cs typeface="Barlow"/>
                <a:sym typeface="Barlow"/>
              </a:rPr>
              <a:t>GOAL · 2030</a:t>
            </a:r>
            <a:endParaRPr/>
          </a:p>
          <a:p>
            <a:pPr marL="0" marR="0" lvl="0" indent="0" algn="l" rtl="0">
              <a:lnSpc>
                <a:spcPct val="100000"/>
              </a:lnSpc>
              <a:spcBef>
                <a:spcPts val="0"/>
              </a:spcBef>
              <a:spcAft>
                <a:spcPts val="0"/>
              </a:spcAft>
              <a:buNone/>
            </a:pPr>
            <a:r>
              <a:rPr lang="en-US" sz="4950" b="1" i="0" u="none" strike="noStrike" cap="none">
                <a:solidFill>
                  <a:srgbClr val="1D1F20"/>
                </a:solidFill>
                <a:latin typeface="Barlow Condensed"/>
                <a:ea typeface="Barlow Condensed"/>
                <a:cs typeface="Barlow Condensed"/>
                <a:sym typeface="Barlow Condensed"/>
              </a:rPr>
              <a:t>Property Purchase — The Plot</a:t>
            </a:r>
            <a:endParaRPr/>
          </a:p>
        </p:txBody>
      </p:sp>
      <p:pic>
        <p:nvPicPr>
          <p:cNvPr id="946" name="Google Shape;946;p34" descr="image.png"/>
          <p:cNvPicPr preferRelativeResize="0"/>
          <p:nvPr/>
        </p:nvPicPr>
        <p:blipFill rotWithShape="1">
          <a:blip r:embed="rId4">
            <a:alphaModFix/>
          </a:blip>
          <a:srcRect/>
          <a:stretch/>
        </p:blipFill>
        <p:spPr>
          <a:xfrm>
            <a:off x="15373350" y="304736"/>
            <a:ext cx="2076323" cy="590486"/>
          </a:xfrm>
          <a:prstGeom prst="rect">
            <a:avLst/>
          </a:prstGeom>
          <a:noFill/>
          <a:ln>
            <a:noFill/>
          </a:ln>
        </p:spPr>
      </p:pic>
      <p:sp>
        <p:nvSpPr>
          <p:cNvPr id="947" name="Google Shape;947;p34"/>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8" name="Google Shape;948;p34"/>
          <p:cNvSpPr txBox="1"/>
          <p:nvPr/>
        </p:nvSpPr>
        <p:spPr>
          <a:xfrm>
            <a:off x="863803" y="1699879"/>
            <a:ext cx="1412508"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THE TARGET</a:t>
            </a:r>
            <a:endParaRPr/>
          </a:p>
        </p:txBody>
      </p:sp>
      <p:sp>
        <p:nvSpPr>
          <p:cNvPr id="949" name="Google Shape;949;p34"/>
          <p:cNvSpPr/>
          <p:nvPr/>
        </p:nvSpPr>
        <p:spPr>
          <a:xfrm>
            <a:off x="838187" y="2836036"/>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0" name="Google Shape;950;p34"/>
          <p:cNvSpPr txBox="1"/>
          <p:nvPr/>
        </p:nvSpPr>
        <p:spPr>
          <a:xfrm>
            <a:off x="863803" y="2387630"/>
            <a:ext cx="1223118"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Cost today</a:t>
            </a:r>
            <a:endParaRPr/>
          </a:p>
        </p:txBody>
      </p:sp>
      <p:sp>
        <p:nvSpPr>
          <p:cNvPr id="951" name="Google Shape;951;p34"/>
          <p:cNvSpPr txBox="1"/>
          <p:nvPr/>
        </p:nvSpPr>
        <p:spPr>
          <a:xfrm>
            <a:off x="7508493" y="2324577"/>
            <a:ext cx="903306" cy="40709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₹45.0 L</a:t>
            </a:r>
            <a:endParaRPr/>
          </a:p>
        </p:txBody>
      </p:sp>
      <p:sp>
        <p:nvSpPr>
          <p:cNvPr id="952" name="Google Shape;952;p34"/>
          <p:cNvSpPr/>
          <p:nvPr/>
        </p:nvSpPr>
        <p:spPr>
          <a:xfrm>
            <a:off x="838187" y="3556507"/>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3" name="Google Shape;953;p34"/>
          <p:cNvSpPr txBox="1"/>
          <p:nvPr/>
        </p:nvSpPr>
        <p:spPr>
          <a:xfrm>
            <a:off x="863803" y="3108482"/>
            <a:ext cx="2327266"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Real-estate inflation</a:t>
            </a:r>
            <a:endParaRPr/>
          </a:p>
        </p:txBody>
      </p:sp>
      <p:sp>
        <p:nvSpPr>
          <p:cNvPr id="954" name="Google Shape;954;p34"/>
          <p:cNvSpPr txBox="1"/>
          <p:nvPr/>
        </p:nvSpPr>
        <p:spPr>
          <a:xfrm>
            <a:off x="7956804" y="3045048"/>
            <a:ext cx="461119" cy="40709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6%</a:t>
            </a:r>
            <a:endParaRPr/>
          </a:p>
        </p:txBody>
      </p:sp>
      <p:sp>
        <p:nvSpPr>
          <p:cNvPr id="955" name="Google Shape;955;p34"/>
          <p:cNvSpPr/>
          <p:nvPr/>
        </p:nvSpPr>
        <p:spPr>
          <a:xfrm>
            <a:off x="838187" y="4277105"/>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6" name="Google Shape;956;p34"/>
          <p:cNvSpPr txBox="1"/>
          <p:nvPr/>
        </p:nvSpPr>
        <p:spPr>
          <a:xfrm>
            <a:off x="863803" y="3829080"/>
            <a:ext cx="1466147"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Years to goal</a:t>
            </a:r>
            <a:endParaRPr/>
          </a:p>
        </p:txBody>
      </p:sp>
      <p:sp>
        <p:nvSpPr>
          <p:cNvPr id="957" name="Google Shape;957;p34"/>
          <p:cNvSpPr txBox="1"/>
          <p:nvPr/>
        </p:nvSpPr>
        <p:spPr>
          <a:xfrm>
            <a:off x="8208009" y="3765646"/>
            <a:ext cx="210281" cy="40709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4</a:t>
            </a:r>
            <a:endParaRPr/>
          </a:p>
        </p:txBody>
      </p:sp>
      <p:sp>
        <p:nvSpPr>
          <p:cNvPr id="958" name="Google Shape;958;p34"/>
          <p:cNvSpPr/>
          <p:nvPr/>
        </p:nvSpPr>
        <p:spPr>
          <a:xfrm>
            <a:off x="838187" y="4495672"/>
            <a:ext cx="7478141" cy="1554353"/>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9" name="Google Shape;959;p34"/>
          <p:cNvSpPr txBox="1"/>
          <p:nvPr/>
        </p:nvSpPr>
        <p:spPr>
          <a:xfrm>
            <a:off x="1130503" y="4780153"/>
            <a:ext cx="2892943" cy="11209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REQUIRED IN 2030</a:t>
            </a:r>
            <a:endParaRPr/>
          </a:p>
          <a:p>
            <a:pPr marL="0" marR="0" lvl="0" indent="0" algn="l" rtl="0">
              <a:lnSpc>
                <a:spcPct val="100000"/>
              </a:lnSpc>
              <a:spcBef>
                <a:spcPts val="0"/>
              </a:spcBef>
              <a:spcAft>
                <a:spcPts val="0"/>
              </a:spcAft>
              <a:buNone/>
            </a:pPr>
            <a:r>
              <a:rPr lang="en-US" sz="5700" b="0" i="0" u="none" strike="noStrike" cap="none">
                <a:solidFill>
                  <a:srgbClr val="F2F2F3"/>
                </a:solidFill>
                <a:latin typeface="Barlow Condensed"/>
                <a:ea typeface="Barlow Condensed"/>
                <a:cs typeface="Barlow Condensed"/>
                <a:sym typeface="Barlow Condensed"/>
              </a:rPr>
              <a:t>₹56.8 Lakh</a:t>
            </a:r>
            <a:endParaRPr/>
          </a:p>
        </p:txBody>
      </p:sp>
      <p:sp>
        <p:nvSpPr>
          <p:cNvPr id="960" name="Google Shape;960;p34"/>
          <p:cNvSpPr txBox="1"/>
          <p:nvPr/>
        </p:nvSpPr>
        <p:spPr>
          <a:xfrm>
            <a:off x="863803" y="7410650"/>
            <a:ext cx="7243703" cy="986030"/>
          </a:xfrm>
          <a:prstGeom prst="rect">
            <a:avLst/>
          </a:prstGeom>
          <a:noFill/>
          <a:ln>
            <a:noFill/>
          </a:ln>
        </p:spPr>
        <p:txBody>
          <a:bodyPr spcFirstLastPara="1" wrap="square" lIns="0" tIns="0" rIns="0" bIns="0" anchor="t" anchorCtr="0">
            <a:noAutofit/>
          </a:bodyPr>
          <a:lstStyle/>
          <a:p>
            <a:pPr marL="0" marR="0" lvl="0" indent="0" algn="l" rtl="0">
              <a:lnSpc>
                <a:spcPct val="120200"/>
              </a:lnSpc>
              <a:spcBef>
                <a:spcPts val="0"/>
              </a:spcBef>
              <a:spcAft>
                <a:spcPts val="0"/>
              </a:spcAft>
              <a:buNone/>
            </a:pPr>
            <a:r>
              <a:rPr lang="en-US" sz="1850" b="0" i="0" u="none" strike="noStrike" cap="none">
                <a:solidFill>
                  <a:srgbClr val="1D1F20"/>
                </a:solidFill>
                <a:latin typeface="Barlow"/>
                <a:ea typeface="Barlow"/>
                <a:cs typeface="Barlow"/>
                <a:sym typeface="Barlow"/>
              </a:rPr>
              <a:t>Bought without borrowing, and held for four years before construction begins in 2034 — which is why the plot and the build are planned as one decision.</a:t>
            </a:r>
            <a:endParaRPr/>
          </a:p>
        </p:txBody>
      </p:sp>
      <p:sp>
        <p:nvSpPr>
          <p:cNvPr id="961" name="Google Shape;961;p34"/>
          <p:cNvSpPr txBox="1"/>
          <p:nvPr/>
        </p:nvSpPr>
        <p:spPr>
          <a:xfrm>
            <a:off x="8875776" y="1699879"/>
            <a:ext cx="2287231"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HOW WE GET THERE</a:t>
            </a:r>
            <a:endParaRPr/>
          </a:p>
        </p:txBody>
      </p:sp>
      <p:sp>
        <p:nvSpPr>
          <p:cNvPr id="962" name="Google Shape;962;p34"/>
          <p:cNvSpPr/>
          <p:nvPr/>
        </p:nvSpPr>
        <p:spPr>
          <a:xfrm>
            <a:off x="8849741" y="2124519"/>
            <a:ext cx="8599931" cy="1110043"/>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63" name="Google Shape;963;p34"/>
          <p:cNvSpPr txBox="1"/>
          <p:nvPr/>
        </p:nvSpPr>
        <p:spPr>
          <a:xfrm>
            <a:off x="9123553" y="2277990"/>
            <a:ext cx="2721530" cy="4574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1D1F20"/>
                </a:solidFill>
                <a:latin typeface="Barlow Condensed"/>
                <a:ea typeface="Barlow Condensed"/>
                <a:cs typeface="Barlow Condensed"/>
                <a:sym typeface="Barlow Condensed"/>
              </a:rPr>
              <a:t>SIP ₹25,000 a month</a:t>
            </a:r>
            <a:endParaRPr/>
          </a:p>
        </p:txBody>
      </p:sp>
      <p:sp>
        <p:nvSpPr>
          <p:cNvPr id="964" name="Google Shape;964;p34"/>
          <p:cNvSpPr txBox="1"/>
          <p:nvPr/>
        </p:nvSpPr>
        <p:spPr>
          <a:xfrm>
            <a:off x="9123553" y="2772267"/>
            <a:ext cx="5101161"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Balanced advantage · 11% assumed · 48 months</a:t>
            </a:r>
            <a:endParaRPr/>
          </a:p>
        </p:txBody>
      </p:sp>
      <p:sp>
        <p:nvSpPr>
          <p:cNvPr id="965" name="Google Shape;965;p34"/>
          <p:cNvSpPr txBox="1"/>
          <p:nvPr/>
        </p:nvSpPr>
        <p:spPr>
          <a:xfrm>
            <a:off x="16262350" y="2475514"/>
            <a:ext cx="1034904" cy="5050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26306F"/>
                </a:solidFill>
                <a:latin typeface="Barlow Condensed"/>
                <a:ea typeface="Barlow Condensed"/>
                <a:cs typeface="Barlow Condensed"/>
                <a:sym typeface="Barlow Condensed"/>
              </a:rPr>
              <a:t>₹15.0 L</a:t>
            </a:r>
            <a:endParaRPr/>
          </a:p>
        </p:txBody>
      </p:sp>
      <p:sp>
        <p:nvSpPr>
          <p:cNvPr id="966" name="Google Shape;966;p34"/>
          <p:cNvSpPr/>
          <p:nvPr/>
        </p:nvSpPr>
        <p:spPr>
          <a:xfrm>
            <a:off x="8849741" y="3348799"/>
            <a:ext cx="8599931" cy="1110043"/>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67" name="Google Shape;967;p34"/>
          <p:cNvSpPr txBox="1"/>
          <p:nvPr/>
        </p:nvSpPr>
        <p:spPr>
          <a:xfrm>
            <a:off x="9123553" y="3502944"/>
            <a:ext cx="3164993" cy="4570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1D1F20"/>
                </a:solidFill>
                <a:latin typeface="Barlow Condensed"/>
                <a:ea typeface="Barlow Condensed"/>
                <a:cs typeface="Barlow Condensed"/>
                <a:sym typeface="Barlow Condensed"/>
              </a:rPr>
              <a:t>Gold and SGB, redeemed</a:t>
            </a:r>
            <a:endParaRPr/>
          </a:p>
        </p:txBody>
      </p:sp>
      <p:sp>
        <p:nvSpPr>
          <p:cNvPr id="968" name="Google Shape;968;p34"/>
          <p:cNvSpPr txBox="1"/>
          <p:nvPr/>
        </p:nvSpPr>
        <p:spPr>
          <a:xfrm>
            <a:off x="9123553" y="3996547"/>
            <a:ext cx="3858507"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₹32 L holding · 8% assumed to 2030</a:t>
            </a:r>
            <a:endParaRPr/>
          </a:p>
        </p:txBody>
      </p:sp>
      <p:sp>
        <p:nvSpPr>
          <p:cNvPr id="969" name="Google Shape;969;p34"/>
          <p:cNvSpPr txBox="1"/>
          <p:nvPr/>
        </p:nvSpPr>
        <p:spPr>
          <a:xfrm>
            <a:off x="16198850" y="3699794"/>
            <a:ext cx="1083803" cy="5050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26306F"/>
                </a:solidFill>
                <a:latin typeface="Barlow Condensed"/>
                <a:ea typeface="Barlow Condensed"/>
                <a:cs typeface="Barlow Condensed"/>
                <a:sym typeface="Barlow Condensed"/>
              </a:rPr>
              <a:t>₹43.5 L</a:t>
            </a:r>
            <a:endParaRPr/>
          </a:p>
        </p:txBody>
      </p:sp>
      <p:sp>
        <p:nvSpPr>
          <p:cNvPr id="970" name="Google Shape;970;p34"/>
          <p:cNvSpPr/>
          <p:nvPr/>
        </p:nvSpPr>
        <p:spPr>
          <a:xfrm>
            <a:off x="8849741" y="4573079"/>
            <a:ext cx="8599931" cy="1110043"/>
          </a:xfrm>
          <a:prstGeom prst="rect">
            <a:avLst/>
          </a:prstGeom>
          <a:solidFill>
            <a:srgbClr val="2F7D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1" name="Google Shape;971;p34"/>
          <p:cNvSpPr txBox="1"/>
          <p:nvPr/>
        </p:nvSpPr>
        <p:spPr>
          <a:xfrm>
            <a:off x="9123553" y="4727351"/>
            <a:ext cx="2201886" cy="4570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F2F2F3"/>
                </a:solidFill>
                <a:latin typeface="Barlow Condensed"/>
                <a:ea typeface="Barlow Condensed"/>
                <a:cs typeface="Barlow Condensed"/>
                <a:sym typeface="Barlow Condensed"/>
              </a:rPr>
              <a:t>Available in 2030</a:t>
            </a:r>
            <a:endParaRPr/>
          </a:p>
        </p:txBody>
      </p:sp>
      <p:sp>
        <p:nvSpPr>
          <p:cNvPr id="972" name="Google Shape;972;p34"/>
          <p:cNvSpPr txBox="1"/>
          <p:nvPr/>
        </p:nvSpPr>
        <p:spPr>
          <a:xfrm>
            <a:off x="9123553" y="5220954"/>
            <a:ext cx="2754707"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F2F2F3"/>
                </a:solidFill>
                <a:latin typeface="Barlow"/>
                <a:ea typeface="Barlow"/>
                <a:cs typeface="Barlow"/>
                <a:sym typeface="Barlow"/>
              </a:rPr>
              <a:t>₹1.70 L clear of the target</a:t>
            </a:r>
            <a:endParaRPr/>
          </a:p>
        </p:txBody>
      </p:sp>
      <p:sp>
        <p:nvSpPr>
          <p:cNvPr id="973" name="Google Shape;973;p34"/>
          <p:cNvSpPr txBox="1"/>
          <p:nvPr/>
        </p:nvSpPr>
        <p:spPr>
          <a:xfrm>
            <a:off x="16195802" y="4923908"/>
            <a:ext cx="1085619" cy="50540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F2F2F3"/>
                </a:solidFill>
                <a:latin typeface="Barlow Condensed"/>
                <a:ea typeface="Barlow Condensed"/>
                <a:cs typeface="Barlow Condensed"/>
                <a:sym typeface="Barlow Condensed"/>
              </a:rPr>
              <a:t>₹58.5 L</a:t>
            </a:r>
            <a:endParaRPr/>
          </a:p>
        </p:txBody>
      </p:sp>
      <p:sp>
        <p:nvSpPr>
          <p:cNvPr id="974" name="Google Shape;974;p34"/>
          <p:cNvSpPr/>
          <p:nvPr/>
        </p:nvSpPr>
        <p:spPr>
          <a:xfrm>
            <a:off x="8849741" y="7533551"/>
            <a:ext cx="8599931" cy="836130"/>
          </a:xfrm>
          <a:prstGeom prst="rect">
            <a:avLst/>
          </a:prstGeom>
          <a:solidFill>
            <a:srgbClr val="141A4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5" name="Google Shape;975;p34"/>
          <p:cNvSpPr txBox="1"/>
          <p:nvPr/>
        </p:nvSpPr>
        <p:spPr>
          <a:xfrm>
            <a:off x="9123553" y="7845917"/>
            <a:ext cx="484018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F2F2F3"/>
                </a:solidFill>
                <a:latin typeface="Barlow"/>
                <a:ea typeface="Barlow"/>
                <a:cs typeface="Barlow"/>
                <a:sym typeface="Barlow"/>
              </a:rPr>
              <a:t>From April 2030 the ₹25,000 SIP redirects to</a:t>
            </a:r>
            <a:endParaRPr/>
          </a:p>
        </p:txBody>
      </p:sp>
      <p:sp>
        <p:nvSpPr>
          <p:cNvPr id="976" name="Google Shape;976;p34"/>
          <p:cNvSpPr txBox="1"/>
          <p:nvPr/>
        </p:nvSpPr>
        <p:spPr>
          <a:xfrm>
            <a:off x="14375003" y="7780908"/>
            <a:ext cx="3031370" cy="4320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F2F2F3"/>
                </a:solidFill>
                <a:latin typeface="Barlow Condensed"/>
                <a:ea typeface="Barlow Condensed"/>
                <a:cs typeface="Barlow Condensed"/>
                <a:sym typeface="Barlow Condensed"/>
              </a:rPr>
              <a:t>Home construction 2034</a:t>
            </a:r>
            <a:endParaRPr/>
          </a:p>
        </p:txBody>
      </p:sp>
      <p:sp>
        <p:nvSpPr>
          <p:cNvPr id="977" name="Google Shape;977;p34"/>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8" name="Google Shape;978;p34"/>
          <p:cNvSpPr txBox="1"/>
          <p:nvPr/>
        </p:nvSpPr>
        <p:spPr>
          <a:xfrm>
            <a:off x="1082344" y="8625586"/>
            <a:ext cx="15550080" cy="946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2A3480"/>
                </a:solidFill>
                <a:latin typeface="Barlow"/>
                <a:ea typeface="Barlow"/>
                <a:cs typeface="Barlow"/>
                <a:sym typeface="Barlow"/>
              </a:rPr>
              <a:t>ADVISOR COMMENT</a:t>
            </a:r>
            <a:endParaRPr/>
          </a:p>
          <a:p>
            <a:pPr marL="0" marR="0" lvl="0" indent="0" algn="l" rtl="0">
              <a:lnSpc>
                <a:spcPct val="110000"/>
              </a:lnSpc>
              <a:spcBef>
                <a:spcPts val="220"/>
              </a:spcBef>
              <a:spcAft>
                <a:spcPts val="0"/>
              </a:spcAft>
              <a:buNone/>
            </a:pPr>
            <a:r>
              <a:rPr lang="en-US" sz="1850" b="0" i="0" u="none" strike="noStrike" cap="none">
                <a:solidFill>
                  <a:srgbClr val="1D1F20"/>
                </a:solidFill>
                <a:latin typeface="Barlow"/>
                <a:ea typeface="Barlow"/>
                <a:cs typeface="Barlow"/>
                <a:sym typeface="Barlow"/>
              </a:rPr>
              <a:t>Time the SGB redemption to the eight-year maturity windows where possible — exiting early on the exchange usually means accepting a discount to the underlying gold price.</a:t>
            </a:r>
            <a:endParaRPr/>
          </a:p>
        </p:txBody>
      </p:sp>
      <p:sp>
        <p:nvSpPr>
          <p:cNvPr id="979" name="Google Shape;979;p34"/>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Armstrong Capital · Goal Based Planning</a:t>
            </a:r>
            <a:endParaRPr/>
          </a:p>
        </p:txBody>
      </p:sp>
      <p:sp>
        <p:nvSpPr>
          <p:cNvPr id="980" name="Google Shape;980;p34"/>
          <p:cNvSpPr txBox="1"/>
          <p:nvPr/>
        </p:nvSpPr>
        <p:spPr>
          <a:xfrm>
            <a:off x="16587469" y="9779215"/>
            <a:ext cx="748495"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22 / 46</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Google Shape;1118;p38"/>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119" name="Google Shape;1119;p38" descr="image.jpg"/>
          <p:cNvPicPr preferRelativeResize="0"/>
          <p:nvPr/>
        </p:nvPicPr>
        <p:blipFill rotWithShape="1">
          <a:blip r:embed="rId3">
            <a:alphaModFix amt="16863"/>
          </a:blip>
          <a:srcRect/>
          <a:stretch/>
        </p:blipFill>
        <p:spPr>
          <a:xfrm>
            <a:off x="0" y="0"/>
            <a:ext cx="18287872" cy="10286997"/>
          </a:xfrm>
          <a:prstGeom prst="rect">
            <a:avLst/>
          </a:prstGeom>
          <a:noFill/>
          <a:ln>
            <a:noFill/>
          </a:ln>
        </p:spPr>
      </p:pic>
      <p:sp>
        <p:nvSpPr>
          <p:cNvPr id="1120" name="Google Shape;1120;p38"/>
          <p:cNvSpPr txBox="1"/>
          <p:nvPr/>
        </p:nvSpPr>
        <p:spPr>
          <a:xfrm>
            <a:off x="863803" y="376292"/>
            <a:ext cx="4598407" cy="106382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2A3480"/>
                </a:solidFill>
                <a:latin typeface="Barlow"/>
                <a:ea typeface="Barlow"/>
                <a:cs typeface="Barlow"/>
                <a:sym typeface="Barlow"/>
              </a:rPr>
              <a:t>GOAL · 2034</a:t>
            </a:r>
            <a:endParaRPr/>
          </a:p>
          <a:p>
            <a:pPr marL="0" marR="0" lvl="0" indent="0" algn="l" rtl="0">
              <a:lnSpc>
                <a:spcPct val="100000"/>
              </a:lnSpc>
              <a:spcBef>
                <a:spcPts val="0"/>
              </a:spcBef>
              <a:spcAft>
                <a:spcPts val="0"/>
              </a:spcAft>
              <a:buNone/>
            </a:pPr>
            <a:r>
              <a:rPr lang="en-US" sz="4950" b="1" i="0" u="none" strike="noStrike" cap="none">
                <a:solidFill>
                  <a:srgbClr val="1D1F20"/>
                </a:solidFill>
                <a:latin typeface="Barlow Condensed"/>
                <a:ea typeface="Barlow Condensed"/>
                <a:cs typeface="Barlow Condensed"/>
                <a:sym typeface="Barlow Condensed"/>
              </a:rPr>
              <a:t>Home Construction</a:t>
            </a:r>
            <a:endParaRPr/>
          </a:p>
        </p:txBody>
      </p:sp>
      <p:pic>
        <p:nvPicPr>
          <p:cNvPr id="1121" name="Google Shape;1121;p38" descr="image.png"/>
          <p:cNvPicPr preferRelativeResize="0"/>
          <p:nvPr/>
        </p:nvPicPr>
        <p:blipFill rotWithShape="1">
          <a:blip r:embed="rId4">
            <a:alphaModFix/>
          </a:blip>
          <a:srcRect/>
          <a:stretch/>
        </p:blipFill>
        <p:spPr>
          <a:xfrm>
            <a:off x="15373350" y="304736"/>
            <a:ext cx="2076323" cy="590486"/>
          </a:xfrm>
          <a:prstGeom prst="rect">
            <a:avLst/>
          </a:prstGeom>
          <a:noFill/>
          <a:ln>
            <a:noFill/>
          </a:ln>
        </p:spPr>
      </p:pic>
      <p:sp>
        <p:nvSpPr>
          <p:cNvPr id="1122" name="Google Shape;1122;p38"/>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23" name="Google Shape;1123;p38"/>
          <p:cNvSpPr txBox="1"/>
          <p:nvPr/>
        </p:nvSpPr>
        <p:spPr>
          <a:xfrm>
            <a:off x="863803" y="1699879"/>
            <a:ext cx="1412508"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THE TARGET</a:t>
            </a:r>
            <a:endParaRPr/>
          </a:p>
        </p:txBody>
      </p:sp>
      <p:sp>
        <p:nvSpPr>
          <p:cNvPr id="1124" name="Google Shape;1124;p38"/>
          <p:cNvSpPr/>
          <p:nvPr/>
        </p:nvSpPr>
        <p:spPr>
          <a:xfrm>
            <a:off x="838187" y="2836036"/>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25" name="Google Shape;1125;p38"/>
          <p:cNvSpPr txBox="1"/>
          <p:nvPr/>
        </p:nvSpPr>
        <p:spPr>
          <a:xfrm>
            <a:off x="863803" y="2387630"/>
            <a:ext cx="1821625"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Build cost today</a:t>
            </a:r>
            <a:endParaRPr/>
          </a:p>
        </p:txBody>
      </p:sp>
      <p:sp>
        <p:nvSpPr>
          <p:cNvPr id="1126" name="Google Shape;1126;p38"/>
          <p:cNvSpPr txBox="1"/>
          <p:nvPr/>
        </p:nvSpPr>
        <p:spPr>
          <a:xfrm>
            <a:off x="7506334" y="2324577"/>
            <a:ext cx="904920" cy="40709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₹85.0 L</a:t>
            </a:r>
            <a:endParaRPr/>
          </a:p>
        </p:txBody>
      </p:sp>
      <p:sp>
        <p:nvSpPr>
          <p:cNvPr id="1127" name="Google Shape;1127;p38"/>
          <p:cNvSpPr/>
          <p:nvPr/>
        </p:nvSpPr>
        <p:spPr>
          <a:xfrm>
            <a:off x="838187" y="3556507"/>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28" name="Google Shape;1128;p38"/>
          <p:cNvSpPr txBox="1"/>
          <p:nvPr/>
        </p:nvSpPr>
        <p:spPr>
          <a:xfrm>
            <a:off x="863803" y="3108482"/>
            <a:ext cx="2485710"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Construction inflation</a:t>
            </a:r>
            <a:endParaRPr/>
          </a:p>
        </p:txBody>
      </p:sp>
      <p:sp>
        <p:nvSpPr>
          <p:cNvPr id="1129" name="Google Shape;1129;p38"/>
          <p:cNvSpPr txBox="1"/>
          <p:nvPr/>
        </p:nvSpPr>
        <p:spPr>
          <a:xfrm>
            <a:off x="7956804" y="3045048"/>
            <a:ext cx="461119" cy="40709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6%</a:t>
            </a:r>
            <a:endParaRPr/>
          </a:p>
        </p:txBody>
      </p:sp>
      <p:sp>
        <p:nvSpPr>
          <p:cNvPr id="1130" name="Google Shape;1130;p38"/>
          <p:cNvSpPr/>
          <p:nvPr/>
        </p:nvSpPr>
        <p:spPr>
          <a:xfrm>
            <a:off x="838187" y="4277105"/>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31" name="Google Shape;1131;p38"/>
          <p:cNvSpPr txBox="1"/>
          <p:nvPr/>
        </p:nvSpPr>
        <p:spPr>
          <a:xfrm>
            <a:off x="863803" y="3829080"/>
            <a:ext cx="1466147"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Years to goal</a:t>
            </a:r>
            <a:endParaRPr/>
          </a:p>
        </p:txBody>
      </p:sp>
      <p:sp>
        <p:nvSpPr>
          <p:cNvPr id="1132" name="Google Shape;1132;p38"/>
          <p:cNvSpPr txBox="1"/>
          <p:nvPr/>
        </p:nvSpPr>
        <p:spPr>
          <a:xfrm>
            <a:off x="8205851" y="3765646"/>
            <a:ext cx="212542" cy="40709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8</a:t>
            </a:r>
            <a:endParaRPr/>
          </a:p>
        </p:txBody>
      </p:sp>
      <p:sp>
        <p:nvSpPr>
          <p:cNvPr id="1133" name="Google Shape;1133;p38"/>
          <p:cNvSpPr/>
          <p:nvPr/>
        </p:nvSpPr>
        <p:spPr>
          <a:xfrm>
            <a:off x="838187" y="4438650"/>
            <a:ext cx="7478141" cy="1440053"/>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34" name="Google Shape;1134;p38"/>
          <p:cNvSpPr txBox="1"/>
          <p:nvPr/>
        </p:nvSpPr>
        <p:spPr>
          <a:xfrm>
            <a:off x="1111300" y="4665853"/>
            <a:ext cx="2928133" cy="11209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REQUIRED IN 2034</a:t>
            </a:r>
            <a:endParaRPr/>
          </a:p>
          <a:p>
            <a:pPr marL="0" marR="0" lvl="0" indent="0" algn="l" rtl="0">
              <a:lnSpc>
                <a:spcPct val="100000"/>
              </a:lnSpc>
              <a:spcBef>
                <a:spcPts val="0"/>
              </a:spcBef>
              <a:spcAft>
                <a:spcPts val="0"/>
              </a:spcAft>
              <a:buNone/>
            </a:pPr>
            <a:r>
              <a:rPr lang="en-US" sz="5700" b="0" i="0" u="none" strike="noStrike" cap="none">
                <a:solidFill>
                  <a:srgbClr val="F2F2F3"/>
                </a:solidFill>
                <a:latin typeface="Barlow Condensed"/>
                <a:ea typeface="Barlow Condensed"/>
                <a:cs typeface="Barlow Condensed"/>
                <a:sym typeface="Barlow Condensed"/>
              </a:rPr>
              <a:t>₹1.35 Crore</a:t>
            </a:r>
            <a:endParaRPr/>
          </a:p>
        </p:txBody>
      </p:sp>
      <p:sp>
        <p:nvSpPr>
          <p:cNvPr id="1135" name="Google Shape;1135;p38"/>
          <p:cNvSpPr txBox="1"/>
          <p:nvPr/>
        </p:nvSpPr>
        <p:spPr>
          <a:xfrm>
            <a:off x="863803" y="7749271"/>
            <a:ext cx="7474205" cy="642457"/>
          </a:xfrm>
          <a:prstGeom prst="rect">
            <a:avLst/>
          </a:prstGeom>
          <a:noFill/>
          <a:ln>
            <a:noFill/>
          </a:ln>
        </p:spPr>
        <p:txBody>
          <a:bodyPr spcFirstLastPara="1" wrap="square" lIns="0" tIns="0" rIns="0" bIns="0" anchor="t" anchorCtr="0">
            <a:noAutofit/>
          </a:bodyPr>
          <a:lstStyle/>
          <a:p>
            <a:pPr marL="0" marR="0" lvl="0" indent="0" algn="l" rtl="0">
              <a:lnSpc>
                <a:spcPct val="120200"/>
              </a:lnSpc>
              <a:spcBef>
                <a:spcPts val="0"/>
              </a:spcBef>
              <a:spcAft>
                <a:spcPts val="0"/>
              </a:spcAft>
              <a:buNone/>
            </a:pPr>
            <a:r>
              <a:rPr lang="en-US" sz="1850" b="0" i="0" u="none" strike="noStrike" cap="none">
                <a:solidFill>
                  <a:srgbClr val="1D1F20"/>
                </a:solidFill>
                <a:latin typeface="Barlow"/>
                <a:ea typeface="Barlow"/>
                <a:cs typeface="Barlow"/>
                <a:sym typeface="Barlow"/>
              </a:rPr>
              <a:t>Built without a construction loan. The home loan closes in 2033 precisely so that no new debt is taken on a year later.</a:t>
            </a:r>
            <a:endParaRPr/>
          </a:p>
        </p:txBody>
      </p:sp>
      <p:sp>
        <p:nvSpPr>
          <p:cNvPr id="1136" name="Google Shape;1136;p38"/>
          <p:cNvSpPr txBox="1"/>
          <p:nvPr/>
        </p:nvSpPr>
        <p:spPr>
          <a:xfrm>
            <a:off x="8875776" y="1699879"/>
            <a:ext cx="2287231"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HOW WE GET THERE</a:t>
            </a:r>
            <a:endParaRPr/>
          </a:p>
        </p:txBody>
      </p:sp>
      <p:sp>
        <p:nvSpPr>
          <p:cNvPr id="1137" name="Google Shape;1137;p38"/>
          <p:cNvSpPr/>
          <p:nvPr/>
        </p:nvSpPr>
        <p:spPr>
          <a:xfrm>
            <a:off x="8849741" y="2124519"/>
            <a:ext cx="8599931" cy="921956"/>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38" name="Google Shape;1138;p38"/>
          <p:cNvSpPr txBox="1"/>
          <p:nvPr/>
        </p:nvSpPr>
        <p:spPr>
          <a:xfrm>
            <a:off x="9104376" y="2204046"/>
            <a:ext cx="2588532" cy="43243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1D1F20"/>
                </a:solidFill>
                <a:latin typeface="Barlow Condensed"/>
                <a:ea typeface="Barlow Condensed"/>
                <a:cs typeface="Barlow Condensed"/>
                <a:sym typeface="Barlow Condensed"/>
              </a:rPr>
              <a:t>SIP ₹30,000 a month</a:t>
            </a:r>
            <a:endParaRPr/>
          </a:p>
        </p:txBody>
      </p:sp>
      <p:sp>
        <p:nvSpPr>
          <p:cNvPr id="1139" name="Google Shape;1139;p38"/>
          <p:cNvSpPr txBox="1"/>
          <p:nvPr/>
        </p:nvSpPr>
        <p:spPr>
          <a:xfrm>
            <a:off x="9104376" y="2671572"/>
            <a:ext cx="2900065" cy="28803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Equity MF · 12% · 2026–2034</a:t>
            </a:r>
            <a:endParaRPr/>
          </a:p>
        </p:txBody>
      </p:sp>
      <p:sp>
        <p:nvSpPr>
          <p:cNvPr id="1140" name="Google Shape;1140;p38"/>
          <p:cNvSpPr txBox="1"/>
          <p:nvPr/>
        </p:nvSpPr>
        <p:spPr>
          <a:xfrm>
            <a:off x="16261714" y="2392425"/>
            <a:ext cx="1040510" cy="4800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000" b="0" i="0" u="none" strike="noStrike" cap="none">
                <a:solidFill>
                  <a:srgbClr val="26306F"/>
                </a:solidFill>
                <a:latin typeface="Barlow Condensed"/>
                <a:ea typeface="Barlow Condensed"/>
                <a:cs typeface="Barlow Condensed"/>
                <a:sym typeface="Barlow Condensed"/>
              </a:rPr>
              <a:t>₹48.5 L</a:t>
            </a:r>
            <a:endParaRPr/>
          </a:p>
        </p:txBody>
      </p:sp>
      <p:sp>
        <p:nvSpPr>
          <p:cNvPr id="1141" name="Google Shape;1141;p38"/>
          <p:cNvSpPr/>
          <p:nvPr/>
        </p:nvSpPr>
        <p:spPr>
          <a:xfrm>
            <a:off x="8849741" y="3113087"/>
            <a:ext cx="8599931" cy="921956"/>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42" name="Google Shape;1142;p38"/>
          <p:cNvSpPr txBox="1"/>
          <p:nvPr/>
        </p:nvSpPr>
        <p:spPr>
          <a:xfrm>
            <a:off x="9104376" y="3193034"/>
            <a:ext cx="4042198" cy="43205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1D1F20"/>
                </a:solidFill>
                <a:latin typeface="Barlow Condensed"/>
                <a:ea typeface="Barlow Condensed"/>
                <a:cs typeface="Barlow Condensed"/>
                <a:sym typeface="Barlow Condensed"/>
              </a:rPr>
              <a:t>Vacation and car SIPs redirected</a:t>
            </a:r>
            <a:endParaRPr/>
          </a:p>
        </p:txBody>
      </p:sp>
      <p:sp>
        <p:nvSpPr>
          <p:cNvPr id="1143" name="Google Shape;1143;p38"/>
          <p:cNvSpPr txBox="1"/>
          <p:nvPr/>
        </p:nvSpPr>
        <p:spPr>
          <a:xfrm>
            <a:off x="9104376" y="3660394"/>
            <a:ext cx="3879235" cy="28803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₹38,000 a month from 2028 and 2029</a:t>
            </a:r>
            <a:endParaRPr/>
          </a:p>
        </p:txBody>
      </p:sp>
      <p:sp>
        <p:nvSpPr>
          <p:cNvPr id="1144" name="Google Shape;1144;p38"/>
          <p:cNvSpPr txBox="1"/>
          <p:nvPr/>
        </p:nvSpPr>
        <p:spPr>
          <a:xfrm>
            <a:off x="16268954" y="3380574"/>
            <a:ext cx="1048374" cy="48044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000" b="0" i="0" u="none" strike="noStrike" cap="none">
                <a:solidFill>
                  <a:srgbClr val="26306F"/>
                </a:solidFill>
                <a:latin typeface="Barlow Condensed"/>
                <a:ea typeface="Barlow Condensed"/>
                <a:cs typeface="Barlow Condensed"/>
                <a:sym typeface="Barlow Condensed"/>
              </a:rPr>
              <a:t>₹36.0 L</a:t>
            </a:r>
            <a:endParaRPr/>
          </a:p>
        </p:txBody>
      </p:sp>
      <p:sp>
        <p:nvSpPr>
          <p:cNvPr id="1145" name="Google Shape;1145;p38"/>
          <p:cNvSpPr/>
          <p:nvPr/>
        </p:nvSpPr>
        <p:spPr>
          <a:xfrm>
            <a:off x="8849741" y="4101655"/>
            <a:ext cx="8599931" cy="921956"/>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46" name="Google Shape;1146;p38"/>
          <p:cNvSpPr txBox="1"/>
          <p:nvPr/>
        </p:nvSpPr>
        <p:spPr>
          <a:xfrm>
            <a:off x="9104376" y="4181856"/>
            <a:ext cx="2291343" cy="43205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1D1F20"/>
                </a:solidFill>
                <a:latin typeface="Barlow Condensed"/>
                <a:ea typeface="Barlow Condensed"/>
                <a:cs typeface="Barlow Condensed"/>
                <a:sym typeface="Barlow Condensed"/>
              </a:rPr>
              <a:t>Plot SIP redirected</a:t>
            </a:r>
            <a:endParaRPr/>
          </a:p>
        </p:txBody>
      </p:sp>
      <p:sp>
        <p:nvSpPr>
          <p:cNvPr id="1147" name="Google Shape;1147;p38"/>
          <p:cNvSpPr txBox="1"/>
          <p:nvPr/>
        </p:nvSpPr>
        <p:spPr>
          <a:xfrm>
            <a:off x="9104376" y="4648834"/>
            <a:ext cx="2881379" cy="28803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₹25,000 a month from 2030</a:t>
            </a:r>
            <a:endParaRPr/>
          </a:p>
        </p:txBody>
      </p:sp>
      <p:sp>
        <p:nvSpPr>
          <p:cNvPr id="1148" name="Google Shape;1148;p38"/>
          <p:cNvSpPr txBox="1"/>
          <p:nvPr/>
        </p:nvSpPr>
        <p:spPr>
          <a:xfrm>
            <a:off x="16327882" y="4369561"/>
            <a:ext cx="974979" cy="4800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000" b="0" i="0" u="none" strike="noStrike" cap="none">
                <a:solidFill>
                  <a:srgbClr val="26306F"/>
                </a:solidFill>
                <a:latin typeface="Barlow Condensed"/>
                <a:ea typeface="Barlow Condensed"/>
                <a:cs typeface="Barlow Condensed"/>
                <a:sym typeface="Barlow Condensed"/>
              </a:rPr>
              <a:t>₹15.3 L</a:t>
            </a:r>
            <a:endParaRPr/>
          </a:p>
        </p:txBody>
      </p:sp>
      <p:sp>
        <p:nvSpPr>
          <p:cNvPr id="1149" name="Google Shape;1149;p38"/>
          <p:cNvSpPr/>
          <p:nvPr/>
        </p:nvSpPr>
        <p:spPr>
          <a:xfrm>
            <a:off x="8849741" y="5090223"/>
            <a:ext cx="8599931" cy="921956"/>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0" name="Google Shape;1150;p38"/>
          <p:cNvSpPr txBox="1"/>
          <p:nvPr/>
        </p:nvSpPr>
        <p:spPr>
          <a:xfrm>
            <a:off x="9104376" y="5170677"/>
            <a:ext cx="4348469" cy="43205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1D1F20"/>
                </a:solidFill>
                <a:latin typeface="Barlow Condensed"/>
                <a:ea typeface="Barlow Condensed"/>
                <a:cs typeface="Barlow Condensed"/>
                <a:sym typeface="Barlow Condensed"/>
              </a:rPr>
              <a:t>Lumpsum ₹25 L from mutual funds</a:t>
            </a:r>
            <a:endParaRPr/>
          </a:p>
        </p:txBody>
      </p:sp>
      <p:sp>
        <p:nvSpPr>
          <p:cNvPr id="1151" name="Google Shape;1151;p38"/>
          <p:cNvSpPr txBox="1"/>
          <p:nvPr/>
        </p:nvSpPr>
        <p:spPr>
          <a:xfrm>
            <a:off x="9104376" y="5637529"/>
            <a:ext cx="3080808" cy="28803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Existing holding · 12% to 2034</a:t>
            </a:r>
            <a:endParaRPr/>
          </a:p>
        </p:txBody>
      </p:sp>
      <p:sp>
        <p:nvSpPr>
          <p:cNvPr id="1152" name="Google Shape;1152;p38"/>
          <p:cNvSpPr txBox="1"/>
          <p:nvPr/>
        </p:nvSpPr>
        <p:spPr>
          <a:xfrm>
            <a:off x="16271112" y="5358384"/>
            <a:ext cx="1043939" cy="4800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000" b="0" i="0" u="none" strike="noStrike" cap="none">
                <a:solidFill>
                  <a:srgbClr val="26306F"/>
                </a:solidFill>
                <a:latin typeface="Barlow Condensed"/>
                <a:ea typeface="Barlow Condensed"/>
                <a:cs typeface="Barlow Condensed"/>
                <a:sym typeface="Barlow Condensed"/>
              </a:rPr>
              <a:t>₹62.0 L</a:t>
            </a:r>
            <a:endParaRPr/>
          </a:p>
        </p:txBody>
      </p:sp>
      <p:sp>
        <p:nvSpPr>
          <p:cNvPr id="1153" name="Google Shape;1153;p38"/>
          <p:cNvSpPr/>
          <p:nvPr/>
        </p:nvSpPr>
        <p:spPr>
          <a:xfrm>
            <a:off x="8849741" y="6078791"/>
            <a:ext cx="8599931" cy="921956"/>
          </a:xfrm>
          <a:prstGeom prst="rect">
            <a:avLst/>
          </a:prstGeom>
          <a:solidFill>
            <a:srgbClr val="2F7D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4" name="Google Shape;1154;p38"/>
          <p:cNvSpPr txBox="1"/>
          <p:nvPr/>
        </p:nvSpPr>
        <p:spPr>
          <a:xfrm>
            <a:off x="9104376" y="6159373"/>
            <a:ext cx="2075801" cy="43205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F2F2F3"/>
                </a:solidFill>
                <a:latin typeface="Barlow Condensed"/>
                <a:ea typeface="Barlow Condensed"/>
                <a:cs typeface="Barlow Condensed"/>
                <a:sym typeface="Barlow Condensed"/>
              </a:rPr>
              <a:t>Available in 2034</a:t>
            </a:r>
            <a:endParaRPr/>
          </a:p>
        </p:txBody>
      </p:sp>
      <p:sp>
        <p:nvSpPr>
          <p:cNvPr id="1155" name="Google Shape;1155;p38"/>
          <p:cNvSpPr txBox="1"/>
          <p:nvPr/>
        </p:nvSpPr>
        <p:spPr>
          <a:xfrm>
            <a:off x="9104376" y="6626352"/>
            <a:ext cx="4137655" cy="28803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₹26 L clear — the contingency on a build</a:t>
            </a:r>
            <a:endParaRPr/>
          </a:p>
        </p:txBody>
      </p:sp>
      <p:sp>
        <p:nvSpPr>
          <p:cNvPr id="1156" name="Google Shape;1156;p38"/>
          <p:cNvSpPr txBox="1"/>
          <p:nvPr/>
        </p:nvSpPr>
        <p:spPr>
          <a:xfrm>
            <a:off x="16265652" y="6347205"/>
            <a:ext cx="1045846" cy="4800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000" b="0" i="0" u="none" strike="noStrike" cap="none">
                <a:solidFill>
                  <a:srgbClr val="F2F2F3"/>
                </a:solidFill>
                <a:latin typeface="Barlow Condensed"/>
                <a:ea typeface="Barlow Condensed"/>
                <a:cs typeface="Barlow Condensed"/>
                <a:sym typeface="Barlow Condensed"/>
              </a:rPr>
              <a:t>₹1.61 Cr</a:t>
            </a:r>
            <a:endParaRPr/>
          </a:p>
        </p:txBody>
      </p:sp>
      <p:sp>
        <p:nvSpPr>
          <p:cNvPr id="1157" name="Google Shape;1157;p38"/>
          <p:cNvSpPr/>
          <p:nvPr/>
        </p:nvSpPr>
        <p:spPr>
          <a:xfrm>
            <a:off x="8849741" y="7533551"/>
            <a:ext cx="8599931" cy="836130"/>
          </a:xfrm>
          <a:prstGeom prst="rect">
            <a:avLst/>
          </a:prstGeom>
          <a:solidFill>
            <a:srgbClr val="141A4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8" name="Google Shape;1158;p38"/>
          <p:cNvSpPr txBox="1"/>
          <p:nvPr/>
        </p:nvSpPr>
        <p:spPr>
          <a:xfrm>
            <a:off x="9123553" y="7845917"/>
            <a:ext cx="5556644"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F2F2F3"/>
                </a:solidFill>
                <a:latin typeface="Barlow"/>
                <a:ea typeface="Barlow"/>
                <a:cs typeface="Barlow"/>
                <a:sym typeface="Barlow"/>
              </a:rPr>
              <a:t>From April 2034 the combined ₹93,000 redirects to</a:t>
            </a:r>
            <a:endParaRPr/>
          </a:p>
        </p:txBody>
      </p:sp>
      <p:sp>
        <p:nvSpPr>
          <p:cNvPr id="1159" name="Google Shape;1159;p38"/>
          <p:cNvSpPr txBox="1"/>
          <p:nvPr/>
        </p:nvSpPr>
        <p:spPr>
          <a:xfrm>
            <a:off x="15069312" y="7780908"/>
            <a:ext cx="2291705" cy="4320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F2F2F3"/>
                </a:solidFill>
                <a:latin typeface="Barlow Condensed"/>
                <a:ea typeface="Barlow Condensed"/>
                <a:cs typeface="Barlow Condensed"/>
                <a:sym typeface="Barlow Condensed"/>
              </a:rPr>
              <a:t>Retirement corpus</a:t>
            </a:r>
            <a:endParaRPr/>
          </a:p>
        </p:txBody>
      </p:sp>
      <p:sp>
        <p:nvSpPr>
          <p:cNvPr id="1160" name="Google Shape;1160;p38"/>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61" name="Google Shape;1161;p38"/>
          <p:cNvSpPr txBox="1"/>
          <p:nvPr/>
        </p:nvSpPr>
        <p:spPr>
          <a:xfrm>
            <a:off x="1082344" y="8625586"/>
            <a:ext cx="15961809" cy="946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2A3480"/>
                </a:solidFill>
                <a:latin typeface="Barlow"/>
                <a:ea typeface="Barlow"/>
                <a:cs typeface="Barlow"/>
                <a:sym typeface="Barlow"/>
              </a:rPr>
              <a:t>ADVISOR COMMENT</a:t>
            </a:r>
            <a:endParaRPr/>
          </a:p>
          <a:p>
            <a:pPr marL="0" marR="0" lvl="0" indent="0" algn="l" rtl="0">
              <a:lnSpc>
                <a:spcPct val="110000"/>
              </a:lnSpc>
              <a:spcBef>
                <a:spcPts val="220"/>
              </a:spcBef>
              <a:spcAft>
                <a:spcPts val="0"/>
              </a:spcAft>
              <a:buNone/>
            </a:pPr>
            <a:r>
              <a:rPr lang="en-US" sz="1850" b="0" i="0" u="none" strike="noStrike" cap="none">
                <a:solidFill>
                  <a:srgbClr val="1D1F20"/>
                </a:solidFill>
                <a:latin typeface="Barlow"/>
                <a:ea typeface="Barlow"/>
                <a:cs typeface="Barlow"/>
                <a:sym typeface="Barlow"/>
              </a:rPr>
              <a:t>Move this corpus out of equity in stages from 2032 — a third a year — so that a poor market in 2034 cannot delay the build. The ₹26 lakh surplus is deliberate: construction overruns are the norm, not the exception.</a:t>
            </a:r>
            <a:endParaRPr/>
          </a:p>
        </p:txBody>
      </p:sp>
      <p:sp>
        <p:nvSpPr>
          <p:cNvPr id="1162" name="Google Shape;1162;p38"/>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Armstrong Capital · Goal Based Planning</a:t>
            </a:r>
            <a:endParaRPr/>
          </a:p>
        </p:txBody>
      </p:sp>
      <p:sp>
        <p:nvSpPr>
          <p:cNvPr id="1163" name="Google Shape;1163;p38"/>
          <p:cNvSpPr txBox="1"/>
          <p:nvPr/>
        </p:nvSpPr>
        <p:spPr>
          <a:xfrm>
            <a:off x="16587469" y="9779215"/>
            <a:ext cx="743687"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26 / 46</a:t>
            </a:r>
            <a:endParaRPr/>
          </a:p>
        </p:txBody>
      </p:sp>
      <p:pic>
        <p:nvPicPr>
          <p:cNvPr id="1164" name="Google Shape;1164;p38" descr="image.png"/>
          <p:cNvPicPr preferRelativeResize="0"/>
          <p:nvPr/>
        </p:nvPicPr>
        <p:blipFill rotWithShape="1">
          <a:blip r:embed="rId5">
            <a:alphaModFix/>
          </a:blip>
          <a:srcRect/>
          <a:stretch/>
        </p:blipFill>
        <p:spPr>
          <a:xfrm>
            <a:off x="889000" y="6324600"/>
            <a:ext cx="965200" cy="863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p36"/>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29" name="Google Shape;1029;p36" descr="image.jpg"/>
          <p:cNvPicPr preferRelativeResize="0"/>
          <p:nvPr/>
        </p:nvPicPr>
        <p:blipFill rotWithShape="1">
          <a:blip r:embed="rId3">
            <a:alphaModFix amt="16863"/>
          </a:blip>
          <a:srcRect/>
          <a:stretch/>
        </p:blipFill>
        <p:spPr>
          <a:xfrm>
            <a:off x="0" y="0"/>
            <a:ext cx="18287872" cy="10286997"/>
          </a:xfrm>
          <a:prstGeom prst="rect">
            <a:avLst/>
          </a:prstGeom>
          <a:noFill/>
          <a:ln>
            <a:noFill/>
          </a:ln>
        </p:spPr>
      </p:pic>
      <p:sp>
        <p:nvSpPr>
          <p:cNvPr id="1030" name="Google Shape;1030;p36"/>
          <p:cNvSpPr txBox="1"/>
          <p:nvPr/>
        </p:nvSpPr>
        <p:spPr>
          <a:xfrm>
            <a:off x="863803" y="376292"/>
            <a:ext cx="6147007" cy="106382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2A3480"/>
                </a:solidFill>
                <a:latin typeface="Barlow"/>
                <a:ea typeface="Barlow"/>
                <a:cs typeface="Barlow"/>
                <a:sym typeface="Barlow"/>
              </a:rPr>
              <a:t>GOAL · 2032 AND 2037</a:t>
            </a:r>
            <a:endParaRPr/>
          </a:p>
          <a:p>
            <a:pPr marL="0" marR="0" lvl="0" indent="0" algn="l" rtl="0">
              <a:lnSpc>
                <a:spcPct val="100000"/>
              </a:lnSpc>
              <a:spcBef>
                <a:spcPts val="0"/>
              </a:spcBef>
              <a:spcAft>
                <a:spcPts val="0"/>
              </a:spcAft>
              <a:buNone/>
            </a:pPr>
            <a:r>
              <a:rPr lang="en-US" sz="4950" b="1" i="0" u="none" strike="noStrike" cap="none">
                <a:solidFill>
                  <a:srgbClr val="1D1F20"/>
                </a:solidFill>
                <a:latin typeface="Barlow Condensed"/>
                <a:ea typeface="Barlow Condensed"/>
                <a:cs typeface="Barlow Condensed"/>
                <a:sym typeface="Barlow Condensed"/>
              </a:rPr>
              <a:t>Undergraduate Education</a:t>
            </a:r>
            <a:endParaRPr/>
          </a:p>
        </p:txBody>
      </p:sp>
      <p:pic>
        <p:nvPicPr>
          <p:cNvPr id="1031" name="Google Shape;1031;p36" descr="image.png"/>
          <p:cNvPicPr preferRelativeResize="0"/>
          <p:nvPr/>
        </p:nvPicPr>
        <p:blipFill rotWithShape="1">
          <a:blip r:embed="rId4">
            <a:alphaModFix/>
          </a:blip>
          <a:srcRect/>
          <a:stretch/>
        </p:blipFill>
        <p:spPr>
          <a:xfrm>
            <a:off x="15373350" y="304736"/>
            <a:ext cx="2076323" cy="590486"/>
          </a:xfrm>
          <a:prstGeom prst="rect">
            <a:avLst/>
          </a:prstGeom>
          <a:noFill/>
          <a:ln>
            <a:noFill/>
          </a:ln>
        </p:spPr>
      </p:pic>
      <p:sp>
        <p:nvSpPr>
          <p:cNvPr id="1032" name="Google Shape;1032;p36"/>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3" name="Google Shape;1033;p36"/>
          <p:cNvSpPr/>
          <p:nvPr/>
        </p:nvSpPr>
        <p:spPr>
          <a:xfrm>
            <a:off x="838187" y="1612772"/>
            <a:ext cx="8191500" cy="5505450"/>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4" name="Google Shape;1034;p36"/>
          <p:cNvSpPr txBox="1"/>
          <p:nvPr/>
        </p:nvSpPr>
        <p:spPr>
          <a:xfrm>
            <a:off x="1149400" y="1919081"/>
            <a:ext cx="2111226" cy="105138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AARAV — 2032</a:t>
            </a:r>
            <a:endParaRPr/>
          </a:p>
          <a:p>
            <a:pPr marL="0" marR="0" lvl="0" indent="0" algn="l" rtl="0">
              <a:lnSpc>
                <a:spcPct val="100000"/>
              </a:lnSpc>
              <a:spcBef>
                <a:spcPts val="0"/>
              </a:spcBef>
              <a:spcAft>
                <a:spcPts val="0"/>
              </a:spcAft>
              <a:buNone/>
            </a:pPr>
            <a:r>
              <a:rPr lang="en-US" sz="4950" b="0" i="0" u="none" strike="noStrike" cap="none">
                <a:solidFill>
                  <a:srgbClr val="1D1F20"/>
                </a:solidFill>
                <a:latin typeface="Barlow Condensed"/>
                <a:ea typeface="Barlow Condensed"/>
                <a:cs typeface="Barlow Condensed"/>
                <a:sym typeface="Barlow Condensed"/>
              </a:rPr>
              <a:t>₹44 Lakh</a:t>
            </a:r>
            <a:endParaRPr/>
          </a:p>
        </p:txBody>
      </p:sp>
      <p:sp>
        <p:nvSpPr>
          <p:cNvPr id="1035" name="Google Shape;1035;p36"/>
          <p:cNvSpPr txBox="1"/>
          <p:nvPr/>
        </p:nvSpPr>
        <p:spPr>
          <a:xfrm>
            <a:off x="1149400" y="3031347"/>
            <a:ext cx="5548473"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₹25 L today, at 10% education inflation over 6 years</a:t>
            </a:r>
            <a:endParaRPr/>
          </a:p>
        </p:txBody>
      </p:sp>
      <p:sp>
        <p:nvSpPr>
          <p:cNvPr id="1036" name="Google Shape;1036;p36"/>
          <p:cNvSpPr/>
          <p:nvPr/>
        </p:nvSpPr>
        <p:spPr>
          <a:xfrm>
            <a:off x="1123861" y="3493643"/>
            <a:ext cx="7620126"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7" name="Google Shape;1037;p36"/>
          <p:cNvSpPr txBox="1"/>
          <p:nvPr/>
        </p:nvSpPr>
        <p:spPr>
          <a:xfrm>
            <a:off x="1149400" y="3828907"/>
            <a:ext cx="3097643"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SIP ₹35,000 · equity MF · 12%</a:t>
            </a:r>
            <a:endParaRPr/>
          </a:p>
        </p:txBody>
      </p:sp>
      <p:sp>
        <p:nvSpPr>
          <p:cNvPr id="1038" name="Google Shape;1038;p36"/>
          <p:cNvSpPr txBox="1"/>
          <p:nvPr/>
        </p:nvSpPr>
        <p:spPr>
          <a:xfrm>
            <a:off x="8182991" y="3840733"/>
            <a:ext cx="644956" cy="384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₹37 L</a:t>
            </a:r>
            <a:endParaRPr/>
          </a:p>
        </p:txBody>
      </p:sp>
      <p:sp>
        <p:nvSpPr>
          <p:cNvPr id="1039" name="Google Shape;1039;p36"/>
          <p:cNvSpPr txBox="1"/>
          <p:nvPr/>
        </p:nvSpPr>
        <p:spPr>
          <a:xfrm>
            <a:off x="1149400" y="4453747"/>
            <a:ext cx="3648437"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Lumpsum ₹5 L from mutual funds</a:t>
            </a:r>
            <a:endParaRPr/>
          </a:p>
        </p:txBody>
      </p:sp>
      <p:sp>
        <p:nvSpPr>
          <p:cNvPr id="1040" name="Google Shape;1040;p36"/>
          <p:cNvSpPr txBox="1"/>
          <p:nvPr/>
        </p:nvSpPr>
        <p:spPr>
          <a:xfrm>
            <a:off x="8205469" y="4465574"/>
            <a:ext cx="622096" cy="384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₹10 L</a:t>
            </a:r>
            <a:endParaRPr/>
          </a:p>
        </p:txBody>
      </p:sp>
      <p:sp>
        <p:nvSpPr>
          <p:cNvPr id="1041" name="Google Shape;1041;p36"/>
          <p:cNvSpPr/>
          <p:nvPr/>
        </p:nvSpPr>
        <p:spPr>
          <a:xfrm>
            <a:off x="1123861" y="5000371"/>
            <a:ext cx="7620126" cy="9525"/>
          </a:xfrm>
          <a:prstGeom prst="rect">
            <a:avLst/>
          </a:prstGeom>
          <a:solidFill>
            <a:srgbClr val="1D1F20">
              <a:alpha val="2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2" name="Google Shape;1042;p36"/>
          <p:cNvSpPr txBox="1"/>
          <p:nvPr/>
        </p:nvSpPr>
        <p:spPr>
          <a:xfrm>
            <a:off x="1149400" y="5215666"/>
            <a:ext cx="1745790"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Corpus by 2032</a:t>
            </a:r>
            <a:endParaRPr/>
          </a:p>
        </p:txBody>
      </p:sp>
      <p:sp>
        <p:nvSpPr>
          <p:cNvPr id="1043" name="Google Shape;1043;p36"/>
          <p:cNvSpPr txBox="1"/>
          <p:nvPr/>
        </p:nvSpPr>
        <p:spPr>
          <a:xfrm>
            <a:off x="8014969" y="5249194"/>
            <a:ext cx="827683" cy="5050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2F7D3A"/>
                </a:solidFill>
                <a:latin typeface="Barlow Condensed"/>
                <a:ea typeface="Barlow Condensed"/>
                <a:cs typeface="Barlow Condensed"/>
                <a:sym typeface="Barlow Condensed"/>
              </a:rPr>
              <a:t>₹47 L</a:t>
            </a:r>
            <a:endParaRPr/>
          </a:p>
        </p:txBody>
      </p:sp>
      <p:sp>
        <p:nvSpPr>
          <p:cNvPr id="1044" name="Google Shape;1044;p36"/>
          <p:cNvSpPr txBox="1"/>
          <p:nvPr/>
        </p:nvSpPr>
        <p:spPr>
          <a:xfrm>
            <a:off x="1149400" y="6610477"/>
            <a:ext cx="4976443" cy="28803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₹35,000 redirects to Aarav’s PG from April 2032.</a:t>
            </a:r>
            <a:endParaRPr/>
          </a:p>
        </p:txBody>
      </p:sp>
      <p:sp>
        <p:nvSpPr>
          <p:cNvPr id="1045" name="Google Shape;1045;p36"/>
          <p:cNvSpPr/>
          <p:nvPr/>
        </p:nvSpPr>
        <p:spPr>
          <a:xfrm>
            <a:off x="9258300" y="1612772"/>
            <a:ext cx="8191500" cy="5505450"/>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6" name="Google Shape;1046;p36"/>
          <p:cNvSpPr txBox="1"/>
          <p:nvPr/>
        </p:nvSpPr>
        <p:spPr>
          <a:xfrm>
            <a:off x="9570084" y="1919081"/>
            <a:ext cx="1973776" cy="105138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IRA — 2037</a:t>
            </a:r>
            <a:endParaRPr/>
          </a:p>
          <a:p>
            <a:pPr marL="0" marR="0" lvl="0" indent="0" algn="l" rtl="0">
              <a:lnSpc>
                <a:spcPct val="100000"/>
              </a:lnSpc>
              <a:spcBef>
                <a:spcPts val="0"/>
              </a:spcBef>
              <a:spcAft>
                <a:spcPts val="0"/>
              </a:spcAft>
              <a:buNone/>
            </a:pPr>
            <a:r>
              <a:rPr lang="en-US" sz="4950" b="0" i="0" u="none" strike="noStrike" cap="none">
                <a:solidFill>
                  <a:srgbClr val="1D1F20"/>
                </a:solidFill>
                <a:latin typeface="Barlow Condensed"/>
                <a:ea typeface="Barlow Condensed"/>
                <a:cs typeface="Barlow Condensed"/>
                <a:sym typeface="Barlow Condensed"/>
              </a:rPr>
              <a:t>₹71 Lakh</a:t>
            </a:r>
            <a:endParaRPr/>
          </a:p>
        </p:txBody>
      </p:sp>
      <p:sp>
        <p:nvSpPr>
          <p:cNvPr id="1047" name="Google Shape;1047;p36"/>
          <p:cNvSpPr txBox="1"/>
          <p:nvPr/>
        </p:nvSpPr>
        <p:spPr>
          <a:xfrm>
            <a:off x="9570084" y="3031347"/>
            <a:ext cx="5596607"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₹25 L today, at 10% education inflation over 11 years</a:t>
            </a:r>
            <a:endParaRPr/>
          </a:p>
        </p:txBody>
      </p:sp>
      <p:sp>
        <p:nvSpPr>
          <p:cNvPr id="1048" name="Google Shape;1048;p36"/>
          <p:cNvSpPr/>
          <p:nvPr/>
        </p:nvSpPr>
        <p:spPr>
          <a:xfrm>
            <a:off x="9543922" y="3493643"/>
            <a:ext cx="7620127"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9" name="Google Shape;1049;p36"/>
          <p:cNvSpPr txBox="1"/>
          <p:nvPr/>
        </p:nvSpPr>
        <p:spPr>
          <a:xfrm>
            <a:off x="9570084" y="3828907"/>
            <a:ext cx="311534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SIP ₹20,000 · equity MF · 12%</a:t>
            </a:r>
            <a:endParaRPr/>
          </a:p>
        </p:txBody>
      </p:sp>
      <p:sp>
        <p:nvSpPr>
          <p:cNvPr id="1050" name="Google Shape;1050;p36"/>
          <p:cNvSpPr txBox="1"/>
          <p:nvPr/>
        </p:nvSpPr>
        <p:spPr>
          <a:xfrm>
            <a:off x="16590517" y="3840733"/>
            <a:ext cx="659665" cy="384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₹53 L</a:t>
            </a:r>
            <a:endParaRPr/>
          </a:p>
        </p:txBody>
      </p:sp>
      <p:sp>
        <p:nvSpPr>
          <p:cNvPr id="1051" name="Google Shape;1051;p36"/>
          <p:cNvSpPr txBox="1"/>
          <p:nvPr/>
        </p:nvSpPr>
        <p:spPr>
          <a:xfrm>
            <a:off x="9570084" y="4453747"/>
            <a:ext cx="3650003"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Lumpsum ₹8 L from mutual funds</a:t>
            </a:r>
            <a:endParaRPr/>
          </a:p>
        </p:txBody>
      </p:sp>
      <p:sp>
        <p:nvSpPr>
          <p:cNvPr id="1052" name="Google Shape;1052;p36"/>
          <p:cNvSpPr txBox="1"/>
          <p:nvPr/>
        </p:nvSpPr>
        <p:spPr>
          <a:xfrm>
            <a:off x="16588739" y="4465574"/>
            <a:ext cx="660198" cy="384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₹28 L</a:t>
            </a:r>
            <a:endParaRPr/>
          </a:p>
        </p:txBody>
      </p:sp>
      <p:sp>
        <p:nvSpPr>
          <p:cNvPr id="1053" name="Google Shape;1053;p36"/>
          <p:cNvSpPr/>
          <p:nvPr/>
        </p:nvSpPr>
        <p:spPr>
          <a:xfrm>
            <a:off x="9543922" y="5000371"/>
            <a:ext cx="7620127" cy="9525"/>
          </a:xfrm>
          <a:prstGeom prst="rect">
            <a:avLst/>
          </a:prstGeom>
          <a:solidFill>
            <a:srgbClr val="1D1F20">
              <a:alpha val="2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4" name="Google Shape;1054;p36"/>
          <p:cNvSpPr txBox="1"/>
          <p:nvPr/>
        </p:nvSpPr>
        <p:spPr>
          <a:xfrm>
            <a:off x="9570084" y="5215666"/>
            <a:ext cx="1729200"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Corpus by 2037</a:t>
            </a:r>
            <a:endParaRPr/>
          </a:p>
        </p:txBody>
      </p:sp>
      <p:sp>
        <p:nvSpPr>
          <p:cNvPr id="1055" name="Google Shape;1055;p36"/>
          <p:cNvSpPr txBox="1"/>
          <p:nvPr/>
        </p:nvSpPr>
        <p:spPr>
          <a:xfrm>
            <a:off x="16472662" y="5249194"/>
            <a:ext cx="785197" cy="5050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2F7D3A"/>
                </a:solidFill>
                <a:latin typeface="Barlow Condensed"/>
                <a:ea typeface="Barlow Condensed"/>
                <a:cs typeface="Barlow Condensed"/>
                <a:sym typeface="Barlow Condensed"/>
              </a:rPr>
              <a:t>₹81 L</a:t>
            </a:r>
            <a:endParaRPr/>
          </a:p>
        </p:txBody>
      </p:sp>
      <p:sp>
        <p:nvSpPr>
          <p:cNvPr id="1056" name="Google Shape;1056;p36"/>
          <p:cNvSpPr txBox="1"/>
          <p:nvPr/>
        </p:nvSpPr>
        <p:spPr>
          <a:xfrm>
            <a:off x="9570084" y="6610477"/>
            <a:ext cx="4655617" cy="28803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₹20,000 redirects to Ira’s PG from April 2037.</a:t>
            </a:r>
            <a:endParaRPr/>
          </a:p>
        </p:txBody>
      </p:sp>
      <p:sp>
        <p:nvSpPr>
          <p:cNvPr id="1057" name="Google Shape;1057;p36"/>
          <p:cNvSpPr/>
          <p:nvPr/>
        </p:nvSpPr>
        <p:spPr>
          <a:xfrm>
            <a:off x="838187" y="7270546"/>
            <a:ext cx="5422899" cy="1099134"/>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8" name="Google Shape;1058;p36"/>
          <p:cNvSpPr txBox="1"/>
          <p:nvPr/>
        </p:nvSpPr>
        <p:spPr>
          <a:xfrm>
            <a:off x="1092098" y="7498079"/>
            <a:ext cx="2768460" cy="76974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COMBINED REQUIREMENT</a:t>
            </a:r>
            <a:endParaRPr/>
          </a:p>
          <a:p>
            <a:pPr marL="0" marR="0" lvl="0" indent="0" algn="l" rtl="0">
              <a:lnSpc>
                <a:spcPct val="100000"/>
              </a:lnSpc>
              <a:spcBef>
                <a:spcPts val="0"/>
              </a:spcBef>
              <a:spcAft>
                <a:spcPts val="0"/>
              </a:spcAft>
              <a:buNone/>
            </a:pPr>
            <a:r>
              <a:rPr lang="en-US" sz="3300" b="0" i="0" u="none" strike="noStrike" cap="none">
                <a:solidFill>
                  <a:srgbClr val="F2F2F3"/>
                </a:solidFill>
                <a:latin typeface="Barlow Condensed"/>
                <a:ea typeface="Barlow Condensed"/>
                <a:cs typeface="Barlow Condensed"/>
                <a:sym typeface="Barlow Condensed"/>
              </a:rPr>
              <a:t>₹1.15 Cr</a:t>
            </a:r>
            <a:endParaRPr/>
          </a:p>
        </p:txBody>
      </p:sp>
      <p:sp>
        <p:nvSpPr>
          <p:cNvPr id="1059" name="Google Shape;1059;p36"/>
          <p:cNvSpPr/>
          <p:nvPr/>
        </p:nvSpPr>
        <p:spPr>
          <a:xfrm>
            <a:off x="6432550" y="7270546"/>
            <a:ext cx="5422900" cy="1099134"/>
          </a:xfrm>
          <a:prstGeom prst="rect">
            <a:avLst/>
          </a:prstGeom>
          <a:solidFill>
            <a:srgbClr val="2F7D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0" name="Google Shape;1060;p36"/>
          <p:cNvSpPr txBox="1"/>
          <p:nvPr/>
        </p:nvSpPr>
        <p:spPr>
          <a:xfrm>
            <a:off x="6687057" y="7498079"/>
            <a:ext cx="2081495" cy="76974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COMBINED CORPUS</a:t>
            </a:r>
            <a:endParaRPr/>
          </a:p>
          <a:p>
            <a:pPr marL="0" marR="0" lvl="0" indent="0" algn="l" rtl="0">
              <a:lnSpc>
                <a:spcPct val="100000"/>
              </a:lnSpc>
              <a:spcBef>
                <a:spcPts val="0"/>
              </a:spcBef>
              <a:spcAft>
                <a:spcPts val="0"/>
              </a:spcAft>
              <a:buNone/>
            </a:pPr>
            <a:r>
              <a:rPr lang="en-US" sz="3300" b="0" i="0" u="none" strike="noStrike" cap="none">
                <a:solidFill>
                  <a:srgbClr val="F2F2F3"/>
                </a:solidFill>
                <a:latin typeface="Barlow Condensed"/>
                <a:ea typeface="Barlow Condensed"/>
                <a:cs typeface="Barlow Condensed"/>
                <a:sym typeface="Barlow Condensed"/>
              </a:rPr>
              <a:t>₹1.28 Cr</a:t>
            </a:r>
            <a:endParaRPr/>
          </a:p>
        </p:txBody>
      </p:sp>
      <p:sp>
        <p:nvSpPr>
          <p:cNvPr id="1061" name="Google Shape;1061;p36"/>
          <p:cNvSpPr/>
          <p:nvPr/>
        </p:nvSpPr>
        <p:spPr>
          <a:xfrm>
            <a:off x="12026772" y="7270546"/>
            <a:ext cx="5422900" cy="1099134"/>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2" name="Google Shape;1062;p36"/>
          <p:cNvSpPr txBox="1"/>
          <p:nvPr/>
        </p:nvSpPr>
        <p:spPr>
          <a:xfrm>
            <a:off x="12281916" y="7498079"/>
            <a:ext cx="2572669" cy="76974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MONTHLY COMMITMENT</a:t>
            </a:r>
            <a:endParaRPr/>
          </a:p>
          <a:p>
            <a:pPr marL="0" marR="0" lvl="0" indent="0" algn="l" rtl="0">
              <a:lnSpc>
                <a:spcPct val="100000"/>
              </a:lnSpc>
              <a:spcBef>
                <a:spcPts val="0"/>
              </a:spcBef>
              <a:spcAft>
                <a:spcPts val="0"/>
              </a:spcAft>
              <a:buNone/>
            </a:pPr>
            <a:r>
              <a:rPr lang="en-US" sz="3300" b="0" i="0" u="none" strike="noStrike" cap="none">
                <a:solidFill>
                  <a:srgbClr val="26306F"/>
                </a:solidFill>
                <a:latin typeface="Barlow Condensed"/>
                <a:ea typeface="Barlow Condensed"/>
                <a:cs typeface="Barlow Condensed"/>
                <a:sym typeface="Barlow Condensed"/>
              </a:rPr>
              <a:t>₹55,000</a:t>
            </a:r>
            <a:endParaRPr/>
          </a:p>
        </p:txBody>
      </p:sp>
      <p:sp>
        <p:nvSpPr>
          <p:cNvPr id="1063" name="Google Shape;1063;p36"/>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4" name="Google Shape;1064;p36"/>
          <p:cNvSpPr txBox="1"/>
          <p:nvPr/>
        </p:nvSpPr>
        <p:spPr>
          <a:xfrm>
            <a:off x="1082344" y="8625586"/>
            <a:ext cx="16146709" cy="946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2A3480"/>
                </a:solidFill>
                <a:latin typeface="Barlow"/>
                <a:ea typeface="Barlow"/>
                <a:cs typeface="Barlow"/>
                <a:sym typeface="Barlow"/>
              </a:rPr>
              <a:t>ADVISOR COMMENT</a:t>
            </a:r>
            <a:endParaRPr/>
          </a:p>
          <a:p>
            <a:pPr marL="0" marR="0" lvl="0" indent="0" algn="l" rtl="0">
              <a:lnSpc>
                <a:spcPct val="110000"/>
              </a:lnSpc>
              <a:spcBef>
                <a:spcPts val="220"/>
              </a:spcBef>
              <a:spcAft>
                <a:spcPts val="0"/>
              </a:spcAft>
              <a:buNone/>
            </a:pPr>
            <a:r>
              <a:rPr lang="en-US" sz="1850" b="0" i="0" u="none" strike="noStrike" cap="none">
                <a:solidFill>
                  <a:srgbClr val="1D1F20"/>
                </a:solidFill>
                <a:latin typeface="Barlow"/>
                <a:ea typeface="Barlow"/>
                <a:cs typeface="Barlow"/>
                <a:sym typeface="Barlow"/>
              </a:rPr>
              <a:t>If either course is taken abroad, add rupee depreciation of roughly 3% a year on top of the 10% — that raises Aarav’s requirement to about ₹53 lakh. We will re- test this at the 2029 review, when the subject choice is clearer.</a:t>
            </a:r>
            <a:endParaRPr/>
          </a:p>
        </p:txBody>
      </p:sp>
      <p:sp>
        <p:nvSpPr>
          <p:cNvPr id="1065" name="Google Shape;1065;p36"/>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Armstrong Capital · Goal Based Planning</a:t>
            </a:r>
            <a:endParaRPr/>
          </a:p>
        </p:txBody>
      </p:sp>
      <p:sp>
        <p:nvSpPr>
          <p:cNvPr id="1066" name="Google Shape;1066;p36"/>
          <p:cNvSpPr txBox="1"/>
          <p:nvPr/>
        </p:nvSpPr>
        <p:spPr>
          <a:xfrm>
            <a:off x="16587469" y="9779215"/>
            <a:ext cx="751471"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24 / 46</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37"/>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72" name="Google Shape;1072;p37" descr="image.jpg"/>
          <p:cNvPicPr preferRelativeResize="0"/>
          <p:nvPr/>
        </p:nvPicPr>
        <p:blipFill rotWithShape="1">
          <a:blip r:embed="rId3">
            <a:alphaModFix amt="16863"/>
          </a:blip>
          <a:srcRect/>
          <a:stretch/>
        </p:blipFill>
        <p:spPr>
          <a:xfrm>
            <a:off x="0" y="25"/>
            <a:ext cx="18287872" cy="10285857"/>
          </a:xfrm>
          <a:prstGeom prst="rect">
            <a:avLst/>
          </a:prstGeom>
          <a:noFill/>
          <a:ln>
            <a:noFill/>
          </a:ln>
        </p:spPr>
      </p:pic>
      <p:sp>
        <p:nvSpPr>
          <p:cNvPr id="1073" name="Google Shape;1073;p37"/>
          <p:cNvSpPr txBox="1"/>
          <p:nvPr/>
        </p:nvSpPr>
        <p:spPr>
          <a:xfrm>
            <a:off x="863803" y="376292"/>
            <a:ext cx="5797904" cy="106382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2A3480"/>
                </a:solidFill>
                <a:latin typeface="Barlow"/>
                <a:ea typeface="Barlow"/>
                <a:cs typeface="Barlow"/>
                <a:sym typeface="Barlow"/>
              </a:rPr>
              <a:t>GOAL · 2036 AND 2041</a:t>
            </a:r>
            <a:endParaRPr/>
          </a:p>
          <a:p>
            <a:pPr marL="0" marR="0" lvl="0" indent="0" algn="l" rtl="0">
              <a:lnSpc>
                <a:spcPct val="100000"/>
              </a:lnSpc>
              <a:spcBef>
                <a:spcPts val="0"/>
              </a:spcBef>
              <a:spcAft>
                <a:spcPts val="0"/>
              </a:spcAft>
              <a:buNone/>
            </a:pPr>
            <a:r>
              <a:rPr lang="en-US" sz="4950" b="1" i="0" u="none" strike="noStrike" cap="none">
                <a:solidFill>
                  <a:srgbClr val="1D1F20"/>
                </a:solidFill>
                <a:latin typeface="Barlow Condensed"/>
                <a:ea typeface="Barlow Condensed"/>
                <a:cs typeface="Barlow Condensed"/>
                <a:sym typeface="Barlow Condensed"/>
              </a:rPr>
              <a:t>Postgraduate Education</a:t>
            </a:r>
            <a:endParaRPr/>
          </a:p>
        </p:txBody>
      </p:sp>
      <p:pic>
        <p:nvPicPr>
          <p:cNvPr id="1074" name="Google Shape;1074;p37" descr="image.png"/>
          <p:cNvPicPr preferRelativeResize="0"/>
          <p:nvPr/>
        </p:nvPicPr>
        <p:blipFill rotWithShape="1">
          <a:blip r:embed="rId4">
            <a:alphaModFix/>
          </a:blip>
          <a:srcRect/>
          <a:stretch/>
        </p:blipFill>
        <p:spPr>
          <a:xfrm>
            <a:off x="15373350" y="304736"/>
            <a:ext cx="2076323" cy="590486"/>
          </a:xfrm>
          <a:prstGeom prst="rect">
            <a:avLst/>
          </a:prstGeom>
          <a:noFill/>
          <a:ln>
            <a:noFill/>
          </a:ln>
        </p:spPr>
      </p:pic>
      <p:sp>
        <p:nvSpPr>
          <p:cNvPr id="1075" name="Google Shape;1075;p37"/>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6" name="Google Shape;1076;p37"/>
          <p:cNvSpPr/>
          <p:nvPr/>
        </p:nvSpPr>
        <p:spPr>
          <a:xfrm>
            <a:off x="838187" y="1612645"/>
            <a:ext cx="8191500" cy="5461000"/>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7" name="Google Shape;1077;p37"/>
          <p:cNvSpPr txBox="1"/>
          <p:nvPr/>
        </p:nvSpPr>
        <p:spPr>
          <a:xfrm>
            <a:off x="1149400" y="1919081"/>
            <a:ext cx="2412269" cy="105138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AARAV — 2036</a:t>
            </a:r>
            <a:endParaRPr/>
          </a:p>
          <a:p>
            <a:pPr marL="0" marR="0" lvl="0" indent="0" algn="l" rtl="0">
              <a:lnSpc>
                <a:spcPct val="100000"/>
              </a:lnSpc>
              <a:spcBef>
                <a:spcPts val="0"/>
              </a:spcBef>
              <a:spcAft>
                <a:spcPts val="0"/>
              </a:spcAft>
              <a:buNone/>
            </a:pPr>
            <a:r>
              <a:rPr lang="en-US" sz="4950" b="0" i="0" u="none" strike="noStrike" cap="none">
                <a:solidFill>
                  <a:srgbClr val="1D1F20"/>
                </a:solidFill>
                <a:latin typeface="Barlow Condensed"/>
                <a:ea typeface="Barlow Condensed"/>
                <a:cs typeface="Barlow Condensed"/>
                <a:sym typeface="Barlow Condensed"/>
              </a:rPr>
              <a:t>₹1.17 Crore</a:t>
            </a:r>
            <a:endParaRPr/>
          </a:p>
        </p:txBody>
      </p:sp>
      <p:sp>
        <p:nvSpPr>
          <p:cNvPr id="1078" name="Google Shape;1078;p37"/>
          <p:cNvSpPr txBox="1"/>
          <p:nvPr/>
        </p:nvSpPr>
        <p:spPr>
          <a:xfrm>
            <a:off x="1149400" y="3031347"/>
            <a:ext cx="6607176"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₹45 L today, at 10% over 10 years — a two-year course abroad</a:t>
            </a:r>
            <a:endParaRPr/>
          </a:p>
        </p:txBody>
      </p:sp>
      <p:sp>
        <p:nvSpPr>
          <p:cNvPr id="1079" name="Google Shape;1079;p37"/>
          <p:cNvSpPr/>
          <p:nvPr/>
        </p:nvSpPr>
        <p:spPr>
          <a:xfrm>
            <a:off x="1123861" y="3493643"/>
            <a:ext cx="7620126"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0" name="Google Shape;1080;p37"/>
          <p:cNvSpPr txBox="1"/>
          <p:nvPr/>
        </p:nvSpPr>
        <p:spPr>
          <a:xfrm>
            <a:off x="1149400" y="3828907"/>
            <a:ext cx="3107471"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SIP ₹22,000 · equity MF · 12%</a:t>
            </a:r>
            <a:endParaRPr/>
          </a:p>
        </p:txBody>
      </p:sp>
      <p:sp>
        <p:nvSpPr>
          <p:cNvPr id="1081" name="Google Shape;1081;p37"/>
          <p:cNvSpPr txBox="1"/>
          <p:nvPr/>
        </p:nvSpPr>
        <p:spPr>
          <a:xfrm>
            <a:off x="8222615" y="3840733"/>
            <a:ext cx="612952" cy="384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₹51 L</a:t>
            </a:r>
            <a:endParaRPr/>
          </a:p>
        </p:txBody>
      </p:sp>
      <p:sp>
        <p:nvSpPr>
          <p:cNvPr id="1082" name="Google Shape;1082;p37"/>
          <p:cNvSpPr txBox="1"/>
          <p:nvPr/>
        </p:nvSpPr>
        <p:spPr>
          <a:xfrm>
            <a:off x="1149400" y="4453747"/>
            <a:ext cx="4038778"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UG SIP ₹35,000 redirected from 2032</a:t>
            </a:r>
            <a:endParaRPr/>
          </a:p>
        </p:txBody>
      </p:sp>
      <p:sp>
        <p:nvSpPr>
          <p:cNvPr id="1083" name="Google Shape;1083;p37"/>
          <p:cNvSpPr txBox="1"/>
          <p:nvPr/>
        </p:nvSpPr>
        <p:spPr>
          <a:xfrm>
            <a:off x="8228965" y="4465574"/>
            <a:ext cx="609904" cy="384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₹21 L</a:t>
            </a:r>
            <a:endParaRPr/>
          </a:p>
        </p:txBody>
      </p:sp>
      <p:sp>
        <p:nvSpPr>
          <p:cNvPr id="1084" name="Google Shape;1084;p37"/>
          <p:cNvSpPr txBox="1"/>
          <p:nvPr/>
        </p:nvSpPr>
        <p:spPr>
          <a:xfrm>
            <a:off x="1149400" y="5078587"/>
            <a:ext cx="3751256"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Lumpsum ₹20 L from direct equity</a:t>
            </a:r>
            <a:endParaRPr/>
          </a:p>
        </p:txBody>
      </p:sp>
      <p:sp>
        <p:nvSpPr>
          <p:cNvPr id="1085" name="Google Shape;1085;p37"/>
          <p:cNvSpPr txBox="1"/>
          <p:nvPr/>
        </p:nvSpPr>
        <p:spPr>
          <a:xfrm>
            <a:off x="8171433" y="5090121"/>
            <a:ext cx="657272" cy="3844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₹62 L</a:t>
            </a:r>
            <a:endParaRPr/>
          </a:p>
        </p:txBody>
      </p:sp>
      <p:sp>
        <p:nvSpPr>
          <p:cNvPr id="1086" name="Google Shape;1086;p37"/>
          <p:cNvSpPr/>
          <p:nvPr/>
        </p:nvSpPr>
        <p:spPr>
          <a:xfrm>
            <a:off x="1123861" y="5625210"/>
            <a:ext cx="7620126" cy="9525"/>
          </a:xfrm>
          <a:prstGeom prst="rect">
            <a:avLst/>
          </a:prstGeom>
          <a:solidFill>
            <a:srgbClr val="1D1F20">
              <a:alpha val="2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7" name="Google Shape;1087;p37"/>
          <p:cNvSpPr txBox="1"/>
          <p:nvPr/>
        </p:nvSpPr>
        <p:spPr>
          <a:xfrm>
            <a:off x="1149400" y="5840506"/>
            <a:ext cx="1740260"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Corpus by 2036</a:t>
            </a:r>
            <a:endParaRPr/>
          </a:p>
        </p:txBody>
      </p:sp>
      <p:sp>
        <p:nvSpPr>
          <p:cNvPr id="1088" name="Google Shape;1088;p37"/>
          <p:cNvSpPr txBox="1"/>
          <p:nvPr/>
        </p:nvSpPr>
        <p:spPr>
          <a:xfrm>
            <a:off x="7664450" y="5874034"/>
            <a:ext cx="1161960" cy="5050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2F7D3A"/>
                </a:solidFill>
                <a:latin typeface="Barlow Condensed"/>
                <a:ea typeface="Barlow Condensed"/>
                <a:cs typeface="Barlow Condensed"/>
                <a:sym typeface="Barlow Condensed"/>
              </a:rPr>
              <a:t>₹1.34 Cr</a:t>
            </a:r>
            <a:endParaRPr/>
          </a:p>
        </p:txBody>
      </p:sp>
      <p:sp>
        <p:nvSpPr>
          <p:cNvPr id="1089" name="Google Shape;1089;p37"/>
          <p:cNvSpPr/>
          <p:nvPr/>
        </p:nvSpPr>
        <p:spPr>
          <a:xfrm>
            <a:off x="9258300" y="1612645"/>
            <a:ext cx="8191500" cy="5461000"/>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90" name="Google Shape;1090;p37"/>
          <p:cNvSpPr txBox="1"/>
          <p:nvPr/>
        </p:nvSpPr>
        <p:spPr>
          <a:xfrm>
            <a:off x="9570084" y="1919081"/>
            <a:ext cx="2561174" cy="105138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IRA — 2041</a:t>
            </a:r>
            <a:endParaRPr/>
          </a:p>
          <a:p>
            <a:pPr marL="0" marR="0" lvl="0" indent="0" algn="l" rtl="0">
              <a:lnSpc>
                <a:spcPct val="100000"/>
              </a:lnSpc>
              <a:spcBef>
                <a:spcPts val="0"/>
              </a:spcBef>
              <a:spcAft>
                <a:spcPts val="0"/>
              </a:spcAft>
              <a:buNone/>
            </a:pPr>
            <a:r>
              <a:rPr lang="en-US" sz="4950" b="0" i="0" u="none" strike="noStrike" cap="none">
                <a:solidFill>
                  <a:srgbClr val="1D1F20"/>
                </a:solidFill>
                <a:latin typeface="Barlow Condensed"/>
                <a:ea typeface="Barlow Condensed"/>
                <a:cs typeface="Barlow Condensed"/>
                <a:sym typeface="Barlow Condensed"/>
              </a:rPr>
              <a:t>₹1.88 Crore</a:t>
            </a:r>
            <a:endParaRPr/>
          </a:p>
        </p:txBody>
      </p:sp>
      <p:sp>
        <p:nvSpPr>
          <p:cNvPr id="1091" name="Google Shape;1091;p37"/>
          <p:cNvSpPr txBox="1"/>
          <p:nvPr/>
        </p:nvSpPr>
        <p:spPr>
          <a:xfrm>
            <a:off x="9570084" y="3031347"/>
            <a:ext cx="6729337"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₹45 L today, at 10% over 15 years — four years after retirement</a:t>
            </a:r>
            <a:endParaRPr/>
          </a:p>
        </p:txBody>
      </p:sp>
      <p:sp>
        <p:nvSpPr>
          <p:cNvPr id="1092" name="Google Shape;1092;p37"/>
          <p:cNvSpPr/>
          <p:nvPr/>
        </p:nvSpPr>
        <p:spPr>
          <a:xfrm>
            <a:off x="9543922" y="3493643"/>
            <a:ext cx="7620127"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93" name="Google Shape;1093;p37"/>
          <p:cNvSpPr txBox="1"/>
          <p:nvPr/>
        </p:nvSpPr>
        <p:spPr>
          <a:xfrm>
            <a:off x="9570084" y="3828907"/>
            <a:ext cx="3058889"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SIP ₹18,000 · equity MF · 12%</a:t>
            </a:r>
            <a:endParaRPr/>
          </a:p>
        </p:txBody>
      </p:sp>
      <p:sp>
        <p:nvSpPr>
          <p:cNvPr id="1094" name="Google Shape;1094;p37"/>
          <p:cNvSpPr txBox="1"/>
          <p:nvPr/>
        </p:nvSpPr>
        <p:spPr>
          <a:xfrm>
            <a:off x="16581373" y="3840733"/>
            <a:ext cx="666675" cy="384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₹90 L</a:t>
            </a:r>
            <a:endParaRPr/>
          </a:p>
        </p:txBody>
      </p:sp>
      <p:sp>
        <p:nvSpPr>
          <p:cNvPr id="1095" name="Google Shape;1095;p37"/>
          <p:cNvSpPr txBox="1"/>
          <p:nvPr/>
        </p:nvSpPr>
        <p:spPr>
          <a:xfrm>
            <a:off x="9570084" y="4453747"/>
            <a:ext cx="4081509"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UG SIP ₹20,000 redirected 2037–2041</a:t>
            </a:r>
            <a:endParaRPr/>
          </a:p>
        </p:txBody>
      </p:sp>
      <p:sp>
        <p:nvSpPr>
          <p:cNvPr id="1096" name="Google Shape;1096;p37"/>
          <p:cNvSpPr txBox="1"/>
          <p:nvPr/>
        </p:nvSpPr>
        <p:spPr>
          <a:xfrm>
            <a:off x="16649954" y="4465574"/>
            <a:ext cx="599848" cy="384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₹17 L</a:t>
            </a:r>
            <a:endParaRPr/>
          </a:p>
        </p:txBody>
      </p:sp>
      <p:sp>
        <p:nvSpPr>
          <p:cNvPr id="1097" name="Google Shape;1097;p37"/>
          <p:cNvSpPr txBox="1"/>
          <p:nvPr/>
        </p:nvSpPr>
        <p:spPr>
          <a:xfrm>
            <a:off x="9570084" y="5078587"/>
            <a:ext cx="3399849"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Surplus from Aarav’s PG corpus</a:t>
            </a:r>
            <a:endParaRPr/>
          </a:p>
        </p:txBody>
      </p:sp>
      <p:sp>
        <p:nvSpPr>
          <p:cNvPr id="1098" name="Google Shape;1098;p37"/>
          <p:cNvSpPr txBox="1"/>
          <p:nvPr/>
        </p:nvSpPr>
        <p:spPr>
          <a:xfrm>
            <a:off x="16588739" y="5090121"/>
            <a:ext cx="660324" cy="3844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₹28 L</a:t>
            </a:r>
            <a:endParaRPr/>
          </a:p>
        </p:txBody>
      </p:sp>
      <p:sp>
        <p:nvSpPr>
          <p:cNvPr id="1099" name="Google Shape;1099;p37"/>
          <p:cNvSpPr txBox="1"/>
          <p:nvPr/>
        </p:nvSpPr>
        <p:spPr>
          <a:xfrm>
            <a:off x="9570084" y="5704151"/>
            <a:ext cx="3583110" cy="2999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Endowment maturity, reinvested</a:t>
            </a:r>
            <a:endParaRPr/>
          </a:p>
        </p:txBody>
      </p:sp>
      <p:sp>
        <p:nvSpPr>
          <p:cNvPr id="1100" name="Google Shape;1100;p37"/>
          <p:cNvSpPr txBox="1"/>
          <p:nvPr/>
        </p:nvSpPr>
        <p:spPr>
          <a:xfrm>
            <a:off x="16586581" y="5715977"/>
            <a:ext cx="663985" cy="38443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₹58 L</a:t>
            </a:r>
            <a:endParaRPr/>
          </a:p>
        </p:txBody>
      </p:sp>
      <p:sp>
        <p:nvSpPr>
          <p:cNvPr id="1101" name="Google Shape;1101;p37"/>
          <p:cNvSpPr/>
          <p:nvPr/>
        </p:nvSpPr>
        <p:spPr>
          <a:xfrm>
            <a:off x="9543922" y="6146800"/>
            <a:ext cx="7620127" cy="9525"/>
          </a:xfrm>
          <a:prstGeom prst="rect">
            <a:avLst/>
          </a:prstGeom>
          <a:solidFill>
            <a:srgbClr val="1D1F20">
              <a:alpha val="2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2" name="Google Shape;1102;p37"/>
          <p:cNvSpPr txBox="1"/>
          <p:nvPr/>
        </p:nvSpPr>
        <p:spPr>
          <a:xfrm>
            <a:off x="9570084" y="6333901"/>
            <a:ext cx="1706292"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Corpus by 2041</a:t>
            </a:r>
            <a:endParaRPr/>
          </a:p>
        </p:txBody>
      </p:sp>
      <p:sp>
        <p:nvSpPr>
          <p:cNvPr id="1103" name="Google Shape;1103;p37"/>
          <p:cNvSpPr txBox="1"/>
          <p:nvPr/>
        </p:nvSpPr>
        <p:spPr>
          <a:xfrm>
            <a:off x="16090137" y="6367430"/>
            <a:ext cx="1157152" cy="5050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2F7D3A"/>
                </a:solidFill>
                <a:latin typeface="Barlow Condensed"/>
                <a:ea typeface="Barlow Condensed"/>
                <a:cs typeface="Barlow Condensed"/>
                <a:sym typeface="Barlow Condensed"/>
              </a:rPr>
              <a:t>₹1.93 Cr</a:t>
            </a:r>
            <a:endParaRPr/>
          </a:p>
        </p:txBody>
      </p:sp>
      <p:sp>
        <p:nvSpPr>
          <p:cNvPr id="1104" name="Google Shape;1104;p37"/>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5" name="Google Shape;1105;p37"/>
          <p:cNvSpPr txBox="1"/>
          <p:nvPr/>
        </p:nvSpPr>
        <p:spPr>
          <a:xfrm>
            <a:off x="1082344" y="8625586"/>
            <a:ext cx="15486051" cy="946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2A3480"/>
                </a:solidFill>
                <a:latin typeface="Barlow"/>
                <a:ea typeface="Barlow"/>
                <a:cs typeface="Barlow"/>
                <a:sym typeface="Barlow"/>
              </a:rPr>
              <a:t>ADVISOR COMMENT</a:t>
            </a:r>
            <a:endParaRPr/>
          </a:p>
          <a:p>
            <a:pPr marL="0" marR="0" lvl="0" indent="0" algn="l" rtl="0">
              <a:lnSpc>
                <a:spcPct val="110000"/>
              </a:lnSpc>
              <a:spcBef>
                <a:spcPts val="220"/>
              </a:spcBef>
              <a:spcAft>
                <a:spcPts val="0"/>
              </a:spcAft>
              <a:buNone/>
            </a:pPr>
            <a:r>
              <a:rPr lang="en-US" sz="1850" b="0" i="0" u="none" strike="noStrike" cap="none">
                <a:solidFill>
                  <a:srgbClr val="1D1F20"/>
                </a:solidFill>
                <a:latin typeface="Barlow"/>
                <a:ea typeface="Barlow"/>
                <a:cs typeface="Barlow"/>
                <a:sym typeface="Barlow"/>
              </a:rPr>
              <a:t>Ira’s postgraduate year falls four years into retirement. It is funded from its own corpus, not from the retirement pot — that separation is deliberate and should be maintained even if markets are strong in 2037.</a:t>
            </a:r>
            <a:endParaRPr/>
          </a:p>
        </p:txBody>
      </p:sp>
      <p:sp>
        <p:nvSpPr>
          <p:cNvPr id="1106" name="Google Shape;1106;p37"/>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Armstrong Capital · Goal Based Planning</a:t>
            </a:r>
            <a:endParaRPr/>
          </a:p>
        </p:txBody>
      </p:sp>
      <p:sp>
        <p:nvSpPr>
          <p:cNvPr id="1107" name="Google Shape;1107;p37"/>
          <p:cNvSpPr txBox="1"/>
          <p:nvPr/>
        </p:nvSpPr>
        <p:spPr>
          <a:xfrm>
            <a:off x="16587469" y="9779215"/>
            <a:ext cx="743687"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25 / 46</a:t>
            </a:r>
            <a:endParaRPr/>
          </a:p>
        </p:txBody>
      </p:sp>
      <p:sp>
        <p:nvSpPr>
          <p:cNvPr id="1108" name="Google Shape;1108;p37"/>
          <p:cNvSpPr/>
          <p:nvPr/>
        </p:nvSpPr>
        <p:spPr>
          <a:xfrm>
            <a:off x="838187" y="7270546"/>
            <a:ext cx="5422899" cy="1099134"/>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9" name="Google Shape;1109;p37"/>
          <p:cNvSpPr txBox="1"/>
          <p:nvPr/>
        </p:nvSpPr>
        <p:spPr>
          <a:xfrm>
            <a:off x="1092098" y="7498079"/>
            <a:ext cx="2768460" cy="7788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COMBINED REQUIREMENT</a:t>
            </a:r>
            <a:endParaRPr/>
          </a:p>
          <a:p>
            <a:pPr marL="0" marR="0" lvl="0" indent="0" algn="l" rtl="0">
              <a:lnSpc>
                <a:spcPct val="100000"/>
              </a:lnSpc>
              <a:spcBef>
                <a:spcPts val="0"/>
              </a:spcBef>
              <a:spcAft>
                <a:spcPts val="0"/>
              </a:spcAft>
              <a:buNone/>
            </a:pPr>
            <a:r>
              <a:rPr lang="en-US" sz="3300" b="0" i="0" u="none" strike="noStrike" cap="none">
                <a:solidFill>
                  <a:srgbClr val="F2F2F3"/>
                </a:solidFill>
                <a:latin typeface="Barlow Condensed"/>
                <a:ea typeface="Barlow Condensed"/>
                <a:cs typeface="Barlow Condensed"/>
                <a:sym typeface="Barlow Condensed"/>
              </a:rPr>
              <a:t>₹3.05 Cr</a:t>
            </a:r>
            <a:endParaRPr/>
          </a:p>
        </p:txBody>
      </p:sp>
      <p:sp>
        <p:nvSpPr>
          <p:cNvPr id="1110" name="Google Shape;1110;p37"/>
          <p:cNvSpPr/>
          <p:nvPr/>
        </p:nvSpPr>
        <p:spPr>
          <a:xfrm>
            <a:off x="6426200" y="7270546"/>
            <a:ext cx="5422900" cy="1099134"/>
          </a:xfrm>
          <a:prstGeom prst="rect">
            <a:avLst/>
          </a:prstGeom>
          <a:solidFill>
            <a:srgbClr val="2F7D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11" name="Google Shape;1111;p37"/>
          <p:cNvSpPr txBox="1"/>
          <p:nvPr/>
        </p:nvSpPr>
        <p:spPr>
          <a:xfrm>
            <a:off x="6680961" y="7498079"/>
            <a:ext cx="2081495" cy="7788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COMBINED CORPUS</a:t>
            </a:r>
            <a:endParaRPr/>
          </a:p>
          <a:p>
            <a:pPr marL="0" marR="0" lvl="0" indent="0" algn="l" rtl="0">
              <a:lnSpc>
                <a:spcPct val="100000"/>
              </a:lnSpc>
              <a:spcBef>
                <a:spcPts val="0"/>
              </a:spcBef>
              <a:spcAft>
                <a:spcPts val="0"/>
              </a:spcAft>
              <a:buNone/>
            </a:pPr>
            <a:r>
              <a:rPr lang="en-US" sz="3300" b="0" i="0" u="none" strike="noStrike" cap="none">
                <a:solidFill>
                  <a:srgbClr val="F2F2F3"/>
                </a:solidFill>
                <a:latin typeface="Barlow Condensed"/>
                <a:ea typeface="Barlow Condensed"/>
                <a:cs typeface="Barlow Condensed"/>
                <a:sym typeface="Barlow Condensed"/>
              </a:rPr>
              <a:t>₹3.27 Cr</a:t>
            </a:r>
            <a:endParaRPr/>
          </a:p>
        </p:txBody>
      </p:sp>
      <p:sp>
        <p:nvSpPr>
          <p:cNvPr id="1112" name="Google Shape;1112;p37"/>
          <p:cNvSpPr/>
          <p:nvPr/>
        </p:nvSpPr>
        <p:spPr>
          <a:xfrm>
            <a:off x="12026900" y="7270546"/>
            <a:ext cx="5422900" cy="1099134"/>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13" name="Google Shape;1113;p37"/>
          <p:cNvSpPr txBox="1"/>
          <p:nvPr/>
        </p:nvSpPr>
        <p:spPr>
          <a:xfrm>
            <a:off x="12281916" y="7498079"/>
            <a:ext cx="2572669" cy="7788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MONTHLY COMMITMENT</a:t>
            </a:r>
            <a:endParaRPr/>
          </a:p>
          <a:p>
            <a:pPr marL="0" marR="0" lvl="0" indent="0" algn="l" rtl="0">
              <a:lnSpc>
                <a:spcPct val="100000"/>
              </a:lnSpc>
              <a:spcBef>
                <a:spcPts val="0"/>
              </a:spcBef>
              <a:spcAft>
                <a:spcPts val="0"/>
              </a:spcAft>
              <a:buNone/>
            </a:pPr>
            <a:r>
              <a:rPr lang="en-US" sz="3300" b="0" i="0" u="none" strike="noStrike" cap="none">
                <a:solidFill>
                  <a:srgbClr val="26306F"/>
                </a:solidFill>
                <a:latin typeface="Barlow Condensed"/>
                <a:ea typeface="Barlow Condensed"/>
                <a:cs typeface="Barlow Condensed"/>
                <a:sym typeface="Barlow Condensed"/>
              </a:rPr>
              <a:t>₹40,000</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68"/>
        <p:cNvGrpSpPr/>
        <p:nvPr/>
      </p:nvGrpSpPr>
      <p:grpSpPr>
        <a:xfrm>
          <a:off x="0" y="0"/>
          <a:ext cx="0" cy="0"/>
          <a:chOff x="0" y="0"/>
          <a:chExt cx="0" cy="0"/>
        </a:xfrm>
      </p:grpSpPr>
      <p:sp>
        <p:nvSpPr>
          <p:cNvPr id="1169" name="Google Shape;1169;p39"/>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170" name="Google Shape;1170;p39" descr="image.jpg"/>
          <p:cNvPicPr preferRelativeResize="0"/>
          <p:nvPr/>
        </p:nvPicPr>
        <p:blipFill rotWithShape="1">
          <a:blip r:embed="rId3">
            <a:alphaModFix amt="16863"/>
          </a:blip>
          <a:srcRect/>
          <a:stretch/>
        </p:blipFill>
        <p:spPr>
          <a:xfrm>
            <a:off x="0" y="0"/>
            <a:ext cx="18287872" cy="10286999"/>
          </a:xfrm>
          <a:prstGeom prst="rect">
            <a:avLst/>
          </a:prstGeom>
          <a:noFill/>
          <a:ln>
            <a:noFill/>
          </a:ln>
        </p:spPr>
      </p:pic>
      <p:sp>
        <p:nvSpPr>
          <p:cNvPr id="1171" name="Google Shape;1171;p39"/>
          <p:cNvSpPr txBox="1"/>
          <p:nvPr/>
        </p:nvSpPr>
        <p:spPr>
          <a:xfrm>
            <a:off x="863803" y="376292"/>
            <a:ext cx="4649803" cy="106382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2A3480"/>
                </a:solidFill>
                <a:latin typeface="Barlow"/>
                <a:ea typeface="Barlow"/>
                <a:cs typeface="Barlow"/>
                <a:sym typeface="Barlow"/>
              </a:rPr>
              <a:t>GOAL · 2044</a:t>
            </a:r>
            <a:endParaRPr/>
          </a:p>
          <a:p>
            <a:pPr marL="0" marR="0" lvl="0" indent="0" algn="l" rtl="0">
              <a:lnSpc>
                <a:spcPct val="100000"/>
              </a:lnSpc>
              <a:spcBef>
                <a:spcPts val="0"/>
              </a:spcBef>
              <a:spcAft>
                <a:spcPts val="0"/>
              </a:spcAft>
              <a:buNone/>
            </a:pPr>
            <a:r>
              <a:rPr lang="en-US" sz="4950" b="1" i="0" u="none" strike="noStrike" cap="none">
                <a:solidFill>
                  <a:srgbClr val="1D1F20"/>
                </a:solidFill>
                <a:latin typeface="Barlow Condensed"/>
                <a:ea typeface="Barlow Condensed"/>
                <a:cs typeface="Barlow Condensed"/>
                <a:sym typeface="Barlow Condensed"/>
              </a:rPr>
              <a:t>Children’s Marriage</a:t>
            </a:r>
            <a:endParaRPr/>
          </a:p>
        </p:txBody>
      </p:sp>
      <p:pic>
        <p:nvPicPr>
          <p:cNvPr id="1172" name="Google Shape;1172;p39" descr="image.png"/>
          <p:cNvPicPr preferRelativeResize="0"/>
          <p:nvPr/>
        </p:nvPicPr>
        <p:blipFill rotWithShape="1">
          <a:blip r:embed="rId4">
            <a:alphaModFix/>
          </a:blip>
          <a:srcRect/>
          <a:stretch/>
        </p:blipFill>
        <p:spPr>
          <a:xfrm>
            <a:off x="15373350" y="304736"/>
            <a:ext cx="2076323" cy="590486"/>
          </a:xfrm>
          <a:prstGeom prst="rect">
            <a:avLst/>
          </a:prstGeom>
          <a:noFill/>
          <a:ln>
            <a:noFill/>
          </a:ln>
        </p:spPr>
      </p:pic>
      <p:sp>
        <p:nvSpPr>
          <p:cNvPr id="1173" name="Google Shape;1173;p39"/>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4" name="Google Shape;1174;p39"/>
          <p:cNvSpPr txBox="1"/>
          <p:nvPr/>
        </p:nvSpPr>
        <p:spPr>
          <a:xfrm>
            <a:off x="863803" y="1699879"/>
            <a:ext cx="1412508"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THE TARGET</a:t>
            </a:r>
            <a:endParaRPr/>
          </a:p>
        </p:txBody>
      </p:sp>
      <p:sp>
        <p:nvSpPr>
          <p:cNvPr id="1175" name="Google Shape;1175;p39"/>
          <p:cNvSpPr/>
          <p:nvPr/>
        </p:nvSpPr>
        <p:spPr>
          <a:xfrm>
            <a:off x="838187" y="2836036"/>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6" name="Google Shape;1176;p39"/>
          <p:cNvSpPr txBox="1"/>
          <p:nvPr/>
        </p:nvSpPr>
        <p:spPr>
          <a:xfrm>
            <a:off x="863803" y="2387630"/>
            <a:ext cx="2399605"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Combined cost today</a:t>
            </a:r>
            <a:endParaRPr/>
          </a:p>
        </p:txBody>
      </p:sp>
      <p:sp>
        <p:nvSpPr>
          <p:cNvPr id="1177" name="Google Shape;1177;p39"/>
          <p:cNvSpPr txBox="1"/>
          <p:nvPr/>
        </p:nvSpPr>
        <p:spPr>
          <a:xfrm>
            <a:off x="7498715" y="2324577"/>
            <a:ext cx="915836" cy="40709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₹60.0 L</a:t>
            </a:r>
            <a:endParaRPr/>
          </a:p>
        </p:txBody>
      </p:sp>
      <p:sp>
        <p:nvSpPr>
          <p:cNvPr id="1178" name="Google Shape;1178;p39"/>
          <p:cNvSpPr/>
          <p:nvPr/>
        </p:nvSpPr>
        <p:spPr>
          <a:xfrm>
            <a:off x="838187" y="3556507"/>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9" name="Google Shape;1179;p39"/>
          <p:cNvSpPr txBox="1"/>
          <p:nvPr/>
        </p:nvSpPr>
        <p:spPr>
          <a:xfrm>
            <a:off x="863803" y="3108482"/>
            <a:ext cx="2027012"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Inflation assumed</a:t>
            </a:r>
            <a:endParaRPr/>
          </a:p>
        </p:txBody>
      </p:sp>
      <p:sp>
        <p:nvSpPr>
          <p:cNvPr id="1180" name="Google Shape;1180;p39"/>
          <p:cNvSpPr txBox="1"/>
          <p:nvPr/>
        </p:nvSpPr>
        <p:spPr>
          <a:xfrm>
            <a:off x="7956804" y="3045048"/>
            <a:ext cx="461119" cy="40709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6%</a:t>
            </a:r>
            <a:endParaRPr/>
          </a:p>
        </p:txBody>
      </p:sp>
      <p:sp>
        <p:nvSpPr>
          <p:cNvPr id="1181" name="Google Shape;1181;p39"/>
          <p:cNvSpPr/>
          <p:nvPr/>
        </p:nvSpPr>
        <p:spPr>
          <a:xfrm>
            <a:off x="838187" y="4277105"/>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82" name="Google Shape;1182;p39"/>
          <p:cNvSpPr txBox="1"/>
          <p:nvPr/>
        </p:nvSpPr>
        <p:spPr>
          <a:xfrm>
            <a:off x="863803" y="3829080"/>
            <a:ext cx="1466147"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Years to goal</a:t>
            </a:r>
            <a:endParaRPr/>
          </a:p>
        </p:txBody>
      </p:sp>
      <p:sp>
        <p:nvSpPr>
          <p:cNvPr id="1183" name="Google Shape;1183;p39"/>
          <p:cNvSpPr txBox="1"/>
          <p:nvPr/>
        </p:nvSpPr>
        <p:spPr>
          <a:xfrm>
            <a:off x="8122919" y="3765646"/>
            <a:ext cx="294839" cy="40709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18</a:t>
            </a:r>
            <a:endParaRPr/>
          </a:p>
        </p:txBody>
      </p:sp>
      <p:sp>
        <p:nvSpPr>
          <p:cNvPr id="1184" name="Google Shape;1184;p39"/>
          <p:cNvSpPr/>
          <p:nvPr/>
        </p:nvSpPr>
        <p:spPr>
          <a:xfrm>
            <a:off x="838187" y="4495672"/>
            <a:ext cx="7478141" cy="1554353"/>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85" name="Google Shape;1185;p39"/>
          <p:cNvSpPr txBox="1"/>
          <p:nvPr/>
        </p:nvSpPr>
        <p:spPr>
          <a:xfrm>
            <a:off x="1130503" y="4780153"/>
            <a:ext cx="2778610" cy="11209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REQUIRED IN 2044</a:t>
            </a:r>
            <a:endParaRPr/>
          </a:p>
          <a:p>
            <a:pPr marL="0" marR="0" lvl="0" indent="0" algn="l" rtl="0">
              <a:lnSpc>
                <a:spcPct val="100000"/>
              </a:lnSpc>
              <a:spcBef>
                <a:spcPts val="0"/>
              </a:spcBef>
              <a:spcAft>
                <a:spcPts val="0"/>
              </a:spcAft>
              <a:buNone/>
            </a:pPr>
            <a:r>
              <a:rPr lang="en-US" sz="5700" b="0" i="0" u="none" strike="noStrike" cap="none">
                <a:solidFill>
                  <a:srgbClr val="F2F2F3"/>
                </a:solidFill>
                <a:latin typeface="Barlow Condensed"/>
                <a:ea typeface="Barlow Condensed"/>
                <a:cs typeface="Barlow Condensed"/>
                <a:sym typeface="Barlow Condensed"/>
              </a:rPr>
              <a:t>₹1.71 Crore</a:t>
            </a:r>
            <a:endParaRPr/>
          </a:p>
        </p:txBody>
      </p:sp>
      <p:sp>
        <p:nvSpPr>
          <p:cNvPr id="1186" name="Google Shape;1186;p39"/>
          <p:cNvSpPr txBox="1"/>
          <p:nvPr/>
        </p:nvSpPr>
        <p:spPr>
          <a:xfrm>
            <a:off x="863803" y="7410650"/>
            <a:ext cx="7427706" cy="986030"/>
          </a:xfrm>
          <a:prstGeom prst="rect">
            <a:avLst/>
          </a:prstGeom>
          <a:noFill/>
          <a:ln>
            <a:noFill/>
          </a:ln>
        </p:spPr>
        <p:txBody>
          <a:bodyPr spcFirstLastPara="1" wrap="square" lIns="0" tIns="0" rIns="0" bIns="0" anchor="t" anchorCtr="0">
            <a:noAutofit/>
          </a:bodyPr>
          <a:lstStyle/>
          <a:p>
            <a:pPr marL="0" marR="0" lvl="0" indent="0" algn="l" rtl="0">
              <a:lnSpc>
                <a:spcPct val="120200"/>
              </a:lnSpc>
              <a:spcBef>
                <a:spcPts val="0"/>
              </a:spcBef>
              <a:spcAft>
                <a:spcPts val="0"/>
              </a:spcAft>
              <a:buNone/>
            </a:pPr>
            <a:r>
              <a:rPr lang="en-US" sz="1850" b="0" i="0" u="none" strike="noStrike" cap="none">
                <a:solidFill>
                  <a:srgbClr val="1D1F20"/>
                </a:solidFill>
                <a:latin typeface="Barlow"/>
                <a:ea typeface="Barlow"/>
                <a:cs typeface="Barlow"/>
                <a:sym typeface="Barlow"/>
              </a:rPr>
              <a:t>A conditional goal. If the children marry later, or more modestly, the corpus returns to the retirement pool rather than being spent because it exists.</a:t>
            </a:r>
            <a:endParaRPr/>
          </a:p>
        </p:txBody>
      </p:sp>
      <p:sp>
        <p:nvSpPr>
          <p:cNvPr id="1187" name="Google Shape;1187;p39"/>
          <p:cNvSpPr txBox="1"/>
          <p:nvPr/>
        </p:nvSpPr>
        <p:spPr>
          <a:xfrm>
            <a:off x="8875776" y="1699879"/>
            <a:ext cx="2287231"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HOW WE GET THERE</a:t>
            </a:r>
            <a:endParaRPr/>
          </a:p>
        </p:txBody>
      </p:sp>
      <p:sp>
        <p:nvSpPr>
          <p:cNvPr id="1188" name="Google Shape;1188;p39"/>
          <p:cNvSpPr/>
          <p:nvPr/>
        </p:nvSpPr>
        <p:spPr>
          <a:xfrm>
            <a:off x="8849741" y="2124519"/>
            <a:ext cx="8599931" cy="1110043"/>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89" name="Google Shape;1189;p39"/>
          <p:cNvSpPr txBox="1"/>
          <p:nvPr/>
        </p:nvSpPr>
        <p:spPr>
          <a:xfrm>
            <a:off x="9123553" y="2277990"/>
            <a:ext cx="2719606" cy="4574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1D1F20"/>
                </a:solidFill>
                <a:latin typeface="Barlow Condensed"/>
                <a:ea typeface="Barlow Condensed"/>
                <a:cs typeface="Barlow Condensed"/>
                <a:sym typeface="Barlow Condensed"/>
              </a:rPr>
              <a:t>SIP ₹22,000 a month</a:t>
            </a:r>
            <a:endParaRPr/>
          </a:p>
        </p:txBody>
      </p:sp>
      <p:sp>
        <p:nvSpPr>
          <p:cNvPr id="1190" name="Google Shape;1190;p39"/>
          <p:cNvSpPr txBox="1"/>
          <p:nvPr/>
        </p:nvSpPr>
        <p:spPr>
          <a:xfrm>
            <a:off x="9123553" y="2772267"/>
            <a:ext cx="321891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Equity MF · 12% · 2026 to 2037</a:t>
            </a:r>
            <a:endParaRPr/>
          </a:p>
        </p:txBody>
      </p:sp>
      <p:sp>
        <p:nvSpPr>
          <p:cNvPr id="1191" name="Google Shape;1191;p39"/>
          <p:cNvSpPr txBox="1"/>
          <p:nvPr/>
        </p:nvSpPr>
        <p:spPr>
          <a:xfrm>
            <a:off x="16440658" y="2475514"/>
            <a:ext cx="841309" cy="5050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26306F"/>
                </a:solidFill>
                <a:latin typeface="Barlow Condensed"/>
                <a:ea typeface="Barlow Condensed"/>
                <a:cs typeface="Barlow Condensed"/>
                <a:sym typeface="Barlow Condensed"/>
              </a:rPr>
              <a:t>₹63 L</a:t>
            </a:r>
            <a:endParaRPr/>
          </a:p>
        </p:txBody>
      </p:sp>
      <p:sp>
        <p:nvSpPr>
          <p:cNvPr id="1192" name="Google Shape;1192;p39"/>
          <p:cNvSpPr/>
          <p:nvPr/>
        </p:nvSpPr>
        <p:spPr>
          <a:xfrm>
            <a:off x="8849741" y="3348799"/>
            <a:ext cx="8599931" cy="1110043"/>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93" name="Google Shape;1193;p39"/>
          <p:cNvSpPr txBox="1"/>
          <p:nvPr/>
        </p:nvSpPr>
        <p:spPr>
          <a:xfrm>
            <a:off x="9123553" y="3502944"/>
            <a:ext cx="3382993" cy="4570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1D1F20"/>
                </a:solidFill>
                <a:latin typeface="Barlow Condensed"/>
                <a:ea typeface="Barlow Condensed"/>
                <a:cs typeface="Barlow Condensed"/>
                <a:sym typeface="Barlow Condensed"/>
              </a:rPr>
              <a:t>Emergency SIP redirected</a:t>
            </a:r>
            <a:endParaRPr/>
          </a:p>
        </p:txBody>
      </p:sp>
      <p:sp>
        <p:nvSpPr>
          <p:cNvPr id="1194" name="Google Shape;1194;p39"/>
          <p:cNvSpPr txBox="1"/>
          <p:nvPr/>
        </p:nvSpPr>
        <p:spPr>
          <a:xfrm>
            <a:off x="9123553" y="3996547"/>
            <a:ext cx="3811128"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₹25,000 a month from 2031 to 2037</a:t>
            </a:r>
            <a:endParaRPr/>
          </a:p>
        </p:txBody>
      </p:sp>
      <p:sp>
        <p:nvSpPr>
          <p:cNvPr id="1195" name="Google Shape;1195;p39"/>
          <p:cNvSpPr txBox="1"/>
          <p:nvPr/>
        </p:nvSpPr>
        <p:spPr>
          <a:xfrm>
            <a:off x="16443070" y="3699794"/>
            <a:ext cx="838505" cy="5050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26306F"/>
                </a:solidFill>
                <a:latin typeface="Barlow Condensed"/>
                <a:ea typeface="Barlow Condensed"/>
                <a:cs typeface="Barlow Condensed"/>
                <a:sym typeface="Barlow Condensed"/>
              </a:rPr>
              <a:t>₹26 L</a:t>
            </a:r>
            <a:endParaRPr/>
          </a:p>
        </p:txBody>
      </p:sp>
      <p:sp>
        <p:nvSpPr>
          <p:cNvPr id="1196" name="Google Shape;1196;p39"/>
          <p:cNvSpPr/>
          <p:nvPr/>
        </p:nvSpPr>
        <p:spPr>
          <a:xfrm>
            <a:off x="8849741" y="4573079"/>
            <a:ext cx="8599931" cy="1110043"/>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97" name="Google Shape;1197;p39"/>
          <p:cNvSpPr txBox="1"/>
          <p:nvPr/>
        </p:nvSpPr>
        <p:spPr>
          <a:xfrm>
            <a:off x="9123553" y="4727351"/>
            <a:ext cx="3977392" cy="4570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1D1F20"/>
                </a:solidFill>
                <a:latin typeface="Barlow Condensed"/>
                <a:ea typeface="Barlow Condensed"/>
                <a:cs typeface="Barlow Condensed"/>
                <a:sym typeface="Barlow Condensed"/>
              </a:rPr>
              <a:t>Compounding after retirement</a:t>
            </a:r>
            <a:endParaRPr/>
          </a:p>
        </p:txBody>
      </p:sp>
      <p:sp>
        <p:nvSpPr>
          <p:cNvPr id="1198" name="Google Shape;1198;p39"/>
          <p:cNvSpPr txBox="1"/>
          <p:nvPr/>
        </p:nvSpPr>
        <p:spPr>
          <a:xfrm>
            <a:off x="9123553" y="5220954"/>
            <a:ext cx="4347402"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₹89 L left untouched · 11% · 2037 to 2044</a:t>
            </a:r>
            <a:endParaRPr/>
          </a:p>
        </p:txBody>
      </p:sp>
      <p:sp>
        <p:nvSpPr>
          <p:cNvPr id="1199" name="Google Shape;1199;p39"/>
          <p:cNvSpPr txBox="1"/>
          <p:nvPr/>
        </p:nvSpPr>
        <p:spPr>
          <a:xfrm>
            <a:off x="16265906" y="4923908"/>
            <a:ext cx="1015316" cy="50540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26306F"/>
                </a:solidFill>
                <a:latin typeface="Barlow Condensed"/>
                <a:ea typeface="Barlow Condensed"/>
                <a:cs typeface="Barlow Condensed"/>
                <a:sym typeface="Barlow Condensed"/>
              </a:rPr>
              <a:t>+₹96 L</a:t>
            </a:r>
            <a:endParaRPr/>
          </a:p>
        </p:txBody>
      </p:sp>
      <p:sp>
        <p:nvSpPr>
          <p:cNvPr id="1200" name="Google Shape;1200;p39"/>
          <p:cNvSpPr/>
          <p:nvPr/>
        </p:nvSpPr>
        <p:spPr>
          <a:xfrm>
            <a:off x="8849741" y="5797486"/>
            <a:ext cx="8599931" cy="1110043"/>
          </a:xfrm>
          <a:prstGeom prst="rect">
            <a:avLst/>
          </a:prstGeom>
          <a:solidFill>
            <a:srgbClr val="2F7D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1" name="Google Shape;1201;p39"/>
          <p:cNvSpPr txBox="1"/>
          <p:nvPr/>
        </p:nvSpPr>
        <p:spPr>
          <a:xfrm>
            <a:off x="9123553" y="5951758"/>
            <a:ext cx="1956592" cy="4570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F2F2F3"/>
                </a:solidFill>
                <a:latin typeface="Barlow Condensed"/>
                <a:ea typeface="Barlow Condensed"/>
                <a:cs typeface="Barlow Condensed"/>
                <a:sym typeface="Barlow Condensed"/>
              </a:rPr>
              <a:t>Corpus in 2044</a:t>
            </a:r>
            <a:endParaRPr/>
          </a:p>
        </p:txBody>
      </p:sp>
      <p:sp>
        <p:nvSpPr>
          <p:cNvPr id="1202" name="Google Shape;1202;p39"/>
          <p:cNvSpPr txBox="1"/>
          <p:nvPr/>
        </p:nvSpPr>
        <p:spPr>
          <a:xfrm>
            <a:off x="9123553" y="6445361"/>
            <a:ext cx="2560912"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F2F2F3"/>
                </a:solidFill>
                <a:latin typeface="Barlow"/>
                <a:ea typeface="Barlow"/>
                <a:cs typeface="Barlow"/>
                <a:sym typeface="Barlow"/>
              </a:rPr>
              <a:t>₹14 L clear of the target</a:t>
            </a:r>
            <a:endParaRPr/>
          </a:p>
        </p:txBody>
      </p:sp>
      <p:sp>
        <p:nvSpPr>
          <p:cNvPr id="1203" name="Google Shape;1203;p39"/>
          <p:cNvSpPr txBox="1"/>
          <p:nvPr/>
        </p:nvSpPr>
        <p:spPr>
          <a:xfrm>
            <a:off x="16120237" y="6148861"/>
            <a:ext cx="1162764" cy="5050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F2F2F3"/>
                </a:solidFill>
                <a:latin typeface="Barlow Condensed"/>
                <a:ea typeface="Barlow Condensed"/>
                <a:cs typeface="Barlow Condensed"/>
                <a:sym typeface="Barlow Condensed"/>
              </a:rPr>
              <a:t>₹1.85 Cr</a:t>
            </a:r>
            <a:endParaRPr/>
          </a:p>
        </p:txBody>
      </p:sp>
      <p:sp>
        <p:nvSpPr>
          <p:cNvPr id="1204" name="Google Shape;1204;p39"/>
          <p:cNvSpPr/>
          <p:nvPr/>
        </p:nvSpPr>
        <p:spPr>
          <a:xfrm>
            <a:off x="8849741" y="7533551"/>
            <a:ext cx="8599931" cy="836130"/>
          </a:xfrm>
          <a:prstGeom prst="rect">
            <a:avLst/>
          </a:prstGeom>
          <a:solidFill>
            <a:srgbClr val="141A4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5" name="Google Shape;1205;p39"/>
          <p:cNvSpPr txBox="1"/>
          <p:nvPr/>
        </p:nvSpPr>
        <p:spPr>
          <a:xfrm>
            <a:off x="9123553" y="7845917"/>
            <a:ext cx="379727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F2F2F3"/>
                </a:solidFill>
                <a:latin typeface="Barlow"/>
                <a:ea typeface="Barlow"/>
                <a:cs typeface="Barlow"/>
                <a:sym typeface="Barlow"/>
              </a:rPr>
              <a:t>Contributions stop at retirement in</a:t>
            </a:r>
            <a:endParaRPr/>
          </a:p>
        </p:txBody>
      </p:sp>
      <p:sp>
        <p:nvSpPr>
          <p:cNvPr id="1206" name="Google Shape;1206;p39"/>
          <p:cNvSpPr txBox="1"/>
          <p:nvPr/>
        </p:nvSpPr>
        <p:spPr>
          <a:xfrm>
            <a:off x="16083661" y="7780908"/>
            <a:ext cx="1220113" cy="4320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F2F2F3"/>
                </a:solidFill>
                <a:latin typeface="Barlow Condensed"/>
                <a:ea typeface="Barlow Condensed"/>
                <a:cs typeface="Barlow Condensed"/>
                <a:sym typeface="Barlow Condensed"/>
              </a:rPr>
              <a:t>April 2037</a:t>
            </a:r>
            <a:endParaRPr/>
          </a:p>
        </p:txBody>
      </p:sp>
      <p:sp>
        <p:nvSpPr>
          <p:cNvPr id="1207" name="Google Shape;1207;p39"/>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8" name="Google Shape;1208;p39"/>
          <p:cNvSpPr txBox="1"/>
          <p:nvPr/>
        </p:nvSpPr>
        <p:spPr>
          <a:xfrm>
            <a:off x="1082344" y="8625586"/>
            <a:ext cx="16029822" cy="946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2A3480"/>
                </a:solidFill>
                <a:latin typeface="Barlow"/>
                <a:ea typeface="Barlow"/>
                <a:cs typeface="Barlow"/>
                <a:sym typeface="Barlow"/>
              </a:rPr>
              <a:t>ADVISOR COMMENT</a:t>
            </a:r>
            <a:endParaRPr/>
          </a:p>
          <a:p>
            <a:pPr marL="0" marR="0" lvl="0" indent="0" algn="l" rtl="0">
              <a:lnSpc>
                <a:spcPct val="110000"/>
              </a:lnSpc>
              <a:spcBef>
                <a:spcPts val="220"/>
              </a:spcBef>
              <a:spcAft>
                <a:spcPts val="0"/>
              </a:spcAft>
              <a:buNone/>
            </a:pPr>
            <a:r>
              <a:rPr lang="en-US" sz="1850" b="0" i="0" u="none" strike="noStrike" cap="none">
                <a:solidFill>
                  <a:srgbClr val="1D1F20"/>
                </a:solidFill>
                <a:latin typeface="Barlow"/>
                <a:ea typeface="Barlow"/>
                <a:cs typeface="Barlow"/>
                <a:sym typeface="Barlow"/>
              </a:rPr>
              <a:t>Keep this corpus in a separate folio from the retirement pot. Once withdrawals begin in 2037 it becomes very difficult to tell one pool from the other, and the marriage money is the first thing to be quietly consumed.</a:t>
            </a:r>
            <a:endParaRPr/>
          </a:p>
        </p:txBody>
      </p:sp>
      <p:sp>
        <p:nvSpPr>
          <p:cNvPr id="1209" name="Google Shape;1209;p39"/>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Armstrong Capital · Goal Based Planning</a:t>
            </a:r>
            <a:endParaRPr/>
          </a:p>
        </p:txBody>
      </p:sp>
      <p:sp>
        <p:nvSpPr>
          <p:cNvPr id="1210" name="Google Shape;1210;p39"/>
          <p:cNvSpPr txBox="1"/>
          <p:nvPr/>
        </p:nvSpPr>
        <p:spPr>
          <a:xfrm>
            <a:off x="16587469" y="9779215"/>
            <a:ext cx="734533"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27 / 46</a:t>
            </a:r>
            <a:endParaRPr/>
          </a:p>
        </p:txBody>
      </p:sp>
      <p:pic>
        <p:nvPicPr>
          <p:cNvPr id="1211" name="Google Shape;1211;p39" descr="image.png"/>
          <p:cNvPicPr preferRelativeResize="0"/>
          <p:nvPr/>
        </p:nvPicPr>
        <p:blipFill rotWithShape="1">
          <a:blip r:embed="rId5">
            <a:alphaModFix/>
          </a:blip>
          <a:srcRect/>
          <a:stretch/>
        </p:blipFill>
        <p:spPr>
          <a:xfrm>
            <a:off x="1073150" y="6413500"/>
            <a:ext cx="590550" cy="736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8">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11594243"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SMALL SAVINGS</a:t>
            </a:r>
            <a:endParaRPr lang="en-US" sz="2100" b="1" dirty="0">
              <a:solidFill>
                <a:srgbClr val="2A3480"/>
              </a:solidFill>
              <a:latin typeface="Barlow"/>
            </a:endParaRPr>
          </a:p>
        </p:txBody>
      </p:sp>
      <p:sp>
        <p:nvSpPr>
          <p:cNvPr id="3" name="Text 1"/>
          <p:cNvSpPr/>
          <p:nvPr/>
        </p:nvSpPr>
        <p:spPr>
          <a:xfrm>
            <a:off x="914372" y="1132045"/>
            <a:ext cx="11594243"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Sukanya Samriddhi Yojana</a:t>
            </a:r>
            <a:endParaRPr lang="en-US" sz="6000" dirty="0"/>
          </a:p>
        </p:txBody>
      </p:sp>
      <p:sp>
        <p:nvSpPr>
          <p:cNvPr id="4" name="Shape 2"/>
          <p:cNvSpPr/>
          <p:nvPr/>
        </p:nvSpPr>
        <p:spPr>
          <a:xfrm>
            <a:off x="914372" y="2086641"/>
            <a:ext cx="10540221" cy="9525"/>
          </a:xfrm>
          <a:prstGeom prst="rect">
            <a:avLst/>
          </a:prstGeom>
          <a:solidFill>
            <a:srgbClr val="1D1F20">
              <a:alpha val="18000"/>
            </a:srgbClr>
          </a:solidFill>
          <a:ln/>
        </p:spPr>
        <p:txBody>
          <a:bodyPr/>
          <a:lstStyle/>
          <a:p>
            <a:endParaRPr lang="en-US"/>
          </a:p>
        </p:txBody>
      </p:sp>
      <p:sp>
        <p:nvSpPr>
          <p:cNvPr id="5" name="Shape 3"/>
          <p:cNvSpPr/>
          <p:nvPr/>
        </p:nvSpPr>
        <p:spPr>
          <a:xfrm>
            <a:off x="914372" y="2419945"/>
            <a:ext cx="5079575" cy="5341300"/>
          </a:xfrm>
          <a:prstGeom prst="rect">
            <a:avLst/>
          </a:prstGeom>
          <a:ln w="9071">
            <a:solidFill>
              <a:srgbClr val="1F1F1F">
                <a:alpha val="16000"/>
              </a:srgbClr>
            </a:solidFill>
            <a:prstDash val="solid"/>
          </a:ln>
        </p:spPr>
        <p:txBody>
          <a:bodyPr/>
          <a:lstStyle/>
          <a:p>
            <a:endParaRPr lang="en-US"/>
          </a:p>
        </p:txBody>
      </p:sp>
      <p:sp>
        <p:nvSpPr>
          <p:cNvPr id="6" name="Text 4"/>
          <p:cNvSpPr/>
          <p:nvPr/>
        </p:nvSpPr>
        <p:spPr>
          <a:xfrm>
            <a:off x="1247251" y="2733760"/>
            <a:ext cx="485519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INVESTMENT SUMMARY</a:t>
            </a:r>
            <a:endParaRPr lang="en-US" sz="2100" dirty="0"/>
          </a:p>
        </p:txBody>
      </p:sp>
      <p:sp>
        <p:nvSpPr>
          <p:cNvPr id="7" name="Shape 5"/>
          <p:cNvSpPr/>
          <p:nvPr/>
        </p:nvSpPr>
        <p:spPr>
          <a:xfrm>
            <a:off x="1247251" y="4029841"/>
            <a:ext cx="4413817" cy="9525"/>
          </a:xfrm>
          <a:prstGeom prst="rect">
            <a:avLst/>
          </a:prstGeom>
          <a:solidFill>
            <a:srgbClr val="1D1F20">
              <a:alpha val="12000"/>
            </a:srgbClr>
          </a:solidFill>
          <a:ln/>
        </p:spPr>
        <p:txBody>
          <a:bodyPr/>
          <a:lstStyle/>
          <a:p>
            <a:endParaRPr lang="en-US"/>
          </a:p>
        </p:txBody>
      </p:sp>
      <p:sp>
        <p:nvSpPr>
          <p:cNvPr id="8" name="Text 6"/>
          <p:cNvSpPr/>
          <p:nvPr/>
        </p:nvSpPr>
        <p:spPr>
          <a:xfrm>
            <a:off x="1247251" y="3507100"/>
            <a:ext cx="1166402"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Start Date</a:t>
            </a:r>
            <a:endParaRPr lang="en-US" sz="2100" dirty="0"/>
          </a:p>
        </p:txBody>
      </p:sp>
      <p:sp>
        <p:nvSpPr>
          <p:cNvPr id="9" name="Text 7"/>
          <p:cNvSpPr/>
          <p:nvPr/>
        </p:nvSpPr>
        <p:spPr>
          <a:xfrm>
            <a:off x="4688937" y="3393707"/>
            <a:ext cx="1048331"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Apr 2019</a:t>
            </a:r>
            <a:endParaRPr lang="en-US" sz="2700" dirty="0"/>
          </a:p>
        </p:txBody>
      </p:sp>
      <p:sp>
        <p:nvSpPr>
          <p:cNvPr id="10" name="Shape 8"/>
          <p:cNvSpPr/>
          <p:nvPr/>
        </p:nvSpPr>
        <p:spPr>
          <a:xfrm>
            <a:off x="1247251" y="4779793"/>
            <a:ext cx="4413817" cy="9525"/>
          </a:xfrm>
          <a:prstGeom prst="rect">
            <a:avLst/>
          </a:prstGeom>
          <a:solidFill>
            <a:srgbClr val="1D1F20">
              <a:alpha val="12000"/>
            </a:srgbClr>
          </a:solidFill>
          <a:ln/>
        </p:spPr>
        <p:txBody>
          <a:bodyPr/>
          <a:lstStyle/>
          <a:p>
            <a:endParaRPr lang="en-US"/>
          </a:p>
        </p:txBody>
      </p:sp>
      <p:sp>
        <p:nvSpPr>
          <p:cNvPr id="11" name="Text 9"/>
          <p:cNvSpPr/>
          <p:nvPr/>
        </p:nvSpPr>
        <p:spPr>
          <a:xfrm>
            <a:off x="1247251" y="4257051"/>
            <a:ext cx="2348239"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Annual Contribution</a:t>
            </a:r>
            <a:endParaRPr lang="en-US" sz="2100" dirty="0"/>
          </a:p>
        </p:txBody>
      </p:sp>
      <p:sp>
        <p:nvSpPr>
          <p:cNvPr id="12" name="Text 10"/>
          <p:cNvSpPr/>
          <p:nvPr/>
        </p:nvSpPr>
        <p:spPr>
          <a:xfrm>
            <a:off x="4523950" y="4143659"/>
            <a:ext cx="1213318"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₹1,50,000</a:t>
            </a:r>
            <a:endParaRPr lang="en-US" sz="2700" dirty="0"/>
          </a:p>
        </p:txBody>
      </p:sp>
      <p:sp>
        <p:nvSpPr>
          <p:cNvPr id="13" name="Shape 11"/>
          <p:cNvSpPr/>
          <p:nvPr/>
        </p:nvSpPr>
        <p:spPr>
          <a:xfrm>
            <a:off x="1247251" y="5529745"/>
            <a:ext cx="4413817" cy="9525"/>
          </a:xfrm>
          <a:prstGeom prst="rect">
            <a:avLst/>
          </a:prstGeom>
          <a:solidFill>
            <a:srgbClr val="1D1F20">
              <a:alpha val="12000"/>
            </a:srgbClr>
          </a:solidFill>
          <a:ln/>
        </p:spPr>
        <p:txBody>
          <a:bodyPr/>
          <a:lstStyle/>
          <a:p>
            <a:endParaRPr lang="en-US"/>
          </a:p>
        </p:txBody>
      </p:sp>
      <p:sp>
        <p:nvSpPr>
          <p:cNvPr id="14" name="Text 12"/>
          <p:cNvSpPr/>
          <p:nvPr/>
        </p:nvSpPr>
        <p:spPr>
          <a:xfrm>
            <a:off x="1247251" y="5007004"/>
            <a:ext cx="1527735"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Interest Rate</a:t>
            </a:r>
            <a:endParaRPr lang="en-US" sz="2100" dirty="0"/>
          </a:p>
        </p:txBody>
      </p:sp>
      <p:sp>
        <p:nvSpPr>
          <p:cNvPr id="15" name="Text 13"/>
          <p:cNvSpPr/>
          <p:nvPr/>
        </p:nvSpPr>
        <p:spPr>
          <a:xfrm>
            <a:off x="4893257" y="4893611"/>
            <a:ext cx="844011"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8.20%</a:t>
            </a:r>
            <a:endParaRPr lang="en-US" sz="2700" dirty="0"/>
          </a:p>
        </p:txBody>
      </p:sp>
      <p:sp>
        <p:nvSpPr>
          <p:cNvPr id="16" name="Shape 14"/>
          <p:cNvSpPr/>
          <p:nvPr/>
        </p:nvSpPr>
        <p:spPr>
          <a:xfrm>
            <a:off x="1247251" y="6279697"/>
            <a:ext cx="4413817" cy="9525"/>
          </a:xfrm>
          <a:prstGeom prst="rect">
            <a:avLst/>
          </a:prstGeom>
          <a:solidFill>
            <a:srgbClr val="1D1F20">
              <a:alpha val="12000"/>
            </a:srgbClr>
          </a:solidFill>
          <a:ln/>
        </p:spPr>
        <p:txBody>
          <a:bodyPr/>
          <a:lstStyle/>
          <a:p>
            <a:endParaRPr lang="en-US"/>
          </a:p>
        </p:txBody>
      </p:sp>
      <p:sp>
        <p:nvSpPr>
          <p:cNvPr id="17" name="Text 15"/>
          <p:cNvSpPr/>
          <p:nvPr/>
        </p:nvSpPr>
        <p:spPr>
          <a:xfrm>
            <a:off x="1247251" y="5756956"/>
            <a:ext cx="1824675"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Interest Earned</a:t>
            </a:r>
            <a:endParaRPr lang="en-US" sz="2100" dirty="0"/>
          </a:p>
        </p:txBody>
      </p:sp>
      <p:sp>
        <p:nvSpPr>
          <p:cNvPr id="18" name="Text 16"/>
          <p:cNvSpPr/>
          <p:nvPr/>
        </p:nvSpPr>
        <p:spPr>
          <a:xfrm>
            <a:off x="4973128" y="5643563"/>
            <a:ext cx="764140"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₹3.1 L</a:t>
            </a:r>
            <a:endParaRPr lang="en-US" sz="2700" dirty="0"/>
          </a:p>
        </p:txBody>
      </p:sp>
      <p:sp>
        <p:nvSpPr>
          <p:cNvPr id="19" name="Text 17"/>
          <p:cNvSpPr/>
          <p:nvPr/>
        </p:nvSpPr>
        <p:spPr>
          <a:xfrm>
            <a:off x="1247251" y="6506908"/>
            <a:ext cx="1594467"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Current Value</a:t>
            </a:r>
            <a:endParaRPr lang="en-US" sz="2100" dirty="0"/>
          </a:p>
        </p:txBody>
      </p:sp>
      <p:sp>
        <p:nvSpPr>
          <p:cNvPr id="20" name="Text 18"/>
          <p:cNvSpPr/>
          <p:nvPr/>
        </p:nvSpPr>
        <p:spPr>
          <a:xfrm>
            <a:off x="4832520" y="6393515"/>
            <a:ext cx="904747"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₹13.6 L</a:t>
            </a:r>
            <a:endParaRPr lang="en-US" sz="2700" dirty="0"/>
          </a:p>
        </p:txBody>
      </p:sp>
      <p:sp>
        <p:nvSpPr>
          <p:cNvPr id="21" name="Shape 19"/>
          <p:cNvSpPr/>
          <p:nvPr/>
        </p:nvSpPr>
        <p:spPr>
          <a:xfrm>
            <a:off x="6374947" y="2419945"/>
            <a:ext cx="5079646" cy="5341300"/>
          </a:xfrm>
          <a:prstGeom prst="rect">
            <a:avLst/>
          </a:prstGeom>
          <a:solidFill>
            <a:srgbClr val="141A45"/>
          </a:solidFill>
          <a:ln w="9071">
            <a:solidFill>
              <a:srgbClr val="141A45"/>
            </a:solidFill>
            <a:prstDash val="solid"/>
          </a:ln>
        </p:spPr>
        <p:txBody>
          <a:bodyPr/>
          <a:lstStyle/>
          <a:p>
            <a:endParaRPr lang="en-US"/>
          </a:p>
        </p:txBody>
      </p:sp>
      <p:sp>
        <p:nvSpPr>
          <p:cNvPr id="22" name="Text 20"/>
          <p:cNvSpPr/>
          <p:nvPr/>
        </p:nvSpPr>
        <p:spPr>
          <a:xfrm>
            <a:off x="6707826" y="2733760"/>
            <a:ext cx="4855277"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94BCE3"/>
                </a:solidFill>
                <a:latin typeface="Barlow" pitchFamily="34" charset="0"/>
                <a:ea typeface="Barlow" pitchFamily="34" charset="-122"/>
                <a:cs typeface="Barlow" pitchFamily="34" charset="-120"/>
              </a:rPr>
              <a:t>AT MATURITY</a:t>
            </a:r>
            <a:endParaRPr lang="en-US" sz="2100" dirty="0"/>
          </a:p>
        </p:txBody>
      </p:sp>
      <p:sp>
        <p:nvSpPr>
          <p:cNvPr id="23" name="Shape 21"/>
          <p:cNvSpPr/>
          <p:nvPr/>
        </p:nvSpPr>
        <p:spPr>
          <a:xfrm>
            <a:off x="6707826" y="4029841"/>
            <a:ext cx="4413888" cy="9525"/>
          </a:xfrm>
          <a:prstGeom prst="rect">
            <a:avLst/>
          </a:prstGeom>
          <a:solidFill>
            <a:srgbClr val="F2F2F3">
              <a:alpha val="16000"/>
            </a:srgbClr>
          </a:solidFill>
          <a:ln/>
        </p:spPr>
        <p:txBody>
          <a:bodyPr/>
          <a:lstStyle/>
          <a:p>
            <a:endParaRPr lang="en-US"/>
          </a:p>
        </p:txBody>
      </p:sp>
      <p:sp>
        <p:nvSpPr>
          <p:cNvPr id="24" name="Text 22"/>
          <p:cNvSpPr/>
          <p:nvPr/>
        </p:nvSpPr>
        <p:spPr>
          <a:xfrm>
            <a:off x="6707826" y="3507100"/>
            <a:ext cx="1038126"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F2F2F3">
                    <a:alpha val="90000"/>
                  </a:srgbClr>
                </a:solidFill>
                <a:latin typeface="Barlow" pitchFamily="34" charset="0"/>
                <a:ea typeface="Barlow" pitchFamily="34" charset="-122"/>
                <a:cs typeface="Barlow" pitchFamily="34" charset="-120"/>
              </a:rPr>
              <a:t>End Date</a:t>
            </a:r>
            <a:endParaRPr lang="en-US" sz="2100" dirty="0"/>
          </a:p>
        </p:txBody>
      </p:sp>
      <p:sp>
        <p:nvSpPr>
          <p:cNvPr id="25" name="Text 23"/>
          <p:cNvSpPr/>
          <p:nvPr/>
        </p:nvSpPr>
        <p:spPr>
          <a:xfrm>
            <a:off x="10080980" y="3393707"/>
            <a:ext cx="1116934"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F2F2F3"/>
                </a:solidFill>
                <a:latin typeface="Barlow Condensed" pitchFamily="34" charset="0"/>
                <a:ea typeface="Barlow Condensed" pitchFamily="34" charset="-122"/>
                <a:cs typeface="Barlow Condensed" pitchFamily="34" charset="-120"/>
              </a:rPr>
              <a:t>Apr 2040</a:t>
            </a:r>
            <a:endParaRPr lang="en-US" sz="2700" dirty="0"/>
          </a:p>
        </p:txBody>
      </p:sp>
      <p:sp>
        <p:nvSpPr>
          <p:cNvPr id="26" name="Shape 24"/>
          <p:cNvSpPr/>
          <p:nvPr/>
        </p:nvSpPr>
        <p:spPr>
          <a:xfrm>
            <a:off x="6707826" y="4779793"/>
            <a:ext cx="4413888" cy="9525"/>
          </a:xfrm>
          <a:prstGeom prst="rect">
            <a:avLst/>
          </a:prstGeom>
          <a:solidFill>
            <a:srgbClr val="F2F2F3">
              <a:alpha val="16000"/>
            </a:srgbClr>
          </a:solidFill>
          <a:ln/>
        </p:spPr>
        <p:txBody>
          <a:bodyPr/>
          <a:lstStyle/>
          <a:p>
            <a:endParaRPr lang="en-US"/>
          </a:p>
        </p:txBody>
      </p:sp>
      <p:sp>
        <p:nvSpPr>
          <p:cNvPr id="27" name="Text 25"/>
          <p:cNvSpPr/>
          <p:nvPr/>
        </p:nvSpPr>
        <p:spPr>
          <a:xfrm>
            <a:off x="6707826" y="4257051"/>
            <a:ext cx="2130893"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F2F2F3">
                    <a:alpha val="90000"/>
                  </a:srgbClr>
                </a:solidFill>
                <a:latin typeface="Barlow" pitchFamily="34" charset="0"/>
                <a:ea typeface="Barlow" pitchFamily="34" charset="-122"/>
                <a:cs typeface="Barlow" pitchFamily="34" charset="-120"/>
              </a:rPr>
              <a:t>Contributions End</a:t>
            </a:r>
            <a:endParaRPr lang="en-US" sz="2100" dirty="0"/>
          </a:p>
        </p:txBody>
      </p:sp>
      <p:sp>
        <p:nvSpPr>
          <p:cNvPr id="28" name="Text 26"/>
          <p:cNvSpPr/>
          <p:nvPr/>
        </p:nvSpPr>
        <p:spPr>
          <a:xfrm>
            <a:off x="10549363" y="4143659"/>
            <a:ext cx="648550"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F2F2F3"/>
                </a:solidFill>
                <a:latin typeface="Barlow Condensed" pitchFamily="34" charset="0"/>
                <a:ea typeface="Barlow Condensed" pitchFamily="34" charset="-122"/>
                <a:cs typeface="Barlow Condensed" pitchFamily="34" charset="-120"/>
              </a:rPr>
              <a:t>2034</a:t>
            </a:r>
            <a:endParaRPr lang="en-US" sz="2700" dirty="0"/>
          </a:p>
        </p:txBody>
      </p:sp>
      <p:sp>
        <p:nvSpPr>
          <p:cNvPr id="29" name="Shape 27"/>
          <p:cNvSpPr/>
          <p:nvPr/>
        </p:nvSpPr>
        <p:spPr>
          <a:xfrm>
            <a:off x="6707826" y="5529745"/>
            <a:ext cx="4413888" cy="9525"/>
          </a:xfrm>
          <a:prstGeom prst="rect">
            <a:avLst/>
          </a:prstGeom>
          <a:solidFill>
            <a:srgbClr val="F2F2F3">
              <a:alpha val="16000"/>
            </a:srgbClr>
          </a:solidFill>
          <a:ln/>
        </p:spPr>
        <p:txBody>
          <a:bodyPr/>
          <a:lstStyle/>
          <a:p>
            <a:endParaRPr lang="en-US"/>
          </a:p>
        </p:txBody>
      </p:sp>
      <p:sp>
        <p:nvSpPr>
          <p:cNvPr id="30" name="Text 28"/>
          <p:cNvSpPr/>
          <p:nvPr/>
        </p:nvSpPr>
        <p:spPr>
          <a:xfrm>
            <a:off x="6707826" y="5007004"/>
            <a:ext cx="1527735"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F2F2F3">
                    <a:alpha val="90000"/>
                  </a:srgbClr>
                </a:solidFill>
                <a:latin typeface="Barlow" pitchFamily="34" charset="0"/>
                <a:ea typeface="Barlow" pitchFamily="34" charset="-122"/>
                <a:cs typeface="Barlow" pitchFamily="34" charset="-120"/>
              </a:rPr>
              <a:t>Interest Rate</a:t>
            </a:r>
            <a:endParaRPr lang="en-US" sz="2100" dirty="0"/>
          </a:p>
        </p:txBody>
      </p:sp>
      <p:sp>
        <p:nvSpPr>
          <p:cNvPr id="31" name="Text 29"/>
          <p:cNvSpPr/>
          <p:nvPr/>
        </p:nvSpPr>
        <p:spPr>
          <a:xfrm>
            <a:off x="10353903" y="4893611"/>
            <a:ext cx="844011"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F2F2F3"/>
                </a:solidFill>
                <a:latin typeface="Barlow Condensed" pitchFamily="34" charset="0"/>
                <a:ea typeface="Barlow Condensed" pitchFamily="34" charset="-122"/>
                <a:cs typeface="Barlow Condensed" pitchFamily="34" charset="-120"/>
              </a:rPr>
              <a:t>8.20%</a:t>
            </a:r>
            <a:endParaRPr lang="en-US" sz="2700" dirty="0"/>
          </a:p>
        </p:txBody>
      </p:sp>
      <p:sp>
        <p:nvSpPr>
          <p:cNvPr id="32" name="Shape 30"/>
          <p:cNvSpPr/>
          <p:nvPr/>
        </p:nvSpPr>
        <p:spPr>
          <a:xfrm>
            <a:off x="6707826" y="6279697"/>
            <a:ext cx="4413888" cy="9525"/>
          </a:xfrm>
          <a:prstGeom prst="rect">
            <a:avLst/>
          </a:prstGeom>
          <a:solidFill>
            <a:srgbClr val="F2F2F3">
              <a:alpha val="16000"/>
            </a:srgbClr>
          </a:solidFill>
          <a:ln/>
        </p:spPr>
        <p:txBody>
          <a:bodyPr/>
          <a:lstStyle/>
          <a:p>
            <a:endParaRPr lang="en-US"/>
          </a:p>
        </p:txBody>
      </p:sp>
      <p:sp>
        <p:nvSpPr>
          <p:cNvPr id="33" name="Text 31"/>
          <p:cNvSpPr/>
          <p:nvPr/>
        </p:nvSpPr>
        <p:spPr>
          <a:xfrm>
            <a:off x="6707826" y="5756956"/>
            <a:ext cx="1824675"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F2F2F3">
                    <a:alpha val="90000"/>
                  </a:srgbClr>
                </a:solidFill>
                <a:latin typeface="Barlow" pitchFamily="34" charset="0"/>
                <a:ea typeface="Barlow" pitchFamily="34" charset="-122"/>
                <a:cs typeface="Barlow" pitchFamily="34" charset="-120"/>
              </a:rPr>
              <a:t>Interest Earned</a:t>
            </a:r>
            <a:endParaRPr lang="en-US" sz="2100" dirty="0"/>
          </a:p>
        </p:txBody>
      </p:sp>
      <p:sp>
        <p:nvSpPr>
          <p:cNvPr id="34" name="Text 32"/>
          <p:cNvSpPr/>
          <p:nvPr/>
        </p:nvSpPr>
        <p:spPr>
          <a:xfrm>
            <a:off x="10236611" y="5643563"/>
            <a:ext cx="961302"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F2F2F3"/>
                </a:solidFill>
                <a:latin typeface="Barlow Condensed" pitchFamily="34" charset="0"/>
                <a:ea typeface="Barlow Condensed" pitchFamily="34" charset="-122"/>
                <a:cs typeface="Barlow Condensed" pitchFamily="34" charset="-120"/>
              </a:rPr>
              <a:t>₹44.0 L</a:t>
            </a:r>
            <a:endParaRPr lang="en-US" sz="2700" dirty="0"/>
          </a:p>
        </p:txBody>
      </p:sp>
      <p:sp>
        <p:nvSpPr>
          <p:cNvPr id="35" name="Text 33"/>
          <p:cNvSpPr/>
          <p:nvPr/>
        </p:nvSpPr>
        <p:spPr>
          <a:xfrm>
            <a:off x="6707826" y="6506908"/>
            <a:ext cx="1958139"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F2F2F3">
                    <a:alpha val="90000"/>
                  </a:srgbClr>
                </a:solidFill>
                <a:latin typeface="Barlow" pitchFamily="34" charset="0"/>
                <a:ea typeface="Barlow" pitchFamily="34" charset="-122"/>
                <a:cs typeface="Barlow" pitchFamily="34" charset="-120"/>
              </a:rPr>
              <a:t>Value at Maturity</a:t>
            </a:r>
            <a:endParaRPr lang="en-US" sz="2100" dirty="0"/>
          </a:p>
        </p:txBody>
      </p:sp>
      <p:sp>
        <p:nvSpPr>
          <p:cNvPr id="36" name="Text 34"/>
          <p:cNvSpPr/>
          <p:nvPr/>
        </p:nvSpPr>
        <p:spPr>
          <a:xfrm>
            <a:off x="10240013" y="6393515"/>
            <a:ext cx="957900"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94BCE3"/>
                </a:solidFill>
                <a:latin typeface="Barlow Condensed" pitchFamily="34" charset="0"/>
                <a:ea typeface="Barlow Condensed" pitchFamily="34" charset="-122"/>
                <a:cs typeface="Barlow Condensed" pitchFamily="34" charset="-120"/>
              </a:rPr>
              <a:t>₹66.5 L</a:t>
            </a:r>
            <a:endParaRPr lang="en-US" sz="2700" dirty="0"/>
          </a:p>
        </p:txBody>
      </p:sp>
      <p:sp>
        <p:nvSpPr>
          <p:cNvPr id="37" name="Shape 35"/>
          <p:cNvSpPr/>
          <p:nvPr/>
        </p:nvSpPr>
        <p:spPr>
          <a:xfrm>
            <a:off x="914372" y="8008867"/>
            <a:ext cx="10540221" cy="9525"/>
          </a:xfrm>
          <a:prstGeom prst="rect">
            <a:avLst/>
          </a:prstGeom>
          <a:solidFill>
            <a:srgbClr val="1D1F20">
              <a:alpha val="18000"/>
            </a:srgbClr>
          </a:solidFill>
          <a:ln/>
        </p:spPr>
        <p:txBody>
          <a:bodyPr/>
          <a:lstStyle/>
          <a:p>
            <a:endParaRPr lang="en-US"/>
          </a:p>
        </p:txBody>
      </p:sp>
      <p:sp>
        <p:nvSpPr>
          <p:cNvPr id="38" name="Text 36"/>
          <p:cNvSpPr/>
          <p:nvPr/>
        </p:nvSpPr>
        <p:spPr>
          <a:xfrm>
            <a:off x="914372" y="8246539"/>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39" name="Text 37"/>
          <p:cNvSpPr/>
          <p:nvPr/>
        </p:nvSpPr>
        <p:spPr>
          <a:xfrm>
            <a:off x="3276487" y="8208439"/>
            <a:ext cx="8423449" cy="1133688"/>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Total contributions of ₹22.5 lakh become ₹66.5 lakh, tax-free. Half of that funds Isha’s undergraduate course in 2036 through a partial withdrawal; the balance carries to 2040.</a:t>
            </a:r>
            <a:endParaRPr lang="en-US" sz="2100" dirty="0"/>
          </a:p>
        </p:txBody>
      </p:sp>
      <p:sp>
        <p:nvSpPr>
          <p:cNvPr id="40" name="Text 38"/>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41" name="Text 39"/>
          <p:cNvSpPr/>
          <p:nvPr/>
        </p:nvSpPr>
        <p:spPr>
          <a:xfrm>
            <a:off x="10832278" y="9475462"/>
            <a:ext cx="698514"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18 / 32</a:t>
            </a:r>
            <a:endParaRPr lang="en-US" sz="2100" dirty="0"/>
          </a:p>
        </p:txBody>
      </p:sp>
      <p:sp>
        <p:nvSpPr>
          <p:cNvPr id="42" name="Shape 40"/>
          <p:cNvSpPr/>
          <p:nvPr/>
        </p:nvSpPr>
        <p:spPr>
          <a:xfrm>
            <a:off x="12064151" y="0"/>
            <a:ext cx="6223780" cy="10287001"/>
          </a:xfrm>
          <a:prstGeom prst="rect">
            <a:avLst/>
          </a:prstGeom>
          <a:solidFill>
            <a:srgbClr val="E7E7EA"/>
          </a:solidFill>
          <a:ln/>
        </p:spPr>
        <p:txBody>
          <a:bodyPr/>
          <a:lstStyle/>
          <a:p>
            <a:endParaRPr lang="en-US"/>
          </a:p>
        </p:txBody>
      </p:sp>
      <p:pic>
        <p:nvPicPr>
          <p:cNvPr id="43" name="Image 0" descr="preencoded.png"/>
          <p:cNvPicPr>
            <a:picLocks noChangeAspect="1"/>
          </p:cNvPicPr>
          <p:nvPr/>
        </p:nvPicPr>
        <p:blipFill>
          <a:blip r:embed="rId3"/>
          <a:srcRect l="29833" r="29833"/>
          <a:stretch/>
        </p:blipFill>
        <p:spPr>
          <a:xfrm>
            <a:off x="12064151" y="0"/>
            <a:ext cx="6223780" cy="10287001"/>
          </a:xfrm>
          <a:prstGeom prst="rect">
            <a:avLst/>
          </a:prstGeom>
        </p:spPr>
      </p:pic>
      <p:sp>
        <p:nvSpPr>
          <p:cNvPr id="44" name="Shape 41"/>
          <p:cNvSpPr/>
          <p:nvPr/>
        </p:nvSpPr>
        <p:spPr>
          <a:xfrm>
            <a:off x="12064151" y="0"/>
            <a:ext cx="6223780" cy="10287001"/>
          </a:xfrm>
          <a:prstGeom prst="rect">
            <a:avLst/>
          </a:prstGeom>
          <a:solidFill>
            <a:srgbClr val="26306F">
              <a:alpha val="30000"/>
            </a:srgbClr>
          </a:solidFill>
          <a:ln/>
        </p:spPr>
        <p:txBody>
          <a:bodyPr/>
          <a:lstStyle/>
          <a:p>
            <a:endParaRPr lang="en-US"/>
          </a:p>
        </p:txBody>
      </p:sp>
    </p:spTree>
    <p:extLst>
      <p:ext uri="{BB962C8B-B14F-4D97-AF65-F5344CB8AC3E}">
        <p14:creationId xmlns:p14="http://schemas.microsoft.com/office/powerpoint/2010/main" val="24976636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41A45"/>
        </a:solidFill>
        <a:effectLst/>
      </p:bgPr>
    </p:bg>
    <p:spTree>
      <p:nvGrpSpPr>
        <p:cNvPr id="1" name="">
          <a:extLst>
            <a:ext uri="{FF2B5EF4-FFF2-40B4-BE49-F238E27FC236}">
              <a16:creationId xmlns:a16="http://schemas.microsoft.com/office/drawing/2014/main" id="{F70221B6-491C-8DDD-E966-048362015B8C}"/>
            </a:ext>
          </a:extLst>
        </p:cNvPr>
        <p:cNvGrpSpPr/>
        <p:nvPr/>
      </p:nvGrpSpPr>
      <p:grpSpPr>
        <a:xfrm>
          <a:off x="0" y="0"/>
          <a:ext cx="0" cy="0"/>
          <a:chOff x="0" y="0"/>
          <a:chExt cx="0" cy="0"/>
        </a:xfrm>
      </p:grpSpPr>
      <p:sp>
        <p:nvSpPr>
          <p:cNvPr id="8" name="Google Shape;1121;p30">
            <a:extLst>
              <a:ext uri="{FF2B5EF4-FFF2-40B4-BE49-F238E27FC236}">
                <a16:creationId xmlns:a16="http://schemas.microsoft.com/office/drawing/2014/main" id="{F77B0D28-95B8-89E3-4696-8B79AAF96EDA}"/>
              </a:ext>
            </a:extLst>
          </p:cNvPr>
          <p:cNvSpPr/>
          <p:nvPr/>
        </p:nvSpPr>
        <p:spPr>
          <a:xfrm>
            <a:off x="914372" y="3025180"/>
            <a:ext cx="8844056" cy="2106102"/>
          </a:xfrm>
          <a:prstGeom prst="rect">
            <a:avLst/>
          </a:prstGeom>
          <a:noFill/>
          <a:ln>
            <a:noFill/>
          </a:ln>
        </p:spPr>
        <p:txBody>
          <a:bodyPr spcFirstLastPara="1" wrap="square" lIns="25400" tIns="25400" rIns="25400" bIns="25400" anchor="t" anchorCtr="0">
            <a:noAutofit/>
          </a:bodyPr>
          <a:lstStyle/>
          <a:p>
            <a:pPr marL="0" marR="0" lvl="0" indent="0" algn="l" rtl="0">
              <a:lnSpc>
                <a:spcPct val="76502"/>
              </a:lnSpc>
              <a:spcBef>
                <a:spcPts val="0"/>
              </a:spcBef>
              <a:spcAft>
                <a:spcPts val="0"/>
              </a:spcAft>
              <a:buClr>
                <a:srgbClr val="F2F2F3"/>
              </a:buClr>
              <a:buSzPts val="8850"/>
              <a:buFont typeface="Barlow Condensed"/>
              <a:buNone/>
            </a:pPr>
            <a:r>
              <a:rPr lang="en-US" sz="8850" b="1" i="0" u="none" strike="noStrike" cap="none">
                <a:solidFill>
                  <a:srgbClr val="F2F2F3"/>
                </a:solidFill>
                <a:latin typeface="Barlow Condensed"/>
                <a:ea typeface="Barlow Condensed"/>
                <a:cs typeface="Barlow Condensed"/>
                <a:sym typeface="Barlow Condensed"/>
              </a:rPr>
              <a:t>Retirement at 55</a:t>
            </a:r>
            <a:endParaRPr sz="8850" b="0" i="0" u="none" strike="noStrike" cap="none">
              <a:solidFill>
                <a:schemeClr val="dk1"/>
              </a:solidFill>
              <a:latin typeface="Calibri"/>
              <a:ea typeface="Calibri"/>
              <a:cs typeface="Calibri"/>
              <a:sym typeface="Calibri"/>
            </a:endParaRPr>
          </a:p>
        </p:txBody>
      </p:sp>
      <p:sp>
        <p:nvSpPr>
          <p:cNvPr id="12" name="Google Shape;1122;p30">
            <a:extLst>
              <a:ext uri="{FF2B5EF4-FFF2-40B4-BE49-F238E27FC236}">
                <a16:creationId xmlns:a16="http://schemas.microsoft.com/office/drawing/2014/main" id="{F17A5216-EBDF-23B5-FD07-8A72D4A7AD1D}"/>
              </a:ext>
            </a:extLst>
          </p:cNvPr>
          <p:cNvSpPr/>
          <p:nvPr/>
        </p:nvSpPr>
        <p:spPr>
          <a:xfrm>
            <a:off x="914372" y="5474182"/>
            <a:ext cx="7238930" cy="9525"/>
          </a:xfrm>
          <a:prstGeom prst="rect">
            <a:avLst/>
          </a:prstGeom>
          <a:solidFill>
            <a:srgbClr val="F2F2F3">
              <a:alpha val="2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23;p30">
            <a:extLst>
              <a:ext uri="{FF2B5EF4-FFF2-40B4-BE49-F238E27FC236}">
                <a16:creationId xmlns:a16="http://schemas.microsoft.com/office/drawing/2014/main" id="{2A1F8FF2-16C8-864A-C9C1-025400AA00AA}"/>
              </a:ext>
            </a:extLst>
          </p:cNvPr>
          <p:cNvSpPr/>
          <p:nvPr/>
        </p:nvSpPr>
        <p:spPr>
          <a:xfrm>
            <a:off x="914372" y="5807486"/>
            <a:ext cx="8229628" cy="1446865"/>
          </a:xfrm>
          <a:prstGeom prst="rect">
            <a:avLst/>
          </a:prstGeom>
          <a:noFill/>
          <a:ln>
            <a:noFill/>
          </a:ln>
        </p:spPr>
        <p:txBody>
          <a:bodyPr spcFirstLastPara="1" wrap="square" lIns="25400" tIns="25400" rIns="25400" bIns="25400" anchor="t" anchorCtr="0">
            <a:noAutofit/>
          </a:bodyPr>
          <a:lstStyle/>
          <a:p>
            <a:pPr marL="0" marR="0" lvl="0" indent="0" algn="l" rtl="0">
              <a:lnSpc>
                <a:spcPct val="121800"/>
              </a:lnSpc>
              <a:spcBef>
                <a:spcPts val="0"/>
              </a:spcBef>
              <a:spcAft>
                <a:spcPts val="0"/>
              </a:spcAft>
              <a:buClr>
                <a:srgbClr val="F2F2F3"/>
              </a:buClr>
              <a:buSzPts val="2550"/>
              <a:buFont typeface="Barlow"/>
              <a:buNone/>
            </a:pPr>
            <a:r>
              <a:rPr lang="en-US" sz="2550" dirty="0">
                <a:solidFill>
                  <a:srgbClr val="F2F2F3"/>
                </a:solidFill>
                <a:latin typeface="Barlow"/>
                <a:ea typeface="Barlow"/>
                <a:cs typeface="Barlow"/>
                <a:sym typeface="Barlow"/>
              </a:rPr>
              <a:t>Ten</a:t>
            </a:r>
            <a:r>
              <a:rPr lang="en-US" sz="2550" b="0" i="0" u="none" strike="noStrike" cap="none" dirty="0">
                <a:solidFill>
                  <a:srgbClr val="F2F2F3"/>
                </a:solidFill>
                <a:latin typeface="Barlow"/>
                <a:ea typeface="Barlow"/>
                <a:cs typeface="Barlow"/>
                <a:sym typeface="Barlow"/>
              </a:rPr>
              <a:t> years of accumulation against thirty-five years of drawdown. Each retirement asset is projected through April 2037 on its own terms, then consolidated.</a:t>
            </a:r>
            <a:endParaRPr sz="2550" b="0" i="0" u="none" strike="noStrike" cap="none" dirty="0">
              <a:solidFill>
                <a:schemeClr val="dk1"/>
              </a:solidFill>
              <a:latin typeface="Calibri"/>
              <a:ea typeface="Calibri"/>
              <a:cs typeface="Calibri"/>
              <a:sym typeface="Calibri"/>
            </a:endParaRPr>
          </a:p>
        </p:txBody>
      </p:sp>
      <p:sp>
        <p:nvSpPr>
          <p:cNvPr id="19" name="Google Shape;1124;p30">
            <a:extLst>
              <a:ext uri="{FF2B5EF4-FFF2-40B4-BE49-F238E27FC236}">
                <a16:creationId xmlns:a16="http://schemas.microsoft.com/office/drawing/2014/main" id="{90439ADB-0B05-D937-E190-5E48AAF7517A}"/>
              </a:ext>
            </a:extLst>
          </p:cNvPr>
          <p:cNvSpPr/>
          <p:nvPr/>
        </p:nvSpPr>
        <p:spPr>
          <a:xfrm>
            <a:off x="914372" y="7749623"/>
            <a:ext cx="2640346"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CORPUS REQUIRED</a:t>
            </a:r>
            <a:endParaRPr sz="1800" b="0" i="0" u="none" strike="noStrike" cap="none">
              <a:solidFill>
                <a:schemeClr val="dk1"/>
              </a:solidFill>
              <a:latin typeface="Calibri"/>
              <a:ea typeface="Calibri"/>
              <a:cs typeface="Calibri"/>
              <a:sym typeface="Calibri"/>
            </a:endParaRPr>
          </a:p>
        </p:txBody>
      </p:sp>
      <p:sp>
        <p:nvSpPr>
          <p:cNvPr id="22" name="Google Shape;1125;p30">
            <a:extLst>
              <a:ext uri="{FF2B5EF4-FFF2-40B4-BE49-F238E27FC236}">
                <a16:creationId xmlns:a16="http://schemas.microsoft.com/office/drawing/2014/main" id="{BB512882-81F4-EA24-29CA-3BEF7D8AF749}"/>
              </a:ext>
            </a:extLst>
          </p:cNvPr>
          <p:cNvSpPr/>
          <p:nvPr/>
        </p:nvSpPr>
        <p:spPr>
          <a:xfrm>
            <a:off x="914372" y="8180161"/>
            <a:ext cx="2640346" cy="571472"/>
          </a:xfrm>
          <a:prstGeom prst="rect">
            <a:avLst/>
          </a:prstGeom>
          <a:noFill/>
          <a:ln>
            <a:noFill/>
          </a:ln>
        </p:spPr>
        <p:txBody>
          <a:bodyPr spcFirstLastPara="1" wrap="squar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b="0" i="0" u="none" strike="noStrike" cap="none" dirty="0">
                <a:solidFill>
                  <a:srgbClr val="94BCE3"/>
                </a:solidFill>
                <a:latin typeface="Barlow Condensed"/>
                <a:ea typeface="Barlow Condensed"/>
                <a:cs typeface="Barlow Condensed"/>
                <a:sym typeface="Barlow Condensed"/>
              </a:rPr>
              <a:t>₹</a:t>
            </a:r>
            <a:r>
              <a:rPr lang="en-US" sz="4200" dirty="0">
                <a:solidFill>
                  <a:srgbClr val="94BCE3"/>
                </a:solidFill>
                <a:latin typeface="Barlow Condensed"/>
                <a:ea typeface="Barlow Condensed"/>
                <a:cs typeface="Barlow Condensed"/>
                <a:sym typeface="Barlow Condensed"/>
              </a:rPr>
              <a:t>6.25</a:t>
            </a:r>
            <a:r>
              <a:rPr lang="en-US" sz="4200" b="0" i="0" u="none" strike="noStrike" cap="none" dirty="0">
                <a:solidFill>
                  <a:srgbClr val="94BCE3"/>
                </a:solidFill>
                <a:latin typeface="Barlow Condensed"/>
                <a:ea typeface="Barlow Condensed"/>
                <a:cs typeface="Barlow Condensed"/>
                <a:sym typeface="Barlow Condensed"/>
              </a:rPr>
              <a:t> Cr</a:t>
            </a:r>
            <a:endParaRPr sz="4200" b="0" i="0" u="none" strike="noStrike" cap="none" dirty="0">
              <a:solidFill>
                <a:schemeClr val="dk1"/>
              </a:solidFill>
              <a:latin typeface="Calibri"/>
              <a:ea typeface="Calibri"/>
              <a:cs typeface="Calibri"/>
              <a:sym typeface="Calibri"/>
            </a:endParaRPr>
          </a:p>
        </p:txBody>
      </p:sp>
      <p:sp>
        <p:nvSpPr>
          <p:cNvPr id="24" name="Google Shape;1126;p30">
            <a:extLst>
              <a:ext uri="{FF2B5EF4-FFF2-40B4-BE49-F238E27FC236}">
                <a16:creationId xmlns:a16="http://schemas.microsoft.com/office/drawing/2014/main" id="{83566AC7-D31D-504B-5B22-7491CAB41C91}"/>
              </a:ext>
            </a:extLst>
          </p:cNvPr>
          <p:cNvSpPr/>
          <p:nvPr/>
        </p:nvSpPr>
        <p:spPr>
          <a:xfrm>
            <a:off x="3848058" y="7749623"/>
            <a:ext cx="2897840"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CORPUS PROJECTED</a:t>
            </a:r>
            <a:endParaRPr sz="1800" b="0" i="0" u="none" strike="noStrike" cap="none">
              <a:solidFill>
                <a:schemeClr val="dk1"/>
              </a:solidFill>
              <a:latin typeface="Calibri"/>
              <a:ea typeface="Calibri"/>
              <a:cs typeface="Calibri"/>
              <a:sym typeface="Calibri"/>
            </a:endParaRPr>
          </a:p>
        </p:txBody>
      </p:sp>
      <p:sp>
        <p:nvSpPr>
          <p:cNvPr id="27" name="Google Shape;1127;p30">
            <a:extLst>
              <a:ext uri="{FF2B5EF4-FFF2-40B4-BE49-F238E27FC236}">
                <a16:creationId xmlns:a16="http://schemas.microsoft.com/office/drawing/2014/main" id="{62B2CE7D-13EE-8327-3AF1-2A2BEAADEED8}"/>
              </a:ext>
            </a:extLst>
          </p:cNvPr>
          <p:cNvSpPr/>
          <p:nvPr/>
        </p:nvSpPr>
        <p:spPr>
          <a:xfrm>
            <a:off x="3848058" y="8180161"/>
            <a:ext cx="2897840" cy="571472"/>
          </a:xfrm>
          <a:prstGeom prst="rect">
            <a:avLst/>
          </a:prstGeom>
          <a:noFill/>
          <a:ln>
            <a:noFill/>
          </a:ln>
        </p:spPr>
        <p:txBody>
          <a:bodyPr spcFirstLastPara="1" wrap="squar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b="0" i="0" u="none" strike="noStrike" cap="none" dirty="0">
                <a:solidFill>
                  <a:srgbClr val="94BCE3"/>
                </a:solidFill>
                <a:latin typeface="Barlow Condensed"/>
                <a:ea typeface="Barlow Condensed"/>
                <a:cs typeface="Barlow Condensed"/>
                <a:sym typeface="Barlow Condensed"/>
              </a:rPr>
              <a:t>₹5.50 Cr</a:t>
            </a:r>
            <a:endParaRPr sz="4200" b="0" i="0" u="none" strike="noStrike" cap="none" dirty="0">
              <a:solidFill>
                <a:schemeClr val="dk1"/>
              </a:solidFill>
              <a:latin typeface="Calibri"/>
              <a:ea typeface="Calibri"/>
              <a:cs typeface="Calibri"/>
              <a:sym typeface="Calibri"/>
            </a:endParaRPr>
          </a:p>
        </p:txBody>
      </p:sp>
      <p:sp>
        <p:nvSpPr>
          <p:cNvPr id="30" name="Google Shape;1128;p30">
            <a:extLst>
              <a:ext uri="{FF2B5EF4-FFF2-40B4-BE49-F238E27FC236}">
                <a16:creationId xmlns:a16="http://schemas.microsoft.com/office/drawing/2014/main" id="{86E182BB-1641-AD41-FBD2-8FE3EE235DE4}"/>
              </a:ext>
            </a:extLst>
          </p:cNvPr>
          <p:cNvSpPr/>
          <p:nvPr/>
        </p:nvSpPr>
        <p:spPr>
          <a:xfrm>
            <a:off x="914372" y="9323090"/>
            <a:ext cx="9445108"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ARMSTRONG CAPITAL · GOAL BASED PLANNING</a:t>
            </a:r>
            <a:endParaRPr sz="1800" b="0" i="0" u="none" strike="noStrike" cap="none">
              <a:solidFill>
                <a:schemeClr val="dk1"/>
              </a:solidFill>
              <a:latin typeface="Calibri"/>
              <a:ea typeface="Calibri"/>
              <a:cs typeface="Calibri"/>
              <a:sym typeface="Calibri"/>
            </a:endParaRPr>
          </a:p>
        </p:txBody>
      </p:sp>
      <p:sp>
        <p:nvSpPr>
          <p:cNvPr id="32" name="Google Shape;1129;p30">
            <a:extLst>
              <a:ext uri="{FF2B5EF4-FFF2-40B4-BE49-F238E27FC236}">
                <a16:creationId xmlns:a16="http://schemas.microsoft.com/office/drawing/2014/main" id="{5216F8C7-8490-276C-22AC-6AEB26841D47}"/>
              </a:ext>
            </a:extLst>
          </p:cNvPr>
          <p:cNvSpPr/>
          <p:nvPr/>
        </p:nvSpPr>
        <p:spPr>
          <a:xfrm>
            <a:off x="10110391" y="0"/>
            <a:ext cx="8177539" cy="10287001"/>
          </a:xfrm>
          <a:prstGeom prst="rect">
            <a:avLst/>
          </a:prstGeom>
          <a:solidFill>
            <a:srgbClr val="2026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 name="Google Shape;1130;p30" descr="preencoded.png">
            <a:extLst>
              <a:ext uri="{FF2B5EF4-FFF2-40B4-BE49-F238E27FC236}">
                <a16:creationId xmlns:a16="http://schemas.microsoft.com/office/drawing/2014/main" id="{D7B4F135-A0D2-7898-50C3-B2FB35AD1026}"/>
              </a:ext>
            </a:extLst>
          </p:cNvPr>
          <p:cNvPicPr preferRelativeResize="0"/>
          <p:nvPr/>
        </p:nvPicPr>
        <p:blipFill rotWithShape="1">
          <a:blip r:embed="rId3">
            <a:alphaModFix amt="90000"/>
          </a:blip>
          <a:srcRect l="24265" r="24265"/>
          <a:stretch/>
        </p:blipFill>
        <p:spPr>
          <a:xfrm>
            <a:off x="10110391" y="0"/>
            <a:ext cx="8177539" cy="10287001"/>
          </a:xfrm>
          <a:prstGeom prst="rect">
            <a:avLst/>
          </a:prstGeom>
          <a:noFill/>
          <a:ln>
            <a:noFill/>
          </a:ln>
        </p:spPr>
      </p:pic>
      <p:sp>
        <p:nvSpPr>
          <p:cNvPr id="36" name="Google Shape;1131;p30">
            <a:extLst>
              <a:ext uri="{FF2B5EF4-FFF2-40B4-BE49-F238E27FC236}">
                <a16:creationId xmlns:a16="http://schemas.microsoft.com/office/drawing/2014/main" id="{CC91BC17-AAE2-A6B8-4572-3A6591746F75}"/>
              </a:ext>
            </a:extLst>
          </p:cNvPr>
          <p:cNvSpPr/>
          <p:nvPr/>
        </p:nvSpPr>
        <p:spPr>
          <a:xfrm>
            <a:off x="10110391" y="0"/>
            <a:ext cx="8177539" cy="10287001"/>
          </a:xfrm>
          <a:prstGeom prst="rect">
            <a:avLst/>
          </a:prstGeom>
          <a:solidFill>
            <a:srgbClr val="141A45">
              <a:alpha val="5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32;p30">
            <a:extLst>
              <a:ext uri="{FF2B5EF4-FFF2-40B4-BE49-F238E27FC236}">
                <a16:creationId xmlns:a16="http://schemas.microsoft.com/office/drawing/2014/main" id="{2BD2030A-82EB-37E8-CD99-E22F4CDD0368}"/>
              </a:ext>
            </a:extLst>
          </p:cNvPr>
          <p:cNvSpPr/>
          <p:nvPr/>
        </p:nvSpPr>
        <p:spPr>
          <a:xfrm>
            <a:off x="10110391" y="0"/>
            <a:ext cx="8177539" cy="10287001"/>
          </a:xfrm>
          <a:prstGeom prst="rect">
            <a:avLst/>
          </a:prstGeom>
          <a:gradFill>
            <a:gsLst>
              <a:gs pos="0">
                <a:srgbClr val="141A45"/>
              </a:gs>
              <a:gs pos="30000">
                <a:srgbClr val="141A45">
                  <a:alpha val="0"/>
                </a:srgbClr>
              </a:gs>
              <a:gs pos="100000">
                <a:srgbClr val="141A45">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38401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67"/>
        <p:cNvGrpSpPr/>
        <p:nvPr/>
      </p:nvGrpSpPr>
      <p:grpSpPr>
        <a:xfrm>
          <a:off x="0" y="0"/>
          <a:ext cx="0" cy="0"/>
          <a:chOff x="0" y="0"/>
          <a:chExt cx="0" cy="0"/>
        </a:xfrm>
      </p:grpSpPr>
      <p:sp>
        <p:nvSpPr>
          <p:cNvPr id="1268" name="Google Shape;1268;p42"/>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70" name="Google Shape;1270;p42"/>
          <p:cNvSpPr txBox="1"/>
          <p:nvPr/>
        </p:nvSpPr>
        <p:spPr>
          <a:xfrm>
            <a:off x="863803" y="376292"/>
            <a:ext cx="3643214" cy="1063826"/>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950" b="0" i="0" u="none" strike="noStrike" kern="0" cap="none" spc="0" normalizeH="0" baseline="0" noProof="0">
                <a:ln>
                  <a:noFill/>
                </a:ln>
                <a:solidFill>
                  <a:srgbClr val="2A3480"/>
                </a:solidFill>
                <a:effectLst/>
                <a:uLnTx/>
                <a:uFillTx/>
                <a:latin typeface="Barlow"/>
                <a:ea typeface="Barlow"/>
                <a:cs typeface="Barlow"/>
                <a:sym typeface="Barlow"/>
              </a:rPr>
              <a:t>RETIREMENT ASSET · 2037</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950" b="1"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Provident Fund</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271" name="Google Shape;1271;p42" descr="image.png"/>
          <p:cNvPicPr preferRelativeResize="0"/>
          <p:nvPr/>
        </p:nvPicPr>
        <p:blipFill rotWithShape="1">
          <a:blip r:embed="rId3">
            <a:alphaModFix/>
          </a:blip>
          <a:srcRect/>
          <a:stretch/>
        </p:blipFill>
        <p:spPr>
          <a:xfrm>
            <a:off x="15373350" y="304736"/>
            <a:ext cx="2076323" cy="590486"/>
          </a:xfrm>
          <a:prstGeom prst="rect">
            <a:avLst/>
          </a:prstGeom>
          <a:noFill/>
          <a:ln>
            <a:noFill/>
          </a:ln>
        </p:spPr>
      </p:pic>
      <p:sp>
        <p:nvSpPr>
          <p:cNvPr id="1272" name="Google Shape;1272;p42"/>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73" name="Google Shape;1273;p42"/>
          <p:cNvSpPr txBox="1"/>
          <p:nvPr/>
        </p:nvSpPr>
        <p:spPr>
          <a:xfrm>
            <a:off x="863803" y="1662064"/>
            <a:ext cx="13161032" cy="6979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20800"/>
              </a:lnSpc>
              <a:spcBef>
                <a:spcPts val="0"/>
              </a:spcBef>
              <a:spcAft>
                <a:spcPts val="0"/>
              </a:spcAft>
              <a:buClr>
                <a:srgbClr val="000000"/>
              </a:buClr>
              <a:buSzTx/>
              <a:buFont typeface="Arial"/>
              <a:buNone/>
              <a:tabLst/>
              <a:defRPr/>
            </a:pPr>
            <a:r>
              <a:rPr kumimoji="0" lang="en-US" sz="2050" b="0" i="0" u="none" strike="noStrike" kern="0" cap="none" spc="0" normalizeH="0" baseline="0" noProof="0">
                <a:ln>
                  <a:noFill/>
                </a:ln>
                <a:solidFill>
                  <a:srgbClr val="1D1F20"/>
                </a:solidFill>
                <a:effectLst/>
                <a:uLnTx/>
                <a:uFillTx/>
                <a:latin typeface="Barlow"/>
                <a:ea typeface="Barlow"/>
                <a:cs typeface="Barlow"/>
                <a:sym typeface="Barlow"/>
              </a:rPr>
              <a:t>Employer and employee contribute together each month. Interest is declared annually, the maturity is tax-free, and the balance compounds untouched until you leave employment.</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74" name="Google Shape;1274;p42"/>
          <p:cNvSpPr/>
          <p:nvPr/>
        </p:nvSpPr>
        <p:spPr>
          <a:xfrm>
            <a:off x="838187" y="2539428"/>
            <a:ext cx="4038599"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75" name="Google Shape;1275;p42"/>
          <p:cNvSpPr txBox="1"/>
          <p:nvPr/>
        </p:nvSpPr>
        <p:spPr>
          <a:xfrm>
            <a:off x="1063142" y="2756280"/>
            <a:ext cx="2135288" cy="772353"/>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CURRENT BALANCE</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₹78 L</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76" name="Google Shape;1276;p42"/>
          <p:cNvSpPr/>
          <p:nvPr/>
        </p:nvSpPr>
        <p:spPr>
          <a:xfrm>
            <a:off x="5029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77" name="Google Shape;1277;p42"/>
          <p:cNvSpPr txBox="1"/>
          <p:nvPr/>
        </p:nvSpPr>
        <p:spPr>
          <a:xfrm>
            <a:off x="5254497" y="2756280"/>
            <a:ext cx="2740351" cy="772353"/>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MONTHLY CONTRIBUTION</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₹38,000</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78" name="Google Shape;1278;p42"/>
          <p:cNvSpPr/>
          <p:nvPr/>
        </p:nvSpPr>
        <p:spPr>
          <a:xfrm>
            <a:off x="9220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79" name="Google Shape;1279;p42"/>
          <p:cNvSpPr txBox="1"/>
          <p:nvPr/>
        </p:nvSpPr>
        <p:spPr>
          <a:xfrm>
            <a:off x="9445752" y="2756280"/>
            <a:ext cx="2070052" cy="772353"/>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STEP-UP ASSUMED</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5% / 2 yrs</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80" name="Google Shape;1280;p42"/>
          <p:cNvSpPr/>
          <p:nvPr/>
        </p:nvSpPr>
        <p:spPr>
          <a:xfrm>
            <a:off x="13411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81" name="Google Shape;1281;p42"/>
          <p:cNvSpPr txBox="1"/>
          <p:nvPr/>
        </p:nvSpPr>
        <p:spPr>
          <a:xfrm>
            <a:off x="13637387" y="2756280"/>
            <a:ext cx="1711716" cy="772353"/>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INTEREST RATE</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8.10%</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82" name="Google Shape;1282;p42"/>
          <p:cNvSpPr txBox="1"/>
          <p:nvPr/>
        </p:nvSpPr>
        <p:spPr>
          <a:xfrm>
            <a:off x="863803" y="3913997"/>
            <a:ext cx="2727237" cy="299557"/>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2A3480"/>
                </a:solidFill>
                <a:effectLst/>
                <a:uLnTx/>
                <a:uFillTx/>
                <a:latin typeface="Barlow"/>
                <a:ea typeface="Barlow"/>
                <a:cs typeface="Barlow"/>
                <a:sym typeface="Barlow"/>
              </a:rPr>
              <a:t>BALANCE TO APRIL 2037</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83" name="Google Shape;1283;p42"/>
          <p:cNvSpPr txBox="1"/>
          <p:nvPr/>
        </p:nvSpPr>
        <p:spPr>
          <a:xfrm>
            <a:off x="863803" y="6349080"/>
            <a:ext cx="686836" cy="40709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5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₹78 L</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84" name="Google Shape;1284;p42"/>
          <p:cNvSpPr/>
          <p:nvPr/>
        </p:nvSpPr>
        <p:spPr>
          <a:xfrm>
            <a:off x="838187" y="6831596"/>
            <a:ext cx="2170175" cy="1088504"/>
          </a:xfrm>
          <a:prstGeom prst="rect">
            <a:avLst/>
          </a:prstGeom>
          <a:solidFill>
            <a:srgbClr val="B7B7B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85" name="Google Shape;1285;p42"/>
          <p:cNvSpPr txBox="1"/>
          <p:nvPr/>
        </p:nvSpPr>
        <p:spPr>
          <a:xfrm>
            <a:off x="863803" y="8090661"/>
            <a:ext cx="567232" cy="288035"/>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2026</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86" name="Google Shape;1286;p42"/>
          <p:cNvSpPr txBox="1"/>
          <p:nvPr/>
        </p:nvSpPr>
        <p:spPr>
          <a:xfrm>
            <a:off x="3281426" y="5421599"/>
            <a:ext cx="952737" cy="40709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5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₹1.42 Cr</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87" name="Google Shape;1287;p42"/>
          <p:cNvSpPr/>
          <p:nvPr/>
        </p:nvSpPr>
        <p:spPr>
          <a:xfrm>
            <a:off x="3255898" y="5904357"/>
            <a:ext cx="2170176" cy="2015744"/>
          </a:xfrm>
          <a:prstGeom prst="rect">
            <a:avLst/>
          </a:prstGeom>
          <a:solidFill>
            <a:srgbClr val="5980A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88" name="Google Shape;1288;p42"/>
          <p:cNvSpPr txBox="1"/>
          <p:nvPr/>
        </p:nvSpPr>
        <p:spPr>
          <a:xfrm>
            <a:off x="3281426" y="8090661"/>
            <a:ext cx="525627" cy="288035"/>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2031</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89" name="Google Shape;1289;p42"/>
          <p:cNvSpPr txBox="1"/>
          <p:nvPr/>
        </p:nvSpPr>
        <p:spPr>
          <a:xfrm>
            <a:off x="5699505" y="4453566"/>
            <a:ext cx="960851" cy="407474"/>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5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₹2.10 Cr</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90" name="Google Shape;1290;p42"/>
          <p:cNvSpPr/>
          <p:nvPr/>
        </p:nvSpPr>
        <p:spPr>
          <a:xfrm>
            <a:off x="5673725" y="4936744"/>
            <a:ext cx="2170176" cy="2983357"/>
          </a:xfrm>
          <a:prstGeom prst="rect">
            <a:avLst/>
          </a:prstGeom>
          <a:solidFill>
            <a:srgbClr val="3A459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1" name="Google Shape;1291;p42"/>
          <p:cNvSpPr txBox="1"/>
          <p:nvPr/>
        </p:nvSpPr>
        <p:spPr>
          <a:xfrm>
            <a:off x="5699505" y="8090661"/>
            <a:ext cx="571576" cy="288035"/>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2034</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92" name="Google Shape;1292;p42"/>
          <p:cNvSpPr txBox="1"/>
          <p:nvPr/>
        </p:nvSpPr>
        <p:spPr>
          <a:xfrm>
            <a:off x="8117458" y="4433412"/>
            <a:ext cx="1001524" cy="40709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550" b="0" i="0" u="none" strike="noStrike" kern="0" cap="none" spc="0" normalizeH="0" baseline="0" noProof="0">
                <a:ln>
                  <a:noFill/>
                </a:ln>
                <a:solidFill>
                  <a:srgbClr val="2F7D3A"/>
                </a:solidFill>
                <a:effectLst/>
                <a:uLnTx/>
                <a:uFillTx/>
                <a:latin typeface="Barlow Condensed"/>
                <a:ea typeface="Barlow Condensed"/>
                <a:cs typeface="Barlow Condensed"/>
                <a:sym typeface="Barlow Condensed"/>
              </a:rPr>
              <a:t>₹2.85 Cr</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93" name="Google Shape;1293;p42"/>
          <p:cNvSpPr/>
          <p:nvPr/>
        </p:nvSpPr>
        <p:spPr>
          <a:xfrm>
            <a:off x="8091423" y="4916296"/>
            <a:ext cx="2170176" cy="3003804"/>
          </a:xfrm>
          <a:prstGeom prst="rect">
            <a:avLst/>
          </a:prstGeom>
          <a:solidFill>
            <a:srgbClr val="2F7D3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4" name="Google Shape;1294;p42"/>
          <p:cNvSpPr txBox="1"/>
          <p:nvPr/>
        </p:nvSpPr>
        <p:spPr>
          <a:xfrm>
            <a:off x="8117458" y="8090661"/>
            <a:ext cx="553745" cy="288035"/>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2037</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95" name="Google Shape;1295;p42"/>
          <p:cNvSpPr/>
          <p:nvPr/>
        </p:nvSpPr>
        <p:spPr>
          <a:xfrm>
            <a:off x="10718800" y="3835781"/>
            <a:ext cx="6730872" cy="1961514"/>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6" name="Google Shape;1296;p42"/>
          <p:cNvSpPr txBox="1"/>
          <p:nvPr/>
        </p:nvSpPr>
        <p:spPr>
          <a:xfrm>
            <a:off x="11011789" y="4120007"/>
            <a:ext cx="2890743" cy="1088227"/>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F2F2F3"/>
                </a:solidFill>
                <a:effectLst/>
                <a:uLnTx/>
                <a:uFillTx/>
                <a:latin typeface="Barlow"/>
                <a:ea typeface="Barlow"/>
                <a:cs typeface="Barlow"/>
                <a:sym typeface="Barlow"/>
              </a:rPr>
              <a:t>VALUE AT RETIREMENT</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0" i="0" u="none" strike="noStrike" kern="0" cap="none" spc="0" normalizeH="0" baseline="0" noProof="0">
                <a:ln>
                  <a:noFill/>
                </a:ln>
                <a:solidFill>
                  <a:srgbClr val="F2F2F3"/>
                </a:solidFill>
                <a:effectLst/>
                <a:uLnTx/>
                <a:uFillTx/>
                <a:latin typeface="Barlow Condensed"/>
                <a:ea typeface="Barlow Condensed"/>
                <a:cs typeface="Barlow Condensed"/>
                <a:sym typeface="Barlow Condensed"/>
              </a:rPr>
              <a:t>₹2.85 Crore</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97" name="Google Shape;1297;p42"/>
          <p:cNvSpPr txBox="1"/>
          <p:nvPr/>
        </p:nvSpPr>
        <p:spPr>
          <a:xfrm>
            <a:off x="11011789" y="5297154"/>
            <a:ext cx="4441384" cy="299557"/>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F2F2F3"/>
                </a:solidFill>
                <a:effectLst/>
                <a:uLnTx/>
                <a:uFillTx/>
                <a:latin typeface="Barlow"/>
                <a:ea typeface="Barlow"/>
                <a:cs typeface="Barlow"/>
                <a:sym typeface="Barlow"/>
              </a:rPr>
              <a:t>20% of the total corpus, entirely tax-free</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98" name="Google Shape;1298;p42"/>
          <p:cNvSpPr/>
          <p:nvPr/>
        </p:nvSpPr>
        <p:spPr>
          <a:xfrm>
            <a:off x="10718800" y="5930645"/>
            <a:ext cx="6730872" cy="2439035"/>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9" name="Google Shape;1299;p42"/>
          <p:cNvSpPr txBox="1"/>
          <p:nvPr/>
        </p:nvSpPr>
        <p:spPr>
          <a:xfrm>
            <a:off x="10992611" y="6489303"/>
            <a:ext cx="2667765" cy="299557"/>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2A3480"/>
                </a:solidFill>
                <a:effectLst/>
                <a:uLnTx/>
                <a:uFillTx/>
                <a:latin typeface="Barlow"/>
                <a:ea typeface="Barlow"/>
                <a:cs typeface="Barlow"/>
                <a:sym typeface="Barlow"/>
              </a:rPr>
              <a:t>OUR RECOMMENDATION</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00" name="Google Shape;1300;p42"/>
          <p:cNvSpPr txBox="1"/>
          <p:nvPr/>
        </p:nvSpPr>
        <p:spPr>
          <a:xfrm>
            <a:off x="10992611" y="6930883"/>
            <a:ext cx="6297182" cy="985357"/>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202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1D1F20"/>
                </a:solidFill>
                <a:effectLst/>
                <a:uLnTx/>
                <a:uFillTx/>
                <a:latin typeface="Barlow"/>
                <a:ea typeface="Barlow"/>
                <a:cs typeface="Barlow"/>
                <a:sym typeface="Barlow"/>
              </a:rPr>
              <a:t>Transfer, never withdraw, on a job change. Leave the balance to compound to 2037, then move it into the debt core of the retirement portfolio.</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01" name="Google Shape;1301;p42"/>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02" name="Google Shape;1302;p42"/>
          <p:cNvSpPr txBox="1"/>
          <p:nvPr/>
        </p:nvSpPr>
        <p:spPr>
          <a:xfrm>
            <a:off x="1082344" y="8625586"/>
            <a:ext cx="15987175" cy="946048"/>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2A3480"/>
                </a:solidFill>
                <a:effectLst/>
                <a:uLnTx/>
                <a:uFillTx/>
                <a:latin typeface="Barlow"/>
                <a:ea typeface="Barlow"/>
                <a:cs typeface="Barlow"/>
                <a:sym typeface="Barlow"/>
              </a:rPr>
              <a:t>ADVISOR COMMENT</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10000"/>
              </a:lnSpc>
              <a:spcBef>
                <a:spcPts val="22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1D1F20"/>
                </a:solidFill>
                <a:effectLst/>
                <a:uLnTx/>
                <a:uFillTx/>
                <a:latin typeface="Barlow"/>
                <a:ea typeface="Barlow"/>
                <a:cs typeface="Barlow"/>
                <a:sym typeface="Barlow"/>
              </a:rPr>
              <a:t>At 8.1% the PF balance roughly doubles every nine years with no market risk. If the declared rate falls below 7.5%, the case for the voluntary top-up weakens against equity over an eleven-year horizon.</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03" name="Google Shape;1303;p42"/>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Armstrong Capital · Goal Based Planning</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04" name="Google Shape;1304;p42"/>
          <p:cNvSpPr txBox="1"/>
          <p:nvPr/>
        </p:nvSpPr>
        <p:spPr>
          <a:xfrm>
            <a:off x="16587469" y="9779215"/>
            <a:ext cx="750555" cy="28842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30 / 46</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08"/>
        <p:cNvGrpSpPr/>
        <p:nvPr/>
      </p:nvGrpSpPr>
      <p:grpSpPr>
        <a:xfrm>
          <a:off x="0" y="0"/>
          <a:ext cx="0" cy="0"/>
          <a:chOff x="0" y="0"/>
          <a:chExt cx="0" cy="0"/>
        </a:xfrm>
      </p:grpSpPr>
      <p:sp>
        <p:nvSpPr>
          <p:cNvPr id="1309" name="Google Shape;1309;p43"/>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11" name="Google Shape;1311;p43"/>
          <p:cNvSpPr txBox="1"/>
          <p:nvPr/>
        </p:nvSpPr>
        <p:spPr>
          <a:xfrm>
            <a:off x="863803" y="376292"/>
            <a:ext cx="5255226" cy="106382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2A3480"/>
                </a:solidFill>
                <a:latin typeface="Barlow"/>
                <a:ea typeface="Barlow"/>
                <a:cs typeface="Barlow"/>
                <a:sym typeface="Barlow"/>
              </a:rPr>
              <a:t>RETIREMENT ASSET · 2037</a:t>
            </a:r>
            <a:endParaRPr/>
          </a:p>
          <a:p>
            <a:pPr marL="0" marR="0" lvl="0" indent="0" algn="l" rtl="0">
              <a:lnSpc>
                <a:spcPct val="100000"/>
              </a:lnSpc>
              <a:spcBef>
                <a:spcPts val="0"/>
              </a:spcBef>
              <a:spcAft>
                <a:spcPts val="0"/>
              </a:spcAft>
              <a:buNone/>
            </a:pPr>
            <a:r>
              <a:rPr lang="en-US" sz="4950" b="1" i="0" u="none" strike="noStrike" cap="none">
                <a:solidFill>
                  <a:srgbClr val="1D1F20"/>
                </a:solidFill>
                <a:latin typeface="Barlow Condensed"/>
                <a:ea typeface="Barlow Condensed"/>
                <a:cs typeface="Barlow Condensed"/>
                <a:sym typeface="Barlow Condensed"/>
              </a:rPr>
              <a:t>Public Provident Fund</a:t>
            </a:r>
            <a:endParaRPr/>
          </a:p>
        </p:txBody>
      </p:sp>
      <p:pic>
        <p:nvPicPr>
          <p:cNvPr id="1312" name="Google Shape;1312;p43" descr="image.png"/>
          <p:cNvPicPr preferRelativeResize="0"/>
          <p:nvPr/>
        </p:nvPicPr>
        <p:blipFill rotWithShape="1">
          <a:blip r:embed="rId3">
            <a:alphaModFix/>
          </a:blip>
          <a:srcRect/>
          <a:stretch/>
        </p:blipFill>
        <p:spPr>
          <a:xfrm>
            <a:off x="15373350" y="304736"/>
            <a:ext cx="2076323" cy="590486"/>
          </a:xfrm>
          <a:prstGeom prst="rect">
            <a:avLst/>
          </a:prstGeom>
          <a:noFill/>
          <a:ln>
            <a:noFill/>
          </a:ln>
        </p:spPr>
      </p:pic>
      <p:sp>
        <p:nvSpPr>
          <p:cNvPr id="1313" name="Google Shape;1313;p43"/>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14" name="Google Shape;1314;p43"/>
          <p:cNvSpPr txBox="1"/>
          <p:nvPr/>
        </p:nvSpPr>
        <p:spPr>
          <a:xfrm>
            <a:off x="863803" y="1662064"/>
            <a:ext cx="13391684" cy="697900"/>
          </a:xfrm>
          <a:prstGeom prst="rect">
            <a:avLst/>
          </a:prstGeom>
          <a:noFill/>
          <a:ln>
            <a:noFill/>
          </a:ln>
        </p:spPr>
        <p:txBody>
          <a:bodyPr spcFirstLastPara="1" wrap="square" lIns="0" tIns="0" rIns="0" bIns="0" anchor="t" anchorCtr="0">
            <a:noAutofit/>
          </a:bodyPr>
          <a:lstStyle/>
          <a:p>
            <a:pPr marL="0" marR="0" lvl="0" indent="0" algn="l" rtl="0">
              <a:lnSpc>
                <a:spcPct val="120800"/>
              </a:lnSpc>
              <a:spcBef>
                <a:spcPts val="0"/>
              </a:spcBef>
              <a:spcAft>
                <a:spcPts val="0"/>
              </a:spcAft>
              <a:buNone/>
            </a:pPr>
            <a:r>
              <a:rPr lang="en-US" sz="2050" b="0" i="0" u="none" strike="noStrike" cap="none">
                <a:solidFill>
                  <a:srgbClr val="1D1F20"/>
                </a:solidFill>
                <a:latin typeface="Barlow"/>
                <a:ea typeface="Barlow"/>
                <a:cs typeface="Barlow"/>
                <a:sym typeface="Barlow"/>
              </a:rPr>
              <a:t>A voluntary, government-backed account with a fifteen-year term, extendable in five-year blocks. Contributions, interest and maturity are all tax-free.</a:t>
            </a:r>
            <a:endParaRPr/>
          </a:p>
        </p:txBody>
      </p:sp>
      <p:sp>
        <p:nvSpPr>
          <p:cNvPr id="1315" name="Google Shape;1315;p43"/>
          <p:cNvSpPr/>
          <p:nvPr/>
        </p:nvSpPr>
        <p:spPr>
          <a:xfrm>
            <a:off x="838187" y="2539428"/>
            <a:ext cx="4038599"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16" name="Google Shape;1316;p43"/>
          <p:cNvSpPr txBox="1"/>
          <p:nvPr/>
        </p:nvSpPr>
        <p:spPr>
          <a:xfrm>
            <a:off x="1063142" y="2756280"/>
            <a:ext cx="2233910" cy="7723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COMBINED BALANCE</a:t>
            </a:r>
            <a:endParaRPr/>
          </a:p>
          <a:p>
            <a:pPr marL="0" marR="0" lvl="0" indent="0" algn="l" rtl="0">
              <a:lnSpc>
                <a:spcPct val="100000"/>
              </a:lnSpc>
              <a:spcBef>
                <a:spcPts val="0"/>
              </a:spcBef>
              <a:spcAft>
                <a:spcPts val="0"/>
              </a:spcAft>
              <a:buNone/>
            </a:pPr>
            <a:r>
              <a:rPr lang="en-US" sz="3150" b="0" i="0" u="none" strike="noStrike" cap="none">
                <a:solidFill>
                  <a:srgbClr val="1D1F20"/>
                </a:solidFill>
                <a:latin typeface="Barlow Condensed"/>
                <a:ea typeface="Barlow Condensed"/>
                <a:cs typeface="Barlow Condensed"/>
                <a:sym typeface="Barlow Condensed"/>
              </a:rPr>
              <a:t>₹32 L</a:t>
            </a:r>
            <a:endParaRPr/>
          </a:p>
        </p:txBody>
      </p:sp>
      <p:sp>
        <p:nvSpPr>
          <p:cNvPr id="1317" name="Google Shape;1317;p43"/>
          <p:cNvSpPr/>
          <p:nvPr/>
        </p:nvSpPr>
        <p:spPr>
          <a:xfrm>
            <a:off x="5029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18" name="Google Shape;1318;p43"/>
          <p:cNvSpPr txBox="1"/>
          <p:nvPr/>
        </p:nvSpPr>
        <p:spPr>
          <a:xfrm>
            <a:off x="5254497" y="2756280"/>
            <a:ext cx="2595689" cy="7723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ANNUAL CONTRIBUTION</a:t>
            </a:r>
            <a:endParaRPr/>
          </a:p>
          <a:p>
            <a:pPr marL="0" marR="0" lvl="0" indent="0" algn="l" rtl="0">
              <a:lnSpc>
                <a:spcPct val="100000"/>
              </a:lnSpc>
              <a:spcBef>
                <a:spcPts val="0"/>
              </a:spcBef>
              <a:spcAft>
                <a:spcPts val="0"/>
              </a:spcAft>
              <a:buNone/>
            </a:pPr>
            <a:r>
              <a:rPr lang="en-US" sz="3150" b="0" i="0" u="none" strike="noStrike" cap="none">
                <a:solidFill>
                  <a:srgbClr val="1D1F20"/>
                </a:solidFill>
                <a:latin typeface="Barlow Condensed"/>
                <a:ea typeface="Barlow Condensed"/>
                <a:cs typeface="Barlow Condensed"/>
                <a:sym typeface="Barlow Condensed"/>
              </a:rPr>
              <a:t>₹1.50 L</a:t>
            </a:r>
            <a:endParaRPr/>
          </a:p>
        </p:txBody>
      </p:sp>
      <p:sp>
        <p:nvSpPr>
          <p:cNvPr id="1319" name="Google Shape;1319;p43"/>
          <p:cNvSpPr/>
          <p:nvPr/>
        </p:nvSpPr>
        <p:spPr>
          <a:xfrm>
            <a:off x="9220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0" name="Google Shape;1320;p43"/>
          <p:cNvSpPr txBox="1"/>
          <p:nvPr/>
        </p:nvSpPr>
        <p:spPr>
          <a:xfrm>
            <a:off x="9445752" y="2756280"/>
            <a:ext cx="1711721" cy="7723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INTEREST RATE</a:t>
            </a:r>
            <a:endParaRPr/>
          </a:p>
          <a:p>
            <a:pPr marL="0" marR="0" lvl="0" indent="0" algn="l" rtl="0">
              <a:lnSpc>
                <a:spcPct val="100000"/>
              </a:lnSpc>
              <a:spcBef>
                <a:spcPts val="0"/>
              </a:spcBef>
              <a:spcAft>
                <a:spcPts val="0"/>
              </a:spcAft>
              <a:buNone/>
            </a:pPr>
            <a:r>
              <a:rPr lang="en-US" sz="3150" b="0" i="0" u="none" strike="noStrike" cap="none">
                <a:solidFill>
                  <a:srgbClr val="1D1F20"/>
                </a:solidFill>
                <a:latin typeface="Barlow Condensed"/>
                <a:ea typeface="Barlow Condensed"/>
                <a:cs typeface="Barlow Condensed"/>
                <a:sym typeface="Barlow Condensed"/>
              </a:rPr>
              <a:t>7.10%</a:t>
            </a:r>
            <a:endParaRPr/>
          </a:p>
        </p:txBody>
      </p:sp>
      <p:sp>
        <p:nvSpPr>
          <p:cNvPr id="1321" name="Google Shape;1321;p43"/>
          <p:cNvSpPr/>
          <p:nvPr/>
        </p:nvSpPr>
        <p:spPr>
          <a:xfrm>
            <a:off x="13411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2" name="Google Shape;1322;p43"/>
          <p:cNvSpPr txBox="1"/>
          <p:nvPr/>
        </p:nvSpPr>
        <p:spPr>
          <a:xfrm>
            <a:off x="13637387" y="2756280"/>
            <a:ext cx="1831665" cy="7723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ACCOUNTS HELD</a:t>
            </a:r>
            <a:endParaRPr/>
          </a:p>
          <a:p>
            <a:pPr marL="0" marR="0" lvl="0" indent="0" algn="l" rtl="0">
              <a:lnSpc>
                <a:spcPct val="100000"/>
              </a:lnSpc>
              <a:spcBef>
                <a:spcPts val="0"/>
              </a:spcBef>
              <a:spcAft>
                <a:spcPts val="0"/>
              </a:spcAft>
              <a:buNone/>
            </a:pPr>
            <a:r>
              <a:rPr lang="en-US" sz="3150" b="0" i="0" u="none" strike="noStrike" cap="none">
                <a:solidFill>
                  <a:srgbClr val="1D1F20"/>
                </a:solidFill>
                <a:latin typeface="Barlow Condensed"/>
                <a:ea typeface="Barlow Condensed"/>
                <a:cs typeface="Barlow Condensed"/>
                <a:sym typeface="Barlow Condensed"/>
              </a:rPr>
              <a:t>Two</a:t>
            </a:r>
            <a:endParaRPr/>
          </a:p>
        </p:txBody>
      </p:sp>
      <p:sp>
        <p:nvSpPr>
          <p:cNvPr id="1323" name="Google Shape;1323;p43"/>
          <p:cNvSpPr txBox="1"/>
          <p:nvPr/>
        </p:nvSpPr>
        <p:spPr>
          <a:xfrm>
            <a:off x="863803" y="3913997"/>
            <a:ext cx="8980951"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BALANCE TO APRIL 2037 — CONTRIBUTIONS IN GREY, INTEREST EARNED IN NAVY</a:t>
            </a:r>
            <a:endParaRPr/>
          </a:p>
        </p:txBody>
      </p:sp>
      <p:sp>
        <p:nvSpPr>
          <p:cNvPr id="1324" name="Google Shape;1324;p43"/>
          <p:cNvSpPr/>
          <p:nvPr/>
        </p:nvSpPr>
        <p:spPr>
          <a:xfrm>
            <a:off x="10718800" y="3835781"/>
            <a:ext cx="6730872" cy="1961514"/>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5" name="Google Shape;1325;p43"/>
          <p:cNvSpPr txBox="1"/>
          <p:nvPr/>
        </p:nvSpPr>
        <p:spPr>
          <a:xfrm>
            <a:off x="11011789" y="4120007"/>
            <a:ext cx="2525174" cy="108822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VALUE AT RETIREMENT</a:t>
            </a:r>
            <a:endParaRPr/>
          </a:p>
          <a:p>
            <a:pPr marL="0" marR="0" lvl="0" indent="0" algn="l" rtl="0">
              <a:lnSpc>
                <a:spcPct val="100000"/>
              </a:lnSpc>
              <a:spcBef>
                <a:spcPts val="0"/>
              </a:spcBef>
              <a:spcAft>
                <a:spcPts val="0"/>
              </a:spcAft>
              <a:buNone/>
            </a:pPr>
            <a:r>
              <a:rPr lang="en-US" sz="5400" b="0" i="0" u="none" strike="noStrike" cap="none">
                <a:solidFill>
                  <a:srgbClr val="F2F2F3"/>
                </a:solidFill>
                <a:latin typeface="Barlow Condensed"/>
                <a:ea typeface="Barlow Condensed"/>
                <a:cs typeface="Barlow Condensed"/>
                <a:sym typeface="Barlow Condensed"/>
              </a:rPr>
              <a:t>₹92 Lakh</a:t>
            </a:r>
            <a:endParaRPr/>
          </a:p>
        </p:txBody>
      </p:sp>
      <p:sp>
        <p:nvSpPr>
          <p:cNvPr id="1326" name="Google Shape;1326;p43"/>
          <p:cNvSpPr txBox="1"/>
          <p:nvPr/>
        </p:nvSpPr>
        <p:spPr>
          <a:xfrm>
            <a:off x="11011789" y="5297154"/>
            <a:ext cx="4275507"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F2F2F3"/>
                </a:solidFill>
                <a:latin typeface="Barlow"/>
                <a:ea typeface="Barlow"/>
                <a:cs typeface="Barlow"/>
                <a:sym typeface="Barlow"/>
              </a:rPr>
              <a:t>Tax-free, and available in full from 2037</a:t>
            </a:r>
            <a:endParaRPr/>
          </a:p>
        </p:txBody>
      </p:sp>
      <p:sp>
        <p:nvSpPr>
          <p:cNvPr id="1327" name="Google Shape;1327;p43"/>
          <p:cNvSpPr/>
          <p:nvPr/>
        </p:nvSpPr>
        <p:spPr>
          <a:xfrm>
            <a:off x="10718800" y="5930645"/>
            <a:ext cx="6730872" cy="2439035"/>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8" name="Google Shape;1328;p43"/>
          <p:cNvSpPr txBox="1"/>
          <p:nvPr/>
        </p:nvSpPr>
        <p:spPr>
          <a:xfrm>
            <a:off x="10992611" y="6489303"/>
            <a:ext cx="2667765"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OUR RECOMMENDATION</a:t>
            </a:r>
            <a:endParaRPr/>
          </a:p>
        </p:txBody>
      </p:sp>
      <p:sp>
        <p:nvSpPr>
          <p:cNvPr id="1329" name="Google Shape;1329;p43"/>
          <p:cNvSpPr txBox="1"/>
          <p:nvPr/>
        </p:nvSpPr>
        <p:spPr>
          <a:xfrm>
            <a:off x="10992611" y="6930883"/>
            <a:ext cx="6193926" cy="985357"/>
          </a:xfrm>
          <a:prstGeom prst="rect">
            <a:avLst/>
          </a:prstGeom>
          <a:noFill/>
          <a:ln>
            <a:noFill/>
          </a:ln>
        </p:spPr>
        <p:txBody>
          <a:bodyPr spcFirstLastPara="1" wrap="square" lIns="0" tIns="0" rIns="0" bIns="0" anchor="t" anchorCtr="0">
            <a:noAutofit/>
          </a:bodyPr>
          <a:lstStyle/>
          <a:p>
            <a:pPr marL="0" marR="0" lvl="0" indent="0" algn="l" rtl="0">
              <a:lnSpc>
                <a:spcPct val="120200"/>
              </a:lnSpc>
              <a:spcBef>
                <a:spcPts val="0"/>
              </a:spcBef>
              <a:spcAft>
                <a:spcPts val="0"/>
              </a:spcAft>
              <a:buNone/>
            </a:pPr>
            <a:r>
              <a:rPr lang="en-US" sz="1850" b="0" i="0" u="none" strike="noStrike" cap="none">
                <a:solidFill>
                  <a:srgbClr val="1D1F20"/>
                </a:solidFill>
                <a:latin typeface="Barlow"/>
                <a:ea typeface="Barlow"/>
                <a:cs typeface="Barlow"/>
                <a:sym typeface="Barlow"/>
              </a:rPr>
              <a:t>Fund both accounts before the fifth of April each year so the full balance earns interest for the whole year. Extend rather than close at maturity.</a:t>
            </a:r>
            <a:endParaRPr/>
          </a:p>
        </p:txBody>
      </p:sp>
      <p:sp>
        <p:nvSpPr>
          <p:cNvPr id="1330" name="Google Shape;1330;p43"/>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31" name="Google Shape;1331;p43"/>
          <p:cNvSpPr txBox="1"/>
          <p:nvPr/>
        </p:nvSpPr>
        <p:spPr>
          <a:xfrm>
            <a:off x="1082344" y="8625586"/>
            <a:ext cx="16028773" cy="946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2A3480"/>
                </a:solidFill>
                <a:latin typeface="Barlow"/>
                <a:ea typeface="Barlow"/>
                <a:cs typeface="Barlow"/>
                <a:sym typeface="Barlow"/>
              </a:rPr>
              <a:t>ADVISOR COMMENT</a:t>
            </a:r>
            <a:endParaRPr/>
          </a:p>
          <a:p>
            <a:pPr marL="0" marR="0" lvl="0" indent="0" algn="l" rtl="0">
              <a:lnSpc>
                <a:spcPct val="110000"/>
              </a:lnSpc>
              <a:spcBef>
                <a:spcPts val="220"/>
              </a:spcBef>
              <a:spcAft>
                <a:spcPts val="0"/>
              </a:spcAft>
              <a:buNone/>
            </a:pPr>
            <a:r>
              <a:rPr lang="en-US" sz="1850" b="0" i="0" u="none" strike="noStrike" cap="none">
                <a:solidFill>
                  <a:srgbClr val="1D1F20"/>
                </a:solidFill>
                <a:latin typeface="Barlow"/>
                <a:ea typeface="Barlow"/>
                <a:cs typeface="Barlow"/>
                <a:sym typeface="Barlow"/>
              </a:rPr>
              <a:t>Contributing on the fifth of April rather than in March adds roughly ₹2.4 lakh over the eleven years, for no extra money. It is the cheapest improvement in this deck.</a:t>
            </a:r>
            <a:endParaRPr/>
          </a:p>
        </p:txBody>
      </p:sp>
      <p:sp>
        <p:nvSpPr>
          <p:cNvPr id="1332" name="Google Shape;1332;p43"/>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Armstrong Capital · Goal Based Planning</a:t>
            </a:r>
            <a:endParaRPr/>
          </a:p>
        </p:txBody>
      </p:sp>
      <p:sp>
        <p:nvSpPr>
          <p:cNvPr id="1333" name="Google Shape;1333;p43"/>
          <p:cNvSpPr txBox="1"/>
          <p:nvPr/>
        </p:nvSpPr>
        <p:spPr>
          <a:xfrm>
            <a:off x="16587469" y="9779215"/>
            <a:ext cx="701110"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31 / 46</a:t>
            </a:r>
            <a:endParaRPr/>
          </a:p>
        </p:txBody>
      </p:sp>
      <p:sp>
        <p:nvSpPr>
          <p:cNvPr id="1334" name="Google Shape;1334;p43"/>
          <p:cNvSpPr/>
          <p:nvPr/>
        </p:nvSpPr>
        <p:spPr>
          <a:xfrm>
            <a:off x="838200" y="4241800"/>
            <a:ext cx="9779000" cy="4013200"/>
          </a:xfrm>
          <a:prstGeom prst="rect">
            <a:avLst/>
          </a:prstGeom>
          <a:noFill/>
          <a:ln w="9525" cap="flat" cmpd="sng">
            <a:solidFill>
              <a:srgbClr val="000000">
                <a:alpha val="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35" name="Google Shape;1335;p43"/>
          <p:cNvSpPr/>
          <p:nvPr/>
        </p:nvSpPr>
        <p:spPr>
          <a:xfrm>
            <a:off x="1373124" y="6284976"/>
            <a:ext cx="8708135" cy="1413382"/>
          </a:xfrm>
          <a:custGeom>
            <a:avLst/>
            <a:gdLst/>
            <a:ahLst/>
            <a:cxnLst/>
            <a:rect l="l" t="t" r="r" b="b"/>
            <a:pathLst>
              <a:path w="8708135" h="1413382" extrusionOk="0">
                <a:moveTo>
                  <a:pt x="0" y="490728"/>
                </a:moveTo>
                <a:lnTo>
                  <a:pt x="1583436" y="490728"/>
                </a:lnTo>
                <a:lnTo>
                  <a:pt x="1583436" y="1413383"/>
                </a:lnTo>
                <a:lnTo>
                  <a:pt x="0" y="1413383"/>
                </a:lnTo>
                <a:close/>
                <a:moveTo>
                  <a:pt x="2375916" y="288036"/>
                </a:moveTo>
                <a:lnTo>
                  <a:pt x="3959352" y="288036"/>
                </a:lnTo>
                <a:lnTo>
                  <a:pt x="3959352" y="1413383"/>
                </a:lnTo>
                <a:lnTo>
                  <a:pt x="2375916" y="1413383"/>
                </a:lnTo>
                <a:close/>
                <a:moveTo>
                  <a:pt x="4750308" y="144780"/>
                </a:moveTo>
                <a:lnTo>
                  <a:pt x="6333744" y="144780"/>
                </a:lnTo>
                <a:lnTo>
                  <a:pt x="6333744" y="1413383"/>
                </a:lnTo>
                <a:lnTo>
                  <a:pt x="4750308" y="1413383"/>
                </a:lnTo>
                <a:close/>
                <a:moveTo>
                  <a:pt x="7124700" y="0"/>
                </a:moveTo>
                <a:lnTo>
                  <a:pt x="8708136" y="0"/>
                </a:lnTo>
                <a:lnTo>
                  <a:pt x="8708136" y="1413383"/>
                </a:lnTo>
                <a:lnTo>
                  <a:pt x="7124700" y="1413383"/>
                </a:lnTo>
                <a:close/>
              </a:path>
            </a:pathLst>
          </a:custGeom>
          <a:solidFill>
            <a:srgbClr val="D8D8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36" name="Google Shape;1336;p43"/>
          <p:cNvSpPr/>
          <p:nvPr/>
        </p:nvSpPr>
        <p:spPr>
          <a:xfrm>
            <a:off x="3749040" y="5044440"/>
            <a:ext cx="6332219" cy="1528571"/>
          </a:xfrm>
          <a:custGeom>
            <a:avLst/>
            <a:gdLst/>
            <a:ahLst/>
            <a:cxnLst/>
            <a:rect l="l" t="t" r="r" b="b"/>
            <a:pathLst>
              <a:path w="6332219" h="1528571" extrusionOk="0">
                <a:moveTo>
                  <a:pt x="0" y="1124712"/>
                </a:moveTo>
                <a:lnTo>
                  <a:pt x="1583436" y="1124712"/>
                </a:lnTo>
                <a:lnTo>
                  <a:pt x="1583436" y="1528572"/>
                </a:lnTo>
                <a:lnTo>
                  <a:pt x="0" y="1528572"/>
                </a:lnTo>
                <a:close/>
                <a:moveTo>
                  <a:pt x="2374392" y="606552"/>
                </a:moveTo>
                <a:lnTo>
                  <a:pt x="3957828" y="606552"/>
                </a:lnTo>
                <a:lnTo>
                  <a:pt x="3957828" y="1385316"/>
                </a:lnTo>
                <a:lnTo>
                  <a:pt x="2374392" y="1385316"/>
                </a:lnTo>
                <a:close/>
                <a:moveTo>
                  <a:pt x="4748784" y="0"/>
                </a:moveTo>
                <a:lnTo>
                  <a:pt x="6332220" y="0"/>
                </a:lnTo>
                <a:lnTo>
                  <a:pt x="6332220" y="1240536"/>
                </a:lnTo>
                <a:lnTo>
                  <a:pt x="4748784" y="1240536"/>
                </a:lnTo>
                <a:close/>
              </a:path>
            </a:pathLst>
          </a:cu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337" name="Google Shape;1337;p43"/>
          <p:cNvCxnSpPr/>
          <p:nvPr/>
        </p:nvCxnSpPr>
        <p:spPr>
          <a:xfrm>
            <a:off x="977900" y="7698358"/>
            <a:ext cx="9499600" cy="0"/>
          </a:xfrm>
          <a:prstGeom prst="straightConnector1">
            <a:avLst/>
          </a:prstGeom>
          <a:noFill/>
          <a:ln w="9525" cap="flat" cmpd="sng">
            <a:solidFill>
              <a:srgbClr val="3A3A3A"/>
            </a:solidFill>
            <a:prstDash val="solid"/>
            <a:round/>
            <a:headEnd type="none" w="sm" len="sm"/>
            <a:tailEnd type="none" w="sm" len="sm"/>
          </a:ln>
        </p:spPr>
      </p:cxnSp>
      <p:sp>
        <p:nvSpPr>
          <p:cNvPr id="1338" name="Google Shape;1338;p43"/>
          <p:cNvSpPr txBox="1"/>
          <p:nvPr/>
        </p:nvSpPr>
        <p:spPr>
          <a:xfrm>
            <a:off x="2030222" y="7095510"/>
            <a:ext cx="343680" cy="3206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1F2760"/>
                </a:solidFill>
                <a:latin typeface="Barlow"/>
                <a:ea typeface="Barlow"/>
                <a:cs typeface="Barlow"/>
                <a:sym typeface="Barlow"/>
              </a:rPr>
              <a:t>32</a:t>
            </a:r>
            <a:endParaRPr/>
          </a:p>
        </p:txBody>
      </p:sp>
      <p:sp>
        <p:nvSpPr>
          <p:cNvPr id="1339" name="Google Shape;1339;p43"/>
          <p:cNvSpPr txBox="1"/>
          <p:nvPr/>
        </p:nvSpPr>
        <p:spPr>
          <a:xfrm>
            <a:off x="4408678" y="6994672"/>
            <a:ext cx="339862" cy="3206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1F2760"/>
                </a:solidFill>
                <a:latin typeface="Barlow"/>
                <a:ea typeface="Barlow"/>
                <a:cs typeface="Barlow"/>
                <a:sym typeface="Barlow"/>
              </a:rPr>
              <a:t>39</a:t>
            </a:r>
            <a:endParaRPr/>
          </a:p>
        </p:txBody>
      </p:sp>
      <p:sp>
        <p:nvSpPr>
          <p:cNvPr id="1340" name="Google Shape;1340;p43"/>
          <p:cNvSpPr txBox="1"/>
          <p:nvPr/>
        </p:nvSpPr>
        <p:spPr>
          <a:xfrm>
            <a:off x="6774433" y="6922116"/>
            <a:ext cx="356809" cy="32106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1F2760"/>
                </a:solidFill>
                <a:latin typeface="Barlow"/>
                <a:ea typeface="Barlow"/>
                <a:cs typeface="Barlow"/>
                <a:sym typeface="Barlow"/>
              </a:rPr>
              <a:t>44</a:t>
            </a:r>
            <a:endParaRPr/>
          </a:p>
        </p:txBody>
      </p:sp>
      <p:sp>
        <p:nvSpPr>
          <p:cNvPr id="1341" name="Google Shape;1341;p43"/>
          <p:cNvSpPr txBox="1"/>
          <p:nvPr/>
        </p:nvSpPr>
        <p:spPr>
          <a:xfrm>
            <a:off x="9154032" y="6850527"/>
            <a:ext cx="349006" cy="3206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1F2760"/>
                </a:solidFill>
                <a:latin typeface="Barlow"/>
                <a:ea typeface="Barlow"/>
                <a:cs typeface="Barlow"/>
                <a:sym typeface="Barlow"/>
              </a:rPr>
              <a:t>49</a:t>
            </a:r>
            <a:endParaRPr/>
          </a:p>
        </p:txBody>
      </p:sp>
      <p:sp>
        <p:nvSpPr>
          <p:cNvPr id="1342" name="Google Shape;1342;p43"/>
          <p:cNvSpPr txBox="1"/>
          <p:nvPr/>
        </p:nvSpPr>
        <p:spPr>
          <a:xfrm>
            <a:off x="4425441" y="6230259"/>
            <a:ext cx="304825" cy="3206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FFFFFF"/>
                </a:solidFill>
                <a:latin typeface="Barlow"/>
                <a:ea typeface="Barlow"/>
                <a:cs typeface="Barlow"/>
                <a:sym typeface="Barlow"/>
              </a:rPr>
              <a:t>14</a:t>
            </a:r>
            <a:endParaRPr/>
          </a:p>
        </p:txBody>
      </p:sp>
      <p:sp>
        <p:nvSpPr>
          <p:cNvPr id="1343" name="Google Shape;1343;p43"/>
          <p:cNvSpPr txBox="1"/>
          <p:nvPr/>
        </p:nvSpPr>
        <p:spPr>
          <a:xfrm>
            <a:off x="6786626" y="5898662"/>
            <a:ext cx="333743" cy="3206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FFFFFF"/>
                </a:solidFill>
                <a:latin typeface="Barlow"/>
                <a:ea typeface="Barlow"/>
                <a:cs typeface="Barlow"/>
                <a:sym typeface="Barlow"/>
              </a:rPr>
              <a:t>27</a:t>
            </a:r>
            <a:endParaRPr/>
          </a:p>
        </p:txBody>
      </p:sp>
      <p:sp>
        <p:nvSpPr>
          <p:cNvPr id="1344" name="Google Shape;1344;p43"/>
          <p:cNvSpPr txBox="1"/>
          <p:nvPr/>
        </p:nvSpPr>
        <p:spPr>
          <a:xfrm>
            <a:off x="9154032" y="5523758"/>
            <a:ext cx="347479" cy="3206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FFFFFF"/>
                </a:solidFill>
                <a:latin typeface="Barlow"/>
                <a:ea typeface="Barlow"/>
                <a:cs typeface="Barlow"/>
                <a:sym typeface="Barlow"/>
              </a:rPr>
              <a:t>43</a:t>
            </a:r>
            <a:endParaRPr/>
          </a:p>
        </p:txBody>
      </p:sp>
      <p:sp>
        <p:nvSpPr>
          <p:cNvPr id="1345" name="Google Shape;1345;p43"/>
          <p:cNvSpPr txBox="1"/>
          <p:nvPr/>
        </p:nvSpPr>
        <p:spPr>
          <a:xfrm>
            <a:off x="1886966" y="6420378"/>
            <a:ext cx="629753" cy="3206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1" i="0" u="none" strike="noStrike" cap="none">
                <a:solidFill>
                  <a:srgbClr val="595959"/>
                </a:solidFill>
                <a:latin typeface="Barlow"/>
                <a:ea typeface="Barlow"/>
                <a:cs typeface="Barlow"/>
                <a:sym typeface="Barlow"/>
              </a:rPr>
              <a:t>₹32L</a:t>
            </a:r>
            <a:endParaRPr/>
          </a:p>
        </p:txBody>
      </p:sp>
      <p:sp>
        <p:nvSpPr>
          <p:cNvPr id="1346" name="Google Shape;1346;p43"/>
          <p:cNvSpPr txBox="1"/>
          <p:nvPr/>
        </p:nvSpPr>
        <p:spPr>
          <a:xfrm>
            <a:off x="4265421" y="5814842"/>
            <a:ext cx="624409" cy="3206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1" i="0" u="none" strike="noStrike" cap="none">
                <a:solidFill>
                  <a:srgbClr val="595959"/>
                </a:solidFill>
                <a:latin typeface="Barlow"/>
                <a:ea typeface="Barlow"/>
                <a:cs typeface="Barlow"/>
                <a:sym typeface="Barlow"/>
              </a:rPr>
              <a:t>₹53L</a:t>
            </a:r>
            <a:endParaRPr/>
          </a:p>
        </p:txBody>
      </p:sp>
      <p:sp>
        <p:nvSpPr>
          <p:cNvPr id="1347" name="Google Shape;1347;p43"/>
          <p:cNvSpPr txBox="1"/>
          <p:nvPr/>
        </p:nvSpPr>
        <p:spPr>
          <a:xfrm>
            <a:off x="6669278" y="5295412"/>
            <a:ext cx="566125" cy="3206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1" i="0" u="none" strike="noStrike" cap="none">
                <a:solidFill>
                  <a:srgbClr val="595959"/>
                </a:solidFill>
                <a:latin typeface="Barlow"/>
                <a:ea typeface="Barlow"/>
                <a:cs typeface="Barlow"/>
                <a:sym typeface="Barlow"/>
              </a:rPr>
              <a:t>₹71L</a:t>
            </a:r>
            <a:endParaRPr/>
          </a:p>
        </p:txBody>
      </p:sp>
      <p:sp>
        <p:nvSpPr>
          <p:cNvPr id="1348" name="Google Shape;1348;p43"/>
          <p:cNvSpPr txBox="1"/>
          <p:nvPr/>
        </p:nvSpPr>
        <p:spPr>
          <a:xfrm>
            <a:off x="9013825" y="4689749"/>
            <a:ext cx="628481" cy="3206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1" i="0" u="none" strike="noStrike" cap="none">
                <a:solidFill>
                  <a:srgbClr val="595959"/>
                </a:solidFill>
                <a:latin typeface="Barlow"/>
                <a:ea typeface="Barlow"/>
                <a:cs typeface="Barlow"/>
                <a:sym typeface="Barlow"/>
              </a:rPr>
              <a:t>₹92L</a:t>
            </a:r>
            <a:endParaRPr/>
          </a:p>
        </p:txBody>
      </p:sp>
      <p:sp>
        <p:nvSpPr>
          <p:cNvPr id="1349" name="Google Shape;1349;p43"/>
          <p:cNvSpPr txBox="1"/>
          <p:nvPr/>
        </p:nvSpPr>
        <p:spPr>
          <a:xfrm>
            <a:off x="1892173" y="7878846"/>
            <a:ext cx="623137" cy="3206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3A3A3A"/>
                </a:solidFill>
                <a:latin typeface="Barlow"/>
                <a:ea typeface="Barlow"/>
                <a:cs typeface="Barlow"/>
                <a:sym typeface="Barlow"/>
              </a:rPr>
              <a:t>2026</a:t>
            </a:r>
            <a:endParaRPr/>
          </a:p>
        </p:txBody>
      </p:sp>
      <p:sp>
        <p:nvSpPr>
          <p:cNvPr id="1350" name="Google Shape;1350;p43"/>
          <p:cNvSpPr txBox="1"/>
          <p:nvPr/>
        </p:nvSpPr>
        <p:spPr>
          <a:xfrm>
            <a:off x="4290948" y="7878846"/>
            <a:ext cx="575035" cy="3206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3A3A3A"/>
                </a:solidFill>
                <a:latin typeface="Barlow"/>
                <a:ea typeface="Barlow"/>
                <a:cs typeface="Barlow"/>
                <a:sym typeface="Barlow"/>
              </a:rPr>
              <a:t>2031</a:t>
            </a:r>
            <a:endParaRPr/>
          </a:p>
        </p:txBody>
      </p:sp>
      <p:sp>
        <p:nvSpPr>
          <p:cNvPr id="1351" name="Google Shape;1351;p43"/>
          <p:cNvSpPr txBox="1"/>
          <p:nvPr/>
        </p:nvSpPr>
        <p:spPr>
          <a:xfrm>
            <a:off x="6640321" y="7878846"/>
            <a:ext cx="626192" cy="3206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3A3A3A"/>
                </a:solidFill>
                <a:latin typeface="Barlow"/>
                <a:ea typeface="Barlow"/>
                <a:cs typeface="Barlow"/>
                <a:sym typeface="Barlow"/>
              </a:rPr>
              <a:t>2034</a:t>
            </a:r>
            <a:endParaRPr/>
          </a:p>
        </p:txBody>
      </p:sp>
      <p:sp>
        <p:nvSpPr>
          <p:cNvPr id="1352" name="Google Shape;1352;p43"/>
          <p:cNvSpPr txBox="1"/>
          <p:nvPr/>
        </p:nvSpPr>
        <p:spPr>
          <a:xfrm>
            <a:off x="9025381" y="7878846"/>
            <a:ext cx="606340" cy="3206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3A3A3A"/>
                </a:solidFill>
                <a:latin typeface="Barlow"/>
                <a:ea typeface="Barlow"/>
                <a:cs typeface="Barlow"/>
                <a:sym typeface="Barlow"/>
              </a:rPr>
              <a:t>2037</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93"/>
        <p:cNvGrpSpPr/>
        <p:nvPr/>
      </p:nvGrpSpPr>
      <p:grpSpPr>
        <a:xfrm>
          <a:off x="0" y="0"/>
          <a:ext cx="0" cy="0"/>
          <a:chOff x="0" y="0"/>
          <a:chExt cx="0" cy="0"/>
        </a:xfrm>
      </p:grpSpPr>
      <p:sp>
        <p:nvSpPr>
          <p:cNvPr id="1394" name="Google Shape;1394;p45"/>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96" name="Google Shape;1396;p45"/>
          <p:cNvSpPr txBox="1"/>
          <p:nvPr/>
        </p:nvSpPr>
        <p:spPr>
          <a:xfrm>
            <a:off x="863803" y="376292"/>
            <a:ext cx="3499650" cy="1063826"/>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100" b="1" i="0" u="none" strike="noStrike" kern="0" cap="none" spc="0" normalizeH="0" baseline="0" noProof="0" dirty="0">
                <a:ln>
                  <a:noFill/>
                </a:ln>
                <a:solidFill>
                  <a:srgbClr val="2A3480"/>
                </a:solidFill>
                <a:effectLst/>
                <a:uLnTx/>
                <a:uFillTx/>
                <a:latin typeface="Barlow"/>
                <a:ea typeface="Barlow"/>
                <a:cs typeface="Barlow"/>
                <a:sym typeface="Barlow"/>
              </a:rPr>
              <a:t>RETIREMENT ASSET · 2037</a:t>
            </a:r>
            <a:endParaRPr kumimoji="0" sz="2100" b="1"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950" b="1" i="0" u="none" strike="noStrike" kern="0" cap="none" spc="0" normalizeH="0" baseline="0" noProof="0" dirty="0">
                <a:ln>
                  <a:noFill/>
                </a:ln>
                <a:solidFill>
                  <a:srgbClr val="1D1F20"/>
                </a:solidFill>
                <a:effectLst/>
                <a:uLnTx/>
                <a:uFillTx/>
                <a:latin typeface="Barlow Condensed"/>
                <a:ea typeface="Barlow Condensed"/>
                <a:cs typeface="Barlow Condensed"/>
                <a:sym typeface="Barlow Condensed"/>
              </a:rPr>
              <a:t>Direct Equity</a:t>
            </a:r>
            <a:endParaRPr kumimoji="0" sz="1400" b="1" i="0" u="none" strike="noStrike" kern="0" cap="none" spc="0" normalizeH="0" baseline="0" noProof="0" dirty="0">
              <a:ln>
                <a:noFill/>
              </a:ln>
              <a:solidFill>
                <a:srgbClr val="000000"/>
              </a:solidFill>
              <a:effectLst/>
              <a:uLnTx/>
              <a:uFillTx/>
              <a:latin typeface="Arial"/>
              <a:cs typeface="Arial"/>
              <a:sym typeface="Arial"/>
            </a:endParaRPr>
          </a:p>
        </p:txBody>
      </p:sp>
      <p:pic>
        <p:nvPicPr>
          <p:cNvPr id="1397" name="Google Shape;1397;p45" descr="image.png"/>
          <p:cNvPicPr preferRelativeResize="0"/>
          <p:nvPr/>
        </p:nvPicPr>
        <p:blipFill rotWithShape="1">
          <a:blip r:embed="rId3">
            <a:alphaModFix/>
          </a:blip>
          <a:srcRect/>
          <a:stretch/>
        </p:blipFill>
        <p:spPr>
          <a:xfrm>
            <a:off x="15373350" y="304736"/>
            <a:ext cx="2076323" cy="590486"/>
          </a:xfrm>
          <a:prstGeom prst="rect">
            <a:avLst/>
          </a:prstGeom>
          <a:noFill/>
          <a:ln>
            <a:noFill/>
          </a:ln>
        </p:spPr>
      </p:pic>
      <p:sp>
        <p:nvSpPr>
          <p:cNvPr id="1398" name="Google Shape;1398;p45"/>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99" name="Google Shape;1399;p45"/>
          <p:cNvSpPr txBox="1"/>
          <p:nvPr/>
        </p:nvSpPr>
        <p:spPr>
          <a:xfrm>
            <a:off x="863803" y="1662064"/>
            <a:ext cx="13184244" cy="6979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20800"/>
              </a:lnSpc>
              <a:spcBef>
                <a:spcPts val="0"/>
              </a:spcBef>
              <a:spcAft>
                <a:spcPts val="0"/>
              </a:spcAft>
              <a:buClr>
                <a:srgbClr val="000000"/>
              </a:buClr>
              <a:buSzTx/>
              <a:buFont typeface="Arial"/>
              <a:buNone/>
              <a:tabLst/>
              <a:defRPr/>
            </a:pPr>
            <a:r>
              <a:rPr kumimoji="0" lang="en-US" sz="2050" b="0" i="0" u="none" strike="noStrike" kern="0" cap="none" spc="0" normalizeH="0" baseline="0" noProof="0">
                <a:ln>
                  <a:noFill/>
                </a:ln>
                <a:solidFill>
                  <a:srgbClr val="1D1F20"/>
                </a:solidFill>
                <a:effectLst/>
                <a:uLnTx/>
                <a:uFillTx/>
                <a:latin typeface="Barlow"/>
                <a:ea typeface="Barlow"/>
                <a:cs typeface="Barlow"/>
                <a:sym typeface="Barlow"/>
              </a:rPr>
              <a:t>Eleven holdings built up over fifteen years. Four of them account for 58% of the book, and two sectors account for two- thirds of it.</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0" name="Google Shape;1400;p45"/>
          <p:cNvSpPr/>
          <p:nvPr/>
        </p:nvSpPr>
        <p:spPr>
          <a:xfrm>
            <a:off x="838187" y="2463228"/>
            <a:ext cx="4038599"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01" name="Google Shape;1401;p45"/>
          <p:cNvSpPr txBox="1"/>
          <p:nvPr/>
        </p:nvSpPr>
        <p:spPr>
          <a:xfrm>
            <a:off x="1063142" y="2680080"/>
            <a:ext cx="1825366" cy="772261"/>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CURRENT VALUE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₹62 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2" name="Google Shape;1402;p45"/>
          <p:cNvSpPr/>
          <p:nvPr/>
        </p:nvSpPr>
        <p:spPr>
          <a:xfrm>
            <a:off x="5029072" y="24632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03" name="Google Shape;1403;p45"/>
          <p:cNvSpPr txBox="1"/>
          <p:nvPr/>
        </p:nvSpPr>
        <p:spPr>
          <a:xfrm>
            <a:off x="5254497" y="2680080"/>
            <a:ext cx="1256992" cy="772261"/>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HOLDINGS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11 stocks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4" name="Google Shape;1404;p45"/>
          <p:cNvSpPr/>
          <p:nvPr/>
        </p:nvSpPr>
        <p:spPr>
          <a:xfrm>
            <a:off x="9220072" y="24632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05" name="Google Shape;1405;p45"/>
          <p:cNvSpPr txBox="1"/>
          <p:nvPr/>
        </p:nvSpPr>
        <p:spPr>
          <a:xfrm>
            <a:off x="9445752" y="2680080"/>
            <a:ext cx="1991835" cy="772261"/>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TOP FOUR WEIGHT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58%</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6" name="Google Shape;1406;p45"/>
          <p:cNvSpPr/>
          <p:nvPr/>
        </p:nvSpPr>
        <p:spPr>
          <a:xfrm>
            <a:off x="13411072" y="24632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07" name="Google Shape;1407;p45"/>
          <p:cNvSpPr txBox="1"/>
          <p:nvPr/>
        </p:nvSpPr>
        <p:spPr>
          <a:xfrm>
            <a:off x="13637387" y="2680080"/>
            <a:ext cx="2004434" cy="772261"/>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ASSUMED RETURN</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11%</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8" name="Google Shape;1408;p45"/>
          <p:cNvSpPr txBox="1"/>
          <p:nvPr/>
        </p:nvSpPr>
        <p:spPr>
          <a:xfrm>
            <a:off x="863803" y="3761051"/>
            <a:ext cx="3094236" cy="299941"/>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2A3480"/>
                </a:solidFill>
                <a:effectLst/>
                <a:uLnTx/>
                <a:uFillTx/>
                <a:latin typeface="Barlow"/>
                <a:ea typeface="Barlow"/>
                <a:cs typeface="Barlow"/>
                <a:sym typeface="Barlow"/>
              </a:rPr>
              <a:t>HOW THE ₹62 LAKH IS USED</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9" name="Google Shape;1409;p45"/>
          <p:cNvSpPr/>
          <p:nvPr/>
        </p:nvSpPr>
        <p:spPr>
          <a:xfrm>
            <a:off x="838187" y="4185665"/>
            <a:ext cx="2946654" cy="666750"/>
          </a:xfrm>
          <a:prstGeom prst="rect">
            <a:avLst/>
          </a:prstGeom>
          <a:solidFill>
            <a:srgbClr val="5980A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10" name="Google Shape;1410;p45"/>
          <p:cNvSpPr txBox="1"/>
          <p:nvPr/>
        </p:nvSpPr>
        <p:spPr>
          <a:xfrm>
            <a:off x="1035100" y="4373402"/>
            <a:ext cx="631746" cy="361005"/>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250" b="0" i="0" u="none" strike="noStrike" kern="0" cap="none" spc="0" normalizeH="0" baseline="0" noProof="0">
                <a:ln>
                  <a:noFill/>
                </a:ln>
                <a:solidFill>
                  <a:srgbClr val="F2F2F3"/>
                </a:solidFill>
                <a:effectLst/>
                <a:uLnTx/>
                <a:uFillTx/>
                <a:latin typeface="Barlow Condensed"/>
                <a:ea typeface="Barlow Condensed"/>
                <a:cs typeface="Barlow Condensed"/>
                <a:sym typeface="Barlow Condensed"/>
              </a:rPr>
              <a:t>₹20 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1" name="Google Shape;1411;p45"/>
          <p:cNvSpPr/>
          <p:nvPr/>
        </p:nvSpPr>
        <p:spPr>
          <a:xfrm>
            <a:off x="3813428" y="4185665"/>
            <a:ext cx="5999353" cy="666750"/>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12" name="Google Shape;1412;p45"/>
          <p:cNvSpPr txBox="1"/>
          <p:nvPr/>
        </p:nvSpPr>
        <p:spPr>
          <a:xfrm>
            <a:off x="4010533" y="4373402"/>
            <a:ext cx="3018501" cy="361005"/>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250" b="0" i="0" u="none" strike="noStrike" kern="0" cap="none" spc="0" normalizeH="0" baseline="0" noProof="0">
                <a:ln>
                  <a:noFill/>
                </a:ln>
                <a:solidFill>
                  <a:srgbClr val="F2F2F3"/>
                </a:solidFill>
                <a:effectLst/>
                <a:uLnTx/>
                <a:uFillTx/>
                <a:latin typeface="Barlow Condensed"/>
                <a:ea typeface="Barlow Condensed"/>
                <a:cs typeface="Barlow Condensed"/>
                <a:sym typeface="Barlow Condensed"/>
              </a:rPr>
              <a:t>₹42 L retained for retirement</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3" name="Google Shape;1413;p45"/>
          <p:cNvSpPr txBox="1"/>
          <p:nvPr/>
        </p:nvSpPr>
        <p:spPr>
          <a:xfrm>
            <a:off x="863803" y="5022469"/>
            <a:ext cx="2884288" cy="288035"/>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Earmarked for Aarav’s PG in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4" name="Google Shape;1414;p45"/>
          <p:cNvSpPr txBox="1"/>
          <p:nvPr/>
        </p:nvSpPr>
        <p:spPr>
          <a:xfrm>
            <a:off x="863803" y="5378792"/>
            <a:ext cx="563309" cy="28842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2036</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5" name="Google Shape;1415;p45"/>
          <p:cNvSpPr txBox="1"/>
          <p:nvPr/>
        </p:nvSpPr>
        <p:spPr>
          <a:xfrm>
            <a:off x="3887978" y="5022469"/>
            <a:ext cx="3098737" cy="288035"/>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Consolidated into three funds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6" name="Google Shape;1416;p45"/>
          <p:cNvSpPr/>
          <p:nvPr/>
        </p:nvSpPr>
        <p:spPr>
          <a:xfrm>
            <a:off x="838187" y="6509639"/>
            <a:ext cx="897458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17" name="Google Shape;1417;p45"/>
          <p:cNvSpPr txBox="1"/>
          <p:nvPr/>
        </p:nvSpPr>
        <p:spPr>
          <a:xfrm>
            <a:off x="863803" y="6029944"/>
            <a:ext cx="2235316" cy="299557"/>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1D1F20"/>
                </a:solidFill>
                <a:effectLst/>
                <a:uLnTx/>
                <a:uFillTx/>
                <a:latin typeface="Barlow"/>
                <a:ea typeface="Barlow"/>
                <a:cs typeface="Barlow"/>
                <a:sym typeface="Barlow"/>
              </a:rPr>
              <a:t>Retained book, 2026</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8" name="Google Shape;1418;p45"/>
          <p:cNvSpPr txBox="1"/>
          <p:nvPr/>
        </p:nvSpPr>
        <p:spPr>
          <a:xfrm>
            <a:off x="9238742" y="6041478"/>
            <a:ext cx="658797" cy="384432"/>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₹42 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9" name="Google Shape;1419;p45"/>
          <p:cNvSpPr/>
          <p:nvPr/>
        </p:nvSpPr>
        <p:spPr>
          <a:xfrm>
            <a:off x="838187" y="7257795"/>
            <a:ext cx="897458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20" name="Google Shape;1420;p45"/>
          <p:cNvSpPr txBox="1"/>
          <p:nvPr/>
        </p:nvSpPr>
        <p:spPr>
          <a:xfrm>
            <a:off x="863803" y="6778228"/>
            <a:ext cx="2367620" cy="299557"/>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1D1F20"/>
                </a:solidFill>
                <a:effectLst/>
                <a:uLnTx/>
                <a:uFillTx/>
                <a:latin typeface="Barlow"/>
                <a:ea typeface="Barlow"/>
                <a:cs typeface="Barlow"/>
                <a:sym typeface="Barlow"/>
              </a:rPr>
              <a:t>Growth at 11% to 2037</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1" name="Google Shape;1421;p45"/>
          <p:cNvSpPr txBox="1"/>
          <p:nvPr/>
        </p:nvSpPr>
        <p:spPr>
          <a:xfrm>
            <a:off x="9107678" y="6790055"/>
            <a:ext cx="789737" cy="384048"/>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+₹92 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2" name="Google Shape;1422;p45"/>
          <p:cNvSpPr txBox="1"/>
          <p:nvPr/>
        </p:nvSpPr>
        <p:spPr>
          <a:xfrm>
            <a:off x="863803" y="7520843"/>
            <a:ext cx="2196851" cy="312999"/>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950" b="0" i="0" u="none" strike="noStrike" kern="0" cap="none" spc="0" normalizeH="0" baseline="0" noProof="0">
                <a:ln>
                  <a:noFill/>
                </a:ln>
                <a:solidFill>
                  <a:srgbClr val="1D1F20"/>
                </a:solidFill>
                <a:effectLst/>
                <a:uLnTx/>
                <a:uFillTx/>
                <a:latin typeface="Barlow"/>
                <a:ea typeface="Barlow"/>
                <a:cs typeface="Barlow"/>
                <a:sym typeface="Barlow"/>
              </a:rPr>
              <a:t>Value at retirement</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3" name="Google Shape;1423;p45"/>
          <p:cNvSpPr txBox="1"/>
          <p:nvPr/>
        </p:nvSpPr>
        <p:spPr>
          <a:xfrm>
            <a:off x="8786114" y="7550531"/>
            <a:ext cx="1108329" cy="480059"/>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00" b="0" i="0" u="none" strike="noStrike" kern="0" cap="none" spc="0" normalizeH="0" baseline="0" noProof="0">
                <a:ln>
                  <a:noFill/>
                </a:ln>
                <a:solidFill>
                  <a:srgbClr val="2F7D3A"/>
                </a:solidFill>
                <a:effectLst/>
                <a:uLnTx/>
                <a:uFillTx/>
                <a:latin typeface="Barlow Condensed"/>
                <a:ea typeface="Barlow Condensed"/>
                <a:cs typeface="Barlow Condensed"/>
                <a:sym typeface="Barlow Condensed"/>
              </a:rPr>
              <a:t>₹1.34 Cr</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4" name="Google Shape;1424;p45"/>
          <p:cNvSpPr/>
          <p:nvPr/>
        </p:nvSpPr>
        <p:spPr>
          <a:xfrm>
            <a:off x="10269981" y="3683381"/>
            <a:ext cx="7179691" cy="1363852"/>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25" name="Google Shape;1425;p45"/>
          <p:cNvSpPr txBox="1"/>
          <p:nvPr/>
        </p:nvSpPr>
        <p:spPr>
          <a:xfrm>
            <a:off x="10543920" y="3891407"/>
            <a:ext cx="2777666" cy="1088136"/>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F2F2F3"/>
                </a:solidFill>
                <a:effectLst/>
                <a:uLnTx/>
                <a:uFillTx/>
                <a:latin typeface="Barlow"/>
                <a:ea typeface="Barlow"/>
                <a:cs typeface="Barlow"/>
                <a:sym typeface="Barlow"/>
              </a:rPr>
              <a:t>VALUE AT RETIREMENT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0" i="0" u="none" strike="noStrike" kern="0" cap="none" spc="0" normalizeH="0" baseline="0" noProof="0">
                <a:ln>
                  <a:noFill/>
                </a:ln>
                <a:solidFill>
                  <a:srgbClr val="F2F2F3"/>
                </a:solidFill>
                <a:effectLst/>
                <a:uLnTx/>
                <a:uFillTx/>
                <a:latin typeface="Barlow Condensed"/>
                <a:ea typeface="Barlow Condensed"/>
                <a:cs typeface="Barlow Condensed"/>
                <a:sym typeface="Barlow Condensed"/>
              </a:rPr>
              <a:t>₹1.34 Crore</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6" name="Google Shape;1426;p45"/>
          <p:cNvSpPr/>
          <p:nvPr/>
        </p:nvSpPr>
        <p:spPr>
          <a:xfrm>
            <a:off x="10269981" y="5180457"/>
            <a:ext cx="7179691" cy="3189224"/>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27" name="Google Shape;1427;p45"/>
          <p:cNvSpPr txBox="1"/>
          <p:nvPr/>
        </p:nvSpPr>
        <p:spPr>
          <a:xfrm>
            <a:off x="10543920" y="6113726"/>
            <a:ext cx="2668156" cy="299941"/>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2A3480"/>
                </a:solidFill>
                <a:effectLst/>
                <a:uLnTx/>
                <a:uFillTx/>
                <a:latin typeface="Barlow"/>
                <a:ea typeface="Barlow"/>
                <a:cs typeface="Barlow"/>
                <a:sym typeface="Barlow"/>
              </a:rPr>
              <a:t>OUR RECOMMENDATION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8" name="Google Shape;1428;p45"/>
          <p:cNvSpPr txBox="1"/>
          <p:nvPr/>
        </p:nvSpPr>
        <p:spPr>
          <a:xfrm>
            <a:off x="10543920" y="6555725"/>
            <a:ext cx="6657008" cy="985356"/>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202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1D1F20"/>
                </a:solidFill>
                <a:effectLst/>
                <a:uLnTx/>
                <a:uFillTx/>
                <a:latin typeface="Barlow"/>
                <a:ea typeface="Barlow"/>
                <a:cs typeface="Barlow"/>
                <a:sym typeface="Barlow"/>
              </a:rPr>
              <a:t>Move the seven smallest holdings into diversified funds over four financial years, using the ₹1.25 lakh annual exemption. Keep the four convictions you actively follow.</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9" name="Google Shape;1429;p45"/>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30" name="Google Shape;1430;p45"/>
          <p:cNvSpPr txBox="1"/>
          <p:nvPr/>
        </p:nvSpPr>
        <p:spPr>
          <a:xfrm>
            <a:off x="1082344" y="8625586"/>
            <a:ext cx="16124983" cy="946048"/>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2A3480"/>
                </a:solidFill>
                <a:effectLst/>
                <a:uLnTx/>
                <a:uFillTx/>
                <a:latin typeface="Barlow"/>
                <a:ea typeface="Barlow"/>
                <a:cs typeface="Barlow"/>
                <a:sym typeface="Barlow"/>
              </a:rPr>
              <a:t>ADVISOR COMMENT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10000"/>
              </a:lnSpc>
              <a:spcBef>
                <a:spcPts val="22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1D1F20"/>
                </a:solidFill>
                <a:effectLst/>
                <a:uLnTx/>
                <a:uFillTx/>
                <a:latin typeface="Barlow"/>
                <a:ea typeface="Barlow"/>
                <a:cs typeface="Barlow"/>
                <a:sym typeface="Barlow"/>
              </a:rPr>
              <a:t>Individual stock selection needs continuous research, and a single-stock failure this close to retirement is difficult to recover from. Staging the exit over four years keeps the capital gains tax bill near zero.</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1" name="Google Shape;1431;p45"/>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Armstrong Capital · Goal Based Planning</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2" name="Google Shape;1432;p45"/>
          <p:cNvSpPr txBox="1"/>
          <p:nvPr/>
        </p:nvSpPr>
        <p:spPr>
          <a:xfrm>
            <a:off x="16587469" y="9779215"/>
            <a:ext cx="739109" cy="28842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33 / 46</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sp>
        <p:nvSpPr>
          <p:cNvPr id="1357" name="Google Shape;1357;p44"/>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59" name="Google Shape;1359;p44"/>
          <p:cNvSpPr txBox="1"/>
          <p:nvPr/>
        </p:nvSpPr>
        <p:spPr>
          <a:xfrm>
            <a:off x="863803" y="376292"/>
            <a:ext cx="6106289" cy="106382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100" b="1" i="0" u="none" strike="noStrike" cap="none" dirty="0">
                <a:solidFill>
                  <a:srgbClr val="2A3480"/>
                </a:solidFill>
                <a:latin typeface="Barlow"/>
                <a:ea typeface="Barlow"/>
                <a:cs typeface="Barlow"/>
                <a:sym typeface="Barlow"/>
              </a:rPr>
              <a:t>RETIREMENT ASSET · 2042</a:t>
            </a:r>
            <a:endParaRPr sz="2100" b="1" dirty="0"/>
          </a:p>
          <a:p>
            <a:pPr marL="0" marR="0" lvl="0" indent="0" algn="l" rtl="0">
              <a:lnSpc>
                <a:spcPct val="100000"/>
              </a:lnSpc>
              <a:spcBef>
                <a:spcPts val="0"/>
              </a:spcBef>
              <a:spcAft>
                <a:spcPts val="0"/>
              </a:spcAft>
              <a:buNone/>
            </a:pPr>
            <a:r>
              <a:rPr lang="en-US" sz="4950" b="1" i="0" u="none" strike="noStrike" cap="none" dirty="0">
                <a:solidFill>
                  <a:srgbClr val="1D1F20"/>
                </a:solidFill>
                <a:latin typeface="Barlow Condensed"/>
                <a:ea typeface="Barlow Condensed"/>
                <a:cs typeface="Barlow Condensed"/>
                <a:sym typeface="Barlow Condensed"/>
              </a:rPr>
              <a:t>National Pension Scheme</a:t>
            </a:r>
            <a:endParaRPr dirty="0"/>
          </a:p>
        </p:txBody>
      </p:sp>
      <p:pic>
        <p:nvPicPr>
          <p:cNvPr id="1360" name="Google Shape;1360;p44" descr="image.png"/>
          <p:cNvPicPr preferRelativeResize="0"/>
          <p:nvPr/>
        </p:nvPicPr>
        <p:blipFill rotWithShape="1">
          <a:blip r:embed="rId3">
            <a:alphaModFix/>
          </a:blip>
          <a:srcRect/>
          <a:stretch/>
        </p:blipFill>
        <p:spPr>
          <a:xfrm>
            <a:off x="15373350" y="304736"/>
            <a:ext cx="2076323" cy="590486"/>
          </a:xfrm>
          <a:prstGeom prst="rect">
            <a:avLst/>
          </a:prstGeom>
          <a:noFill/>
          <a:ln>
            <a:noFill/>
          </a:ln>
        </p:spPr>
      </p:pic>
      <p:sp>
        <p:nvSpPr>
          <p:cNvPr id="1361" name="Google Shape;1361;p44"/>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2" name="Google Shape;1362;p44"/>
          <p:cNvSpPr txBox="1"/>
          <p:nvPr/>
        </p:nvSpPr>
        <p:spPr>
          <a:xfrm>
            <a:off x="863803" y="1662064"/>
            <a:ext cx="13668226" cy="697900"/>
          </a:xfrm>
          <a:prstGeom prst="rect">
            <a:avLst/>
          </a:prstGeom>
          <a:noFill/>
          <a:ln>
            <a:noFill/>
          </a:ln>
        </p:spPr>
        <p:txBody>
          <a:bodyPr spcFirstLastPara="1" wrap="square" lIns="0" tIns="0" rIns="0" bIns="0" anchor="t" anchorCtr="0">
            <a:noAutofit/>
          </a:bodyPr>
          <a:lstStyle/>
          <a:p>
            <a:pPr marL="0" marR="0" lvl="0" indent="0" algn="l" rtl="0">
              <a:lnSpc>
                <a:spcPct val="120800"/>
              </a:lnSpc>
              <a:spcBef>
                <a:spcPts val="0"/>
              </a:spcBef>
              <a:spcAft>
                <a:spcPts val="0"/>
              </a:spcAft>
              <a:buNone/>
            </a:pPr>
            <a:r>
              <a:rPr lang="en-US" sz="2050" b="0" i="0" u="none" strike="noStrike" cap="none">
                <a:solidFill>
                  <a:srgbClr val="1D1F20"/>
                </a:solidFill>
                <a:latin typeface="Barlow"/>
                <a:ea typeface="Barlow"/>
                <a:cs typeface="Barlow"/>
                <a:sym typeface="Barlow"/>
              </a:rPr>
              <a:t>Market-linked and low-cost, with an additional ₹50,000 deduction. It matures at 60, not at 55 — so it funds the second phase of retirement rather than the first.</a:t>
            </a:r>
            <a:endParaRPr/>
          </a:p>
        </p:txBody>
      </p:sp>
      <p:sp>
        <p:nvSpPr>
          <p:cNvPr id="1363" name="Google Shape;1363;p44"/>
          <p:cNvSpPr/>
          <p:nvPr/>
        </p:nvSpPr>
        <p:spPr>
          <a:xfrm>
            <a:off x="838187" y="2539428"/>
            <a:ext cx="4038599"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4" name="Google Shape;1364;p44"/>
          <p:cNvSpPr txBox="1"/>
          <p:nvPr/>
        </p:nvSpPr>
        <p:spPr>
          <a:xfrm>
            <a:off x="1063142" y="2756280"/>
            <a:ext cx="1825366" cy="7723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CURRENT VALUE</a:t>
            </a:r>
            <a:endParaRPr/>
          </a:p>
          <a:p>
            <a:pPr marL="0" marR="0" lvl="0" indent="0" algn="l" rtl="0">
              <a:lnSpc>
                <a:spcPct val="100000"/>
              </a:lnSpc>
              <a:spcBef>
                <a:spcPts val="0"/>
              </a:spcBef>
              <a:spcAft>
                <a:spcPts val="0"/>
              </a:spcAft>
              <a:buNone/>
            </a:pPr>
            <a:r>
              <a:rPr lang="en-US" sz="3150" b="0" i="0" u="none" strike="noStrike" cap="none">
                <a:solidFill>
                  <a:srgbClr val="1D1F20"/>
                </a:solidFill>
                <a:latin typeface="Barlow Condensed"/>
                <a:ea typeface="Barlow Condensed"/>
                <a:cs typeface="Barlow Condensed"/>
                <a:sym typeface="Barlow Condensed"/>
              </a:rPr>
              <a:t>₹28 L</a:t>
            </a:r>
            <a:endParaRPr/>
          </a:p>
        </p:txBody>
      </p:sp>
      <p:sp>
        <p:nvSpPr>
          <p:cNvPr id="1365" name="Google Shape;1365;p44"/>
          <p:cNvSpPr/>
          <p:nvPr/>
        </p:nvSpPr>
        <p:spPr>
          <a:xfrm>
            <a:off x="5029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6" name="Google Shape;1366;p44"/>
          <p:cNvSpPr txBox="1"/>
          <p:nvPr/>
        </p:nvSpPr>
        <p:spPr>
          <a:xfrm>
            <a:off x="5254497" y="2756280"/>
            <a:ext cx="2740351" cy="7723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MONTHLY CONTRIBUTION</a:t>
            </a:r>
            <a:endParaRPr/>
          </a:p>
          <a:p>
            <a:pPr marL="0" marR="0" lvl="0" indent="0" algn="l" rtl="0">
              <a:lnSpc>
                <a:spcPct val="100000"/>
              </a:lnSpc>
              <a:spcBef>
                <a:spcPts val="0"/>
              </a:spcBef>
              <a:spcAft>
                <a:spcPts val="0"/>
              </a:spcAft>
              <a:buNone/>
            </a:pPr>
            <a:r>
              <a:rPr lang="en-US" sz="3150" b="0" i="0" u="none" strike="noStrike" cap="none">
                <a:solidFill>
                  <a:srgbClr val="1D1F20"/>
                </a:solidFill>
                <a:latin typeface="Barlow Condensed"/>
                <a:ea typeface="Barlow Condensed"/>
                <a:cs typeface="Barlow Condensed"/>
                <a:sym typeface="Barlow Condensed"/>
              </a:rPr>
              <a:t>₹20,000</a:t>
            </a:r>
            <a:endParaRPr/>
          </a:p>
        </p:txBody>
      </p:sp>
      <p:sp>
        <p:nvSpPr>
          <p:cNvPr id="1367" name="Google Shape;1367;p44"/>
          <p:cNvSpPr/>
          <p:nvPr/>
        </p:nvSpPr>
        <p:spPr>
          <a:xfrm>
            <a:off x="9220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8" name="Google Shape;1368;p44"/>
          <p:cNvSpPr txBox="1"/>
          <p:nvPr/>
        </p:nvSpPr>
        <p:spPr>
          <a:xfrm>
            <a:off x="9445752" y="2756280"/>
            <a:ext cx="1380474" cy="7723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ALLOCATION</a:t>
            </a:r>
            <a:endParaRPr/>
          </a:p>
          <a:p>
            <a:pPr marL="0" marR="0" lvl="0" indent="0" algn="l" rtl="0">
              <a:lnSpc>
                <a:spcPct val="100000"/>
              </a:lnSpc>
              <a:spcBef>
                <a:spcPts val="0"/>
              </a:spcBef>
              <a:spcAft>
                <a:spcPts val="0"/>
              </a:spcAft>
              <a:buNone/>
            </a:pPr>
            <a:r>
              <a:rPr lang="en-US" sz="3150" b="0" i="0" u="none" strike="noStrike" cap="none">
                <a:solidFill>
                  <a:srgbClr val="1D1F20"/>
                </a:solidFill>
                <a:latin typeface="Barlow Condensed"/>
                <a:ea typeface="Barlow Condensed"/>
                <a:cs typeface="Barlow Condensed"/>
                <a:sym typeface="Barlow Condensed"/>
              </a:rPr>
              <a:t>75E / 25C</a:t>
            </a:r>
            <a:endParaRPr/>
          </a:p>
        </p:txBody>
      </p:sp>
      <p:sp>
        <p:nvSpPr>
          <p:cNvPr id="1369" name="Google Shape;1369;p44"/>
          <p:cNvSpPr/>
          <p:nvPr/>
        </p:nvSpPr>
        <p:spPr>
          <a:xfrm>
            <a:off x="13411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70" name="Google Shape;1370;p44"/>
          <p:cNvSpPr txBox="1"/>
          <p:nvPr/>
        </p:nvSpPr>
        <p:spPr>
          <a:xfrm>
            <a:off x="13637387" y="2756280"/>
            <a:ext cx="2004434" cy="7723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ASSUMED RETURN</a:t>
            </a:r>
            <a:endParaRPr/>
          </a:p>
          <a:p>
            <a:pPr marL="0" marR="0" lvl="0" indent="0" algn="l" rtl="0">
              <a:lnSpc>
                <a:spcPct val="100000"/>
              </a:lnSpc>
              <a:spcBef>
                <a:spcPts val="0"/>
              </a:spcBef>
              <a:spcAft>
                <a:spcPts val="0"/>
              </a:spcAft>
              <a:buNone/>
            </a:pPr>
            <a:r>
              <a:rPr lang="en-US" sz="3150" b="0" i="0" u="none" strike="noStrike" cap="none">
                <a:solidFill>
                  <a:srgbClr val="1D1F20"/>
                </a:solidFill>
                <a:latin typeface="Barlow Condensed"/>
                <a:ea typeface="Barlow Condensed"/>
                <a:cs typeface="Barlow Condensed"/>
                <a:sym typeface="Barlow Condensed"/>
              </a:rPr>
              <a:t>10%</a:t>
            </a:r>
            <a:endParaRPr/>
          </a:p>
        </p:txBody>
      </p:sp>
      <p:sp>
        <p:nvSpPr>
          <p:cNvPr id="1371" name="Google Shape;1371;p44"/>
          <p:cNvSpPr txBox="1"/>
          <p:nvPr/>
        </p:nvSpPr>
        <p:spPr>
          <a:xfrm>
            <a:off x="863803" y="3913997"/>
            <a:ext cx="2958329"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TWO DATES THAT MATTER</a:t>
            </a:r>
            <a:endParaRPr/>
          </a:p>
        </p:txBody>
      </p:sp>
      <p:sp>
        <p:nvSpPr>
          <p:cNvPr id="1372" name="Google Shape;1372;p44"/>
          <p:cNvSpPr txBox="1"/>
          <p:nvPr/>
        </p:nvSpPr>
        <p:spPr>
          <a:xfrm>
            <a:off x="863803" y="5546882"/>
            <a:ext cx="1056973" cy="4570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1D1F20"/>
                </a:solidFill>
                <a:latin typeface="Barlow Condensed"/>
                <a:ea typeface="Barlow Condensed"/>
                <a:cs typeface="Barlow Condensed"/>
                <a:sym typeface="Barlow Condensed"/>
              </a:rPr>
              <a:t>₹1.28 Cr</a:t>
            </a:r>
            <a:endParaRPr/>
          </a:p>
        </p:txBody>
      </p:sp>
      <p:sp>
        <p:nvSpPr>
          <p:cNvPr id="1373" name="Google Shape;1373;p44"/>
          <p:cNvSpPr/>
          <p:nvPr/>
        </p:nvSpPr>
        <p:spPr>
          <a:xfrm>
            <a:off x="838187" y="6096000"/>
            <a:ext cx="4521199" cy="1816100"/>
          </a:xfrm>
          <a:prstGeom prst="rect">
            <a:avLst/>
          </a:prstGeom>
          <a:solidFill>
            <a:srgbClr val="3A45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74" name="Google Shape;1374;p44"/>
          <p:cNvSpPr txBox="1"/>
          <p:nvPr/>
        </p:nvSpPr>
        <p:spPr>
          <a:xfrm>
            <a:off x="863803" y="8079343"/>
            <a:ext cx="3987205"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2037 — you retire, contributions stop</a:t>
            </a:r>
            <a:endParaRPr/>
          </a:p>
        </p:txBody>
      </p:sp>
      <p:sp>
        <p:nvSpPr>
          <p:cNvPr id="1375" name="Google Shape;1375;p44"/>
          <p:cNvSpPr txBox="1"/>
          <p:nvPr/>
        </p:nvSpPr>
        <p:spPr>
          <a:xfrm>
            <a:off x="5766180" y="4436521"/>
            <a:ext cx="1119359" cy="4570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2F7D3A"/>
                </a:solidFill>
                <a:latin typeface="Barlow Condensed"/>
                <a:ea typeface="Barlow Condensed"/>
                <a:cs typeface="Barlow Condensed"/>
                <a:sym typeface="Barlow Condensed"/>
              </a:rPr>
              <a:t>₹2.06 Cr</a:t>
            </a:r>
            <a:endParaRPr/>
          </a:p>
        </p:txBody>
      </p:sp>
      <p:sp>
        <p:nvSpPr>
          <p:cNvPr id="1376" name="Google Shape;1376;p44"/>
          <p:cNvSpPr/>
          <p:nvPr/>
        </p:nvSpPr>
        <p:spPr>
          <a:xfrm>
            <a:off x="5740400" y="4978400"/>
            <a:ext cx="4521200" cy="2933700"/>
          </a:xfrm>
          <a:prstGeom prst="rect">
            <a:avLst/>
          </a:prstGeom>
          <a:solidFill>
            <a:srgbClr val="2F7D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77" name="Google Shape;1377;p44"/>
          <p:cNvSpPr txBox="1"/>
          <p:nvPr/>
        </p:nvSpPr>
        <p:spPr>
          <a:xfrm>
            <a:off x="5766180" y="8079724"/>
            <a:ext cx="3842791"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2042 — maturity at 60, five years on</a:t>
            </a:r>
            <a:endParaRPr/>
          </a:p>
        </p:txBody>
      </p:sp>
      <p:sp>
        <p:nvSpPr>
          <p:cNvPr id="1378" name="Google Shape;1378;p44"/>
          <p:cNvSpPr/>
          <p:nvPr/>
        </p:nvSpPr>
        <p:spPr>
          <a:xfrm>
            <a:off x="10718800" y="3835780"/>
            <a:ext cx="6730872" cy="1623060"/>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79" name="Google Shape;1379;p44"/>
          <p:cNvSpPr txBox="1"/>
          <p:nvPr/>
        </p:nvSpPr>
        <p:spPr>
          <a:xfrm>
            <a:off x="11011789" y="4101084"/>
            <a:ext cx="2287702" cy="86026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AT MATURITY IN 2042</a:t>
            </a:r>
            <a:endParaRPr/>
          </a:p>
          <a:p>
            <a:pPr marL="0" marR="0" lvl="0" indent="0" algn="l" rtl="0">
              <a:lnSpc>
                <a:spcPct val="100000"/>
              </a:lnSpc>
              <a:spcBef>
                <a:spcPts val="0"/>
              </a:spcBef>
              <a:spcAft>
                <a:spcPts val="0"/>
              </a:spcAft>
              <a:buNone/>
            </a:pPr>
            <a:r>
              <a:rPr lang="en-US" sz="3600" b="0" i="0" u="none" strike="noStrike" cap="none">
                <a:solidFill>
                  <a:srgbClr val="F2F2F3"/>
                </a:solidFill>
                <a:latin typeface="Barlow Condensed"/>
                <a:ea typeface="Barlow Condensed"/>
                <a:cs typeface="Barlow Condensed"/>
                <a:sym typeface="Barlow Condensed"/>
              </a:rPr>
              <a:t>₹1.24 Cr</a:t>
            </a:r>
            <a:endParaRPr/>
          </a:p>
        </p:txBody>
      </p:sp>
      <p:sp>
        <p:nvSpPr>
          <p:cNvPr id="1380" name="Google Shape;1380;p44"/>
          <p:cNvSpPr txBox="1"/>
          <p:nvPr/>
        </p:nvSpPr>
        <p:spPr>
          <a:xfrm>
            <a:off x="11011789" y="4988940"/>
            <a:ext cx="1592256" cy="28803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lump sum, 60%</a:t>
            </a:r>
            <a:endParaRPr/>
          </a:p>
        </p:txBody>
      </p:sp>
      <p:sp>
        <p:nvSpPr>
          <p:cNvPr id="1381" name="Google Shape;1381;p44"/>
          <p:cNvSpPr txBox="1"/>
          <p:nvPr/>
        </p:nvSpPr>
        <p:spPr>
          <a:xfrm>
            <a:off x="12816205" y="4384890"/>
            <a:ext cx="954458" cy="57645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600" b="0" i="0" u="none" strike="noStrike" cap="none">
                <a:solidFill>
                  <a:srgbClr val="F2F2F3"/>
                </a:solidFill>
                <a:latin typeface="Barlow Condensed"/>
                <a:ea typeface="Barlow Condensed"/>
                <a:cs typeface="Barlow Condensed"/>
                <a:sym typeface="Barlow Condensed"/>
              </a:rPr>
              <a:t>₹82 L</a:t>
            </a:r>
            <a:endParaRPr/>
          </a:p>
        </p:txBody>
      </p:sp>
      <p:sp>
        <p:nvSpPr>
          <p:cNvPr id="1382" name="Google Shape;1382;p44"/>
          <p:cNvSpPr txBox="1"/>
          <p:nvPr/>
        </p:nvSpPr>
        <p:spPr>
          <a:xfrm>
            <a:off x="12816205" y="4988940"/>
            <a:ext cx="1633935" cy="28803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to annuity, 40%</a:t>
            </a:r>
            <a:endParaRPr/>
          </a:p>
        </p:txBody>
      </p:sp>
      <p:sp>
        <p:nvSpPr>
          <p:cNvPr id="1383" name="Google Shape;1383;p44"/>
          <p:cNvSpPr/>
          <p:nvPr/>
        </p:nvSpPr>
        <p:spPr>
          <a:xfrm>
            <a:off x="10718800" y="5592064"/>
            <a:ext cx="6730872" cy="2777617"/>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84" name="Google Shape;1384;p44"/>
          <p:cNvSpPr txBox="1"/>
          <p:nvPr/>
        </p:nvSpPr>
        <p:spPr>
          <a:xfrm>
            <a:off x="10992611" y="6320139"/>
            <a:ext cx="2667765"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OUR RECOMMENDATION</a:t>
            </a:r>
            <a:endParaRPr/>
          </a:p>
        </p:txBody>
      </p:sp>
      <p:sp>
        <p:nvSpPr>
          <p:cNvPr id="1385" name="Google Shape;1385;p44"/>
          <p:cNvSpPr txBox="1"/>
          <p:nvPr/>
        </p:nvSpPr>
        <p:spPr>
          <a:xfrm>
            <a:off x="10992611" y="6761464"/>
            <a:ext cx="6111421" cy="1328511"/>
          </a:xfrm>
          <a:prstGeom prst="rect">
            <a:avLst/>
          </a:prstGeom>
          <a:noFill/>
          <a:ln>
            <a:noFill/>
          </a:ln>
        </p:spPr>
        <p:txBody>
          <a:bodyPr spcFirstLastPara="1" wrap="square" lIns="0" tIns="0" rIns="0" bIns="0" anchor="t" anchorCtr="0">
            <a:noAutofit/>
          </a:bodyPr>
          <a:lstStyle/>
          <a:p>
            <a:pPr marL="0" marR="0" lvl="0" indent="0" algn="l" rtl="0">
              <a:lnSpc>
                <a:spcPct val="120300"/>
              </a:lnSpc>
              <a:spcBef>
                <a:spcPts val="0"/>
              </a:spcBef>
              <a:spcAft>
                <a:spcPts val="0"/>
              </a:spcAft>
              <a:buNone/>
            </a:pPr>
            <a:r>
              <a:rPr lang="en-US" sz="1850" b="0" i="0" u="none" strike="noStrike" cap="none">
                <a:solidFill>
                  <a:srgbClr val="1D1F20"/>
                </a:solidFill>
                <a:latin typeface="Barlow"/>
                <a:ea typeface="Barlow"/>
                <a:cs typeface="Barlow"/>
                <a:sym typeface="Barlow"/>
              </a:rPr>
              <a:t>Treat NPS as deferred corpus: counted in the lifetime total, but drawn as income from 2042, not available in 2037. Shift towards the C and G tiers from 2039 so the maturity value is not set by one bad market year.</a:t>
            </a:r>
            <a:endParaRPr/>
          </a:p>
        </p:txBody>
      </p:sp>
      <p:sp>
        <p:nvSpPr>
          <p:cNvPr id="1386" name="Google Shape;1386;p44"/>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87" name="Google Shape;1387;p44"/>
          <p:cNvSpPr txBox="1"/>
          <p:nvPr/>
        </p:nvSpPr>
        <p:spPr>
          <a:xfrm>
            <a:off x="1082344" y="8625586"/>
            <a:ext cx="15782546" cy="946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2A3480"/>
                </a:solidFill>
                <a:latin typeface="Barlow"/>
                <a:ea typeface="Barlow"/>
                <a:cs typeface="Barlow"/>
                <a:sym typeface="Barlow"/>
              </a:rPr>
              <a:t>ADVISOR COMMENT</a:t>
            </a:r>
            <a:endParaRPr/>
          </a:p>
          <a:p>
            <a:pPr marL="0" marR="0" lvl="0" indent="0" algn="l" rtl="0">
              <a:lnSpc>
                <a:spcPct val="110000"/>
              </a:lnSpc>
              <a:spcBef>
                <a:spcPts val="220"/>
              </a:spcBef>
              <a:spcAft>
                <a:spcPts val="0"/>
              </a:spcAft>
              <a:buNone/>
            </a:pPr>
            <a:r>
              <a:rPr lang="en-US" sz="1850" b="0" i="0" u="none" strike="noStrike" cap="none">
                <a:solidFill>
                  <a:srgbClr val="1D1F20"/>
                </a:solidFill>
                <a:latin typeface="Barlow"/>
                <a:ea typeface="Barlow"/>
                <a:cs typeface="Barlow"/>
                <a:sym typeface="Barlow"/>
              </a:rPr>
              <a:t>The five-year gap between retiring at 55 and NPS maturing at 60 is bridged entirely by the mutual fund corpus. That is planned for on the withdrawal slides and needs no separate provision.</a:t>
            </a:r>
            <a:endParaRPr/>
          </a:p>
        </p:txBody>
      </p:sp>
      <p:sp>
        <p:nvSpPr>
          <p:cNvPr id="1388" name="Google Shape;1388;p44"/>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Armstrong Capital · Goal Based Planning</a:t>
            </a:r>
            <a:endParaRPr/>
          </a:p>
        </p:txBody>
      </p:sp>
      <p:sp>
        <p:nvSpPr>
          <p:cNvPr id="1389" name="Google Shape;1389;p44"/>
          <p:cNvSpPr txBox="1"/>
          <p:nvPr/>
        </p:nvSpPr>
        <p:spPr>
          <a:xfrm>
            <a:off x="16587469" y="9779215"/>
            <a:ext cx="743687"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32 / 46</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11430000" cy="419100"/>
          </a:xfrm>
          <a:prstGeom prst="rect">
            <a:avLst/>
          </a:prstGeom>
          <a:noFill/>
        </p:spPr>
        <p:txBody>
          <a:bodyPr wrap="square" lIns="7200" tIns="0" rIns="0" bIns="0" anchor="t">
            <a:normAutofit/>
          </a:bodyPr>
          <a:lstStyle/>
          <a:p>
            <a:pPr marL="0" indent="0" algn="l">
              <a:buNone/>
            </a:pPr>
            <a:r>
              <a:rPr lang="en-US" sz="2100" b="1" kern="0" spc="390" dirty="0">
                <a:solidFill>
                  <a:srgbClr val="2A3480"/>
                </a:solidFill>
                <a:latin typeface="Barlow"/>
                <a:cs typeface="Barlow"/>
              </a:rPr>
              <a:t>ACROSS EVERY GOAL · THE CASH-FLOW LADDER</a:t>
            </a:r>
          </a:p>
        </p:txBody>
      </p:sp>
      <p:sp>
        <p:nvSpPr>
          <p:cNvPr id="102" name="Text 102"/>
          <p:cNvSpPr txBox="1"/>
          <p:nvPr/>
        </p:nvSpPr>
        <p:spPr>
          <a:xfrm>
            <a:off x="914400" y="1092200"/>
            <a:ext cx="16002000" cy="774700"/>
          </a:xfrm>
          <a:prstGeom prst="rect">
            <a:avLst/>
          </a:prstGeom>
          <a:noFill/>
        </p:spPr>
        <p:txBody>
          <a:bodyPr wrap="square" lIns="7200" tIns="0" rIns="0" bIns="0" anchor="t">
            <a:normAutofit/>
          </a:bodyPr>
          <a:lstStyle/>
          <a:p>
            <a:pPr marL="0" indent="0" algn="l">
              <a:lnSpc>
                <a:spcPct val="80000"/>
              </a:lnSpc>
              <a:buNone/>
            </a:pPr>
            <a:r>
              <a:rPr lang="en-US" sz="4400" b="1" kern="0" spc="-80" dirty="0">
                <a:solidFill>
                  <a:srgbClr val="1D1F20"/>
                </a:solidFill>
                <a:latin typeface="Barlow Condensed"/>
                <a:cs typeface="Barlow Condensed"/>
              </a:rPr>
              <a:t>Every instalment that ends is re-tagged, lifting the retirement SIP six-fold by 2035</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Text 104"/>
          <p:cNvSpPr txBox="1"/>
          <p:nvPr/>
        </p:nvSpPr>
        <p:spPr>
          <a:xfrm>
            <a:off x="914400" y="2489200"/>
            <a:ext cx="11430000" cy="381000"/>
          </a:xfrm>
          <a:prstGeom prst="rect">
            <a:avLst/>
          </a:prstGeom>
          <a:noFill/>
        </p:spPr>
        <p:txBody>
          <a:bodyPr wrap="square" lIns="7200" tIns="0" rIns="0" bIns="0" anchor="t">
            <a:normAutofit/>
          </a:bodyPr>
          <a:lstStyle/>
          <a:p>
            <a:pPr marL="0" indent="0" algn="l">
              <a:buNone/>
            </a:pPr>
            <a:r>
              <a:rPr lang="en-US" sz="1800" b="0" kern="0" dirty="0">
                <a:solidFill>
                  <a:srgbClr val="1D1F20">
                    <a:alpha val="80000"/>
                  </a:srgbClr>
                </a:solidFill>
                <a:latin typeface="Barlow"/>
                <a:cs typeface="Barlow"/>
              </a:rPr>
              <a:t>Monthly amount invested for retirement, ₹ a month</a:t>
            </a:r>
          </a:p>
        </p:txBody>
      </p:sp>
      <p:sp>
        <p:nvSpPr>
          <p:cNvPr id="105" name="Shape 105"/>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106" name="Text 106"/>
          <p:cNvSpPr txBox="1"/>
          <p:nvPr/>
        </p:nvSpPr>
        <p:spPr>
          <a:xfrm>
            <a:off x="914400" y="7696200"/>
            <a:ext cx="2159000" cy="393700"/>
          </a:xfrm>
          <a:prstGeom prst="rect">
            <a:avLst/>
          </a:prstGeom>
          <a:noFill/>
        </p:spPr>
        <p:txBody>
          <a:bodyPr wrap="square" lIns="720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107" name="Text 107"/>
          <p:cNvSpPr txBox="1"/>
          <p:nvPr/>
        </p:nvSpPr>
        <p:spPr>
          <a:xfrm>
            <a:off x="3276600" y="7658100"/>
            <a:ext cx="13246100" cy="774700"/>
          </a:xfrm>
          <a:prstGeom prst="rect">
            <a:avLst/>
          </a:prstGeom>
          <a:noFill/>
        </p:spPr>
        <p:txBody>
          <a:bodyPr wrap="square" lIns="7200" tIns="0" rIns="0" bIns="0" anchor="t">
            <a:normAutofit/>
          </a:bodyPr>
          <a:lstStyle/>
          <a:p>
            <a:pPr marL="0" indent="0" algn="l">
              <a:lnSpc>
                <a:spcPct val="118000"/>
              </a:lnSpc>
              <a:buNone/>
            </a:pPr>
            <a:r>
              <a:rPr lang="en-US" sz="2100" b="0" kern="0" dirty="0">
                <a:solidFill>
                  <a:srgbClr val="1D1F20">
                    <a:alpha val="90000"/>
                  </a:srgbClr>
                </a:solidFill>
                <a:latin typeface="Barlow"/>
                <a:cs typeface="Barlow"/>
              </a:rPr>
              <a:t>Nothing here asks the family to spend less. Each step is money already leaving the account as an EMI or a goal contribution; the discipline is simply to redirect it on the day it is freed rather than let it be absorbed.</a:t>
            </a:r>
          </a:p>
        </p:txBody>
      </p:sp>
      <p:sp>
        <p:nvSpPr>
          <p:cNvPr id="108" name="Text 108"/>
          <p:cNvSpPr txBox="1"/>
          <p:nvPr/>
        </p:nvSpPr>
        <p:spPr>
          <a:xfrm>
            <a:off x="914400" y="9474200"/>
            <a:ext cx="5080000" cy="393700"/>
          </a:xfrm>
          <a:prstGeom prst="rect">
            <a:avLst/>
          </a:prstGeom>
          <a:noFill/>
        </p:spPr>
        <p:txBody>
          <a:bodyPr wrap="square" lIns="720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09" name="Text 109"/>
          <p:cNvSpPr txBox="1"/>
          <p:nvPr/>
        </p:nvSpPr>
        <p:spPr>
          <a:xfrm>
            <a:off x="14833600" y="9474200"/>
            <a:ext cx="2540000" cy="393700"/>
          </a:xfrm>
          <a:prstGeom prst="rect">
            <a:avLst/>
          </a:prstGeom>
          <a:noFill/>
        </p:spPr>
        <p:txBody>
          <a:bodyPr wrap="square" lIns="7200" tIns="0" rIns="0" bIns="0" anchor="t">
            <a:normAutofit/>
          </a:bodyPr>
          <a:lstStyle/>
          <a:p>
            <a:pPr marL="0" indent="0" algn="r">
              <a:buNone/>
            </a:pPr>
            <a:r>
              <a:rPr lang="en-US" sz="1600" b="0" kern="0" dirty="0">
                <a:solidFill>
                  <a:srgbClr val="2A3480"/>
                </a:solidFill>
                <a:latin typeface="Barlow"/>
                <a:cs typeface="Barlow"/>
              </a:rPr>
              <a:t>12 / 14</a:t>
            </a:r>
          </a:p>
        </p:txBody>
      </p:sp>
      <p:graphicFrame>
        <p:nvGraphicFramePr>
          <p:cNvPr id="110" name="Chart"/>
          <p:cNvGraphicFramePr/>
          <p:nvPr/>
        </p:nvGraphicFramePr>
        <p:xfrm>
          <a:off x="914400" y="2921000"/>
          <a:ext cx="16459200" cy="4318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621252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6">
    <p:bg>
      <p:bgPr>
        <a:solidFill>
          <a:srgbClr val="F2F2F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
          </a:blip>
          <a:srcRect t="9578" b="9578"/>
          <a:stretch/>
        </p:blipFill>
        <p:spPr>
          <a:xfrm>
            <a:off x="0" y="0"/>
            <a:ext cx="18287930" cy="10287001"/>
          </a:xfrm>
          <a:prstGeom prst="rect">
            <a:avLst/>
          </a:prstGeom>
        </p:spPr>
      </p:pic>
      <p:sp>
        <p:nvSpPr>
          <p:cNvPr id="3" name="Text 0"/>
          <p:cNvSpPr/>
          <p:nvPr/>
        </p:nvSpPr>
        <p:spPr>
          <a:xfrm>
            <a:off x="914372" y="571429"/>
            <a:ext cx="7410571"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CONSOLIDATION</a:t>
            </a:r>
            <a:endParaRPr lang="en-US" sz="2100" b="1" dirty="0">
              <a:solidFill>
                <a:srgbClr val="2A3480"/>
              </a:solidFill>
              <a:latin typeface="Barlow"/>
            </a:endParaRPr>
          </a:p>
        </p:txBody>
      </p:sp>
      <p:sp>
        <p:nvSpPr>
          <p:cNvPr id="4" name="Text 1"/>
          <p:cNvSpPr/>
          <p:nvPr/>
        </p:nvSpPr>
        <p:spPr>
          <a:xfrm>
            <a:off x="914372" y="1239504"/>
            <a:ext cx="7410571"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Retirement Corpus — 2036</a:t>
            </a:r>
            <a:endParaRPr lang="en-US" sz="6000" dirty="0"/>
          </a:p>
        </p:txBody>
      </p:sp>
      <p:pic>
        <p:nvPicPr>
          <p:cNvPr id="5" name="Image 1" descr="preencoded.png"/>
          <p:cNvPicPr>
            <a:picLocks noChangeAspect="1"/>
          </p:cNvPicPr>
          <p:nvPr/>
        </p:nvPicPr>
        <p:blipFill>
          <a:blip r:embed="rId4"/>
          <a:stretch>
            <a:fillRect/>
          </a:stretch>
        </p:blipFill>
        <p:spPr>
          <a:xfrm>
            <a:off x="15297193" y="571429"/>
            <a:ext cx="2076365" cy="590493"/>
          </a:xfrm>
          <a:prstGeom prst="rect">
            <a:avLst/>
          </a:prstGeom>
        </p:spPr>
      </p:pic>
      <p:sp>
        <p:nvSpPr>
          <p:cNvPr id="6"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7" name="Text 3"/>
          <p:cNvSpPr/>
          <p:nvPr/>
        </p:nvSpPr>
        <p:spPr>
          <a:xfrm>
            <a:off x="914372" y="2419945"/>
            <a:ext cx="8675355"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AVAILABLE AT RETIREMENT</a:t>
            </a:r>
            <a:endParaRPr lang="en-US" sz="2100" dirty="0"/>
          </a:p>
        </p:txBody>
      </p:sp>
      <p:sp>
        <p:nvSpPr>
          <p:cNvPr id="8" name="Shape 4"/>
          <p:cNvSpPr/>
          <p:nvPr/>
        </p:nvSpPr>
        <p:spPr>
          <a:xfrm>
            <a:off x="914372" y="3777045"/>
            <a:ext cx="7886687" cy="9525"/>
          </a:xfrm>
          <a:prstGeom prst="rect">
            <a:avLst/>
          </a:prstGeom>
          <a:solidFill>
            <a:srgbClr val="1D1F20">
              <a:alpha val="12000"/>
            </a:srgbClr>
          </a:solidFill>
          <a:ln/>
        </p:spPr>
        <p:txBody>
          <a:bodyPr/>
          <a:lstStyle/>
          <a:p>
            <a:endParaRPr lang="en-US"/>
          </a:p>
        </p:txBody>
      </p:sp>
      <p:sp>
        <p:nvSpPr>
          <p:cNvPr id="9" name="Text 5"/>
          <p:cNvSpPr/>
          <p:nvPr/>
        </p:nvSpPr>
        <p:spPr>
          <a:xfrm>
            <a:off x="914372" y="3181449"/>
            <a:ext cx="2651572"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Provident Fund (PF)</a:t>
            </a:r>
            <a:endParaRPr lang="en-US" sz="2250" dirty="0"/>
          </a:p>
        </p:txBody>
      </p:sp>
      <p:sp>
        <p:nvSpPr>
          <p:cNvPr id="10" name="Text 6"/>
          <p:cNvSpPr/>
          <p:nvPr/>
        </p:nvSpPr>
        <p:spPr>
          <a:xfrm>
            <a:off x="7674146" y="3022700"/>
            <a:ext cx="1203112" cy="6876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₹1.75 Cr</a:t>
            </a:r>
            <a:endParaRPr lang="en-US" sz="3300" dirty="0"/>
          </a:p>
        </p:txBody>
      </p:sp>
      <p:sp>
        <p:nvSpPr>
          <p:cNvPr id="11" name="Shape 7"/>
          <p:cNvSpPr/>
          <p:nvPr/>
        </p:nvSpPr>
        <p:spPr>
          <a:xfrm>
            <a:off x="914372" y="4645210"/>
            <a:ext cx="7886687" cy="9525"/>
          </a:xfrm>
          <a:prstGeom prst="rect">
            <a:avLst/>
          </a:prstGeom>
          <a:solidFill>
            <a:srgbClr val="1D1F20">
              <a:alpha val="12000"/>
            </a:srgbClr>
          </a:solidFill>
          <a:ln/>
        </p:spPr>
        <p:txBody>
          <a:bodyPr/>
          <a:lstStyle/>
          <a:p>
            <a:endParaRPr lang="en-US"/>
          </a:p>
        </p:txBody>
      </p:sp>
      <p:sp>
        <p:nvSpPr>
          <p:cNvPr id="12" name="Text 8"/>
          <p:cNvSpPr/>
          <p:nvPr/>
        </p:nvSpPr>
        <p:spPr>
          <a:xfrm>
            <a:off x="914372" y="4049614"/>
            <a:ext cx="3742432"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Public Provident Fund (PPF)</a:t>
            </a:r>
            <a:endParaRPr lang="en-US" sz="2250" dirty="0"/>
          </a:p>
        </p:txBody>
      </p:sp>
      <p:sp>
        <p:nvSpPr>
          <p:cNvPr id="13" name="Text 9"/>
          <p:cNvSpPr/>
          <p:nvPr/>
        </p:nvSpPr>
        <p:spPr>
          <a:xfrm>
            <a:off x="7566422" y="3890864"/>
            <a:ext cx="1358099" cy="6876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₹0.63 Cr</a:t>
            </a:r>
            <a:endParaRPr lang="en-US" sz="3300" dirty="0"/>
          </a:p>
        </p:txBody>
      </p:sp>
      <p:sp>
        <p:nvSpPr>
          <p:cNvPr id="14" name="Shape 10"/>
          <p:cNvSpPr/>
          <p:nvPr/>
        </p:nvSpPr>
        <p:spPr>
          <a:xfrm>
            <a:off x="914372" y="5513374"/>
            <a:ext cx="7886687" cy="9525"/>
          </a:xfrm>
          <a:prstGeom prst="rect">
            <a:avLst/>
          </a:prstGeom>
          <a:solidFill>
            <a:srgbClr val="1D1F20">
              <a:alpha val="12000"/>
            </a:srgbClr>
          </a:solidFill>
          <a:ln/>
        </p:spPr>
        <p:txBody>
          <a:bodyPr/>
          <a:lstStyle/>
          <a:p>
            <a:endParaRPr lang="en-US"/>
          </a:p>
        </p:txBody>
      </p:sp>
      <p:sp>
        <p:nvSpPr>
          <p:cNvPr id="15" name="Text 11"/>
          <p:cNvSpPr/>
          <p:nvPr/>
        </p:nvSpPr>
        <p:spPr>
          <a:xfrm>
            <a:off x="914372" y="4917778"/>
            <a:ext cx="3373459"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Retirement savings — MF</a:t>
            </a:r>
            <a:endParaRPr lang="en-US" sz="2250" dirty="0"/>
          </a:p>
        </p:txBody>
      </p:sp>
      <p:sp>
        <p:nvSpPr>
          <p:cNvPr id="16" name="Text 12"/>
          <p:cNvSpPr/>
          <p:nvPr/>
        </p:nvSpPr>
        <p:spPr>
          <a:xfrm>
            <a:off x="7580668" y="4759028"/>
            <a:ext cx="1342430" cy="6876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₹0.70 Cr</a:t>
            </a:r>
            <a:endParaRPr lang="en-US" sz="3300" dirty="0"/>
          </a:p>
        </p:txBody>
      </p:sp>
      <p:sp>
        <p:nvSpPr>
          <p:cNvPr id="17" name="Shape 13"/>
          <p:cNvSpPr/>
          <p:nvPr/>
        </p:nvSpPr>
        <p:spPr>
          <a:xfrm>
            <a:off x="914372" y="6381538"/>
            <a:ext cx="7886687" cy="9525"/>
          </a:xfrm>
          <a:prstGeom prst="rect">
            <a:avLst/>
          </a:prstGeom>
          <a:solidFill>
            <a:srgbClr val="1D1F20">
              <a:alpha val="12000"/>
            </a:srgbClr>
          </a:solidFill>
          <a:ln/>
        </p:spPr>
        <p:txBody>
          <a:bodyPr/>
          <a:lstStyle/>
          <a:p>
            <a:endParaRPr lang="en-US"/>
          </a:p>
        </p:txBody>
      </p:sp>
      <p:sp>
        <p:nvSpPr>
          <p:cNvPr id="18" name="Text 14"/>
          <p:cNvSpPr/>
          <p:nvPr/>
        </p:nvSpPr>
        <p:spPr>
          <a:xfrm>
            <a:off x="914372" y="5785942"/>
            <a:ext cx="4774513"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Financial assets — MF, direct equity</a:t>
            </a:r>
            <a:endParaRPr lang="en-US" sz="2250" dirty="0"/>
          </a:p>
        </p:txBody>
      </p:sp>
      <p:sp>
        <p:nvSpPr>
          <p:cNvPr id="19" name="Text 15"/>
          <p:cNvSpPr/>
          <p:nvPr/>
        </p:nvSpPr>
        <p:spPr>
          <a:xfrm>
            <a:off x="7561391" y="5627192"/>
            <a:ext cx="1363634" cy="6876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₹0.44 Cr</a:t>
            </a:r>
            <a:endParaRPr lang="en-US" sz="3300" dirty="0"/>
          </a:p>
        </p:txBody>
      </p:sp>
      <p:sp>
        <p:nvSpPr>
          <p:cNvPr id="20" name="Shape 16"/>
          <p:cNvSpPr/>
          <p:nvPr/>
        </p:nvSpPr>
        <p:spPr>
          <a:xfrm>
            <a:off x="914372" y="7249702"/>
            <a:ext cx="7886687" cy="9525"/>
          </a:xfrm>
          <a:prstGeom prst="rect">
            <a:avLst/>
          </a:prstGeom>
          <a:solidFill>
            <a:srgbClr val="1D1F20">
              <a:alpha val="12000"/>
            </a:srgbClr>
          </a:solidFill>
          <a:ln/>
        </p:spPr>
        <p:txBody>
          <a:bodyPr/>
          <a:lstStyle/>
          <a:p>
            <a:endParaRPr lang="en-US"/>
          </a:p>
        </p:txBody>
      </p:sp>
      <p:sp>
        <p:nvSpPr>
          <p:cNvPr id="21" name="Text 17"/>
          <p:cNvSpPr/>
          <p:nvPr/>
        </p:nvSpPr>
        <p:spPr>
          <a:xfrm>
            <a:off x="914372" y="6654106"/>
            <a:ext cx="4117642"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Fixed assets — FD, MLD, bonds</a:t>
            </a:r>
            <a:endParaRPr lang="en-US" sz="2250" dirty="0"/>
          </a:p>
        </p:txBody>
      </p:sp>
      <p:sp>
        <p:nvSpPr>
          <p:cNvPr id="22" name="Text 18"/>
          <p:cNvSpPr/>
          <p:nvPr/>
        </p:nvSpPr>
        <p:spPr>
          <a:xfrm>
            <a:off x="7566847" y="6495356"/>
            <a:ext cx="1357631" cy="6876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₹0.35 Cr</a:t>
            </a:r>
            <a:endParaRPr lang="en-US" sz="3300" dirty="0"/>
          </a:p>
        </p:txBody>
      </p:sp>
      <p:sp>
        <p:nvSpPr>
          <p:cNvPr id="23" name="Shape 19"/>
          <p:cNvSpPr/>
          <p:nvPr/>
        </p:nvSpPr>
        <p:spPr>
          <a:xfrm>
            <a:off x="914372" y="8117866"/>
            <a:ext cx="7886687" cy="9525"/>
          </a:xfrm>
          <a:prstGeom prst="rect">
            <a:avLst/>
          </a:prstGeom>
          <a:solidFill>
            <a:srgbClr val="1D1F20">
              <a:alpha val="12000"/>
            </a:srgbClr>
          </a:solidFill>
          <a:ln/>
        </p:spPr>
        <p:txBody>
          <a:bodyPr/>
          <a:lstStyle/>
          <a:p>
            <a:endParaRPr lang="en-US"/>
          </a:p>
        </p:txBody>
      </p:sp>
      <p:sp>
        <p:nvSpPr>
          <p:cNvPr id="24" name="Text 20"/>
          <p:cNvSpPr/>
          <p:nvPr/>
        </p:nvSpPr>
        <p:spPr>
          <a:xfrm>
            <a:off x="914372" y="7522270"/>
            <a:ext cx="3064201"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Education reallocation</a:t>
            </a:r>
            <a:endParaRPr lang="en-US" sz="2250" dirty="0"/>
          </a:p>
        </p:txBody>
      </p:sp>
      <p:sp>
        <p:nvSpPr>
          <p:cNvPr id="25" name="Text 21"/>
          <p:cNvSpPr/>
          <p:nvPr/>
        </p:nvSpPr>
        <p:spPr>
          <a:xfrm>
            <a:off x="7628009" y="7363520"/>
            <a:ext cx="1249249" cy="6876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₹0.14 Cr</a:t>
            </a:r>
            <a:endParaRPr lang="en-US" sz="3300" dirty="0"/>
          </a:p>
        </p:txBody>
      </p:sp>
      <p:sp>
        <p:nvSpPr>
          <p:cNvPr id="26" name="Text 22"/>
          <p:cNvSpPr/>
          <p:nvPr/>
        </p:nvSpPr>
        <p:spPr>
          <a:xfrm>
            <a:off x="914372" y="8390434"/>
            <a:ext cx="3828575"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Other assets — corporate FD</a:t>
            </a:r>
            <a:endParaRPr lang="en-US" sz="2250" dirty="0"/>
          </a:p>
        </p:txBody>
      </p:sp>
      <p:sp>
        <p:nvSpPr>
          <p:cNvPr id="27" name="Text 23"/>
          <p:cNvSpPr/>
          <p:nvPr/>
        </p:nvSpPr>
        <p:spPr>
          <a:xfrm>
            <a:off x="7630985" y="8231684"/>
            <a:ext cx="1246273" cy="6876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₹0.13 Cr</a:t>
            </a:r>
            <a:endParaRPr lang="en-US" sz="3300" dirty="0"/>
          </a:p>
        </p:txBody>
      </p:sp>
      <p:sp>
        <p:nvSpPr>
          <p:cNvPr id="28" name="Text 24"/>
          <p:cNvSpPr/>
          <p:nvPr/>
        </p:nvSpPr>
        <p:spPr>
          <a:xfrm>
            <a:off x="9486801" y="2419945"/>
            <a:ext cx="8675433"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AVAILABLE LATER, OR ON A DECISION</a:t>
            </a:r>
            <a:endParaRPr lang="en-US" sz="2100" dirty="0"/>
          </a:p>
        </p:txBody>
      </p:sp>
      <p:sp>
        <p:nvSpPr>
          <p:cNvPr id="29" name="Shape 25"/>
          <p:cNvSpPr/>
          <p:nvPr/>
        </p:nvSpPr>
        <p:spPr>
          <a:xfrm>
            <a:off x="9486801" y="3777045"/>
            <a:ext cx="7886757" cy="9525"/>
          </a:xfrm>
          <a:prstGeom prst="rect">
            <a:avLst/>
          </a:prstGeom>
          <a:solidFill>
            <a:srgbClr val="1D1F20">
              <a:alpha val="12000"/>
            </a:srgbClr>
          </a:solidFill>
          <a:ln/>
        </p:spPr>
        <p:txBody>
          <a:bodyPr/>
          <a:lstStyle/>
          <a:p>
            <a:endParaRPr lang="en-US"/>
          </a:p>
        </p:txBody>
      </p:sp>
      <p:sp>
        <p:nvSpPr>
          <p:cNvPr id="30" name="Text 26"/>
          <p:cNvSpPr/>
          <p:nvPr/>
        </p:nvSpPr>
        <p:spPr>
          <a:xfrm>
            <a:off x="9486801" y="3181449"/>
            <a:ext cx="3734247"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NPS — pays out from age 60</a:t>
            </a:r>
            <a:endParaRPr lang="en-US" sz="2250" dirty="0"/>
          </a:p>
        </p:txBody>
      </p:sp>
      <p:sp>
        <p:nvSpPr>
          <p:cNvPr id="31" name="Text 27"/>
          <p:cNvSpPr/>
          <p:nvPr/>
        </p:nvSpPr>
        <p:spPr>
          <a:xfrm>
            <a:off x="16167413" y="3022700"/>
            <a:ext cx="1326760" cy="6876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₹0.76 Cr</a:t>
            </a:r>
            <a:endParaRPr lang="en-US" sz="3300" dirty="0"/>
          </a:p>
        </p:txBody>
      </p:sp>
      <p:sp>
        <p:nvSpPr>
          <p:cNvPr id="32" name="Shape 28"/>
          <p:cNvSpPr/>
          <p:nvPr/>
        </p:nvSpPr>
        <p:spPr>
          <a:xfrm>
            <a:off x="9486801" y="4645210"/>
            <a:ext cx="7886757" cy="9525"/>
          </a:xfrm>
          <a:prstGeom prst="rect">
            <a:avLst/>
          </a:prstGeom>
          <a:solidFill>
            <a:srgbClr val="1D1F20">
              <a:alpha val="12000"/>
            </a:srgbClr>
          </a:solidFill>
          <a:ln/>
        </p:spPr>
        <p:txBody>
          <a:bodyPr/>
          <a:lstStyle/>
          <a:p>
            <a:endParaRPr lang="en-US"/>
          </a:p>
        </p:txBody>
      </p:sp>
      <p:sp>
        <p:nvSpPr>
          <p:cNvPr id="33" name="Text 29"/>
          <p:cNvSpPr/>
          <p:nvPr/>
        </p:nvSpPr>
        <p:spPr>
          <a:xfrm>
            <a:off x="9486801" y="4049614"/>
            <a:ext cx="6719243"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Other asset class — second property, if monetised</a:t>
            </a:r>
            <a:endParaRPr lang="en-US" sz="2250" dirty="0"/>
          </a:p>
        </p:txBody>
      </p:sp>
      <p:sp>
        <p:nvSpPr>
          <p:cNvPr id="34" name="Text 30"/>
          <p:cNvSpPr/>
          <p:nvPr/>
        </p:nvSpPr>
        <p:spPr>
          <a:xfrm>
            <a:off x="16123827" y="3890864"/>
            <a:ext cx="1374704" cy="6876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₹0.60 Cr</a:t>
            </a:r>
            <a:endParaRPr lang="en-US" sz="3300" dirty="0"/>
          </a:p>
        </p:txBody>
      </p:sp>
      <p:sp>
        <p:nvSpPr>
          <p:cNvPr id="35" name="Shape 31"/>
          <p:cNvSpPr/>
          <p:nvPr/>
        </p:nvSpPr>
        <p:spPr>
          <a:xfrm>
            <a:off x="9486801" y="6599890"/>
            <a:ext cx="3924315" cy="2685072"/>
          </a:xfrm>
          <a:prstGeom prst="rect">
            <a:avLst/>
          </a:prstGeom>
          <a:solidFill>
            <a:srgbClr val="26306F"/>
          </a:solidFill>
          <a:ln/>
        </p:spPr>
        <p:txBody>
          <a:bodyPr/>
          <a:lstStyle/>
          <a:p>
            <a:endParaRPr lang="en-US"/>
          </a:p>
        </p:txBody>
      </p:sp>
      <p:sp>
        <p:nvSpPr>
          <p:cNvPr id="36" name="Text 32"/>
          <p:cNvSpPr/>
          <p:nvPr/>
        </p:nvSpPr>
        <p:spPr>
          <a:xfrm>
            <a:off x="9772480" y="6847512"/>
            <a:ext cx="3688252"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TOTAL WEALTH AT 2036</a:t>
            </a:r>
            <a:endParaRPr lang="en-US" sz="2100" dirty="0"/>
          </a:p>
        </p:txBody>
      </p:sp>
      <p:sp>
        <p:nvSpPr>
          <p:cNvPr id="37" name="Text 33"/>
          <p:cNvSpPr/>
          <p:nvPr/>
        </p:nvSpPr>
        <p:spPr>
          <a:xfrm>
            <a:off x="9772480" y="7278050"/>
            <a:ext cx="3688252" cy="628664"/>
          </a:xfrm>
          <a:prstGeom prst="rect">
            <a:avLst/>
          </a:prstGeom>
          <a:noFill/>
          <a:ln/>
        </p:spPr>
        <p:txBody>
          <a:bodyPr wrap="square" lIns="25400" tIns="25400" rIns="25400" bIns="25400" rtlCol="0" anchor="t">
            <a:normAutofit lnSpcReduction="10000"/>
          </a:bodyPr>
          <a:lstStyle/>
          <a:p>
            <a:pPr marL="0" indent="0" algn="l">
              <a:lnSpc>
                <a:spcPct val="83462"/>
              </a:lnSpc>
              <a:buNone/>
            </a:pPr>
            <a:r>
              <a:rPr lang="en-US" sz="4650" dirty="0">
                <a:solidFill>
                  <a:srgbClr val="F2F2F3"/>
                </a:solidFill>
                <a:latin typeface="Barlow Condensed" pitchFamily="34" charset="0"/>
                <a:ea typeface="Barlow Condensed" pitchFamily="34" charset="-122"/>
                <a:cs typeface="Barlow Condensed" pitchFamily="34" charset="-120"/>
              </a:rPr>
              <a:t>₹4.14 Cr</a:t>
            </a:r>
            <a:endParaRPr lang="en-US" sz="4650" dirty="0"/>
          </a:p>
        </p:txBody>
      </p:sp>
      <p:sp>
        <p:nvSpPr>
          <p:cNvPr id="38" name="Text 34"/>
          <p:cNvSpPr/>
          <p:nvPr/>
        </p:nvSpPr>
        <p:spPr>
          <a:xfrm>
            <a:off x="9772480" y="7944800"/>
            <a:ext cx="3688252" cy="407194"/>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dirty="0">
                <a:solidFill>
                  <a:srgbClr val="F2F2F3">
                    <a:alpha val="90000"/>
                  </a:srgbClr>
                </a:solidFill>
                <a:latin typeface="Barlow" pitchFamily="34" charset="0"/>
                <a:ea typeface="Barlow" pitchFamily="34" charset="-122"/>
                <a:cs typeface="Barlow" pitchFamily="34" charset="-120"/>
              </a:rPr>
              <a:t>liquid and drawable at age 55</a:t>
            </a:r>
            <a:endParaRPr lang="en-US" sz="2100" dirty="0"/>
          </a:p>
        </p:txBody>
      </p:sp>
      <p:sp>
        <p:nvSpPr>
          <p:cNvPr id="39" name="Shape 35"/>
          <p:cNvSpPr/>
          <p:nvPr/>
        </p:nvSpPr>
        <p:spPr>
          <a:xfrm>
            <a:off x="13449173" y="6599890"/>
            <a:ext cx="3924385" cy="2685072"/>
          </a:xfrm>
          <a:prstGeom prst="rect">
            <a:avLst/>
          </a:prstGeom>
          <a:solidFill>
            <a:srgbClr val="141A45"/>
          </a:solidFill>
          <a:ln/>
        </p:spPr>
        <p:txBody>
          <a:bodyPr/>
          <a:lstStyle/>
          <a:p>
            <a:endParaRPr lang="en-US"/>
          </a:p>
        </p:txBody>
      </p:sp>
      <p:sp>
        <p:nvSpPr>
          <p:cNvPr id="40" name="Text 36"/>
          <p:cNvSpPr/>
          <p:nvPr/>
        </p:nvSpPr>
        <p:spPr>
          <a:xfrm>
            <a:off x="13734852" y="6847512"/>
            <a:ext cx="3453618" cy="746805"/>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INCLUDING NPS AND PROPERTY</a:t>
            </a:r>
            <a:endParaRPr lang="en-US" sz="2100" dirty="0"/>
          </a:p>
        </p:txBody>
      </p:sp>
      <p:sp>
        <p:nvSpPr>
          <p:cNvPr id="41" name="Text 37"/>
          <p:cNvSpPr/>
          <p:nvPr/>
        </p:nvSpPr>
        <p:spPr>
          <a:xfrm>
            <a:off x="13734852" y="7632403"/>
            <a:ext cx="3688330" cy="628664"/>
          </a:xfrm>
          <a:prstGeom prst="rect">
            <a:avLst/>
          </a:prstGeom>
          <a:noFill/>
          <a:ln/>
        </p:spPr>
        <p:txBody>
          <a:bodyPr wrap="square" lIns="25400" tIns="25400" rIns="25400" bIns="25400" rtlCol="0" anchor="t">
            <a:normAutofit lnSpcReduction="10000"/>
          </a:bodyPr>
          <a:lstStyle/>
          <a:p>
            <a:pPr marL="0" indent="0" algn="l">
              <a:lnSpc>
                <a:spcPct val="83462"/>
              </a:lnSpc>
              <a:buNone/>
            </a:pPr>
            <a:r>
              <a:rPr lang="en-US" sz="4650" dirty="0">
                <a:solidFill>
                  <a:srgbClr val="94BCE3"/>
                </a:solidFill>
                <a:latin typeface="Barlow Condensed" pitchFamily="34" charset="0"/>
                <a:ea typeface="Barlow Condensed" pitchFamily="34" charset="-122"/>
                <a:cs typeface="Barlow Condensed" pitchFamily="34" charset="-120"/>
              </a:rPr>
              <a:t>₹5.50 Cr</a:t>
            </a:r>
            <a:endParaRPr lang="en-US" sz="4650" dirty="0"/>
          </a:p>
        </p:txBody>
      </p:sp>
      <p:sp>
        <p:nvSpPr>
          <p:cNvPr id="42" name="Text 38"/>
          <p:cNvSpPr/>
          <p:nvPr/>
        </p:nvSpPr>
        <p:spPr>
          <a:xfrm>
            <a:off x="13734852" y="8299153"/>
            <a:ext cx="3453618" cy="776288"/>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dirty="0">
                <a:solidFill>
                  <a:srgbClr val="F2F2F3">
                    <a:alpha val="90000"/>
                  </a:srgbClr>
                </a:solidFill>
                <a:latin typeface="Barlow" pitchFamily="34" charset="0"/>
                <a:ea typeface="Barlow" pitchFamily="34" charset="-122"/>
                <a:cs typeface="Barlow" pitchFamily="34" charset="-120"/>
              </a:rPr>
              <a:t>the figure the outlook is measured against</a:t>
            </a:r>
            <a:endParaRPr lang="en-US" sz="2100" dirty="0"/>
          </a:p>
        </p:txBody>
      </p:sp>
      <p:sp>
        <p:nvSpPr>
          <p:cNvPr id="43" name="Text 39"/>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44" name="Text 40"/>
          <p:cNvSpPr/>
          <p:nvPr/>
        </p:nvSpPr>
        <p:spPr>
          <a:xfrm>
            <a:off x="16710139" y="9475462"/>
            <a:ext cx="739619"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26 / 32</a:t>
            </a:r>
            <a:endParaRPr lang="en-US" sz="2100" dirty="0"/>
          </a:p>
        </p:txBody>
      </p:sp>
    </p:spTree>
    <p:extLst>
      <p:ext uri="{BB962C8B-B14F-4D97-AF65-F5344CB8AC3E}">
        <p14:creationId xmlns:p14="http://schemas.microsoft.com/office/powerpoint/2010/main" val="42078686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7">
    <p:bg>
      <p:bgPr>
        <a:solidFill>
          <a:srgbClr val="F2F2F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
          </a:blip>
          <a:srcRect t="6561" b="6561"/>
          <a:stretch/>
        </p:blipFill>
        <p:spPr>
          <a:xfrm>
            <a:off x="0" y="0"/>
            <a:ext cx="18287930" cy="10287001"/>
          </a:xfrm>
          <a:prstGeom prst="rect">
            <a:avLst/>
          </a:prstGeom>
        </p:spPr>
      </p:pic>
      <p:sp>
        <p:nvSpPr>
          <p:cNvPr id="3" name="Text 0"/>
          <p:cNvSpPr/>
          <p:nvPr/>
        </p:nvSpPr>
        <p:spPr>
          <a:xfrm>
            <a:off x="914372" y="571429"/>
            <a:ext cx="5405580"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CONCLUSION</a:t>
            </a:r>
            <a:endParaRPr lang="en-US" sz="2100" b="1" dirty="0">
              <a:solidFill>
                <a:srgbClr val="2A3480"/>
              </a:solidFill>
              <a:latin typeface="Barlow"/>
            </a:endParaRPr>
          </a:p>
        </p:txBody>
      </p:sp>
      <p:sp>
        <p:nvSpPr>
          <p:cNvPr id="4" name="Text 1"/>
          <p:cNvSpPr/>
          <p:nvPr/>
        </p:nvSpPr>
        <p:spPr>
          <a:xfrm>
            <a:off x="914372" y="1088501"/>
            <a:ext cx="5405580"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Retirement Outlook</a:t>
            </a:r>
            <a:endParaRPr lang="en-US" sz="6000" dirty="0"/>
          </a:p>
        </p:txBody>
      </p:sp>
      <p:pic>
        <p:nvPicPr>
          <p:cNvPr id="5" name="Image 1" descr="preencoded.png"/>
          <p:cNvPicPr>
            <a:picLocks noChangeAspect="1"/>
          </p:cNvPicPr>
          <p:nvPr/>
        </p:nvPicPr>
        <p:blipFill>
          <a:blip r:embed="rId4"/>
          <a:stretch>
            <a:fillRect/>
          </a:stretch>
        </p:blipFill>
        <p:spPr>
          <a:xfrm>
            <a:off x="15297193" y="571429"/>
            <a:ext cx="2076365" cy="590493"/>
          </a:xfrm>
          <a:prstGeom prst="rect">
            <a:avLst/>
          </a:prstGeom>
        </p:spPr>
      </p:pic>
      <p:sp>
        <p:nvSpPr>
          <p:cNvPr id="6"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7" name="Shape 3"/>
          <p:cNvSpPr/>
          <p:nvPr/>
        </p:nvSpPr>
        <p:spPr>
          <a:xfrm>
            <a:off x="914372" y="2381817"/>
            <a:ext cx="2748005" cy="1545899"/>
          </a:xfrm>
          <a:prstGeom prst="rect">
            <a:avLst/>
          </a:prstGeom>
          <a:ln w="9071">
            <a:solidFill>
              <a:srgbClr val="1F1F1F">
                <a:alpha val="16000"/>
              </a:srgbClr>
            </a:solidFill>
            <a:prstDash val="solid"/>
          </a:ln>
        </p:spPr>
        <p:txBody>
          <a:bodyPr/>
          <a:lstStyle/>
          <a:p>
            <a:endParaRPr lang="en-US"/>
          </a:p>
        </p:txBody>
      </p:sp>
      <p:sp>
        <p:nvSpPr>
          <p:cNvPr id="8" name="Text 4"/>
          <p:cNvSpPr/>
          <p:nvPr/>
        </p:nvSpPr>
        <p:spPr>
          <a:xfrm>
            <a:off x="1113943" y="2543260"/>
            <a:ext cx="2583749"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180" dirty="0">
                <a:solidFill>
                  <a:srgbClr val="1D1F20">
                    <a:alpha val="90000"/>
                  </a:srgbClr>
                </a:solidFill>
                <a:latin typeface="Barlow" pitchFamily="34" charset="0"/>
                <a:ea typeface="Barlow" pitchFamily="34" charset="-122"/>
                <a:cs typeface="Barlow" pitchFamily="34" charset="-120"/>
              </a:rPr>
              <a:t>RETIREMENT YEAR</a:t>
            </a:r>
            <a:endParaRPr lang="en-US" sz="2100" dirty="0"/>
          </a:p>
        </p:txBody>
      </p:sp>
      <p:sp>
        <p:nvSpPr>
          <p:cNvPr id="9" name="Text 5"/>
          <p:cNvSpPr/>
          <p:nvPr/>
        </p:nvSpPr>
        <p:spPr>
          <a:xfrm>
            <a:off x="1113943" y="2973799"/>
            <a:ext cx="2583749" cy="476222"/>
          </a:xfrm>
          <a:prstGeom prst="rect">
            <a:avLst/>
          </a:prstGeom>
          <a:noFill/>
          <a:ln/>
        </p:spPr>
        <p:txBody>
          <a:bodyPr wrap="squar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2036</a:t>
            </a:r>
            <a:endParaRPr lang="en-US" sz="3450" dirty="0"/>
          </a:p>
        </p:txBody>
      </p:sp>
      <p:sp>
        <p:nvSpPr>
          <p:cNvPr id="10" name="Shape 6"/>
          <p:cNvSpPr/>
          <p:nvPr/>
        </p:nvSpPr>
        <p:spPr>
          <a:xfrm>
            <a:off x="3814749" y="2381817"/>
            <a:ext cx="2748005" cy="1545899"/>
          </a:xfrm>
          <a:prstGeom prst="rect">
            <a:avLst/>
          </a:prstGeom>
          <a:ln w="9071">
            <a:solidFill>
              <a:srgbClr val="1F1F1F">
                <a:alpha val="16000"/>
              </a:srgbClr>
            </a:solidFill>
            <a:prstDash val="solid"/>
          </a:ln>
        </p:spPr>
        <p:txBody>
          <a:bodyPr/>
          <a:lstStyle/>
          <a:p>
            <a:endParaRPr lang="en-US"/>
          </a:p>
        </p:txBody>
      </p:sp>
      <p:sp>
        <p:nvSpPr>
          <p:cNvPr id="11" name="Text 7"/>
          <p:cNvSpPr/>
          <p:nvPr/>
        </p:nvSpPr>
        <p:spPr>
          <a:xfrm>
            <a:off x="4014320" y="2543260"/>
            <a:ext cx="2583749"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180" dirty="0">
                <a:solidFill>
                  <a:srgbClr val="1D1F20">
                    <a:alpha val="90000"/>
                  </a:srgbClr>
                </a:solidFill>
                <a:latin typeface="Barlow" pitchFamily="34" charset="0"/>
                <a:ea typeface="Barlow" pitchFamily="34" charset="-122"/>
                <a:cs typeface="Barlow" pitchFamily="34" charset="-120"/>
              </a:rPr>
              <a:t>YEARS LEFT</a:t>
            </a:r>
            <a:endParaRPr lang="en-US" sz="2100" dirty="0"/>
          </a:p>
        </p:txBody>
      </p:sp>
      <p:sp>
        <p:nvSpPr>
          <p:cNvPr id="12" name="Text 8"/>
          <p:cNvSpPr/>
          <p:nvPr/>
        </p:nvSpPr>
        <p:spPr>
          <a:xfrm>
            <a:off x="4014320" y="2973799"/>
            <a:ext cx="2583749" cy="476222"/>
          </a:xfrm>
          <a:prstGeom prst="rect">
            <a:avLst/>
          </a:prstGeom>
          <a:noFill/>
          <a:ln/>
        </p:spPr>
        <p:txBody>
          <a:bodyPr wrap="squar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10 years</a:t>
            </a:r>
            <a:endParaRPr lang="en-US" sz="3450" dirty="0"/>
          </a:p>
        </p:txBody>
      </p:sp>
      <p:sp>
        <p:nvSpPr>
          <p:cNvPr id="13" name="Shape 9"/>
          <p:cNvSpPr/>
          <p:nvPr/>
        </p:nvSpPr>
        <p:spPr>
          <a:xfrm>
            <a:off x="6715126" y="2381817"/>
            <a:ext cx="2748005" cy="1545899"/>
          </a:xfrm>
          <a:prstGeom prst="rect">
            <a:avLst/>
          </a:prstGeom>
          <a:ln w="9071">
            <a:solidFill>
              <a:srgbClr val="1F1F1F">
                <a:alpha val="16000"/>
              </a:srgbClr>
            </a:solidFill>
            <a:prstDash val="solid"/>
          </a:ln>
        </p:spPr>
        <p:txBody>
          <a:bodyPr/>
          <a:lstStyle/>
          <a:p>
            <a:endParaRPr lang="en-US"/>
          </a:p>
        </p:txBody>
      </p:sp>
      <p:sp>
        <p:nvSpPr>
          <p:cNvPr id="14" name="Text 10"/>
          <p:cNvSpPr/>
          <p:nvPr/>
        </p:nvSpPr>
        <p:spPr>
          <a:xfrm>
            <a:off x="6914697" y="2543260"/>
            <a:ext cx="2425062" cy="746805"/>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180" dirty="0">
                <a:solidFill>
                  <a:srgbClr val="1D1F20">
                    <a:alpha val="90000"/>
                  </a:srgbClr>
                </a:solidFill>
                <a:latin typeface="Barlow" pitchFamily="34" charset="0"/>
                <a:ea typeface="Barlow" pitchFamily="34" charset="-122"/>
                <a:cs typeface="Barlow" pitchFamily="34" charset="-120"/>
              </a:rPr>
              <a:t>MONTHLY EXPENSE</a:t>
            </a:r>
            <a:endParaRPr lang="en-US" sz="2100" dirty="0"/>
          </a:p>
        </p:txBody>
      </p:sp>
      <p:sp>
        <p:nvSpPr>
          <p:cNvPr id="15" name="Text 11"/>
          <p:cNvSpPr/>
          <p:nvPr/>
        </p:nvSpPr>
        <p:spPr>
          <a:xfrm>
            <a:off x="6914697" y="3328152"/>
            <a:ext cx="2583749" cy="476222"/>
          </a:xfrm>
          <a:prstGeom prst="rect">
            <a:avLst/>
          </a:prstGeom>
          <a:noFill/>
          <a:ln/>
        </p:spPr>
        <p:txBody>
          <a:bodyPr wrap="squar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₹2.69 L</a:t>
            </a:r>
            <a:endParaRPr lang="en-US" sz="3450" dirty="0"/>
          </a:p>
        </p:txBody>
      </p:sp>
      <p:sp>
        <p:nvSpPr>
          <p:cNvPr id="16" name="Shape 12"/>
          <p:cNvSpPr/>
          <p:nvPr/>
        </p:nvSpPr>
        <p:spPr>
          <a:xfrm>
            <a:off x="9615502" y="2381817"/>
            <a:ext cx="2748005" cy="1545899"/>
          </a:xfrm>
          <a:prstGeom prst="rect">
            <a:avLst/>
          </a:prstGeom>
          <a:ln w="9071">
            <a:solidFill>
              <a:srgbClr val="1F1F1F">
                <a:alpha val="16000"/>
              </a:srgbClr>
            </a:solidFill>
            <a:prstDash val="solid"/>
          </a:ln>
        </p:spPr>
        <p:txBody>
          <a:bodyPr/>
          <a:lstStyle/>
          <a:p>
            <a:endParaRPr lang="en-US"/>
          </a:p>
        </p:txBody>
      </p:sp>
      <p:sp>
        <p:nvSpPr>
          <p:cNvPr id="17" name="Text 13"/>
          <p:cNvSpPr/>
          <p:nvPr/>
        </p:nvSpPr>
        <p:spPr>
          <a:xfrm>
            <a:off x="9815074" y="2543260"/>
            <a:ext cx="2583749"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180" dirty="0">
                <a:solidFill>
                  <a:srgbClr val="1D1F20">
                    <a:alpha val="90000"/>
                  </a:srgbClr>
                </a:solidFill>
                <a:latin typeface="Barlow" pitchFamily="34" charset="0"/>
                <a:ea typeface="Barlow" pitchFamily="34" charset="-122"/>
                <a:cs typeface="Barlow" pitchFamily="34" charset="-120"/>
              </a:rPr>
              <a:t>RENTAL INCOME</a:t>
            </a:r>
            <a:endParaRPr lang="en-US" sz="2100" dirty="0"/>
          </a:p>
        </p:txBody>
      </p:sp>
      <p:sp>
        <p:nvSpPr>
          <p:cNvPr id="18" name="Text 14"/>
          <p:cNvSpPr/>
          <p:nvPr/>
        </p:nvSpPr>
        <p:spPr>
          <a:xfrm>
            <a:off x="9815074" y="2973799"/>
            <a:ext cx="2583749" cy="476222"/>
          </a:xfrm>
          <a:prstGeom prst="rect">
            <a:avLst/>
          </a:prstGeom>
          <a:noFill/>
          <a:ln/>
        </p:spPr>
        <p:txBody>
          <a:bodyPr wrap="squar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₹0.63 L</a:t>
            </a:r>
            <a:endParaRPr lang="en-US" sz="3450" dirty="0"/>
          </a:p>
        </p:txBody>
      </p:sp>
      <p:sp>
        <p:nvSpPr>
          <p:cNvPr id="19" name="Shape 15"/>
          <p:cNvSpPr/>
          <p:nvPr/>
        </p:nvSpPr>
        <p:spPr>
          <a:xfrm>
            <a:off x="914372" y="4080088"/>
            <a:ext cx="2748005" cy="1545899"/>
          </a:xfrm>
          <a:prstGeom prst="rect">
            <a:avLst/>
          </a:prstGeom>
          <a:ln w="9071">
            <a:solidFill>
              <a:srgbClr val="1F1F1F">
                <a:alpha val="16000"/>
              </a:srgbClr>
            </a:solidFill>
            <a:prstDash val="solid"/>
          </a:ln>
        </p:spPr>
        <p:txBody>
          <a:bodyPr/>
          <a:lstStyle/>
          <a:p>
            <a:endParaRPr lang="en-US"/>
          </a:p>
        </p:txBody>
      </p:sp>
      <p:sp>
        <p:nvSpPr>
          <p:cNvPr id="20" name="Text 16"/>
          <p:cNvSpPr/>
          <p:nvPr/>
        </p:nvSpPr>
        <p:spPr>
          <a:xfrm>
            <a:off x="1113943" y="4241531"/>
            <a:ext cx="2425062" cy="746805"/>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180" dirty="0">
                <a:solidFill>
                  <a:srgbClr val="1D1F20">
                    <a:alpha val="90000"/>
                  </a:srgbClr>
                </a:solidFill>
                <a:latin typeface="Barlow" pitchFamily="34" charset="0"/>
                <a:ea typeface="Barlow" pitchFamily="34" charset="-122"/>
                <a:cs typeface="Barlow" pitchFamily="34" charset="-120"/>
              </a:rPr>
              <a:t>ANNUITY REQUIRED</a:t>
            </a:r>
            <a:endParaRPr lang="en-US" sz="2100" dirty="0"/>
          </a:p>
        </p:txBody>
      </p:sp>
      <p:sp>
        <p:nvSpPr>
          <p:cNvPr id="21" name="Text 17"/>
          <p:cNvSpPr/>
          <p:nvPr/>
        </p:nvSpPr>
        <p:spPr>
          <a:xfrm>
            <a:off x="1113943" y="5026422"/>
            <a:ext cx="2583749" cy="476222"/>
          </a:xfrm>
          <a:prstGeom prst="rect">
            <a:avLst/>
          </a:prstGeom>
          <a:noFill/>
          <a:ln/>
        </p:spPr>
        <p:txBody>
          <a:bodyPr wrap="squar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₹2.06 L</a:t>
            </a:r>
            <a:endParaRPr lang="en-US" sz="3450" dirty="0"/>
          </a:p>
        </p:txBody>
      </p:sp>
      <p:sp>
        <p:nvSpPr>
          <p:cNvPr id="22" name="Shape 18"/>
          <p:cNvSpPr/>
          <p:nvPr/>
        </p:nvSpPr>
        <p:spPr>
          <a:xfrm>
            <a:off x="3814749" y="4080088"/>
            <a:ext cx="2748005" cy="1545899"/>
          </a:xfrm>
          <a:prstGeom prst="rect">
            <a:avLst/>
          </a:prstGeom>
          <a:ln w="9071">
            <a:solidFill>
              <a:srgbClr val="1F1F1F">
                <a:alpha val="16000"/>
              </a:srgbClr>
            </a:solidFill>
            <a:prstDash val="solid"/>
          </a:ln>
        </p:spPr>
        <p:txBody>
          <a:bodyPr/>
          <a:lstStyle/>
          <a:p>
            <a:endParaRPr lang="en-US"/>
          </a:p>
        </p:txBody>
      </p:sp>
      <p:sp>
        <p:nvSpPr>
          <p:cNvPr id="23" name="Text 19"/>
          <p:cNvSpPr/>
          <p:nvPr/>
        </p:nvSpPr>
        <p:spPr>
          <a:xfrm>
            <a:off x="4014320" y="4241531"/>
            <a:ext cx="2583749"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180" dirty="0">
                <a:solidFill>
                  <a:srgbClr val="1D1F20">
                    <a:alpha val="90000"/>
                  </a:srgbClr>
                </a:solidFill>
                <a:latin typeface="Barlow" pitchFamily="34" charset="0"/>
                <a:ea typeface="Barlow" pitchFamily="34" charset="-122"/>
                <a:cs typeface="Barlow" pitchFamily="34" charset="-120"/>
              </a:rPr>
              <a:t>INFLATION RATE</a:t>
            </a:r>
            <a:endParaRPr lang="en-US" sz="2100" dirty="0"/>
          </a:p>
        </p:txBody>
      </p:sp>
      <p:sp>
        <p:nvSpPr>
          <p:cNvPr id="24" name="Text 20"/>
          <p:cNvSpPr/>
          <p:nvPr/>
        </p:nvSpPr>
        <p:spPr>
          <a:xfrm>
            <a:off x="4014320" y="4672069"/>
            <a:ext cx="2583749" cy="476222"/>
          </a:xfrm>
          <a:prstGeom prst="rect">
            <a:avLst/>
          </a:prstGeom>
          <a:noFill/>
          <a:ln/>
        </p:spPr>
        <p:txBody>
          <a:bodyPr wrap="squar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~6%</a:t>
            </a:r>
            <a:endParaRPr lang="en-US" sz="3450" dirty="0"/>
          </a:p>
        </p:txBody>
      </p:sp>
      <p:sp>
        <p:nvSpPr>
          <p:cNvPr id="25" name="Shape 21"/>
          <p:cNvSpPr/>
          <p:nvPr/>
        </p:nvSpPr>
        <p:spPr>
          <a:xfrm>
            <a:off x="6715126" y="4080088"/>
            <a:ext cx="2748005" cy="1545899"/>
          </a:xfrm>
          <a:prstGeom prst="rect">
            <a:avLst/>
          </a:prstGeom>
          <a:solidFill>
            <a:srgbClr val="141A45"/>
          </a:solidFill>
          <a:ln w="9071">
            <a:solidFill>
              <a:srgbClr val="141A45"/>
            </a:solidFill>
            <a:prstDash val="solid"/>
          </a:ln>
        </p:spPr>
        <p:txBody>
          <a:bodyPr/>
          <a:lstStyle/>
          <a:p>
            <a:endParaRPr lang="en-US"/>
          </a:p>
        </p:txBody>
      </p:sp>
      <p:sp>
        <p:nvSpPr>
          <p:cNvPr id="26" name="Text 22"/>
          <p:cNvSpPr/>
          <p:nvPr/>
        </p:nvSpPr>
        <p:spPr>
          <a:xfrm>
            <a:off x="6914697" y="4241531"/>
            <a:ext cx="2583749"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180" dirty="0">
                <a:solidFill>
                  <a:srgbClr val="F2F2F3">
                    <a:alpha val="90000"/>
                  </a:srgbClr>
                </a:solidFill>
                <a:latin typeface="Barlow" pitchFamily="34" charset="0"/>
                <a:ea typeface="Barlow" pitchFamily="34" charset="-122"/>
                <a:cs typeface="Barlow" pitchFamily="34" charset="-120"/>
              </a:rPr>
              <a:t>CORPUS REQUIRED</a:t>
            </a:r>
            <a:endParaRPr lang="en-US" sz="2100" dirty="0"/>
          </a:p>
        </p:txBody>
      </p:sp>
      <p:sp>
        <p:nvSpPr>
          <p:cNvPr id="27" name="Text 23"/>
          <p:cNvSpPr/>
          <p:nvPr/>
        </p:nvSpPr>
        <p:spPr>
          <a:xfrm>
            <a:off x="6914697" y="4672069"/>
            <a:ext cx="2583749" cy="476222"/>
          </a:xfrm>
          <a:prstGeom prst="rect">
            <a:avLst/>
          </a:prstGeom>
          <a:noFill/>
          <a:ln/>
        </p:spPr>
        <p:txBody>
          <a:bodyPr wrap="square" lIns="25400" tIns="25400" rIns="25400" bIns="25400" rtlCol="0" anchor="t">
            <a:normAutofit lnSpcReduction="10000"/>
          </a:bodyPr>
          <a:lstStyle/>
          <a:p>
            <a:pPr marL="0" indent="0" algn="l">
              <a:lnSpc>
                <a:spcPct val="83276"/>
              </a:lnSpc>
              <a:buNone/>
            </a:pPr>
            <a:r>
              <a:rPr lang="en-US" sz="3450" dirty="0">
                <a:solidFill>
                  <a:srgbClr val="F2F2F3"/>
                </a:solidFill>
                <a:latin typeface="Barlow Condensed" pitchFamily="34" charset="0"/>
                <a:ea typeface="Barlow Condensed" pitchFamily="34" charset="-122"/>
                <a:cs typeface="Barlow Condensed" pitchFamily="34" charset="-120"/>
              </a:rPr>
              <a:t>₹6.25 Cr</a:t>
            </a:r>
            <a:endParaRPr lang="en-US" sz="3450" dirty="0"/>
          </a:p>
        </p:txBody>
      </p:sp>
      <p:sp>
        <p:nvSpPr>
          <p:cNvPr id="28" name="Shape 24"/>
          <p:cNvSpPr/>
          <p:nvPr/>
        </p:nvSpPr>
        <p:spPr>
          <a:xfrm>
            <a:off x="9615502" y="4080088"/>
            <a:ext cx="2748005" cy="1545899"/>
          </a:xfrm>
          <a:prstGeom prst="rect">
            <a:avLst/>
          </a:prstGeom>
          <a:solidFill>
            <a:srgbClr val="26306F"/>
          </a:solidFill>
          <a:ln w="9071">
            <a:solidFill>
              <a:srgbClr val="26306F"/>
            </a:solidFill>
            <a:prstDash val="solid"/>
          </a:ln>
        </p:spPr>
        <p:txBody>
          <a:bodyPr/>
          <a:lstStyle/>
          <a:p>
            <a:endParaRPr lang="en-US"/>
          </a:p>
        </p:txBody>
      </p:sp>
      <p:sp>
        <p:nvSpPr>
          <p:cNvPr id="29" name="Text 25"/>
          <p:cNvSpPr/>
          <p:nvPr/>
        </p:nvSpPr>
        <p:spPr>
          <a:xfrm>
            <a:off x="9815074" y="4241531"/>
            <a:ext cx="2583749"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180" dirty="0">
                <a:solidFill>
                  <a:srgbClr val="F2F2F3">
                    <a:alpha val="90000"/>
                  </a:srgbClr>
                </a:solidFill>
                <a:latin typeface="Barlow" pitchFamily="34" charset="0"/>
                <a:ea typeface="Barlow" pitchFamily="34" charset="-122"/>
                <a:cs typeface="Barlow" pitchFamily="34" charset="-120"/>
              </a:rPr>
              <a:t>EXPECTED CORPUS</a:t>
            </a:r>
            <a:endParaRPr lang="en-US" sz="2100" dirty="0"/>
          </a:p>
        </p:txBody>
      </p:sp>
      <p:sp>
        <p:nvSpPr>
          <p:cNvPr id="30" name="Text 26"/>
          <p:cNvSpPr/>
          <p:nvPr/>
        </p:nvSpPr>
        <p:spPr>
          <a:xfrm>
            <a:off x="9815074" y="4672069"/>
            <a:ext cx="2583749" cy="476222"/>
          </a:xfrm>
          <a:prstGeom prst="rect">
            <a:avLst/>
          </a:prstGeom>
          <a:noFill/>
          <a:ln/>
        </p:spPr>
        <p:txBody>
          <a:bodyPr wrap="square" lIns="25400" tIns="25400" rIns="25400" bIns="25400" rtlCol="0" anchor="t">
            <a:normAutofit lnSpcReduction="10000"/>
          </a:bodyPr>
          <a:lstStyle/>
          <a:p>
            <a:pPr marL="0" indent="0" algn="l">
              <a:lnSpc>
                <a:spcPct val="83276"/>
              </a:lnSpc>
              <a:buNone/>
            </a:pPr>
            <a:r>
              <a:rPr lang="en-US" sz="3450" dirty="0">
                <a:solidFill>
                  <a:srgbClr val="94BCE3"/>
                </a:solidFill>
                <a:latin typeface="Barlow Condensed" pitchFamily="34" charset="0"/>
                <a:ea typeface="Barlow Condensed" pitchFamily="34" charset="-122"/>
                <a:cs typeface="Barlow Condensed" pitchFamily="34" charset="-120"/>
              </a:rPr>
              <a:t>₹5.50 Cr</a:t>
            </a:r>
            <a:endParaRPr lang="en-US" sz="3450" dirty="0"/>
          </a:p>
        </p:txBody>
      </p:sp>
      <p:sp>
        <p:nvSpPr>
          <p:cNvPr id="31" name="Text 27"/>
          <p:cNvSpPr/>
          <p:nvPr/>
        </p:nvSpPr>
        <p:spPr>
          <a:xfrm>
            <a:off x="914372" y="5854544"/>
            <a:ext cx="12594050"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RETIREMENT SUMMARY</a:t>
            </a:r>
            <a:endParaRPr lang="en-US" sz="2100" dirty="0"/>
          </a:p>
        </p:txBody>
      </p:sp>
      <p:sp>
        <p:nvSpPr>
          <p:cNvPr id="32" name="Text 28"/>
          <p:cNvSpPr/>
          <p:nvPr/>
        </p:nvSpPr>
        <p:spPr>
          <a:xfrm>
            <a:off x="914372" y="6371616"/>
            <a:ext cx="11792610" cy="758145"/>
          </a:xfrm>
          <a:prstGeom prst="rect">
            <a:avLst/>
          </a:prstGeom>
          <a:noFill/>
          <a:ln/>
        </p:spPr>
        <p:txBody>
          <a:bodyPr wrap="square" lIns="25400" tIns="25400" rIns="25400" bIns="25400" rtlCol="0" anchor="t">
            <a:normAutofit lnSpcReduction="10000"/>
          </a:bodyPr>
          <a:lstStyle/>
          <a:p>
            <a:pPr marL="0" indent="0" algn="l">
              <a:lnSpc>
                <a:spcPct val="116735"/>
              </a:lnSpc>
              <a:buNone/>
            </a:pPr>
            <a:r>
              <a:rPr lang="en-US" sz="2100" dirty="0">
                <a:solidFill>
                  <a:srgbClr val="1D1F20">
                    <a:alpha val="90000"/>
                  </a:srgbClr>
                </a:solidFill>
                <a:latin typeface="Barlow" pitchFamily="34" charset="0"/>
                <a:ea typeface="Barlow" pitchFamily="34" charset="-122"/>
                <a:cs typeface="Barlow" pitchFamily="34" charset="-120"/>
              </a:rPr>
              <a:t>On these assumptions, retiring at 55 needs a corpus of about ₹6.25 crore to fund ₹2.06 lakh a month, inflated at 6%, to age 90. The plan currently builds ₹5.50 crore, leaving a gap of ₹0.75 crore.</a:t>
            </a:r>
            <a:endParaRPr lang="en-US" sz="2100" dirty="0"/>
          </a:p>
        </p:txBody>
      </p:sp>
      <p:sp>
        <p:nvSpPr>
          <p:cNvPr id="33" name="Text 29"/>
          <p:cNvSpPr/>
          <p:nvPr/>
        </p:nvSpPr>
        <p:spPr>
          <a:xfrm>
            <a:off x="914372" y="7224968"/>
            <a:ext cx="11792610" cy="1838212"/>
          </a:xfrm>
          <a:prstGeom prst="rect">
            <a:avLst/>
          </a:prstGeom>
          <a:noFill/>
          <a:ln/>
        </p:spPr>
        <p:txBody>
          <a:bodyPr wrap="square" lIns="25400" tIns="25400" rIns="25400" bIns="25400" rtlCol="0" anchor="t">
            <a:normAutofit lnSpcReduction="10000"/>
          </a:bodyPr>
          <a:lstStyle/>
          <a:p>
            <a:pPr marL="0" indent="0" algn="l">
              <a:lnSpc>
                <a:spcPct val="116735"/>
              </a:lnSpc>
              <a:buNone/>
            </a:pPr>
            <a:r>
              <a:rPr lang="en-US" sz="2100" dirty="0">
                <a:solidFill>
                  <a:srgbClr val="1D1F20">
                    <a:alpha val="90000"/>
                  </a:srgbClr>
                </a:solidFill>
                <a:latin typeface="Barlow" pitchFamily="34" charset="0"/>
                <a:ea typeface="Barlow" pitchFamily="34" charset="-122"/>
                <a:cs typeface="Barlow" pitchFamily="34" charset="-120"/>
              </a:rPr>
              <a:t>Three levers close it, and any two are sufficient: directing the ₹21,700 monthly surplus into the retirement SIP and deploying the ₹10 lakh FD reallocation as a lumpsum, which together add ₹0.81 crore by 2036; working to 57 instead of 55; or monetising the second property at retirement. Once funded, a core-and-satellite structure keeps the essential income in stable assets and leaves the satellite free for growth and legacy planning.</a:t>
            </a:r>
            <a:endParaRPr lang="en-US" sz="2100" dirty="0"/>
          </a:p>
        </p:txBody>
      </p:sp>
      <p:sp>
        <p:nvSpPr>
          <p:cNvPr id="34" name="Shape 30"/>
          <p:cNvSpPr/>
          <p:nvPr/>
        </p:nvSpPr>
        <p:spPr>
          <a:xfrm>
            <a:off x="12896879" y="2381817"/>
            <a:ext cx="4476679" cy="6643263"/>
          </a:xfrm>
          <a:prstGeom prst="rect">
            <a:avLst/>
          </a:prstGeom>
          <a:solidFill>
            <a:srgbClr val="E7E7EA"/>
          </a:solidFill>
          <a:ln/>
        </p:spPr>
        <p:txBody>
          <a:bodyPr/>
          <a:lstStyle/>
          <a:p>
            <a:endParaRPr lang="en-US"/>
          </a:p>
        </p:txBody>
      </p:sp>
      <p:pic>
        <p:nvPicPr>
          <p:cNvPr id="35" name="Image 2" descr="preencoded.png"/>
          <p:cNvPicPr>
            <a:picLocks noChangeAspect="1"/>
          </p:cNvPicPr>
          <p:nvPr/>
        </p:nvPicPr>
        <p:blipFill>
          <a:blip r:embed="rId5"/>
          <a:srcRect l="31205" r="31205"/>
          <a:stretch/>
        </p:blipFill>
        <p:spPr>
          <a:xfrm>
            <a:off x="12896879" y="2381817"/>
            <a:ext cx="4476679" cy="6643263"/>
          </a:xfrm>
          <a:prstGeom prst="rect">
            <a:avLst/>
          </a:prstGeom>
        </p:spPr>
      </p:pic>
      <p:sp>
        <p:nvSpPr>
          <p:cNvPr id="36" name="Shape 31"/>
          <p:cNvSpPr/>
          <p:nvPr/>
        </p:nvSpPr>
        <p:spPr>
          <a:xfrm>
            <a:off x="12896879" y="2381817"/>
            <a:ext cx="4476679" cy="6643263"/>
          </a:xfrm>
          <a:prstGeom prst="rect">
            <a:avLst/>
          </a:prstGeom>
          <a:solidFill>
            <a:srgbClr val="26306F">
              <a:alpha val="30000"/>
            </a:srgbClr>
          </a:solidFill>
          <a:ln/>
        </p:spPr>
        <p:txBody>
          <a:bodyPr/>
          <a:lstStyle/>
          <a:p>
            <a:endParaRPr lang="en-US"/>
          </a:p>
        </p:txBody>
      </p:sp>
      <p:sp>
        <p:nvSpPr>
          <p:cNvPr id="37" name="Text 32"/>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38" name="Text 33"/>
          <p:cNvSpPr/>
          <p:nvPr/>
        </p:nvSpPr>
        <p:spPr>
          <a:xfrm>
            <a:off x="16719707" y="9475462"/>
            <a:ext cx="730052"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27 / 32</a:t>
            </a:r>
            <a:endParaRPr lang="en-US" sz="2100" dirty="0"/>
          </a:p>
        </p:txBody>
      </p:sp>
    </p:spTree>
    <p:extLst>
      <p:ext uri="{BB962C8B-B14F-4D97-AF65-F5344CB8AC3E}">
        <p14:creationId xmlns:p14="http://schemas.microsoft.com/office/powerpoint/2010/main" val="16592949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8">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5698934"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CORPUS &amp; ANNUITY</a:t>
            </a:r>
            <a:endParaRPr lang="en-US" sz="2100" b="1" dirty="0">
              <a:solidFill>
                <a:srgbClr val="2A3480"/>
              </a:solidFill>
              <a:latin typeface="Barlow"/>
            </a:endParaRPr>
          </a:p>
        </p:txBody>
      </p:sp>
      <p:sp>
        <p:nvSpPr>
          <p:cNvPr id="3" name="Text 1"/>
          <p:cNvSpPr/>
          <p:nvPr/>
        </p:nvSpPr>
        <p:spPr>
          <a:xfrm>
            <a:off x="914372" y="1088501"/>
            <a:ext cx="5698934"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Retirement Planning</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Text 3"/>
          <p:cNvSpPr/>
          <p:nvPr/>
        </p:nvSpPr>
        <p:spPr>
          <a:xfrm>
            <a:off x="914372" y="2381817"/>
            <a:ext cx="8675355"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CORPUS BREAK-UP USED FOR RETIREMENT</a:t>
            </a:r>
            <a:endParaRPr lang="en-US" sz="2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4372" y="4134091"/>
            <a:ext cx="3238429" cy="3238429"/>
          </a:xfrm>
          <a:prstGeom prst="rect">
            <a:avLst/>
          </a:prstGeom>
        </p:spPr>
      </p:pic>
      <p:sp>
        <p:nvSpPr>
          <p:cNvPr id="8" name="Shape 4"/>
          <p:cNvSpPr/>
          <p:nvPr/>
        </p:nvSpPr>
        <p:spPr>
          <a:xfrm>
            <a:off x="4533801" y="3618862"/>
            <a:ext cx="4267257" cy="9525"/>
          </a:xfrm>
          <a:prstGeom prst="rect">
            <a:avLst/>
          </a:prstGeom>
          <a:solidFill>
            <a:srgbClr val="1D1F20">
              <a:alpha val="10000"/>
            </a:srgbClr>
          </a:solidFill>
          <a:ln/>
        </p:spPr>
        <p:txBody>
          <a:bodyPr/>
          <a:lstStyle/>
          <a:p>
            <a:endParaRPr lang="en-US"/>
          </a:p>
        </p:txBody>
      </p:sp>
      <p:sp>
        <p:nvSpPr>
          <p:cNvPr id="9" name="Shape 5"/>
          <p:cNvSpPr/>
          <p:nvPr/>
        </p:nvSpPr>
        <p:spPr>
          <a:xfrm>
            <a:off x="4533801" y="3238146"/>
            <a:ext cx="152372" cy="152372"/>
          </a:xfrm>
          <a:prstGeom prst="rect">
            <a:avLst/>
          </a:prstGeom>
          <a:solidFill>
            <a:srgbClr val="2F7D3A"/>
          </a:solidFill>
          <a:ln/>
        </p:spPr>
        <p:txBody>
          <a:bodyPr/>
          <a:lstStyle/>
          <a:p>
            <a:endParaRPr lang="en-US"/>
          </a:p>
        </p:txBody>
      </p:sp>
      <p:sp>
        <p:nvSpPr>
          <p:cNvPr id="10" name="Text 6"/>
          <p:cNvSpPr/>
          <p:nvPr/>
        </p:nvSpPr>
        <p:spPr>
          <a:xfrm>
            <a:off x="4838544" y="3100232"/>
            <a:ext cx="3289655"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Provident Fund</a:t>
            </a:r>
            <a:endParaRPr lang="en-US" sz="2100" dirty="0"/>
          </a:p>
        </p:txBody>
      </p:sp>
      <p:sp>
        <p:nvSpPr>
          <p:cNvPr id="11" name="Text 7"/>
          <p:cNvSpPr/>
          <p:nvPr/>
        </p:nvSpPr>
        <p:spPr>
          <a:xfrm>
            <a:off x="7981511" y="3032196"/>
            <a:ext cx="895747" cy="510523"/>
          </a:xfrm>
          <a:prstGeom prst="rect">
            <a:avLst/>
          </a:prstGeom>
          <a:noFill/>
          <a:ln/>
        </p:spPr>
        <p:txBody>
          <a:bodyPr wrap="square" lIns="25400" tIns="25400" rIns="25400" bIns="25400" rtlCol="0" anchor="t">
            <a:normAutofit/>
          </a:bodyPr>
          <a:lstStyle/>
          <a:p>
            <a:pPr marL="0" indent="0" algn="l">
              <a:lnSpc>
                <a:spcPct val="130200"/>
              </a:lnSpc>
              <a:buNone/>
            </a:pPr>
            <a:r>
              <a:rPr lang="en-US" sz="2400" dirty="0">
                <a:solidFill>
                  <a:srgbClr val="1D1F20"/>
                </a:solidFill>
                <a:latin typeface="Barlow Condensed" pitchFamily="34" charset="0"/>
                <a:ea typeface="Barlow Condensed" pitchFamily="34" charset="-122"/>
                <a:cs typeface="Barlow Condensed" pitchFamily="34" charset="-120"/>
              </a:rPr>
              <a:t>₹1.75 Cr</a:t>
            </a:r>
            <a:endParaRPr lang="en-US" sz="2400" dirty="0"/>
          </a:p>
        </p:txBody>
      </p:sp>
      <p:sp>
        <p:nvSpPr>
          <p:cNvPr id="12" name="Shape 8"/>
          <p:cNvSpPr/>
          <p:nvPr/>
        </p:nvSpPr>
        <p:spPr>
          <a:xfrm>
            <a:off x="4533801" y="4328843"/>
            <a:ext cx="4267257" cy="9525"/>
          </a:xfrm>
          <a:prstGeom prst="rect">
            <a:avLst/>
          </a:prstGeom>
          <a:solidFill>
            <a:srgbClr val="1D1F20">
              <a:alpha val="10000"/>
            </a:srgbClr>
          </a:solidFill>
          <a:ln/>
        </p:spPr>
        <p:txBody>
          <a:bodyPr/>
          <a:lstStyle/>
          <a:p>
            <a:endParaRPr lang="en-US"/>
          </a:p>
        </p:txBody>
      </p:sp>
      <p:sp>
        <p:nvSpPr>
          <p:cNvPr id="13" name="Shape 9"/>
          <p:cNvSpPr/>
          <p:nvPr/>
        </p:nvSpPr>
        <p:spPr>
          <a:xfrm>
            <a:off x="4533801" y="3948127"/>
            <a:ext cx="152372" cy="152372"/>
          </a:xfrm>
          <a:prstGeom prst="rect">
            <a:avLst/>
          </a:prstGeom>
          <a:solidFill>
            <a:srgbClr val="26306F"/>
          </a:solidFill>
          <a:ln/>
        </p:spPr>
        <p:txBody>
          <a:bodyPr/>
          <a:lstStyle/>
          <a:p>
            <a:endParaRPr lang="en-US"/>
          </a:p>
        </p:txBody>
      </p:sp>
      <p:sp>
        <p:nvSpPr>
          <p:cNvPr id="14" name="Text 10"/>
          <p:cNvSpPr/>
          <p:nvPr/>
        </p:nvSpPr>
        <p:spPr>
          <a:xfrm>
            <a:off x="4838544" y="3810213"/>
            <a:ext cx="319711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Mutual Funds</a:t>
            </a:r>
            <a:endParaRPr lang="en-US" sz="2100" dirty="0"/>
          </a:p>
        </p:txBody>
      </p:sp>
      <p:sp>
        <p:nvSpPr>
          <p:cNvPr id="15" name="Text 11"/>
          <p:cNvSpPr/>
          <p:nvPr/>
        </p:nvSpPr>
        <p:spPr>
          <a:xfrm>
            <a:off x="7897388" y="3742177"/>
            <a:ext cx="979870" cy="510523"/>
          </a:xfrm>
          <a:prstGeom prst="rect">
            <a:avLst/>
          </a:prstGeom>
          <a:noFill/>
          <a:ln/>
        </p:spPr>
        <p:txBody>
          <a:bodyPr wrap="square" lIns="25400" tIns="25400" rIns="25400" bIns="25400" rtlCol="0" anchor="t">
            <a:normAutofit/>
          </a:bodyPr>
          <a:lstStyle/>
          <a:p>
            <a:pPr marL="0" indent="0" algn="l">
              <a:lnSpc>
                <a:spcPct val="130200"/>
              </a:lnSpc>
              <a:buNone/>
            </a:pPr>
            <a:r>
              <a:rPr lang="en-US" sz="2400" dirty="0">
                <a:solidFill>
                  <a:srgbClr val="1D1F20"/>
                </a:solidFill>
                <a:latin typeface="Barlow Condensed" pitchFamily="34" charset="0"/>
                <a:ea typeface="Barlow Condensed" pitchFamily="34" charset="-122"/>
                <a:cs typeface="Barlow Condensed" pitchFamily="34" charset="-120"/>
              </a:rPr>
              <a:t>₹0.84 Cr</a:t>
            </a:r>
            <a:endParaRPr lang="en-US" sz="2400" dirty="0"/>
          </a:p>
        </p:txBody>
      </p:sp>
      <p:sp>
        <p:nvSpPr>
          <p:cNvPr id="16" name="Shape 12"/>
          <p:cNvSpPr/>
          <p:nvPr/>
        </p:nvSpPr>
        <p:spPr>
          <a:xfrm>
            <a:off x="4533801" y="5038825"/>
            <a:ext cx="4267257" cy="9525"/>
          </a:xfrm>
          <a:prstGeom prst="rect">
            <a:avLst/>
          </a:prstGeom>
          <a:solidFill>
            <a:srgbClr val="1D1F20">
              <a:alpha val="10000"/>
            </a:srgbClr>
          </a:solidFill>
          <a:ln/>
        </p:spPr>
        <p:txBody>
          <a:bodyPr/>
          <a:lstStyle/>
          <a:p>
            <a:endParaRPr lang="en-US"/>
          </a:p>
        </p:txBody>
      </p:sp>
      <p:sp>
        <p:nvSpPr>
          <p:cNvPr id="17" name="Shape 13"/>
          <p:cNvSpPr/>
          <p:nvPr/>
        </p:nvSpPr>
        <p:spPr>
          <a:xfrm>
            <a:off x="4533801" y="4658108"/>
            <a:ext cx="152372" cy="152372"/>
          </a:xfrm>
          <a:prstGeom prst="rect">
            <a:avLst/>
          </a:prstGeom>
          <a:solidFill>
            <a:srgbClr val="7BBD85"/>
          </a:solidFill>
          <a:ln/>
        </p:spPr>
        <p:txBody>
          <a:bodyPr/>
          <a:lstStyle/>
          <a:p>
            <a:endParaRPr lang="en-US"/>
          </a:p>
        </p:txBody>
      </p:sp>
      <p:sp>
        <p:nvSpPr>
          <p:cNvPr id="18" name="Text 14"/>
          <p:cNvSpPr/>
          <p:nvPr/>
        </p:nvSpPr>
        <p:spPr>
          <a:xfrm>
            <a:off x="4838544" y="4520194"/>
            <a:ext cx="3226275"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NPS — from age 60</a:t>
            </a:r>
            <a:endParaRPr lang="en-US" sz="2100" dirty="0"/>
          </a:p>
        </p:txBody>
      </p:sp>
      <p:sp>
        <p:nvSpPr>
          <p:cNvPr id="19" name="Text 15"/>
          <p:cNvSpPr/>
          <p:nvPr/>
        </p:nvSpPr>
        <p:spPr>
          <a:xfrm>
            <a:off x="7923894" y="4452158"/>
            <a:ext cx="953365" cy="510523"/>
          </a:xfrm>
          <a:prstGeom prst="rect">
            <a:avLst/>
          </a:prstGeom>
          <a:noFill/>
          <a:ln/>
        </p:spPr>
        <p:txBody>
          <a:bodyPr wrap="square" lIns="25400" tIns="25400" rIns="25400" bIns="25400" rtlCol="0" anchor="t">
            <a:normAutofit/>
          </a:bodyPr>
          <a:lstStyle/>
          <a:p>
            <a:pPr marL="0" indent="0" algn="l">
              <a:lnSpc>
                <a:spcPct val="130200"/>
              </a:lnSpc>
              <a:buNone/>
            </a:pPr>
            <a:r>
              <a:rPr lang="en-US" sz="2400" dirty="0">
                <a:solidFill>
                  <a:srgbClr val="1D1F20"/>
                </a:solidFill>
                <a:latin typeface="Barlow Condensed" pitchFamily="34" charset="0"/>
                <a:ea typeface="Barlow Condensed" pitchFamily="34" charset="-122"/>
                <a:cs typeface="Barlow Condensed" pitchFamily="34" charset="-120"/>
              </a:rPr>
              <a:t>₹0.76 Cr</a:t>
            </a:r>
            <a:endParaRPr lang="en-US" sz="2400" dirty="0"/>
          </a:p>
        </p:txBody>
      </p:sp>
      <p:sp>
        <p:nvSpPr>
          <p:cNvPr id="20" name="Shape 16"/>
          <p:cNvSpPr/>
          <p:nvPr/>
        </p:nvSpPr>
        <p:spPr>
          <a:xfrm>
            <a:off x="4533801" y="5748806"/>
            <a:ext cx="4267257" cy="9525"/>
          </a:xfrm>
          <a:prstGeom prst="rect">
            <a:avLst/>
          </a:prstGeom>
          <a:solidFill>
            <a:srgbClr val="1D1F20">
              <a:alpha val="10000"/>
            </a:srgbClr>
          </a:solidFill>
          <a:ln/>
        </p:spPr>
        <p:txBody>
          <a:bodyPr/>
          <a:lstStyle/>
          <a:p>
            <a:endParaRPr lang="en-US"/>
          </a:p>
        </p:txBody>
      </p:sp>
      <p:sp>
        <p:nvSpPr>
          <p:cNvPr id="21" name="Shape 17"/>
          <p:cNvSpPr/>
          <p:nvPr/>
        </p:nvSpPr>
        <p:spPr>
          <a:xfrm>
            <a:off x="4533801" y="5368089"/>
            <a:ext cx="152372" cy="152372"/>
          </a:xfrm>
          <a:prstGeom prst="rect">
            <a:avLst/>
          </a:prstGeom>
          <a:solidFill>
            <a:srgbClr val="4A9C55"/>
          </a:solidFill>
          <a:ln/>
        </p:spPr>
        <p:txBody>
          <a:bodyPr/>
          <a:lstStyle/>
          <a:p>
            <a:endParaRPr lang="en-US"/>
          </a:p>
        </p:txBody>
      </p:sp>
      <p:sp>
        <p:nvSpPr>
          <p:cNvPr id="22" name="Text 18"/>
          <p:cNvSpPr/>
          <p:nvPr/>
        </p:nvSpPr>
        <p:spPr>
          <a:xfrm>
            <a:off x="4838544" y="5230175"/>
            <a:ext cx="3203511"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Public Provident Fund</a:t>
            </a:r>
            <a:endParaRPr lang="en-US" sz="2100" dirty="0"/>
          </a:p>
        </p:txBody>
      </p:sp>
      <p:sp>
        <p:nvSpPr>
          <p:cNvPr id="23" name="Text 19"/>
          <p:cNvSpPr/>
          <p:nvPr/>
        </p:nvSpPr>
        <p:spPr>
          <a:xfrm>
            <a:off x="7903199" y="5162140"/>
            <a:ext cx="974059" cy="510523"/>
          </a:xfrm>
          <a:prstGeom prst="rect">
            <a:avLst/>
          </a:prstGeom>
          <a:noFill/>
          <a:ln/>
        </p:spPr>
        <p:txBody>
          <a:bodyPr wrap="square" lIns="25400" tIns="25400" rIns="25400" bIns="25400" rtlCol="0" anchor="t">
            <a:normAutofit/>
          </a:bodyPr>
          <a:lstStyle/>
          <a:p>
            <a:pPr marL="0" indent="0" algn="l">
              <a:lnSpc>
                <a:spcPct val="130200"/>
              </a:lnSpc>
              <a:buNone/>
            </a:pPr>
            <a:r>
              <a:rPr lang="en-US" sz="2400" dirty="0">
                <a:solidFill>
                  <a:srgbClr val="1D1F20"/>
                </a:solidFill>
                <a:latin typeface="Barlow Condensed" pitchFamily="34" charset="0"/>
                <a:ea typeface="Barlow Condensed" pitchFamily="34" charset="-122"/>
                <a:cs typeface="Barlow Condensed" pitchFamily="34" charset="-120"/>
              </a:rPr>
              <a:t>₹0.63 Cr</a:t>
            </a:r>
            <a:endParaRPr lang="en-US" sz="2400" dirty="0"/>
          </a:p>
        </p:txBody>
      </p:sp>
      <p:sp>
        <p:nvSpPr>
          <p:cNvPr id="24" name="Shape 20"/>
          <p:cNvSpPr/>
          <p:nvPr/>
        </p:nvSpPr>
        <p:spPr>
          <a:xfrm>
            <a:off x="4533801" y="6458787"/>
            <a:ext cx="4267257" cy="9525"/>
          </a:xfrm>
          <a:prstGeom prst="rect">
            <a:avLst/>
          </a:prstGeom>
          <a:solidFill>
            <a:srgbClr val="1D1F20">
              <a:alpha val="10000"/>
            </a:srgbClr>
          </a:solidFill>
          <a:ln/>
        </p:spPr>
        <p:txBody>
          <a:bodyPr/>
          <a:lstStyle/>
          <a:p>
            <a:endParaRPr lang="en-US"/>
          </a:p>
        </p:txBody>
      </p:sp>
      <p:sp>
        <p:nvSpPr>
          <p:cNvPr id="25" name="Shape 21"/>
          <p:cNvSpPr/>
          <p:nvPr/>
        </p:nvSpPr>
        <p:spPr>
          <a:xfrm>
            <a:off x="4533801" y="6078070"/>
            <a:ext cx="152372" cy="152372"/>
          </a:xfrm>
          <a:prstGeom prst="rect">
            <a:avLst/>
          </a:prstGeom>
          <a:solidFill>
            <a:srgbClr val="141A45"/>
          </a:solidFill>
          <a:ln/>
        </p:spPr>
        <p:txBody>
          <a:bodyPr/>
          <a:lstStyle/>
          <a:p>
            <a:endParaRPr lang="en-US"/>
          </a:p>
        </p:txBody>
      </p:sp>
      <p:sp>
        <p:nvSpPr>
          <p:cNvPr id="26" name="Text 22"/>
          <p:cNvSpPr/>
          <p:nvPr/>
        </p:nvSpPr>
        <p:spPr>
          <a:xfrm>
            <a:off x="4838544" y="5940156"/>
            <a:ext cx="3191428"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Second property</a:t>
            </a:r>
            <a:endParaRPr lang="en-US" sz="2100" dirty="0"/>
          </a:p>
        </p:txBody>
      </p:sp>
      <p:sp>
        <p:nvSpPr>
          <p:cNvPr id="27" name="Text 23"/>
          <p:cNvSpPr/>
          <p:nvPr/>
        </p:nvSpPr>
        <p:spPr>
          <a:xfrm>
            <a:off x="7892214" y="5872121"/>
            <a:ext cx="985044" cy="510523"/>
          </a:xfrm>
          <a:prstGeom prst="rect">
            <a:avLst/>
          </a:prstGeom>
          <a:noFill/>
          <a:ln/>
        </p:spPr>
        <p:txBody>
          <a:bodyPr wrap="square" lIns="25400" tIns="25400" rIns="25400" bIns="25400" rtlCol="0" anchor="t">
            <a:normAutofit/>
          </a:bodyPr>
          <a:lstStyle/>
          <a:p>
            <a:pPr marL="0" indent="0" algn="l">
              <a:lnSpc>
                <a:spcPct val="130200"/>
              </a:lnSpc>
              <a:buNone/>
            </a:pPr>
            <a:r>
              <a:rPr lang="en-US" sz="2400" dirty="0">
                <a:solidFill>
                  <a:srgbClr val="1D1F20"/>
                </a:solidFill>
                <a:latin typeface="Barlow Condensed" pitchFamily="34" charset="0"/>
                <a:ea typeface="Barlow Condensed" pitchFamily="34" charset="-122"/>
                <a:cs typeface="Barlow Condensed" pitchFamily="34" charset="-120"/>
              </a:rPr>
              <a:t>₹0.60 Cr</a:t>
            </a:r>
            <a:endParaRPr lang="en-US" sz="2400" dirty="0"/>
          </a:p>
        </p:txBody>
      </p:sp>
      <p:sp>
        <p:nvSpPr>
          <p:cNvPr id="28" name="Shape 24"/>
          <p:cNvSpPr/>
          <p:nvPr/>
        </p:nvSpPr>
        <p:spPr>
          <a:xfrm>
            <a:off x="4533801" y="7168768"/>
            <a:ext cx="4267257" cy="9525"/>
          </a:xfrm>
          <a:prstGeom prst="rect">
            <a:avLst/>
          </a:prstGeom>
          <a:solidFill>
            <a:srgbClr val="1D1F20">
              <a:alpha val="10000"/>
            </a:srgbClr>
          </a:solidFill>
          <a:ln/>
        </p:spPr>
        <p:txBody>
          <a:bodyPr/>
          <a:lstStyle/>
          <a:p>
            <a:endParaRPr lang="en-US"/>
          </a:p>
        </p:txBody>
      </p:sp>
      <p:sp>
        <p:nvSpPr>
          <p:cNvPr id="29" name="Shape 25"/>
          <p:cNvSpPr/>
          <p:nvPr/>
        </p:nvSpPr>
        <p:spPr>
          <a:xfrm>
            <a:off x="4533801" y="6788051"/>
            <a:ext cx="152372" cy="152372"/>
          </a:xfrm>
          <a:prstGeom prst="rect">
            <a:avLst/>
          </a:prstGeom>
          <a:solidFill>
            <a:srgbClr val="1A7AB5"/>
          </a:solidFill>
          <a:ln/>
        </p:spPr>
        <p:txBody>
          <a:bodyPr/>
          <a:lstStyle/>
          <a:p>
            <a:endParaRPr lang="en-US"/>
          </a:p>
        </p:txBody>
      </p:sp>
      <p:sp>
        <p:nvSpPr>
          <p:cNvPr id="30" name="Text 26"/>
          <p:cNvSpPr/>
          <p:nvPr/>
        </p:nvSpPr>
        <p:spPr>
          <a:xfrm>
            <a:off x="4838544" y="6650137"/>
            <a:ext cx="3199458"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Direct Equity</a:t>
            </a:r>
            <a:endParaRPr lang="en-US" sz="2100" dirty="0"/>
          </a:p>
        </p:txBody>
      </p:sp>
      <p:sp>
        <p:nvSpPr>
          <p:cNvPr id="31" name="Text 27"/>
          <p:cNvSpPr/>
          <p:nvPr/>
        </p:nvSpPr>
        <p:spPr>
          <a:xfrm>
            <a:off x="7899514" y="6582102"/>
            <a:ext cx="977744" cy="510523"/>
          </a:xfrm>
          <a:prstGeom prst="rect">
            <a:avLst/>
          </a:prstGeom>
          <a:noFill/>
          <a:ln/>
        </p:spPr>
        <p:txBody>
          <a:bodyPr wrap="square" lIns="25400" tIns="25400" rIns="25400" bIns="25400" rtlCol="0" anchor="t">
            <a:normAutofit/>
          </a:bodyPr>
          <a:lstStyle/>
          <a:p>
            <a:pPr marL="0" indent="0" algn="l">
              <a:lnSpc>
                <a:spcPct val="130200"/>
              </a:lnSpc>
              <a:buNone/>
            </a:pPr>
            <a:r>
              <a:rPr lang="en-US" sz="2400" dirty="0">
                <a:solidFill>
                  <a:srgbClr val="1D1F20"/>
                </a:solidFill>
                <a:latin typeface="Barlow Condensed" pitchFamily="34" charset="0"/>
                <a:ea typeface="Barlow Condensed" pitchFamily="34" charset="-122"/>
                <a:cs typeface="Barlow Condensed" pitchFamily="34" charset="-120"/>
              </a:rPr>
              <a:t>₹0.44 Cr</a:t>
            </a:r>
            <a:endParaRPr lang="en-US" sz="2400" dirty="0"/>
          </a:p>
        </p:txBody>
      </p:sp>
      <p:sp>
        <p:nvSpPr>
          <p:cNvPr id="32" name="Shape 28"/>
          <p:cNvSpPr/>
          <p:nvPr/>
        </p:nvSpPr>
        <p:spPr>
          <a:xfrm>
            <a:off x="4533801" y="7878749"/>
            <a:ext cx="4267257" cy="9525"/>
          </a:xfrm>
          <a:prstGeom prst="rect">
            <a:avLst/>
          </a:prstGeom>
          <a:solidFill>
            <a:srgbClr val="1D1F20">
              <a:alpha val="10000"/>
            </a:srgbClr>
          </a:solidFill>
          <a:ln/>
        </p:spPr>
        <p:txBody>
          <a:bodyPr/>
          <a:lstStyle/>
          <a:p>
            <a:endParaRPr lang="en-US"/>
          </a:p>
        </p:txBody>
      </p:sp>
      <p:sp>
        <p:nvSpPr>
          <p:cNvPr id="33" name="Shape 29"/>
          <p:cNvSpPr/>
          <p:nvPr/>
        </p:nvSpPr>
        <p:spPr>
          <a:xfrm>
            <a:off x="4533801" y="7498032"/>
            <a:ext cx="152372" cy="152372"/>
          </a:xfrm>
          <a:prstGeom prst="rect">
            <a:avLst/>
          </a:prstGeom>
          <a:solidFill>
            <a:srgbClr val="5980A6"/>
          </a:solidFill>
          <a:ln/>
        </p:spPr>
        <p:txBody>
          <a:bodyPr/>
          <a:lstStyle/>
          <a:p>
            <a:endParaRPr lang="en-US"/>
          </a:p>
        </p:txBody>
      </p:sp>
      <p:sp>
        <p:nvSpPr>
          <p:cNvPr id="34" name="Text 30"/>
          <p:cNvSpPr/>
          <p:nvPr/>
        </p:nvSpPr>
        <p:spPr>
          <a:xfrm>
            <a:off x="4838544" y="7360118"/>
            <a:ext cx="3203823"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Fixed Deposits &amp; Bonds</a:t>
            </a:r>
            <a:endParaRPr lang="en-US" sz="2100" dirty="0"/>
          </a:p>
        </p:txBody>
      </p:sp>
      <p:sp>
        <p:nvSpPr>
          <p:cNvPr id="35" name="Text 31"/>
          <p:cNvSpPr/>
          <p:nvPr/>
        </p:nvSpPr>
        <p:spPr>
          <a:xfrm>
            <a:off x="7903483" y="7292082"/>
            <a:ext cx="973775" cy="510523"/>
          </a:xfrm>
          <a:prstGeom prst="rect">
            <a:avLst/>
          </a:prstGeom>
          <a:noFill/>
          <a:ln/>
        </p:spPr>
        <p:txBody>
          <a:bodyPr wrap="square" lIns="25400" tIns="25400" rIns="25400" bIns="25400" rtlCol="0" anchor="t">
            <a:normAutofit/>
          </a:bodyPr>
          <a:lstStyle/>
          <a:p>
            <a:pPr marL="0" indent="0" algn="l">
              <a:lnSpc>
                <a:spcPct val="130200"/>
              </a:lnSpc>
              <a:buNone/>
            </a:pPr>
            <a:r>
              <a:rPr lang="en-US" sz="2400" dirty="0">
                <a:solidFill>
                  <a:srgbClr val="1D1F20"/>
                </a:solidFill>
                <a:latin typeface="Barlow Condensed" pitchFamily="34" charset="0"/>
                <a:ea typeface="Barlow Condensed" pitchFamily="34" charset="-122"/>
                <a:cs typeface="Barlow Condensed" pitchFamily="34" charset="-120"/>
              </a:rPr>
              <a:t>₹0.35 Cr</a:t>
            </a:r>
            <a:endParaRPr lang="en-US" sz="2400" dirty="0"/>
          </a:p>
        </p:txBody>
      </p:sp>
      <p:sp>
        <p:nvSpPr>
          <p:cNvPr id="36" name="Shape 32"/>
          <p:cNvSpPr/>
          <p:nvPr/>
        </p:nvSpPr>
        <p:spPr>
          <a:xfrm>
            <a:off x="4533801" y="8208014"/>
            <a:ext cx="152372" cy="152372"/>
          </a:xfrm>
          <a:prstGeom prst="rect">
            <a:avLst/>
          </a:prstGeom>
          <a:solidFill>
            <a:srgbClr val="B7B7BA"/>
          </a:solidFill>
          <a:ln/>
        </p:spPr>
        <p:txBody>
          <a:bodyPr/>
          <a:lstStyle/>
          <a:p>
            <a:endParaRPr lang="en-US"/>
          </a:p>
        </p:txBody>
      </p:sp>
      <p:sp>
        <p:nvSpPr>
          <p:cNvPr id="37" name="Text 33"/>
          <p:cNvSpPr/>
          <p:nvPr/>
        </p:nvSpPr>
        <p:spPr>
          <a:xfrm>
            <a:off x="4838544" y="8070099"/>
            <a:ext cx="325511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Corporate FD</a:t>
            </a:r>
            <a:endParaRPr lang="en-US" sz="2100" dirty="0"/>
          </a:p>
        </p:txBody>
      </p:sp>
      <p:sp>
        <p:nvSpPr>
          <p:cNvPr id="38" name="Text 34"/>
          <p:cNvSpPr/>
          <p:nvPr/>
        </p:nvSpPr>
        <p:spPr>
          <a:xfrm>
            <a:off x="7950115" y="8002063"/>
            <a:ext cx="927143" cy="510523"/>
          </a:xfrm>
          <a:prstGeom prst="rect">
            <a:avLst/>
          </a:prstGeom>
          <a:noFill/>
          <a:ln/>
        </p:spPr>
        <p:txBody>
          <a:bodyPr wrap="square" lIns="25400" tIns="25400" rIns="25400" bIns="25400" rtlCol="0" anchor="t">
            <a:normAutofit/>
          </a:bodyPr>
          <a:lstStyle/>
          <a:p>
            <a:pPr marL="0" indent="0" algn="l">
              <a:lnSpc>
                <a:spcPct val="130200"/>
              </a:lnSpc>
              <a:buNone/>
            </a:pPr>
            <a:r>
              <a:rPr lang="en-US" sz="2400" dirty="0">
                <a:solidFill>
                  <a:srgbClr val="1D1F20"/>
                </a:solidFill>
                <a:latin typeface="Barlow Condensed" pitchFamily="34" charset="0"/>
                <a:ea typeface="Barlow Condensed" pitchFamily="34" charset="-122"/>
                <a:cs typeface="Barlow Condensed" pitchFamily="34" charset="-120"/>
              </a:rPr>
              <a:t>₹0.13 Cr</a:t>
            </a:r>
            <a:endParaRPr lang="en-US" sz="2400" dirty="0"/>
          </a:p>
        </p:txBody>
      </p:sp>
      <p:sp>
        <p:nvSpPr>
          <p:cNvPr id="39" name="Text 35"/>
          <p:cNvSpPr/>
          <p:nvPr/>
        </p:nvSpPr>
        <p:spPr>
          <a:xfrm>
            <a:off x="914372" y="8817287"/>
            <a:ext cx="8675355" cy="407194"/>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dirty="0">
                <a:solidFill>
                  <a:srgbClr val="1D1F20">
                    <a:alpha val="90000"/>
                  </a:srgbClr>
                </a:solidFill>
                <a:latin typeface="Barlow" pitchFamily="34" charset="0"/>
                <a:ea typeface="Barlow" pitchFamily="34" charset="-122"/>
                <a:cs typeface="Barlow" pitchFamily="34" charset="-120"/>
              </a:rPr>
              <a:t>Figures in ₹ crore.</a:t>
            </a:r>
            <a:endParaRPr lang="en-US" sz="2100" dirty="0"/>
          </a:p>
        </p:txBody>
      </p:sp>
      <p:sp>
        <p:nvSpPr>
          <p:cNvPr id="40" name="Text 36"/>
          <p:cNvSpPr/>
          <p:nvPr/>
        </p:nvSpPr>
        <p:spPr>
          <a:xfrm>
            <a:off x="9486801" y="2381817"/>
            <a:ext cx="8675433"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MONTHLY ANNUITY REQUIRED</a:t>
            </a:r>
            <a:endParaRPr lang="en-US" sz="2100" dirty="0"/>
          </a:p>
        </p:txBody>
      </p:sp>
      <p:pic>
        <p:nvPicPr>
          <p:cNvPr id="4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86801" y="2917953"/>
            <a:ext cx="7886757" cy="4150888"/>
          </a:xfrm>
          <a:prstGeom prst="rect">
            <a:avLst/>
          </a:prstGeom>
        </p:spPr>
      </p:pic>
      <p:sp>
        <p:nvSpPr>
          <p:cNvPr id="42" name="Text 37"/>
          <p:cNvSpPr/>
          <p:nvPr/>
        </p:nvSpPr>
        <p:spPr>
          <a:xfrm>
            <a:off x="9486801" y="7221212"/>
            <a:ext cx="8675433" cy="407194"/>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dirty="0">
                <a:solidFill>
                  <a:srgbClr val="1D1F20">
                    <a:alpha val="90000"/>
                  </a:srgbClr>
                </a:solidFill>
                <a:latin typeface="Barlow" pitchFamily="34" charset="0"/>
                <a:ea typeface="Barlow" pitchFamily="34" charset="-122"/>
                <a:cs typeface="Barlow" pitchFamily="34" charset="-120"/>
              </a:rPr>
              <a:t>Figures in ₹ lakh per month, inflated at 6%.</a:t>
            </a:r>
            <a:endParaRPr lang="en-US" sz="2100" dirty="0"/>
          </a:p>
        </p:txBody>
      </p:sp>
      <p:sp>
        <p:nvSpPr>
          <p:cNvPr id="43" name="Shape 38"/>
          <p:cNvSpPr/>
          <p:nvPr/>
        </p:nvSpPr>
        <p:spPr>
          <a:xfrm>
            <a:off x="9486801" y="7643671"/>
            <a:ext cx="7886757" cy="9525"/>
          </a:xfrm>
          <a:prstGeom prst="rect">
            <a:avLst/>
          </a:prstGeom>
          <a:solidFill>
            <a:srgbClr val="1D1F20">
              <a:alpha val="18000"/>
            </a:srgbClr>
          </a:solidFill>
          <a:ln/>
        </p:spPr>
        <p:txBody>
          <a:bodyPr/>
          <a:lstStyle/>
          <a:p>
            <a:endParaRPr lang="en-US"/>
          </a:p>
        </p:txBody>
      </p:sp>
      <p:sp>
        <p:nvSpPr>
          <p:cNvPr id="44" name="Text 39"/>
          <p:cNvSpPr/>
          <p:nvPr/>
        </p:nvSpPr>
        <p:spPr>
          <a:xfrm>
            <a:off x="9486801" y="7881343"/>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45" name="Text 40"/>
          <p:cNvSpPr/>
          <p:nvPr/>
        </p:nvSpPr>
        <p:spPr>
          <a:xfrm>
            <a:off x="11848916" y="7843243"/>
            <a:ext cx="5690381" cy="1498884"/>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A flat withdrawal plan fails by the mid-2050s. The corpus has to keep a growth allocation through retirement, which is what the core-and-satellite structure is for.</a:t>
            </a:r>
            <a:endParaRPr lang="en-US" sz="2100" dirty="0"/>
          </a:p>
        </p:txBody>
      </p:sp>
      <p:sp>
        <p:nvSpPr>
          <p:cNvPr id="46" name="Text 41"/>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47" name="Text 42"/>
          <p:cNvSpPr/>
          <p:nvPr/>
        </p:nvSpPr>
        <p:spPr>
          <a:xfrm>
            <a:off x="16708722" y="9475462"/>
            <a:ext cx="741037"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28 / 32</a:t>
            </a:r>
            <a:endParaRPr lang="en-US" sz="2100" dirty="0"/>
          </a:p>
        </p:txBody>
      </p:sp>
    </p:spTree>
    <p:extLst>
      <p:ext uri="{BB962C8B-B14F-4D97-AF65-F5344CB8AC3E}">
        <p14:creationId xmlns:p14="http://schemas.microsoft.com/office/powerpoint/2010/main" val="9264228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9">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7143176"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BEYOND THE CORPUS</a:t>
            </a:r>
            <a:endParaRPr lang="en-US" sz="2100" b="1" dirty="0">
              <a:solidFill>
                <a:srgbClr val="2A3480"/>
              </a:solidFill>
              <a:latin typeface="Barlow"/>
            </a:endParaRPr>
          </a:p>
        </p:txBody>
      </p:sp>
      <p:sp>
        <p:nvSpPr>
          <p:cNvPr id="3" name="Text 1"/>
          <p:cNvSpPr/>
          <p:nvPr/>
        </p:nvSpPr>
        <p:spPr>
          <a:xfrm>
            <a:off x="914372" y="1088501"/>
            <a:ext cx="7143176"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Legacy &amp; Estate Planning</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372" y="2419945"/>
            <a:ext cx="5962693" cy="2218602"/>
          </a:xfrm>
          <a:prstGeom prst="rect">
            <a:avLst/>
          </a:prstGeom>
          <a:ln w="9071">
            <a:solidFill>
              <a:srgbClr val="1F1F1F">
                <a:alpha val="16000"/>
              </a:srgbClr>
            </a:solidFill>
            <a:prstDash val="solid"/>
          </a:ln>
        </p:spPr>
        <p:txBody>
          <a:bodyPr/>
          <a:lstStyle/>
          <a:p>
            <a:endParaRPr lang="en-US"/>
          </a:p>
        </p:txBody>
      </p:sp>
      <p:sp>
        <p:nvSpPr>
          <p:cNvPr id="7" name="Text 4"/>
          <p:cNvSpPr/>
          <p:nvPr/>
        </p:nvSpPr>
        <p:spPr>
          <a:xfrm>
            <a:off x="1190129" y="2676639"/>
            <a:ext cx="595229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01</a:t>
            </a:r>
            <a:endParaRPr lang="en-US" sz="2100" dirty="0"/>
          </a:p>
        </p:txBody>
      </p:sp>
      <p:sp>
        <p:nvSpPr>
          <p:cNvPr id="8" name="Text 5"/>
          <p:cNvSpPr/>
          <p:nvPr/>
        </p:nvSpPr>
        <p:spPr>
          <a:xfrm>
            <a:off x="1190129" y="3128013"/>
            <a:ext cx="5952296" cy="418108"/>
          </a:xfrm>
          <a:prstGeom prst="rect">
            <a:avLst/>
          </a:prstGeom>
          <a:noFill/>
          <a:ln/>
        </p:spPr>
        <p:txBody>
          <a:bodyPr wrap="square" lIns="25400" tIns="25400" rIns="25400" bIns="25400" rtlCol="0" anchor="t">
            <a:normAutofit lnSpcReduction="10000"/>
          </a:bodyPr>
          <a:lstStyle/>
          <a:p>
            <a:pPr marL="0" indent="0" algn="l">
              <a:lnSpc>
                <a:spcPct val="87281"/>
              </a:lnSpc>
              <a:buNone/>
            </a:pPr>
            <a:r>
              <a:rPr lang="en-US" sz="2850" dirty="0">
                <a:solidFill>
                  <a:srgbClr val="1D1F20"/>
                </a:solidFill>
                <a:latin typeface="Barlow Condensed" pitchFamily="34" charset="0"/>
                <a:ea typeface="Barlow Condensed" pitchFamily="34" charset="-122"/>
                <a:cs typeface="Barlow Condensed" pitchFamily="34" charset="-120"/>
              </a:rPr>
              <a:t>Will</a:t>
            </a:r>
            <a:endParaRPr lang="en-US" sz="2850" dirty="0"/>
          </a:p>
        </p:txBody>
      </p:sp>
      <p:sp>
        <p:nvSpPr>
          <p:cNvPr id="9" name="Text 6"/>
          <p:cNvSpPr/>
          <p:nvPr/>
        </p:nvSpPr>
        <p:spPr>
          <a:xfrm>
            <a:off x="1190129" y="3584207"/>
            <a:ext cx="5573514"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Not yet drawn. With two properties and two minor children, a registered will is the priority action.</a:t>
            </a:r>
            <a:endParaRPr lang="en-US" sz="2100" dirty="0"/>
          </a:p>
        </p:txBody>
      </p:sp>
      <p:sp>
        <p:nvSpPr>
          <p:cNvPr id="10" name="Shape 7"/>
          <p:cNvSpPr/>
          <p:nvPr/>
        </p:nvSpPr>
        <p:spPr>
          <a:xfrm>
            <a:off x="914372" y="4867105"/>
            <a:ext cx="5962693" cy="2218602"/>
          </a:xfrm>
          <a:prstGeom prst="rect">
            <a:avLst/>
          </a:prstGeom>
          <a:ln w="9071">
            <a:solidFill>
              <a:srgbClr val="1F1F1F">
                <a:alpha val="16000"/>
              </a:srgbClr>
            </a:solidFill>
            <a:prstDash val="solid"/>
          </a:ln>
        </p:spPr>
        <p:txBody>
          <a:bodyPr/>
          <a:lstStyle/>
          <a:p>
            <a:endParaRPr lang="en-US"/>
          </a:p>
        </p:txBody>
      </p:sp>
      <p:sp>
        <p:nvSpPr>
          <p:cNvPr id="11" name="Text 8"/>
          <p:cNvSpPr/>
          <p:nvPr/>
        </p:nvSpPr>
        <p:spPr>
          <a:xfrm>
            <a:off x="1190129" y="5123798"/>
            <a:ext cx="595229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02</a:t>
            </a:r>
            <a:endParaRPr lang="en-US" sz="2100" dirty="0"/>
          </a:p>
        </p:txBody>
      </p:sp>
      <p:sp>
        <p:nvSpPr>
          <p:cNvPr id="12" name="Text 9"/>
          <p:cNvSpPr/>
          <p:nvPr/>
        </p:nvSpPr>
        <p:spPr>
          <a:xfrm>
            <a:off x="1190129" y="5575173"/>
            <a:ext cx="5952296" cy="418108"/>
          </a:xfrm>
          <a:prstGeom prst="rect">
            <a:avLst/>
          </a:prstGeom>
          <a:noFill/>
          <a:ln/>
        </p:spPr>
        <p:txBody>
          <a:bodyPr wrap="square" lIns="25400" tIns="25400" rIns="25400" bIns="25400" rtlCol="0" anchor="t">
            <a:normAutofit lnSpcReduction="10000"/>
          </a:bodyPr>
          <a:lstStyle/>
          <a:p>
            <a:pPr marL="0" indent="0" algn="l">
              <a:lnSpc>
                <a:spcPct val="87281"/>
              </a:lnSpc>
              <a:buNone/>
            </a:pPr>
            <a:r>
              <a:rPr lang="en-US" sz="2850" dirty="0">
                <a:solidFill>
                  <a:srgbClr val="1D1F20"/>
                </a:solidFill>
                <a:latin typeface="Barlow Condensed" pitchFamily="34" charset="0"/>
                <a:ea typeface="Barlow Condensed" pitchFamily="34" charset="-122"/>
                <a:cs typeface="Barlow Condensed" pitchFamily="34" charset="-120"/>
              </a:rPr>
              <a:t>Nominations</a:t>
            </a:r>
            <a:endParaRPr lang="en-US" sz="2850" dirty="0"/>
          </a:p>
        </p:txBody>
      </p:sp>
      <p:sp>
        <p:nvSpPr>
          <p:cNvPr id="13" name="Text 10"/>
          <p:cNvSpPr/>
          <p:nvPr/>
        </p:nvSpPr>
        <p:spPr>
          <a:xfrm>
            <a:off x="1190129" y="6031367"/>
            <a:ext cx="5573514"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Refresh nominees on EPF, PPF, NPS, all folios and both term policies; three still name a parent.</a:t>
            </a:r>
            <a:endParaRPr lang="en-US" sz="2100" dirty="0"/>
          </a:p>
        </p:txBody>
      </p:sp>
      <p:sp>
        <p:nvSpPr>
          <p:cNvPr id="14" name="Shape 11"/>
          <p:cNvSpPr/>
          <p:nvPr/>
        </p:nvSpPr>
        <p:spPr>
          <a:xfrm>
            <a:off x="7143751" y="2419945"/>
            <a:ext cx="5962693" cy="2059073"/>
          </a:xfrm>
          <a:prstGeom prst="rect">
            <a:avLst/>
          </a:prstGeom>
          <a:ln w="9071">
            <a:solidFill>
              <a:srgbClr val="1F1F1F">
                <a:alpha val="16000"/>
              </a:srgbClr>
            </a:solidFill>
            <a:prstDash val="solid"/>
          </a:ln>
        </p:spPr>
        <p:txBody>
          <a:bodyPr/>
          <a:lstStyle/>
          <a:p>
            <a:endParaRPr lang="en-US"/>
          </a:p>
        </p:txBody>
      </p:sp>
      <p:sp>
        <p:nvSpPr>
          <p:cNvPr id="15" name="Text 12"/>
          <p:cNvSpPr/>
          <p:nvPr/>
        </p:nvSpPr>
        <p:spPr>
          <a:xfrm>
            <a:off x="7419508" y="2676639"/>
            <a:ext cx="595229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03</a:t>
            </a:r>
            <a:endParaRPr lang="en-US" sz="2100" dirty="0"/>
          </a:p>
        </p:txBody>
      </p:sp>
      <p:sp>
        <p:nvSpPr>
          <p:cNvPr id="16" name="Text 13"/>
          <p:cNvSpPr/>
          <p:nvPr/>
        </p:nvSpPr>
        <p:spPr>
          <a:xfrm>
            <a:off x="7419508" y="3128013"/>
            <a:ext cx="5952296" cy="418108"/>
          </a:xfrm>
          <a:prstGeom prst="rect">
            <a:avLst/>
          </a:prstGeom>
          <a:noFill/>
          <a:ln/>
        </p:spPr>
        <p:txBody>
          <a:bodyPr wrap="square" lIns="25400" tIns="25400" rIns="25400" bIns="25400" rtlCol="0" anchor="t">
            <a:normAutofit lnSpcReduction="10000"/>
          </a:bodyPr>
          <a:lstStyle/>
          <a:p>
            <a:pPr marL="0" indent="0" algn="l">
              <a:lnSpc>
                <a:spcPct val="87281"/>
              </a:lnSpc>
              <a:buNone/>
            </a:pPr>
            <a:r>
              <a:rPr lang="en-US" sz="2850" dirty="0">
                <a:solidFill>
                  <a:srgbClr val="1D1F20"/>
                </a:solidFill>
                <a:latin typeface="Barlow Condensed" pitchFamily="34" charset="0"/>
                <a:ea typeface="Barlow Condensed" pitchFamily="34" charset="-122"/>
                <a:cs typeface="Barlow Condensed" pitchFamily="34" charset="-120"/>
              </a:rPr>
              <a:t>NPS at 60</a:t>
            </a:r>
            <a:endParaRPr lang="en-US" sz="2850" dirty="0"/>
          </a:p>
        </p:txBody>
      </p:sp>
      <p:sp>
        <p:nvSpPr>
          <p:cNvPr id="17" name="Text 14"/>
          <p:cNvSpPr/>
          <p:nvPr/>
        </p:nvSpPr>
        <p:spPr>
          <a:xfrm>
            <a:off x="7419508" y="3584207"/>
            <a:ext cx="5573514"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₹1.35 crore matures in 2041. Deferred annuity for the second half of retirement or left as legacy.</a:t>
            </a:r>
            <a:endParaRPr lang="en-US" sz="2100" dirty="0"/>
          </a:p>
        </p:txBody>
      </p:sp>
      <p:sp>
        <p:nvSpPr>
          <p:cNvPr id="18" name="Shape 15"/>
          <p:cNvSpPr/>
          <p:nvPr/>
        </p:nvSpPr>
        <p:spPr>
          <a:xfrm>
            <a:off x="7143751" y="4707576"/>
            <a:ext cx="5962693" cy="2378132"/>
          </a:xfrm>
          <a:prstGeom prst="rect">
            <a:avLst/>
          </a:prstGeom>
          <a:ln w="9071">
            <a:solidFill>
              <a:srgbClr val="1F1F1F">
                <a:alpha val="16000"/>
              </a:srgbClr>
            </a:solidFill>
            <a:prstDash val="solid"/>
          </a:ln>
        </p:spPr>
        <p:txBody>
          <a:bodyPr/>
          <a:lstStyle/>
          <a:p>
            <a:endParaRPr lang="en-US"/>
          </a:p>
        </p:txBody>
      </p:sp>
      <p:sp>
        <p:nvSpPr>
          <p:cNvPr id="19" name="Text 16"/>
          <p:cNvSpPr/>
          <p:nvPr/>
        </p:nvSpPr>
        <p:spPr>
          <a:xfrm>
            <a:off x="7419508" y="4964268"/>
            <a:ext cx="595229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04</a:t>
            </a:r>
            <a:endParaRPr lang="en-US" sz="2100" dirty="0"/>
          </a:p>
        </p:txBody>
      </p:sp>
      <p:sp>
        <p:nvSpPr>
          <p:cNvPr id="20" name="Text 17"/>
          <p:cNvSpPr/>
          <p:nvPr/>
        </p:nvSpPr>
        <p:spPr>
          <a:xfrm>
            <a:off x="7419508" y="5415643"/>
            <a:ext cx="5952296" cy="418108"/>
          </a:xfrm>
          <a:prstGeom prst="rect">
            <a:avLst/>
          </a:prstGeom>
          <a:noFill/>
          <a:ln/>
        </p:spPr>
        <p:txBody>
          <a:bodyPr wrap="square" lIns="25400" tIns="25400" rIns="25400" bIns="25400" rtlCol="0" anchor="t">
            <a:normAutofit lnSpcReduction="10000"/>
          </a:bodyPr>
          <a:lstStyle/>
          <a:p>
            <a:pPr marL="0" indent="0" algn="l">
              <a:lnSpc>
                <a:spcPct val="87281"/>
              </a:lnSpc>
              <a:buNone/>
            </a:pPr>
            <a:r>
              <a:rPr lang="en-US" sz="2850" dirty="0">
                <a:solidFill>
                  <a:srgbClr val="1D1F20"/>
                </a:solidFill>
                <a:latin typeface="Barlow Condensed" pitchFamily="34" charset="0"/>
                <a:ea typeface="Barlow Condensed" pitchFamily="34" charset="-122"/>
                <a:cs typeface="Barlow Condensed" pitchFamily="34" charset="-120"/>
              </a:rPr>
              <a:t>Records</a:t>
            </a:r>
            <a:endParaRPr lang="en-US" sz="2850" dirty="0"/>
          </a:p>
        </p:txBody>
      </p:sp>
      <p:sp>
        <p:nvSpPr>
          <p:cNvPr id="21" name="Text 18"/>
          <p:cNvSpPr/>
          <p:nvPr/>
        </p:nvSpPr>
        <p:spPr>
          <a:xfrm>
            <a:off x="7419508" y="5871837"/>
            <a:ext cx="5573514" cy="99527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One consolidated statement of holdings, policies and access, shared with your spouse and reviewed yearly.</a:t>
            </a:r>
            <a:endParaRPr lang="en-US" sz="2100" dirty="0"/>
          </a:p>
        </p:txBody>
      </p:sp>
      <p:sp>
        <p:nvSpPr>
          <p:cNvPr id="22" name="Shape 19"/>
          <p:cNvSpPr/>
          <p:nvPr/>
        </p:nvSpPr>
        <p:spPr>
          <a:xfrm>
            <a:off x="13373129" y="2419945"/>
            <a:ext cx="4000429" cy="4665762"/>
          </a:xfrm>
          <a:prstGeom prst="rect">
            <a:avLst/>
          </a:prstGeom>
          <a:solidFill>
            <a:srgbClr val="E7E7EA"/>
          </a:solidFill>
          <a:ln/>
        </p:spPr>
        <p:txBody>
          <a:bodyPr/>
          <a:lstStyle/>
          <a:p>
            <a:endParaRPr lang="en-US"/>
          </a:p>
        </p:txBody>
      </p:sp>
      <p:pic>
        <p:nvPicPr>
          <p:cNvPr id="23" name="Image 1" descr="preencoded.png"/>
          <p:cNvPicPr>
            <a:picLocks noChangeAspect="1"/>
          </p:cNvPicPr>
          <p:nvPr/>
        </p:nvPicPr>
        <p:blipFill>
          <a:blip r:embed="rId4"/>
          <a:srcRect l="23206" r="23206"/>
          <a:stretch/>
        </p:blipFill>
        <p:spPr>
          <a:xfrm>
            <a:off x="13373129" y="2419945"/>
            <a:ext cx="4000429" cy="4665762"/>
          </a:xfrm>
          <a:prstGeom prst="rect">
            <a:avLst/>
          </a:prstGeom>
        </p:spPr>
      </p:pic>
      <p:sp>
        <p:nvSpPr>
          <p:cNvPr id="24" name="Shape 20"/>
          <p:cNvSpPr/>
          <p:nvPr/>
        </p:nvSpPr>
        <p:spPr>
          <a:xfrm>
            <a:off x="13373129" y="2419945"/>
            <a:ext cx="4000429" cy="4665762"/>
          </a:xfrm>
          <a:prstGeom prst="rect">
            <a:avLst/>
          </a:prstGeom>
          <a:solidFill>
            <a:srgbClr val="26306F">
              <a:alpha val="30000"/>
            </a:srgbClr>
          </a:solidFill>
          <a:ln/>
        </p:spPr>
        <p:txBody>
          <a:bodyPr/>
          <a:lstStyle/>
          <a:p>
            <a:endParaRPr lang="en-US"/>
          </a:p>
        </p:txBody>
      </p:sp>
      <p:sp>
        <p:nvSpPr>
          <p:cNvPr id="25" name="Shape 21"/>
          <p:cNvSpPr/>
          <p:nvPr/>
        </p:nvSpPr>
        <p:spPr>
          <a:xfrm>
            <a:off x="914372" y="7729921"/>
            <a:ext cx="16459187" cy="9525"/>
          </a:xfrm>
          <a:prstGeom prst="rect">
            <a:avLst/>
          </a:prstGeom>
          <a:solidFill>
            <a:srgbClr val="1D1F20">
              <a:alpha val="18000"/>
            </a:srgbClr>
          </a:solidFill>
          <a:ln/>
        </p:spPr>
        <p:txBody>
          <a:bodyPr/>
          <a:lstStyle/>
          <a:p>
            <a:endParaRPr lang="en-US"/>
          </a:p>
        </p:txBody>
      </p:sp>
      <p:sp>
        <p:nvSpPr>
          <p:cNvPr id="26" name="Text 22"/>
          <p:cNvSpPr/>
          <p:nvPr/>
        </p:nvSpPr>
        <p:spPr>
          <a:xfrm>
            <a:off x="914372" y="7967592"/>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27" name="Text 23"/>
          <p:cNvSpPr/>
          <p:nvPr/>
        </p:nvSpPr>
        <p:spPr>
          <a:xfrm>
            <a:off x="3276487" y="7929492"/>
            <a:ext cx="13244441" cy="768492"/>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The surplus above the corpus requirement is what makes legacy planning relevant here rather than theoretical. None of these four items costs more than a day, and all four fail expensively if left undone.</a:t>
            </a:r>
            <a:endParaRPr lang="en-US" sz="2100" dirty="0"/>
          </a:p>
        </p:txBody>
      </p:sp>
      <p:sp>
        <p:nvSpPr>
          <p:cNvPr id="28" name="Text 24"/>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29" name="Text 25"/>
          <p:cNvSpPr/>
          <p:nvPr/>
        </p:nvSpPr>
        <p:spPr>
          <a:xfrm>
            <a:off x="16708722" y="9475462"/>
            <a:ext cx="741037"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29 / 32</a:t>
            </a:r>
            <a:endParaRPr lang="en-US" sz="2100" dirty="0"/>
          </a:p>
        </p:txBody>
      </p:sp>
    </p:spTree>
    <p:extLst>
      <p:ext uri="{BB962C8B-B14F-4D97-AF65-F5344CB8AC3E}">
        <p14:creationId xmlns:p14="http://schemas.microsoft.com/office/powerpoint/2010/main" val="8436429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0">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5432631"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NEXT STEPS</a:t>
            </a:r>
            <a:endParaRPr lang="en-US" sz="2100" b="1" dirty="0">
              <a:solidFill>
                <a:srgbClr val="2A3480"/>
              </a:solidFill>
              <a:latin typeface="Barlow"/>
            </a:endParaRPr>
          </a:p>
        </p:txBody>
      </p:sp>
      <p:sp>
        <p:nvSpPr>
          <p:cNvPr id="3" name="Text 1"/>
          <p:cNvSpPr/>
          <p:nvPr/>
        </p:nvSpPr>
        <p:spPr>
          <a:xfrm>
            <a:off x="914372" y="1088501"/>
            <a:ext cx="5432631"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Action Plan</a:t>
            </a:r>
            <a:endParaRPr lang="en-US" sz="6000" dirty="0"/>
          </a:p>
        </p:txBody>
      </p:sp>
      <p:sp>
        <p:nvSpPr>
          <p:cNvPr id="4" name="Text 2"/>
          <p:cNvSpPr/>
          <p:nvPr/>
        </p:nvSpPr>
        <p:spPr>
          <a:xfrm>
            <a:off x="914372" y="1953263"/>
            <a:ext cx="5432631"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alpha val="90000"/>
                  </a:srgbClr>
                </a:solidFill>
                <a:latin typeface="Barlow" pitchFamily="34" charset="0"/>
                <a:ea typeface="Barlow" pitchFamily="34" charset="-122"/>
                <a:cs typeface="Barlow" pitchFamily="34" charset="-120"/>
              </a:rPr>
              <a:t>Steps to make better financial decisions</a:t>
            </a:r>
            <a:endParaRPr lang="en-US" sz="2250" dirty="0"/>
          </a:p>
        </p:txBody>
      </p:sp>
      <p:pic>
        <p:nvPicPr>
          <p:cNvPr id="5"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6" name="Shape 3"/>
          <p:cNvSpPr/>
          <p:nvPr/>
        </p:nvSpPr>
        <p:spPr>
          <a:xfrm>
            <a:off x="914372" y="2643755"/>
            <a:ext cx="16459187" cy="9525"/>
          </a:xfrm>
          <a:prstGeom prst="rect">
            <a:avLst/>
          </a:prstGeom>
          <a:solidFill>
            <a:srgbClr val="1D1F20">
              <a:alpha val="18000"/>
            </a:srgbClr>
          </a:solidFill>
          <a:ln/>
        </p:spPr>
        <p:txBody>
          <a:bodyPr/>
          <a:lstStyle/>
          <a:p>
            <a:endParaRPr lang="en-US"/>
          </a:p>
        </p:txBody>
      </p:sp>
      <p:sp>
        <p:nvSpPr>
          <p:cNvPr id="7" name="Shape 4"/>
          <p:cNvSpPr/>
          <p:nvPr/>
        </p:nvSpPr>
        <p:spPr>
          <a:xfrm>
            <a:off x="914372" y="2938930"/>
            <a:ext cx="5905501" cy="1848516"/>
          </a:xfrm>
          <a:prstGeom prst="rect">
            <a:avLst/>
          </a:prstGeom>
          <a:ln w="9071">
            <a:solidFill>
              <a:srgbClr val="1F1F1F">
                <a:alpha val="16000"/>
              </a:srgbClr>
            </a:solidFill>
            <a:prstDash val="solid"/>
          </a:ln>
        </p:spPr>
        <p:txBody>
          <a:bodyPr/>
          <a:lstStyle/>
          <a:p>
            <a:endParaRPr lang="en-US"/>
          </a:p>
        </p:txBody>
      </p:sp>
      <p:sp>
        <p:nvSpPr>
          <p:cNvPr id="8" name="Text 5"/>
          <p:cNvSpPr/>
          <p:nvPr/>
        </p:nvSpPr>
        <p:spPr>
          <a:xfrm>
            <a:off x="1132936" y="3100374"/>
            <a:ext cx="6015208"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01</a:t>
            </a:r>
            <a:endParaRPr lang="en-US" sz="2100" dirty="0"/>
          </a:p>
        </p:txBody>
      </p:sp>
      <p:sp>
        <p:nvSpPr>
          <p:cNvPr id="9" name="Text 6"/>
          <p:cNvSpPr/>
          <p:nvPr/>
        </p:nvSpPr>
        <p:spPr>
          <a:xfrm>
            <a:off x="1132936" y="3551748"/>
            <a:ext cx="6015208" cy="398051"/>
          </a:xfrm>
          <a:prstGeom prst="rect">
            <a:avLst/>
          </a:prstGeom>
          <a:noFill/>
          <a:ln/>
        </p:spPr>
        <p:txBody>
          <a:bodyPr wrap="square" lIns="25400" tIns="25400" rIns="25400" bIns="25400" rtlCol="0" anchor="t">
            <a:normAutofit lnSpcReduction="10000"/>
          </a:bodyPr>
          <a:lstStyle/>
          <a:p>
            <a:pPr marL="0" indent="0" algn="l">
              <a:lnSpc>
                <a:spcPct val="87231"/>
              </a:lnSpc>
              <a:buNone/>
            </a:pPr>
            <a:r>
              <a:rPr lang="en-US" sz="2700" dirty="0">
                <a:solidFill>
                  <a:srgbClr val="1D1F20"/>
                </a:solidFill>
                <a:latin typeface="Barlow Condensed" pitchFamily="34" charset="0"/>
                <a:ea typeface="Barlow Condensed" pitchFamily="34" charset="-122"/>
                <a:cs typeface="Barlow Condensed" pitchFamily="34" charset="-120"/>
              </a:rPr>
              <a:t>Exit from FD or reallocate</a:t>
            </a:r>
            <a:endParaRPr lang="en-US" sz="2700" dirty="0"/>
          </a:p>
        </p:txBody>
      </p:sp>
      <p:sp>
        <p:nvSpPr>
          <p:cNvPr id="10" name="Text 7"/>
          <p:cNvSpPr/>
          <p:nvPr/>
        </p:nvSpPr>
        <p:spPr>
          <a:xfrm>
            <a:off x="1132936" y="3987885"/>
            <a:ext cx="5632422"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Move ₹10 lakh of the deposit book into the retirement portfolio as a lumpsum.</a:t>
            </a:r>
            <a:endParaRPr lang="en-US" sz="2100" dirty="0"/>
          </a:p>
        </p:txBody>
      </p:sp>
      <p:sp>
        <p:nvSpPr>
          <p:cNvPr id="11" name="Shape 8"/>
          <p:cNvSpPr/>
          <p:nvPr/>
        </p:nvSpPr>
        <p:spPr>
          <a:xfrm>
            <a:off x="7010372" y="2938930"/>
            <a:ext cx="5905572" cy="1848516"/>
          </a:xfrm>
          <a:prstGeom prst="rect">
            <a:avLst/>
          </a:prstGeom>
          <a:ln w="9071">
            <a:solidFill>
              <a:srgbClr val="1F1F1F">
                <a:alpha val="16000"/>
              </a:srgbClr>
            </a:solidFill>
            <a:prstDash val="solid"/>
          </a:ln>
        </p:spPr>
        <p:txBody>
          <a:bodyPr/>
          <a:lstStyle/>
          <a:p>
            <a:endParaRPr lang="en-US"/>
          </a:p>
        </p:txBody>
      </p:sp>
      <p:sp>
        <p:nvSpPr>
          <p:cNvPr id="12" name="Text 9"/>
          <p:cNvSpPr/>
          <p:nvPr/>
        </p:nvSpPr>
        <p:spPr>
          <a:xfrm>
            <a:off x="7228937" y="3100374"/>
            <a:ext cx="601528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02</a:t>
            </a:r>
            <a:endParaRPr lang="en-US" sz="2100" dirty="0"/>
          </a:p>
        </p:txBody>
      </p:sp>
      <p:sp>
        <p:nvSpPr>
          <p:cNvPr id="13" name="Text 10"/>
          <p:cNvSpPr/>
          <p:nvPr/>
        </p:nvSpPr>
        <p:spPr>
          <a:xfrm>
            <a:off x="7228937" y="3551748"/>
            <a:ext cx="6015286" cy="398051"/>
          </a:xfrm>
          <a:prstGeom prst="rect">
            <a:avLst/>
          </a:prstGeom>
          <a:noFill/>
          <a:ln/>
        </p:spPr>
        <p:txBody>
          <a:bodyPr wrap="square" lIns="25400" tIns="25400" rIns="25400" bIns="25400" rtlCol="0" anchor="t">
            <a:normAutofit lnSpcReduction="10000"/>
          </a:bodyPr>
          <a:lstStyle/>
          <a:p>
            <a:pPr marL="0" indent="0" algn="l">
              <a:lnSpc>
                <a:spcPct val="87231"/>
              </a:lnSpc>
              <a:buNone/>
            </a:pPr>
            <a:r>
              <a:rPr lang="en-US" sz="2700" dirty="0">
                <a:solidFill>
                  <a:srgbClr val="1D1F20"/>
                </a:solidFill>
                <a:latin typeface="Barlow Condensed" pitchFamily="34" charset="0"/>
                <a:ea typeface="Barlow Condensed" pitchFamily="34" charset="-122"/>
                <a:cs typeface="Barlow Condensed" pitchFamily="34" charset="-120"/>
              </a:rPr>
              <a:t>Savings for retirement</a:t>
            </a:r>
            <a:endParaRPr lang="en-US" sz="2700" dirty="0"/>
          </a:p>
        </p:txBody>
      </p:sp>
      <p:sp>
        <p:nvSpPr>
          <p:cNvPr id="14" name="Text 11"/>
          <p:cNvSpPr/>
          <p:nvPr/>
        </p:nvSpPr>
        <p:spPr>
          <a:xfrm>
            <a:off x="7228937" y="3987885"/>
            <a:ext cx="5632495"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The ₹21,700 surplus as a SIP plus ₹10 lakh from the FD book adds ₹0.81 crore by 2036.</a:t>
            </a:r>
            <a:endParaRPr lang="en-US" sz="2100" dirty="0"/>
          </a:p>
        </p:txBody>
      </p:sp>
      <p:sp>
        <p:nvSpPr>
          <p:cNvPr id="15" name="Shape 12"/>
          <p:cNvSpPr/>
          <p:nvPr/>
        </p:nvSpPr>
        <p:spPr>
          <a:xfrm>
            <a:off x="914372" y="4977947"/>
            <a:ext cx="5905501" cy="1848516"/>
          </a:xfrm>
          <a:prstGeom prst="rect">
            <a:avLst/>
          </a:prstGeom>
          <a:ln w="9071">
            <a:solidFill>
              <a:srgbClr val="1F1F1F">
                <a:alpha val="16000"/>
              </a:srgbClr>
            </a:solidFill>
            <a:prstDash val="solid"/>
          </a:ln>
        </p:spPr>
        <p:txBody>
          <a:bodyPr/>
          <a:lstStyle/>
          <a:p>
            <a:endParaRPr lang="en-US"/>
          </a:p>
        </p:txBody>
      </p:sp>
      <p:sp>
        <p:nvSpPr>
          <p:cNvPr id="16" name="Text 13"/>
          <p:cNvSpPr/>
          <p:nvPr/>
        </p:nvSpPr>
        <p:spPr>
          <a:xfrm>
            <a:off x="1132936" y="5139390"/>
            <a:ext cx="6015208"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03</a:t>
            </a:r>
            <a:endParaRPr lang="en-US" sz="2100" dirty="0"/>
          </a:p>
        </p:txBody>
      </p:sp>
      <p:sp>
        <p:nvSpPr>
          <p:cNvPr id="17" name="Text 14"/>
          <p:cNvSpPr/>
          <p:nvPr/>
        </p:nvSpPr>
        <p:spPr>
          <a:xfrm>
            <a:off x="1132936" y="5590765"/>
            <a:ext cx="6015208" cy="398051"/>
          </a:xfrm>
          <a:prstGeom prst="rect">
            <a:avLst/>
          </a:prstGeom>
          <a:noFill/>
          <a:ln/>
        </p:spPr>
        <p:txBody>
          <a:bodyPr wrap="square" lIns="25400" tIns="25400" rIns="25400" bIns="25400" rtlCol="0" anchor="t">
            <a:normAutofit lnSpcReduction="10000"/>
          </a:bodyPr>
          <a:lstStyle/>
          <a:p>
            <a:pPr marL="0" indent="0" algn="l">
              <a:lnSpc>
                <a:spcPct val="87231"/>
              </a:lnSpc>
              <a:buNone/>
            </a:pPr>
            <a:r>
              <a:rPr lang="en-US" sz="2700" dirty="0">
                <a:solidFill>
                  <a:srgbClr val="1D1F20"/>
                </a:solidFill>
                <a:latin typeface="Barlow Condensed" pitchFamily="34" charset="0"/>
                <a:ea typeface="Barlow Condensed" pitchFamily="34" charset="-122"/>
                <a:cs typeface="Barlow Condensed" pitchFamily="34" charset="-120"/>
              </a:rPr>
              <a:t>Reduce your expense</a:t>
            </a:r>
            <a:endParaRPr lang="en-US" sz="2700" dirty="0"/>
          </a:p>
        </p:txBody>
      </p:sp>
      <p:sp>
        <p:nvSpPr>
          <p:cNvPr id="18" name="Text 15"/>
          <p:cNvSpPr/>
          <p:nvPr/>
        </p:nvSpPr>
        <p:spPr>
          <a:xfrm>
            <a:off x="1132936" y="6026902"/>
            <a:ext cx="5632422"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Every ₹10,000 a month trimmed today lowers the corpus required by about ₹42 lakh.</a:t>
            </a:r>
            <a:endParaRPr lang="en-US" sz="2100" dirty="0"/>
          </a:p>
        </p:txBody>
      </p:sp>
      <p:sp>
        <p:nvSpPr>
          <p:cNvPr id="19" name="Shape 16"/>
          <p:cNvSpPr/>
          <p:nvPr/>
        </p:nvSpPr>
        <p:spPr>
          <a:xfrm>
            <a:off x="7010372" y="4977947"/>
            <a:ext cx="5905572" cy="1848516"/>
          </a:xfrm>
          <a:prstGeom prst="rect">
            <a:avLst/>
          </a:prstGeom>
          <a:ln w="9071">
            <a:solidFill>
              <a:srgbClr val="1F1F1F">
                <a:alpha val="16000"/>
              </a:srgbClr>
            </a:solidFill>
            <a:prstDash val="solid"/>
          </a:ln>
        </p:spPr>
        <p:txBody>
          <a:bodyPr/>
          <a:lstStyle/>
          <a:p>
            <a:endParaRPr lang="en-US"/>
          </a:p>
        </p:txBody>
      </p:sp>
      <p:sp>
        <p:nvSpPr>
          <p:cNvPr id="20" name="Text 17"/>
          <p:cNvSpPr/>
          <p:nvPr/>
        </p:nvSpPr>
        <p:spPr>
          <a:xfrm>
            <a:off x="7228937" y="5139390"/>
            <a:ext cx="601528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04</a:t>
            </a:r>
            <a:endParaRPr lang="en-US" sz="2100" dirty="0"/>
          </a:p>
        </p:txBody>
      </p:sp>
      <p:sp>
        <p:nvSpPr>
          <p:cNvPr id="21" name="Text 18"/>
          <p:cNvSpPr/>
          <p:nvPr/>
        </p:nvSpPr>
        <p:spPr>
          <a:xfrm>
            <a:off x="7228937" y="5590765"/>
            <a:ext cx="6015286" cy="398051"/>
          </a:xfrm>
          <a:prstGeom prst="rect">
            <a:avLst/>
          </a:prstGeom>
          <a:noFill/>
          <a:ln/>
        </p:spPr>
        <p:txBody>
          <a:bodyPr wrap="square" lIns="25400" tIns="25400" rIns="25400" bIns="25400" rtlCol="0" anchor="t">
            <a:normAutofit lnSpcReduction="10000"/>
          </a:bodyPr>
          <a:lstStyle/>
          <a:p>
            <a:pPr marL="0" indent="0" algn="l">
              <a:lnSpc>
                <a:spcPct val="87231"/>
              </a:lnSpc>
              <a:buNone/>
            </a:pPr>
            <a:r>
              <a:rPr lang="en-US" sz="2700" dirty="0">
                <a:solidFill>
                  <a:srgbClr val="1D1F20"/>
                </a:solidFill>
                <a:latin typeface="Barlow Condensed" pitchFamily="34" charset="0"/>
                <a:ea typeface="Barlow Condensed" pitchFamily="34" charset="-122"/>
                <a:cs typeface="Barlow Condensed" pitchFamily="34" charset="-120"/>
              </a:rPr>
              <a:t>Reconsider the home purchase</a:t>
            </a:r>
            <a:endParaRPr lang="en-US" sz="2700" dirty="0"/>
          </a:p>
        </p:txBody>
      </p:sp>
      <p:sp>
        <p:nvSpPr>
          <p:cNvPr id="22" name="Text 19"/>
          <p:cNvSpPr/>
          <p:nvPr/>
        </p:nvSpPr>
        <p:spPr>
          <a:xfrm>
            <a:off x="7228937" y="6026902"/>
            <a:ext cx="5632495"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A third property yields 2.6% and pushes real estate past 50%. Defer it.</a:t>
            </a:r>
            <a:endParaRPr lang="en-US" sz="2100" dirty="0"/>
          </a:p>
        </p:txBody>
      </p:sp>
      <p:sp>
        <p:nvSpPr>
          <p:cNvPr id="23" name="Shape 20"/>
          <p:cNvSpPr/>
          <p:nvPr/>
        </p:nvSpPr>
        <p:spPr>
          <a:xfrm>
            <a:off x="914372" y="7016963"/>
            <a:ext cx="5905501" cy="1848516"/>
          </a:xfrm>
          <a:prstGeom prst="rect">
            <a:avLst/>
          </a:prstGeom>
          <a:ln w="9071">
            <a:solidFill>
              <a:srgbClr val="1F1F1F">
                <a:alpha val="16000"/>
              </a:srgbClr>
            </a:solidFill>
            <a:prstDash val="solid"/>
          </a:ln>
        </p:spPr>
        <p:txBody>
          <a:bodyPr/>
          <a:lstStyle/>
          <a:p>
            <a:endParaRPr lang="en-US"/>
          </a:p>
        </p:txBody>
      </p:sp>
      <p:sp>
        <p:nvSpPr>
          <p:cNvPr id="24" name="Text 21"/>
          <p:cNvSpPr/>
          <p:nvPr/>
        </p:nvSpPr>
        <p:spPr>
          <a:xfrm>
            <a:off x="1132936" y="7178406"/>
            <a:ext cx="6015208"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05</a:t>
            </a:r>
            <a:endParaRPr lang="en-US" sz="2100" dirty="0"/>
          </a:p>
        </p:txBody>
      </p:sp>
      <p:sp>
        <p:nvSpPr>
          <p:cNvPr id="25" name="Text 22"/>
          <p:cNvSpPr/>
          <p:nvPr/>
        </p:nvSpPr>
        <p:spPr>
          <a:xfrm>
            <a:off x="1132936" y="7629781"/>
            <a:ext cx="6015208" cy="398051"/>
          </a:xfrm>
          <a:prstGeom prst="rect">
            <a:avLst/>
          </a:prstGeom>
          <a:noFill/>
          <a:ln/>
        </p:spPr>
        <p:txBody>
          <a:bodyPr wrap="square" lIns="25400" tIns="25400" rIns="25400" bIns="25400" rtlCol="0" anchor="t">
            <a:normAutofit lnSpcReduction="10000"/>
          </a:bodyPr>
          <a:lstStyle/>
          <a:p>
            <a:pPr marL="0" indent="0" algn="l">
              <a:lnSpc>
                <a:spcPct val="87231"/>
              </a:lnSpc>
              <a:buNone/>
            </a:pPr>
            <a:r>
              <a:rPr lang="en-US" sz="2700" dirty="0">
                <a:solidFill>
                  <a:srgbClr val="1D1F20"/>
                </a:solidFill>
                <a:latin typeface="Barlow Condensed" pitchFamily="34" charset="0"/>
                <a:ea typeface="Barlow Condensed" pitchFamily="34" charset="-122"/>
                <a:cs typeface="Barlow Condensed" pitchFamily="34" charset="-120"/>
              </a:rPr>
              <a:t>Build financial portfolio</a:t>
            </a:r>
            <a:endParaRPr lang="en-US" sz="2700" dirty="0"/>
          </a:p>
        </p:txBody>
      </p:sp>
      <p:sp>
        <p:nvSpPr>
          <p:cNvPr id="26" name="Text 23"/>
          <p:cNvSpPr/>
          <p:nvPr/>
        </p:nvSpPr>
        <p:spPr>
          <a:xfrm>
            <a:off x="1132936" y="8065918"/>
            <a:ext cx="5632422"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Bring property from 40% of assets towards 30% over the next five years.</a:t>
            </a:r>
            <a:endParaRPr lang="en-US" sz="2100" dirty="0"/>
          </a:p>
        </p:txBody>
      </p:sp>
      <p:sp>
        <p:nvSpPr>
          <p:cNvPr id="27" name="Shape 24"/>
          <p:cNvSpPr/>
          <p:nvPr/>
        </p:nvSpPr>
        <p:spPr>
          <a:xfrm>
            <a:off x="7010372" y="7016963"/>
            <a:ext cx="5905572" cy="1848516"/>
          </a:xfrm>
          <a:prstGeom prst="rect">
            <a:avLst/>
          </a:prstGeom>
          <a:ln w="9071">
            <a:solidFill>
              <a:srgbClr val="1F1F1F">
                <a:alpha val="16000"/>
              </a:srgbClr>
            </a:solidFill>
            <a:prstDash val="solid"/>
          </a:ln>
        </p:spPr>
        <p:txBody>
          <a:bodyPr/>
          <a:lstStyle/>
          <a:p>
            <a:endParaRPr lang="en-US"/>
          </a:p>
        </p:txBody>
      </p:sp>
      <p:sp>
        <p:nvSpPr>
          <p:cNvPr id="28" name="Text 25"/>
          <p:cNvSpPr/>
          <p:nvPr/>
        </p:nvSpPr>
        <p:spPr>
          <a:xfrm>
            <a:off x="7228937" y="7178406"/>
            <a:ext cx="601528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06</a:t>
            </a:r>
            <a:endParaRPr lang="en-US" sz="2100" dirty="0"/>
          </a:p>
        </p:txBody>
      </p:sp>
      <p:sp>
        <p:nvSpPr>
          <p:cNvPr id="29" name="Text 26"/>
          <p:cNvSpPr/>
          <p:nvPr/>
        </p:nvSpPr>
        <p:spPr>
          <a:xfrm>
            <a:off x="7228937" y="7629781"/>
            <a:ext cx="6015286" cy="398051"/>
          </a:xfrm>
          <a:prstGeom prst="rect">
            <a:avLst/>
          </a:prstGeom>
          <a:noFill/>
          <a:ln/>
        </p:spPr>
        <p:txBody>
          <a:bodyPr wrap="square" lIns="25400" tIns="25400" rIns="25400" bIns="25400" rtlCol="0" anchor="t">
            <a:normAutofit lnSpcReduction="10000"/>
          </a:bodyPr>
          <a:lstStyle/>
          <a:p>
            <a:pPr marL="0" indent="0" algn="l">
              <a:lnSpc>
                <a:spcPct val="87231"/>
              </a:lnSpc>
              <a:buNone/>
            </a:pPr>
            <a:r>
              <a:rPr lang="en-US" sz="2700" dirty="0">
                <a:solidFill>
                  <a:srgbClr val="1D1F20"/>
                </a:solidFill>
                <a:latin typeface="Barlow Condensed" pitchFamily="34" charset="0"/>
                <a:ea typeface="Barlow Condensed" pitchFamily="34" charset="-122"/>
                <a:cs typeface="Barlow Condensed" pitchFamily="34" charset="-120"/>
              </a:rPr>
              <a:t>Home loan — prepay, don’t top up</a:t>
            </a:r>
            <a:endParaRPr lang="en-US" sz="2700" dirty="0"/>
          </a:p>
        </p:txBody>
      </p:sp>
      <p:sp>
        <p:nvSpPr>
          <p:cNvPr id="30" name="Text 27"/>
          <p:cNvSpPr/>
          <p:nvPr/>
        </p:nvSpPr>
        <p:spPr>
          <a:xfrm>
            <a:off x="7228937" y="8065918"/>
            <a:ext cx="5632495"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₹5 lakh prepaid with a 5% EMI step-up closes the loan in 2034, saving ₹11.2 lakh.</a:t>
            </a:r>
            <a:endParaRPr lang="en-US" sz="2100" dirty="0"/>
          </a:p>
        </p:txBody>
      </p:sp>
      <p:sp>
        <p:nvSpPr>
          <p:cNvPr id="31" name="Shape 28"/>
          <p:cNvSpPr/>
          <p:nvPr/>
        </p:nvSpPr>
        <p:spPr>
          <a:xfrm>
            <a:off x="13373129" y="2938930"/>
            <a:ext cx="4000429" cy="5926549"/>
          </a:xfrm>
          <a:prstGeom prst="rect">
            <a:avLst/>
          </a:prstGeom>
          <a:solidFill>
            <a:srgbClr val="E7E7EA"/>
          </a:solidFill>
          <a:ln/>
        </p:spPr>
        <p:txBody>
          <a:bodyPr/>
          <a:lstStyle/>
          <a:p>
            <a:endParaRPr lang="en-US"/>
          </a:p>
        </p:txBody>
      </p:sp>
      <p:pic>
        <p:nvPicPr>
          <p:cNvPr id="32" name="Image 1" descr="preencoded.png"/>
          <p:cNvPicPr>
            <a:picLocks noChangeAspect="1"/>
          </p:cNvPicPr>
          <p:nvPr/>
        </p:nvPicPr>
        <p:blipFill>
          <a:blip r:embed="rId4"/>
          <a:srcRect l="28906" r="28906"/>
          <a:stretch/>
        </p:blipFill>
        <p:spPr>
          <a:xfrm>
            <a:off x="13373129" y="2938930"/>
            <a:ext cx="4000429" cy="5926549"/>
          </a:xfrm>
          <a:prstGeom prst="rect">
            <a:avLst/>
          </a:prstGeom>
        </p:spPr>
      </p:pic>
      <p:sp>
        <p:nvSpPr>
          <p:cNvPr id="33" name="Shape 29"/>
          <p:cNvSpPr/>
          <p:nvPr/>
        </p:nvSpPr>
        <p:spPr>
          <a:xfrm>
            <a:off x="13373129" y="2938930"/>
            <a:ext cx="4000429" cy="5926549"/>
          </a:xfrm>
          <a:prstGeom prst="rect">
            <a:avLst/>
          </a:prstGeom>
          <a:solidFill>
            <a:srgbClr val="26306F">
              <a:alpha val="30000"/>
            </a:srgbClr>
          </a:solidFill>
          <a:ln/>
        </p:spPr>
        <p:txBody>
          <a:bodyPr/>
          <a:lstStyle/>
          <a:p>
            <a:endParaRPr lang="en-US"/>
          </a:p>
        </p:txBody>
      </p:sp>
      <p:sp>
        <p:nvSpPr>
          <p:cNvPr id="34" name="Text 30"/>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35" name="Text 31"/>
          <p:cNvSpPr/>
          <p:nvPr/>
        </p:nvSpPr>
        <p:spPr>
          <a:xfrm>
            <a:off x="16703478" y="9475462"/>
            <a:ext cx="746281"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30 / 32</a:t>
            </a:r>
            <a:endParaRPr lang="en-US" sz="2100" dirty="0"/>
          </a:p>
        </p:txBody>
      </p:sp>
    </p:spTree>
    <p:extLst>
      <p:ext uri="{BB962C8B-B14F-4D97-AF65-F5344CB8AC3E}">
        <p14:creationId xmlns:p14="http://schemas.microsoft.com/office/powerpoint/2010/main" val="25614605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8890000" cy="419100"/>
          </a:xfrm>
          <a:prstGeom prst="rect">
            <a:avLst/>
          </a:prstGeom>
          <a:noFill/>
        </p:spPr>
        <p:txBody>
          <a:bodyPr wrap="square" lIns="0" tIns="0" rIns="0" bIns="0" anchor="t">
            <a:normAutofit/>
          </a:bodyPr>
          <a:lstStyle/>
          <a:p>
            <a:pPr marL="0" indent="0" algn="l">
              <a:buNone/>
            </a:pPr>
            <a:r>
              <a:rPr lang="en-US" sz="2100" b="1" kern="0" spc="390" dirty="0">
                <a:solidFill>
                  <a:srgbClr val="2A3480"/>
                </a:solidFill>
                <a:latin typeface="Barlow"/>
                <a:cs typeface="Barlow"/>
              </a:rPr>
              <a:t>EXECUTIVE SUMMARY</a:t>
            </a:r>
          </a:p>
        </p:txBody>
      </p:sp>
      <p:sp>
        <p:nvSpPr>
          <p:cNvPr id="102" name="Text 102"/>
          <p:cNvSpPr txBox="1"/>
          <p:nvPr/>
        </p:nvSpPr>
        <p:spPr>
          <a:xfrm>
            <a:off x="914400" y="1092200"/>
            <a:ext cx="11430000" cy="774700"/>
          </a:xfrm>
          <a:prstGeom prst="rect">
            <a:avLst/>
          </a:prstGeom>
          <a:noFill/>
        </p:spPr>
        <p:txBody>
          <a:bodyPr wrap="square" lIns="0" tIns="0" rIns="0" bIns="0" anchor="t">
            <a:normAutofit/>
          </a:bodyPr>
          <a:lstStyle/>
          <a:p>
            <a:pPr marL="0" indent="0" algn="l">
              <a:lnSpc>
                <a:spcPct val="80000"/>
              </a:lnSpc>
              <a:buNone/>
            </a:pPr>
            <a:r>
              <a:rPr lang="en-US" sz="6000" b="1" kern="0" spc="-120" dirty="0">
                <a:solidFill>
                  <a:srgbClr val="1D1F20"/>
                </a:solidFill>
                <a:latin typeface="Barlow Condensed"/>
                <a:cs typeface="Barlow Condensed"/>
              </a:rPr>
              <a:t>What We Are Suggesting</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Shape 104"/>
          <p:cNvSpPr/>
          <p:nvPr/>
        </p:nvSpPr>
        <p:spPr>
          <a:xfrm>
            <a:off x="914400" y="2540000"/>
            <a:ext cx="5283200" cy="4572000"/>
          </a:xfrm>
          <a:prstGeom prst="rect">
            <a:avLst/>
          </a:prstGeom>
          <a:noFill/>
          <a:ln w="9525">
            <a:solidFill>
              <a:srgbClr val="1D1F20">
                <a:alpha val="22000"/>
              </a:srgbClr>
            </a:solidFill>
          </a:ln>
        </p:spPr>
        <p:txBody>
          <a:bodyPr/>
          <a:lstStyle/>
          <a:p>
            <a:endParaRPr/>
          </a:p>
        </p:txBody>
      </p:sp>
      <p:sp>
        <p:nvSpPr>
          <p:cNvPr id="105" name="Shape 105"/>
          <p:cNvSpPr/>
          <p:nvPr/>
        </p:nvSpPr>
        <p:spPr>
          <a:xfrm>
            <a:off x="914400" y="2540000"/>
            <a:ext cx="5283200" cy="63500"/>
          </a:xfrm>
          <a:prstGeom prst="rect">
            <a:avLst/>
          </a:prstGeom>
          <a:solidFill>
            <a:srgbClr val="26306F"/>
          </a:solidFill>
          <a:ln>
            <a:noFill/>
          </a:ln>
        </p:spPr>
        <p:txBody>
          <a:bodyPr/>
          <a:lstStyle/>
          <a:p>
            <a:endParaRPr/>
          </a:p>
        </p:txBody>
      </p:sp>
      <p:sp>
        <p:nvSpPr>
          <p:cNvPr id="106" name="Text 106"/>
          <p:cNvSpPr txBox="1"/>
          <p:nvPr/>
        </p:nvSpPr>
        <p:spPr>
          <a:xfrm>
            <a:off x="1270000" y="2946400"/>
            <a:ext cx="1524000" cy="558800"/>
          </a:xfrm>
          <a:prstGeom prst="rect">
            <a:avLst/>
          </a:prstGeom>
          <a:noFill/>
        </p:spPr>
        <p:txBody>
          <a:bodyPr wrap="square" lIns="0" tIns="0" rIns="0" bIns="0" anchor="t">
            <a:normAutofit/>
          </a:bodyPr>
          <a:lstStyle/>
          <a:p>
            <a:pPr marL="0" indent="0" algn="l">
              <a:buNone/>
            </a:pPr>
            <a:r>
              <a:rPr lang="en-US" sz="3600" b="1" kern="0" dirty="0">
                <a:solidFill>
                  <a:srgbClr val="26306F"/>
                </a:solidFill>
                <a:latin typeface="Barlow Condensed"/>
                <a:cs typeface="Barlow Condensed"/>
              </a:rPr>
              <a:t>01</a:t>
            </a:r>
          </a:p>
        </p:txBody>
      </p:sp>
      <p:sp>
        <p:nvSpPr>
          <p:cNvPr id="107" name="Text 107"/>
          <p:cNvSpPr txBox="1"/>
          <p:nvPr/>
        </p:nvSpPr>
        <p:spPr>
          <a:xfrm>
            <a:off x="1270000" y="3683000"/>
            <a:ext cx="4572000" cy="889000"/>
          </a:xfrm>
          <a:prstGeom prst="rect">
            <a:avLst/>
          </a:prstGeom>
          <a:noFill/>
        </p:spPr>
        <p:txBody>
          <a:bodyPr wrap="square" lIns="0" tIns="0" rIns="0" bIns="0" anchor="t">
            <a:normAutofit/>
          </a:bodyPr>
          <a:lstStyle/>
          <a:p>
            <a:pPr marL="0" indent="0" algn="l">
              <a:lnSpc>
                <a:spcPct val="90000"/>
              </a:lnSpc>
              <a:buNone/>
            </a:pPr>
            <a:r>
              <a:rPr lang="en-US" sz="3200" b="1" kern="0" spc="-40" dirty="0">
                <a:solidFill>
                  <a:srgbClr val="1D1F20"/>
                </a:solidFill>
                <a:latin typeface="Barlow Condensed"/>
                <a:cs typeface="Barlow Condensed"/>
              </a:rPr>
              <a:t>Prepay the home loan</a:t>
            </a:r>
          </a:p>
        </p:txBody>
      </p:sp>
      <p:sp>
        <p:nvSpPr>
          <p:cNvPr id="108" name="Text 108"/>
          <p:cNvSpPr txBox="1"/>
          <p:nvPr/>
        </p:nvSpPr>
        <p:spPr>
          <a:xfrm>
            <a:off x="1270000" y="4673600"/>
            <a:ext cx="4572000" cy="1778000"/>
          </a:xfrm>
          <a:prstGeom prst="rect">
            <a:avLst/>
          </a:prstGeom>
          <a:noFill/>
        </p:spPr>
        <p:txBody>
          <a:bodyPr wrap="square" lIns="0" tIns="0" rIns="0" bIns="0" anchor="t">
            <a:normAutofit/>
          </a:bodyPr>
          <a:lstStyle/>
          <a:p>
            <a:pPr marL="0" indent="0" algn="l">
              <a:lnSpc>
                <a:spcPct val="128000"/>
              </a:lnSpc>
              <a:buNone/>
            </a:pPr>
            <a:r>
              <a:rPr lang="en-US" sz="1800" b="0" kern="0" dirty="0">
                <a:solidFill>
                  <a:srgbClr val="1D1F20">
                    <a:alpha val="88000"/>
                  </a:srgbClr>
                </a:solidFill>
                <a:latin typeface="Barlow"/>
                <a:cs typeface="Barlow"/>
              </a:rPr>
              <a:t>₹5 lakh from the deposit book, with a 5% EMI step-up each year. The deposits earn 5.3% after tax; the loan costs 8.4%.</a:t>
            </a:r>
          </a:p>
        </p:txBody>
      </p:sp>
      <p:sp>
        <p:nvSpPr>
          <p:cNvPr id="109" name="Shape 109"/>
          <p:cNvSpPr/>
          <p:nvPr/>
        </p:nvSpPr>
        <p:spPr>
          <a:xfrm>
            <a:off x="1270000" y="6273800"/>
            <a:ext cx="4572000" cy="12700"/>
          </a:xfrm>
          <a:prstGeom prst="rect">
            <a:avLst/>
          </a:prstGeom>
          <a:solidFill>
            <a:srgbClr val="1D1F20">
              <a:alpha val="25000"/>
            </a:srgbClr>
          </a:solidFill>
          <a:ln>
            <a:noFill/>
          </a:ln>
        </p:spPr>
        <p:txBody>
          <a:bodyPr/>
          <a:lstStyle/>
          <a:p>
            <a:endParaRPr/>
          </a:p>
        </p:txBody>
      </p:sp>
      <p:sp>
        <p:nvSpPr>
          <p:cNvPr id="110" name="Text 110"/>
          <p:cNvSpPr txBox="1"/>
          <p:nvPr/>
        </p:nvSpPr>
        <p:spPr>
          <a:xfrm>
            <a:off x="1270000" y="6502400"/>
            <a:ext cx="4572000" cy="431800"/>
          </a:xfrm>
          <a:prstGeom prst="rect">
            <a:avLst/>
          </a:prstGeom>
          <a:noFill/>
        </p:spPr>
        <p:txBody>
          <a:bodyPr wrap="square" lIns="0" tIns="0" rIns="0" bIns="0" anchor="t">
            <a:normAutofit/>
          </a:bodyPr>
          <a:lstStyle/>
          <a:p>
            <a:pPr marL="0" indent="0" algn="l">
              <a:buNone/>
            </a:pPr>
            <a:r>
              <a:rPr lang="en-US" sz="1800" b="1" kern="0" dirty="0">
                <a:solidFill>
                  <a:srgbClr val="2F7D3A"/>
                </a:solidFill>
                <a:latin typeface="Barlow"/>
                <a:cs typeface="Barlow"/>
              </a:rPr>
              <a:t>₹11.2 L interest saved · closes 2034</a:t>
            </a:r>
          </a:p>
        </p:txBody>
      </p:sp>
      <p:sp>
        <p:nvSpPr>
          <p:cNvPr id="111" name="Shape 111"/>
          <p:cNvSpPr/>
          <p:nvPr/>
        </p:nvSpPr>
        <p:spPr>
          <a:xfrm>
            <a:off x="6502400" y="2540000"/>
            <a:ext cx="5283200" cy="4572000"/>
          </a:xfrm>
          <a:prstGeom prst="rect">
            <a:avLst/>
          </a:prstGeom>
          <a:noFill/>
          <a:ln w="9525">
            <a:solidFill>
              <a:srgbClr val="1D1F20">
                <a:alpha val="22000"/>
              </a:srgbClr>
            </a:solidFill>
          </a:ln>
        </p:spPr>
        <p:txBody>
          <a:bodyPr/>
          <a:lstStyle/>
          <a:p>
            <a:endParaRPr/>
          </a:p>
        </p:txBody>
      </p:sp>
      <p:sp>
        <p:nvSpPr>
          <p:cNvPr id="112" name="Shape 112"/>
          <p:cNvSpPr/>
          <p:nvPr/>
        </p:nvSpPr>
        <p:spPr>
          <a:xfrm>
            <a:off x="6502400" y="2540000"/>
            <a:ext cx="5283200" cy="63500"/>
          </a:xfrm>
          <a:prstGeom prst="rect">
            <a:avLst/>
          </a:prstGeom>
          <a:solidFill>
            <a:srgbClr val="26306F"/>
          </a:solidFill>
          <a:ln>
            <a:noFill/>
          </a:ln>
        </p:spPr>
        <p:txBody>
          <a:bodyPr/>
          <a:lstStyle/>
          <a:p>
            <a:endParaRPr/>
          </a:p>
        </p:txBody>
      </p:sp>
      <p:sp>
        <p:nvSpPr>
          <p:cNvPr id="113" name="Text 113"/>
          <p:cNvSpPr txBox="1"/>
          <p:nvPr/>
        </p:nvSpPr>
        <p:spPr>
          <a:xfrm>
            <a:off x="6858000" y="2946400"/>
            <a:ext cx="1524000" cy="558800"/>
          </a:xfrm>
          <a:prstGeom prst="rect">
            <a:avLst/>
          </a:prstGeom>
          <a:noFill/>
        </p:spPr>
        <p:txBody>
          <a:bodyPr wrap="square" lIns="0" tIns="0" rIns="0" bIns="0" anchor="t">
            <a:normAutofit/>
          </a:bodyPr>
          <a:lstStyle/>
          <a:p>
            <a:pPr marL="0" indent="0" algn="l">
              <a:buNone/>
            </a:pPr>
            <a:r>
              <a:rPr lang="en-US" sz="3600" b="1" kern="0" dirty="0">
                <a:solidFill>
                  <a:srgbClr val="26306F"/>
                </a:solidFill>
                <a:latin typeface="Barlow Condensed"/>
                <a:cs typeface="Barlow Condensed"/>
              </a:rPr>
              <a:t>02</a:t>
            </a:r>
          </a:p>
        </p:txBody>
      </p:sp>
      <p:sp>
        <p:nvSpPr>
          <p:cNvPr id="114" name="Text 114"/>
          <p:cNvSpPr txBox="1"/>
          <p:nvPr/>
        </p:nvSpPr>
        <p:spPr>
          <a:xfrm>
            <a:off x="6858000" y="3683000"/>
            <a:ext cx="4572000" cy="889000"/>
          </a:xfrm>
          <a:prstGeom prst="rect">
            <a:avLst/>
          </a:prstGeom>
          <a:noFill/>
        </p:spPr>
        <p:txBody>
          <a:bodyPr wrap="square" lIns="0" tIns="0" rIns="0" bIns="0" anchor="t">
            <a:normAutofit/>
          </a:bodyPr>
          <a:lstStyle/>
          <a:p>
            <a:pPr marL="0" indent="0" algn="l">
              <a:lnSpc>
                <a:spcPct val="90000"/>
              </a:lnSpc>
              <a:buNone/>
            </a:pPr>
            <a:r>
              <a:rPr lang="en-US" sz="3200" b="1" kern="0" spc="-40" dirty="0">
                <a:solidFill>
                  <a:srgbClr val="1D1F20"/>
                </a:solidFill>
                <a:latin typeface="Barlow Condensed"/>
                <a:cs typeface="Barlow Condensed"/>
              </a:rPr>
              <a:t>Rebuild the protection mix</a:t>
            </a:r>
          </a:p>
        </p:txBody>
      </p:sp>
      <p:sp>
        <p:nvSpPr>
          <p:cNvPr id="115" name="Text 115"/>
          <p:cNvSpPr txBox="1"/>
          <p:nvPr/>
        </p:nvSpPr>
        <p:spPr>
          <a:xfrm>
            <a:off x="6858000" y="4673600"/>
            <a:ext cx="4572000" cy="1778000"/>
          </a:xfrm>
          <a:prstGeom prst="rect">
            <a:avLst/>
          </a:prstGeom>
          <a:noFill/>
        </p:spPr>
        <p:txBody>
          <a:bodyPr wrap="square" lIns="0" tIns="0" rIns="0" bIns="0" anchor="t">
            <a:normAutofit/>
          </a:bodyPr>
          <a:lstStyle/>
          <a:p>
            <a:pPr marL="0" indent="0" algn="l">
              <a:lnSpc>
                <a:spcPct val="128000"/>
              </a:lnSpc>
              <a:buNone/>
            </a:pPr>
            <a:r>
              <a:rPr lang="en-US" sz="1800" b="0" kern="0" dirty="0">
                <a:solidFill>
                  <a:srgbClr val="1D1F20">
                    <a:alpha val="88000"/>
                  </a:srgbClr>
                </a:solidFill>
                <a:latin typeface="Barlow"/>
                <a:cs typeface="Barlow"/>
              </a:rPr>
              <a:t>Hold the endowment to maturity and stop renewing it. The same premium budget buys term cover to ₹5 crore and a ₹25 lakh health top-up.</a:t>
            </a:r>
          </a:p>
        </p:txBody>
      </p:sp>
      <p:sp>
        <p:nvSpPr>
          <p:cNvPr id="116" name="Shape 116"/>
          <p:cNvSpPr/>
          <p:nvPr/>
        </p:nvSpPr>
        <p:spPr>
          <a:xfrm>
            <a:off x="6858000" y="6273800"/>
            <a:ext cx="4572000" cy="12700"/>
          </a:xfrm>
          <a:prstGeom prst="rect">
            <a:avLst/>
          </a:prstGeom>
          <a:solidFill>
            <a:srgbClr val="1D1F20">
              <a:alpha val="25000"/>
            </a:srgbClr>
          </a:solidFill>
          <a:ln>
            <a:noFill/>
          </a:ln>
        </p:spPr>
        <p:txBody>
          <a:bodyPr/>
          <a:lstStyle/>
          <a:p>
            <a:endParaRPr/>
          </a:p>
        </p:txBody>
      </p:sp>
      <p:sp>
        <p:nvSpPr>
          <p:cNvPr id="117" name="Text 117"/>
          <p:cNvSpPr txBox="1"/>
          <p:nvPr/>
        </p:nvSpPr>
        <p:spPr>
          <a:xfrm>
            <a:off x="6858000" y="6502400"/>
            <a:ext cx="4572000" cy="431800"/>
          </a:xfrm>
          <a:prstGeom prst="rect">
            <a:avLst/>
          </a:prstGeom>
          <a:noFill/>
        </p:spPr>
        <p:txBody>
          <a:bodyPr wrap="square" lIns="0" tIns="0" rIns="0" bIns="0" anchor="t">
            <a:normAutofit/>
          </a:bodyPr>
          <a:lstStyle/>
          <a:p>
            <a:pPr marL="0" indent="0" algn="l">
              <a:buNone/>
            </a:pPr>
            <a:r>
              <a:rPr lang="en-US" sz="1800" b="1" kern="0" dirty="0">
                <a:solidFill>
                  <a:srgbClr val="2F7D3A"/>
                </a:solidFill>
                <a:latin typeface="Barlow"/>
                <a:cs typeface="Barlow"/>
              </a:rPr>
              <a:t>Cover moves from 4.2× to 10× income</a:t>
            </a:r>
          </a:p>
        </p:txBody>
      </p:sp>
      <p:sp>
        <p:nvSpPr>
          <p:cNvPr id="118" name="Shape 118"/>
          <p:cNvSpPr/>
          <p:nvPr/>
        </p:nvSpPr>
        <p:spPr>
          <a:xfrm>
            <a:off x="12090400" y="2540000"/>
            <a:ext cx="5283200" cy="4572000"/>
          </a:xfrm>
          <a:prstGeom prst="rect">
            <a:avLst/>
          </a:prstGeom>
          <a:noFill/>
          <a:ln w="9525">
            <a:solidFill>
              <a:srgbClr val="1D1F20">
                <a:alpha val="22000"/>
              </a:srgbClr>
            </a:solidFill>
          </a:ln>
        </p:spPr>
        <p:txBody>
          <a:bodyPr/>
          <a:lstStyle/>
          <a:p>
            <a:endParaRPr/>
          </a:p>
        </p:txBody>
      </p:sp>
      <p:sp>
        <p:nvSpPr>
          <p:cNvPr id="119" name="Shape 119"/>
          <p:cNvSpPr/>
          <p:nvPr/>
        </p:nvSpPr>
        <p:spPr>
          <a:xfrm>
            <a:off x="12090400" y="2540000"/>
            <a:ext cx="5283200" cy="63500"/>
          </a:xfrm>
          <a:prstGeom prst="rect">
            <a:avLst/>
          </a:prstGeom>
          <a:solidFill>
            <a:srgbClr val="26306F"/>
          </a:solidFill>
          <a:ln>
            <a:noFill/>
          </a:ln>
        </p:spPr>
        <p:txBody>
          <a:bodyPr/>
          <a:lstStyle/>
          <a:p>
            <a:endParaRPr/>
          </a:p>
        </p:txBody>
      </p:sp>
      <p:sp>
        <p:nvSpPr>
          <p:cNvPr id="120" name="Text 120"/>
          <p:cNvSpPr txBox="1"/>
          <p:nvPr/>
        </p:nvSpPr>
        <p:spPr>
          <a:xfrm>
            <a:off x="12446000" y="2946400"/>
            <a:ext cx="1524000" cy="558800"/>
          </a:xfrm>
          <a:prstGeom prst="rect">
            <a:avLst/>
          </a:prstGeom>
          <a:noFill/>
        </p:spPr>
        <p:txBody>
          <a:bodyPr wrap="square" lIns="0" tIns="0" rIns="0" bIns="0" anchor="t">
            <a:normAutofit/>
          </a:bodyPr>
          <a:lstStyle/>
          <a:p>
            <a:pPr marL="0" indent="0" algn="l">
              <a:buNone/>
            </a:pPr>
            <a:r>
              <a:rPr lang="en-US" sz="3600" b="1" kern="0" dirty="0">
                <a:solidFill>
                  <a:srgbClr val="26306F"/>
                </a:solidFill>
                <a:latin typeface="Barlow Condensed"/>
                <a:cs typeface="Barlow Condensed"/>
              </a:rPr>
              <a:t>03</a:t>
            </a:r>
          </a:p>
        </p:txBody>
      </p:sp>
      <p:sp>
        <p:nvSpPr>
          <p:cNvPr id="121" name="Text 121"/>
          <p:cNvSpPr txBox="1"/>
          <p:nvPr/>
        </p:nvSpPr>
        <p:spPr>
          <a:xfrm>
            <a:off x="12446000" y="3683000"/>
            <a:ext cx="4572000" cy="889000"/>
          </a:xfrm>
          <a:prstGeom prst="rect">
            <a:avLst/>
          </a:prstGeom>
          <a:noFill/>
        </p:spPr>
        <p:txBody>
          <a:bodyPr wrap="square" lIns="0" tIns="0" rIns="0" bIns="0" anchor="t">
            <a:normAutofit/>
          </a:bodyPr>
          <a:lstStyle/>
          <a:p>
            <a:pPr marL="0" indent="0" algn="l">
              <a:lnSpc>
                <a:spcPct val="90000"/>
              </a:lnSpc>
              <a:buNone/>
            </a:pPr>
            <a:r>
              <a:rPr lang="en-US" sz="3200" b="1" kern="0" spc="-40" dirty="0">
                <a:solidFill>
                  <a:srgbClr val="1D1F20"/>
                </a:solidFill>
                <a:latin typeface="Barlow Condensed"/>
                <a:cs typeface="Barlow Condensed"/>
              </a:rPr>
              <a:t>Re-tag every freed EMI</a:t>
            </a:r>
          </a:p>
        </p:txBody>
      </p:sp>
      <p:sp>
        <p:nvSpPr>
          <p:cNvPr id="122" name="Text 122"/>
          <p:cNvSpPr txBox="1"/>
          <p:nvPr/>
        </p:nvSpPr>
        <p:spPr>
          <a:xfrm>
            <a:off x="12446000" y="4673600"/>
            <a:ext cx="4572000" cy="1778000"/>
          </a:xfrm>
          <a:prstGeom prst="rect">
            <a:avLst/>
          </a:prstGeom>
          <a:noFill/>
        </p:spPr>
        <p:txBody>
          <a:bodyPr wrap="square" lIns="0" tIns="0" rIns="0" bIns="0" anchor="t">
            <a:normAutofit/>
          </a:bodyPr>
          <a:lstStyle/>
          <a:p>
            <a:pPr marL="0" indent="0" algn="l">
              <a:lnSpc>
                <a:spcPct val="128000"/>
              </a:lnSpc>
              <a:buNone/>
            </a:pPr>
            <a:r>
              <a:rPr lang="en-US" sz="1800" b="0" kern="0" dirty="0">
                <a:solidFill>
                  <a:srgbClr val="1D1F20">
                    <a:alpha val="88000"/>
                  </a:srgbClr>
                </a:solidFill>
                <a:latin typeface="Barlow"/>
                <a:cs typeface="Barlow"/>
              </a:rPr>
              <a:t>As each loan and goal closes, the instalment moves straight to the retirement SIP instead of into spending.</a:t>
            </a:r>
          </a:p>
        </p:txBody>
      </p:sp>
      <p:sp>
        <p:nvSpPr>
          <p:cNvPr id="123" name="Shape 123"/>
          <p:cNvSpPr/>
          <p:nvPr/>
        </p:nvSpPr>
        <p:spPr>
          <a:xfrm>
            <a:off x="12446000" y="6273800"/>
            <a:ext cx="4572000" cy="12700"/>
          </a:xfrm>
          <a:prstGeom prst="rect">
            <a:avLst/>
          </a:prstGeom>
          <a:solidFill>
            <a:srgbClr val="1D1F20">
              <a:alpha val="25000"/>
            </a:srgbClr>
          </a:solidFill>
          <a:ln>
            <a:noFill/>
          </a:ln>
        </p:spPr>
        <p:txBody>
          <a:bodyPr/>
          <a:lstStyle/>
          <a:p>
            <a:endParaRPr/>
          </a:p>
        </p:txBody>
      </p:sp>
      <p:sp>
        <p:nvSpPr>
          <p:cNvPr id="124" name="Text 124"/>
          <p:cNvSpPr txBox="1"/>
          <p:nvPr/>
        </p:nvSpPr>
        <p:spPr>
          <a:xfrm>
            <a:off x="12446000" y="6502400"/>
            <a:ext cx="4572000" cy="431800"/>
          </a:xfrm>
          <a:prstGeom prst="rect">
            <a:avLst/>
          </a:prstGeom>
          <a:noFill/>
        </p:spPr>
        <p:txBody>
          <a:bodyPr wrap="square" lIns="0" tIns="0" rIns="0" bIns="0" anchor="t">
            <a:normAutofit/>
          </a:bodyPr>
          <a:lstStyle/>
          <a:p>
            <a:pPr marL="0" indent="0" algn="l">
              <a:buNone/>
            </a:pPr>
            <a:r>
              <a:rPr lang="en-US" sz="1800" b="1" kern="0" dirty="0">
                <a:solidFill>
                  <a:srgbClr val="2F7D3A"/>
                </a:solidFill>
                <a:latin typeface="Barlow"/>
                <a:cs typeface="Barlow"/>
              </a:rPr>
              <a:t>₹30,000 becomes ₹1.85 L a month</a:t>
            </a:r>
          </a:p>
        </p:txBody>
      </p:sp>
      <p:sp>
        <p:nvSpPr>
          <p:cNvPr id="125" name="Shape 125"/>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126" name="Text 126"/>
          <p:cNvSpPr txBox="1"/>
          <p:nvPr/>
        </p:nvSpPr>
        <p:spPr>
          <a:xfrm>
            <a:off x="914400" y="7696200"/>
            <a:ext cx="2159000" cy="393700"/>
          </a:xfrm>
          <a:prstGeom prst="rect">
            <a:avLst/>
          </a:prstGeom>
          <a:noFill/>
        </p:spPr>
        <p:txBody>
          <a:bodyPr wrap="square" lIns="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127" name="Text 127"/>
          <p:cNvSpPr txBox="1"/>
          <p:nvPr/>
        </p:nvSpPr>
        <p:spPr>
          <a:xfrm>
            <a:off x="3276600" y="7658100"/>
            <a:ext cx="13246100" cy="774700"/>
          </a:xfrm>
          <a:prstGeom prst="rect">
            <a:avLst/>
          </a:prstGeom>
          <a:noFill/>
        </p:spPr>
        <p:txBody>
          <a:bodyPr wrap="square" lIns="0" tIns="0" rIns="0" bIns="0" anchor="t">
            <a:normAutofit/>
          </a:bodyPr>
          <a:lstStyle/>
          <a:p>
            <a:pPr marL="0" indent="0" algn="l">
              <a:lnSpc>
                <a:spcPct val="118000"/>
              </a:lnSpc>
              <a:buNone/>
            </a:pPr>
            <a:r>
              <a:rPr lang="en-US" sz="2100" b="0" kern="0" dirty="0">
                <a:solidFill>
                  <a:srgbClr val="1D1F20">
                    <a:alpha val="90000"/>
                  </a:srgbClr>
                </a:solidFill>
                <a:latin typeface="Barlow"/>
                <a:cs typeface="Barlow"/>
              </a:rPr>
              <a:t>None of the three needs fresh money. Each one reuses cash the household already commits every month, which is why the plan can close the retirement gap without changing the family's standard of living.</a:t>
            </a:r>
          </a:p>
        </p:txBody>
      </p:sp>
      <p:sp>
        <p:nvSpPr>
          <p:cNvPr id="128" name="Text 128"/>
          <p:cNvSpPr txBox="1"/>
          <p:nvPr/>
        </p:nvSpPr>
        <p:spPr>
          <a:xfrm>
            <a:off x="914400" y="9474200"/>
            <a:ext cx="5080000" cy="393700"/>
          </a:xfrm>
          <a:prstGeom prst="rect">
            <a:avLst/>
          </a:prstGeom>
          <a:noFill/>
        </p:spPr>
        <p:txBody>
          <a:bodyPr wrap="square" lIns="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29" name="Text 129"/>
          <p:cNvSpPr txBox="1"/>
          <p:nvPr/>
        </p:nvSpPr>
        <p:spPr>
          <a:xfrm>
            <a:off x="14833600" y="9474200"/>
            <a:ext cx="2540000" cy="393700"/>
          </a:xfrm>
          <a:prstGeom prst="rect">
            <a:avLst/>
          </a:prstGeom>
          <a:noFill/>
        </p:spPr>
        <p:txBody>
          <a:bodyPr wrap="square" lIns="0" tIns="0" rIns="0" bIns="0" anchor="t">
            <a:normAutofit/>
          </a:bodyPr>
          <a:lstStyle/>
          <a:p>
            <a:pPr marL="0" indent="0" algn="r">
              <a:buNone/>
            </a:pPr>
            <a:r>
              <a:rPr lang="en-US" sz="1600" b="0" kern="0" dirty="0">
                <a:solidFill>
                  <a:srgbClr val="2A3480"/>
                </a:solidFill>
                <a:latin typeface="Barlow"/>
                <a:cs typeface="Barlow"/>
              </a:rPr>
              <a:t>02 / 14</a:t>
            </a:r>
          </a:p>
        </p:txBody>
      </p:sp>
    </p:spTree>
    <p:extLst>
      <p:ext uri="{BB962C8B-B14F-4D97-AF65-F5344CB8AC3E}">
        <p14:creationId xmlns:p14="http://schemas.microsoft.com/office/powerpoint/2010/main" val="24041457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11430000" cy="419100"/>
          </a:xfrm>
          <a:prstGeom prst="rect">
            <a:avLst/>
          </a:prstGeom>
          <a:noFill/>
        </p:spPr>
        <p:txBody>
          <a:bodyPr wrap="square" lIns="7200" tIns="0" rIns="0" bIns="0" anchor="t">
            <a:normAutofit/>
          </a:bodyPr>
          <a:lstStyle/>
          <a:p>
            <a:pPr marL="0" indent="0" algn="l">
              <a:buNone/>
            </a:pPr>
            <a:r>
              <a:rPr lang="en-US" sz="2100" b="1" kern="0" spc="390" dirty="0">
                <a:solidFill>
                  <a:srgbClr val="2A3480"/>
                </a:solidFill>
                <a:latin typeface="Barlow"/>
                <a:cs typeface="Barlow"/>
              </a:rPr>
              <a:t>CLIENT OUTCOMES</a:t>
            </a:r>
          </a:p>
        </p:txBody>
      </p:sp>
      <p:sp>
        <p:nvSpPr>
          <p:cNvPr id="102" name="Text 102"/>
          <p:cNvSpPr txBox="1"/>
          <p:nvPr/>
        </p:nvSpPr>
        <p:spPr>
          <a:xfrm>
            <a:off x="914400" y="1092200"/>
            <a:ext cx="16002000" cy="774700"/>
          </a:xfrm>
          <a:prstGeom prst="rect">
            <a:avLst/>
          </a:prstGeom>
          <a:noFill/>
        </p:spPr>
        <p:txBody>
          <a:bodyPr wrap="square" lIns="7200" tIns="0" rIns="0" bIns="0" anchor="t">
            <a:normAutofit fontScale="92500"/>
          </a:bodyPr>
          <a:lstStyle/>
          <a:p>
            <a:pPr marL="0" indent="0" algn="l">
              <a:lnSpc>
                <a:spcPct val="80000"/>
              </a:lnSpc>
              <a:buNone/>
            </a:pPr>
            <a:r>
              <a:rPr lang="en-US" sz="4400" b="1" kern="0" spc="-80" dirty="0">
                <a:solidFill>
                  <a:srgbClr val="1D1F20"/>
                </a:solidFill>
                <a:latin typeface="Barlow Condensed"/>
                <a:cs typeface="Barlow Condensed"/>
              </a:rPr>
              <a:t>The three moves together turn a ₹0.75 crore retirement shortfall into a small surplus</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Text 104"/>
          <p:cNvSpPr txBox="1"/>
          <p:nvPr/>
        </p:nvSpPr>
        <p:spPr>
          <a:xfrm>
            <a:off x="914400" y="2489200"/>
            <a:ext cx="8890000" cy="381000"/>
          </a:xfrm>
          <a:prstGeom prst="rect">
            <a:avLst/>
          </a:prstGeom>
          <a:noFill/>
        </p:spPr>
        <p:txBody>
          <a:bodyPr wrap="square" lIns="7200" tIns="0" rIns="0" bIns="0" anchor="t">
            <a:normAutofit/>
          </a:bodyPr>
          <a:lstStyle/>
          <a:p>
            <a:pPr marL="0" indent="0" algn="l">
              <a:buNone/>
            </a:pPr>
            <a:r>
              <a:rPr lang="en-US" sz="1800" b="0" kern="0" dirty="0">
                <a:solidFill>
                  <a:srgbClr val="1D1F20">
                    <a:alpha val="80000"/>
                  </a:srgbClr>
                </a:solidFill>
                <a:latin typeface="Barlow"/>
                <a:cs typeface="Barlow"/>
              </a:rPr>
              <a:t>Retirement corpus at 2036, ₹ crore</a:t>
            </a:r>
          </a:p>
        </p:txBody>
      </p:sp>
      <p:sp>
        <p:nvSpPr>
          <p:cNvPr id="105" name="Shape 105"/>
          <p:cNvSpPr/>
          <p:nvPr/>
        </p:nvSpPr>
        <p:spPr>
          <a:xfrm>
            <a:off x="10363200" y="2489200"/>
            <a:ext cx="7010400" cy="4622800"/>
          </a:xfrm>
          <a:prstGeom prst="rect">
            <a:avLst/>
          </a:prstGeom>
          <a:noFill/>
          <a:ln w="9525">
            <a:solidFill>
              <a:srgbClr val="1D1F20">
                <a:alpha val="22000"/>
              </a:srgbClr>
            </a:solidFill>
          </a:ln>
        </p:spPr>
        <p:txBody>
          <a:bodyPr/>
          <a:lstStyle/>
          <a:p>
            <a:endParaRPr/>
          </a:p>
        </p:txBody>
      </p:sp>
      <p:sp>
        <p:nvSpPr>
          <p:cNvPr id="106" name="Shape 106"/>
          <p:cNvSpPr/>
          <p:nvPr/>
        </p:nvSpPr>
        <p:spPr>
          <a:xfrm>
            <a:off x="10363200" y="2489200"/>
            <a:ext cx="7010400" cy="63500"/>
          </a:xfrm>
          <a:prstGeom prst="rect">
            <a:avLst/>
          </a:prstGeom>
          <a:solidFill>
            <a:srgbClr val="2F7D3A"/>
          </a:solidFill>
          <a:ln>
            <a:noFill/>
          </a:ln>
        </p:spPr>
        <p:txBody>
          <a:bodyPr/>
          <a:lstStyle/>
          <a:p>
            <a:endParaRPr/>
          </a:p>
        </p:txBody>
      </p:sp>
      <p:sp>
        <p:nvSpPr>
          <p:cNvPr id="107" name="Text 107"/>
          <p:cNvSpPr txBox="1"/>
          <p:nvPr/>
        </p:nvSpPr>
        <p:spPr>
          <a:xfrm>
            <a:off x="10769600" y="2844800"/>
            <a:ext cx="6096000" cy="406400"/>
          </a:xfrm>
          <a:prstGeom prst="rect">
            <a:avLst/>
          </a:prstGeom>
          <a:noFill/>
        </p:spPr>
        <p:txBody>
          <a:bodyPr wrap="square" lIns="7200" tIns="0" rIns="0" bIns="0" anchor="t">
            <a:normAutofit/>
          </a:bodyPr>
          <a:lstStyle/>
          <a:p>
            <a:pPr marL="0" indent="0" algn="l">
              <a:buNone/>
            </a:pPr>
            <a:r>
              <a:rPr lang="en-US" sz="1700" b="1" kern="0" spc="300" dirty="0">
                <a:solidFill>
                  <a:srgbClr val="2A3480"/>
                </a:solidFill>
                <a:latin typeface="Barlow"/>
                <a:cs typeface="Barlow"/>
              </a:rPr>
              <a:t>WHAT CHANGES FOR THE FAMILY</a:t>
            </a:r>
          </a:p>
        </p:txBody>
      </p:sp>
      <p:sp>
        <p:nvSpPr>
          <p:cNvPr id="108" name="Shape 108"/>
          <p:cNvSpPr/>
          <p:nvPr/>
        </p:nvSpPr>
        <p:spPr>
          <a:xfrm>
            <a:off x="10769600" y="3556000"/>
            <a:ext cx="50800" cy="254000"/>
          </a:xfrm>
          <a:prstGeom prst="rect">
            <a:avLst/>
          </a:prstGeom>
          <a:solidFill>
            <a:srgbClr val="2F7D3A"/>
          </a:solidFill>
          <a:ln>
            <a:noFill/>
          </a:ln>
        </p:spPr>
        <p:txBody>
          <a:bodyPr/>
          <a:lstStyle/>
          <a:p>
            <a:endParaRPr/>
          </a:p>
        </p:txBody>
      </p:sp>
      <p:sp>
        <p:nvSpPr>
          <p:cNvPr id="109" name="Text 109"/>
          <p:cNvSpPr txBox="1"/>
          <p:nvPr/>
        </p:nvSpPr>
        <p:spPr>
          <a:xfrm>
            <a:off x="11023600" y="3454400"/>
            <a:ext cx="5842000" cy="381000"/>
          </a:xfrm>
          <a:prstGeom prst="rect">
            <a:avLst/>
          </a:prstGeom>
          <a:noFill/>
        </p:spPr>
        <p:txBody>
          <a:bodyPr wrap="square" lIns="7200" tIns="0" rIns="0" bIns="0" anchor="t">
            <a:normAutofit/>
          </a:bodyPr>
          <a:lstStyle/>
          <a:p>
            <a:pPr marL="0" indent="0" algn="l">
              <a:buNone/>
            </a:pPr>
            <a:r>
              <a:rPr lang="en-US" sz="2100" b="1" kern="0" dirty="0">
                <a:solidFill>
                  <a:srgbClr val="1D1F20"/>
                </a:solidFill>
                <a:latin typeface="Barlow"/>
                <a:cs typeface="Barlow"/>
              </a:rPr>
              <a:t>Loan burden</a:t>
            </a:r>
          </a:p>
        </p:txBody>
      </p:sp>
      <p:sp>
        <p:nvSpPr>
          <p:cNvPr id="110" name="Text 110"/>
          <p:cNvSpPr txBox="1"/>
          <p:nvPr/>
        </p:nvSpPr>
        <p:spPr>
          <a:xfrm>
            <a:off x="11023600" y="3860800"/>
            <a:ext cx="5943600" cy="914400"/>
          </a:xfrm>
          <a:prstGeom prst="rect">
            <a:avLst/>
          </a:prstGeom>
          <a:noFill/>
        </p:spPr>
        <p:txBody>
          <a:bodyPr wrap="square" lIns="7200" tIns="0" rIns="0" bIns="0" anchor="t">
            <a:normAutofit/>
          </a:bodyPr>
          <a:lstStyle/>
          <a:p>
            <a:pPr marL="0" indent="0" algn="l">
              <a:lnSpc>
                <a:spcPct val="124000"/>
              </a:lnSpc>
              <a:buNone/>
            </a:pPr>
            <a:r>
              <a:rPr lang="en-US" sz="1700" b="0" kern="0" dirty="0">
                <a:solidFill>
                  <a:srgbClr val="1D1F20">
                    <a:alpha val="86000"/>
                  </a:srgbClr>
                </a:solidFill>
                <a:latin typeface="Barlow"/>
                <a:cs typeface="Barlow"/>
              </a:rPr>
              <a:t>Debt-free in 2034 instead of 2039, with ₹11.7 L of interest never paid across both loans.</a:t>
            </a:r>
          </a:p>
        </p:txBody>
      </p:sp>
      <p:sp>
        <p:nvSpPr>
          <p:cNvPr id="111" name="Shape 111"/>
          <p:cNvSpPr/>
          <p:nvPr/>
        </p:nvSpPr>
        <p:spPr>
          <a:xfrm>
            <a:off x="10769600" y="4800600"/>
            <a:ext cx="50800" cy="254000"/>
          </a:xfrm>
          <a:prstGeom prst="rect">
            <a:avLst/>
          </a:prstGeom>
          <a:solidFill>
            <a:srgbClr val="2F7D3A"/>
          </a:solidFill>
          <a:ln>
            <a:noFill/>
          </a:ln>
        </p:spPr>
        <p:txBody>
          <a:bodyPr/>
          <a:lstStyle/>
          <a:p>
            <a:endParaRPr/>
          </a:p>
        </p:txBody>
      </p:sp>
      <p:sp>
        <p:nvSpPr>
          <p:cNvPr id="112" name="Text 112"/>
          <p:cNvSpPr txBox="1"/>
          <p:nvPr/>
        </p:nvSpPr>
        <p:spPr>
          <a:xfrm>
            <a:off x="11023600" y="4699000"/>
            <a:ext cx="5842000" cy="381000"/>
          </a:xfrm>
          <a:prstGeom prst="rect">
            <a:avLst/>
          </a:prstGeom>
          <a:noFill/>
        </p:spPr>
        <p:txBody>
          <a:bodyPr wrap="square" lIns="7200" tIns="0" rIns="0" bIns="0" anchor="t">
            <a:normAutofit/>
          </a:bodyPr>
          <a:lstStyle/>
          <a:p>
            <a:pPr marL="0" indent="0" algn="l">
              <a:buNone/>
            </a:pPr>
            <a:r>
              <a:rPr lang="en-US" sz="2100" b="1" kern="0" dirty="0">
                <a:solidFill>
                  <a:srgbClr val="1D1F20"/>
                </a:solidFill>
                <a:latin typeface="Barlow"/>
                <a:cs typeface="Barlow"/>
              </a:rPr>
              <a:t>Protection</a:t>
            </a:r>
          </a:p>
        </p:txBody>
      </p:sp>
      <p:sp>
        <p:nvSpPr>
          <p:cNvPr id="113" name="Text 113"/>
          <p:cNvSpPr txBox="1"/>
          <p:nvPr/>
        </p:nvSpPr>
        <p:spPr>
          <a:xfrm>
            <a:off x="11023600" y="5105400"/>
            <a:ext cx="5943600" cy="914400"/>
          </a:xfrm>
          <a:prstGeom prst="rect">
            <a:avLst/>
          </a:prstGeom>
          <a:noFill/>
        </p:spPr>
        <p:txBody>
          <a:bodyPr wrap="square" lIns="7200" tIns="0" rIns="0" bIns="0" anchor="t">
            <a:normAutofit/>
          </a:bodyPr>
          <a:lstStyle/>
          <a:p>
            <a:pPr marL="0" indent="0" algn="l">
              <a:lnSpc>
                <a:spcPct val="124000"/>
              </a:lnSpc>
              <a:buNone/>
            </a:pPr>
            <a:r>
              <a:rPr lang="en-US" sz="1700" b="0" kern="0" dirty="0">
                <a:solidFill>
                  <a:srgbClr val="1D1F20">
                    <a:alpha val="86000"/>
                  </a:srgbClr>
                </a:solidFill>
                <a:latin typeface="Barlow"/>
                <a:cs typeface="Barlow"/>
              </a:rPr>
              <a:t>Life cover rises from 4.2× to 10× income and health cover from ₹10 L to ₹35 L, on the same premium.</a:t>
            </a:r>
          </a:p>
        </p:txBody>
      </p:sp>
      <p:sp>
        <p:nvSpPr>
          <p:cNvPr id="114" name="Shape 114"/>
          <p:cNvSpPr/>
          <p:nvPr/>
        </p:nvSpPr>
        <p:spPr>
          <a:xfrm>
            <a:off x="10769600" y="6045200"/>
            <a:ext cx="50800" cy="254000"/>
          </a:xfrm>
          <a:prstGeom prst="rect">
            <a:avLst/>
          </a:prstGeom>
          <a:solidFill>
            <a:srgbClr val="2F7D3A"/>
          </a:solidFill>
          <a:ln>
            <a:noFill/>
          </a:ln>
        </p:spPr>
        <p:txBody>
          <a:bodyPr/>
          <a:lstStyle/>
          <a:p>
            <a:endParaRPr/>
          </a:p>
        </p:txBody>
      </p:sp>
      <p:sp>
        <p:nvSpPr>
          <p:cNvPr id="115" name="Text 115"/>
          <p:cNvSpPr txBox="1"/>
          <p:nvPr/>
        </p:nvSpPr>
        <p:spPr>
          <a:xfrm>
            <a:off x="11023600" y="5943600"/>
            <a:ext cx="5842000" cy="381000"/>
          </a:xfrm>
          <a:prstGeom prst="rect">
            <a:avLst/>
          </a:prstGeom>
          <a:noFill/>
        </p:spPr>
        <p:txBody>
          <a:bodyPr wrap="square" lIns="7200" tIns="0" rIns="0" bIns="0" anchor="t">
            <a:normAutofit/>
          </a:bodyPr>
          <a:lstStyle/>
          <a:p>
            <a:pPr marL="0" indent="0" algn="l">
              <a:buNone/>
            </a:pPr>
            <a:r>
              <a:rPr lang="en-US" sz="2100" b="1" kern="0" dirty="0">
                <a:solidFill>
                  <a:srgbClr val="1D1F20"/>
                </a:solidFill>
                <a:latin typeface="Barlow"/>
                <a:cs typeface="Barlow"/>
              </a:rPr>
              <a:t>Goal alignment</a:t>
            </a:r>
          </a:p>
        </p:txBody>
      </p:sp>
      <p:sp>
        <p:nvSpPr>
          <p:cNvPr id="116" name="Text 116"/>
          <p:cNvSpPr txBox="1"/>
          <p:nvPr/>
        </p:nvSpPr>
        <p:spPr>
          <a:xfrm>
            <a:off x="11023600" y="6350000"/>
            <a:ext cx="5943600" cy="914400"/>
          </a:xfrm>
          <a:prstGeom prst="rect">
            <a:avLst/>
          </a:prstGeom>
          <a:noFill/>
        </p:spPr>
        <p:txBody>
          <a:bodyPr wrap="square" lIns="7200" tIns="0" rIns="0" bIns="0" anchor="t">
            <a:normAutofit/>
          </a:bodyPr>
          <a:lstStyle/>
          <a:p>
            <a:pPr marL="0" indent="0" algn="l">
              <a:lnSpc>
                <a:spcPct val="124000"/>
              </a:lnSpc>
              <a:buNone/>
            </a:pPr>
            <a:r>
              <a:rPr lang="en-US" sz="1700" b="0" kern="0" dirty="0">
                <a:solidFill>
                  <a:srgbClr val="1D1F20">
                    <a:alpha val="86000"/>
                  </a:srgbClr>
                </a:solidFill>
                <a:latin typeface="Barlow"/>
                <a:cs typeface="Barlow"/>
              </a:rPr>
              <a:t>Retirement, both educations and the renovation are each funded by a named cash flow, not by whatever is left over.</a:t>
            </a:r>
          </a:p>
        </p:txBody>
      </p:sp>
      <p:sp>
        <p:nvSpPr>
          <p:cNvPr id="117" name="Shape 117"/>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118" name="Text 118"/>
          <p:cNvSpPr txBox="1"/>
          <p:nvPr/>
        </p:nvSpPr>
        <p:spPr>
          <a:xfrm>
            <a:off x="914400" y="7696200"/>
            <a:ext cx="2159000" cy="393700"/>
          </a:xfrm>
          <a:prstGeom prst="rect">
            <a:avLst/>
          </a:prstGeom>
          <a:noFill/>
        </p:spPr>
        <p:txBody>
          <a:bodyPr wrap="square" lIns="720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119" name="Text 119"/>
          <p:cNvSpPr txBox="1"/>
          <p:nvPr/>
        </p:nvSpPr>
        <p:spPr>
          <a:xfrm>
            <a:off x="3276600" y="7658100"/>
            <a:ext cx="13246100" cy="774700"/>
          </a:xfrm>
          <a:prstGeom prst="rect">
            <a:avLst/>
          </a:prstGeom>
          <a:noFill/>
        </p:spPr>
        <p:txBody>
          <a:bodyPr wrap="square" lIns="7200" tIns="0" rIns="0" bIns="0" anchor="t">
            <a:normAutofit/>
          </a:bodyPr>
          <a:lstStyle/>
          <a:p>
            <a:pPr marL="0" indent="0" algn="l">
              <a:lnSpc>
                <a:spcPct val="118000"/>
              </a:lnSpc>
              <a:buNone/>
            </a:pPr>
            <a:r>
              <a:rPr lang="en-US" sz="2100" b="0" kern="0" dirty="0">
                <a:solidFill>
                  <a:srgbClr val="1D1F20">
                    <a:alpha val="90000"/>
                  </a:srgbClr>
                </a:solidFill>
                <a:latin typeface="Barlow"/>
                <a:cs typeface="Barlow"/>
              </a:rPr>
              <a:t>The ₹21,700 monthly surplus and the ₹10 lakh released from deposits add about ₹0.81 crore by 2036. That is what carries the corpus past the ₹6.25 crore the retirement income needs.</a:t>
            </a:r>
          </a:p>
        </p:txBody>
      </p:sp>
      <p:sp>
        <p:nvSpPr>
          <p:cNvPr id="120" name="Text 120"/>
          <p:cNvSpPr txBox="1"/>
          <p:nvPr/>
        </p:nvSpPr>
        <p:spPr>
          <a:xfrm>
            <a:off x="914400" y="9474200"/>
            <a:ext cx="5080000" cy="393700"/>
          </a:xfrm>
          <a:prstGeom prst="rect">
            <a:avLst/>
          </a:prstGeom>
          <a:noFill/>
        </p:spPr>
        <p:txBody>
          <a:bodyPr wrap="square" lIns="720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21" name="Text 121"/>
          <p:cNvSpPr txBox="1"/>
          <p:nvPr/>
        </p:nvSpPr>
        <p:spPr>
          <a:xfrm>
            <a:off x="14833600" y="9474200"/>
            <a:ext cx="2540000" cy="393700"/>
          </a:xfrm>
          <a:prstGeom prst="rect">
            <a:avLst/>
          </a:prstGeom>
          <a:noFill/>
        </p:spPr>
        <p:txBody>
          <a:bodyPr wrap="square" lIns="7200" tIns="0" rIns="0" bIns="0" anchor="t">
            <a:normAutofit/>
          </a:bodyPr>
          <a:lstStyle/>
          <a:p>
            <a:pPr marL="0" indent="0" algn="r">
              <a:buNone/>
            </a:pPr>
            <a:r>
              <a:rPr lang="en-US" sz="1600" b="0" kern="0" dirty="0">
                <a:solidFill>
                  <a:srgbClr val="2A3480"/>
                </a:solidFill>
                <a:latin typeface="Barlow"/>
                <a:cs typeface="Barlow"/>
              </a:rPr>
              <a:t>13 / 14</a:t>
            </a:r>
          </a:p>
        </p:txBody>
      </p:sp>
      <p:graphicFrame>
        <p:nvGraphicFramePr>
          <p:cNvPr id="122" name="Chart"/>
          <p:cNvGraphicFramePr/>
          <p:nvPr/>
        </p:nvGraphicFramePr>
        <p:xfrm>
          <a:off x="914400" y="2921000"/>
          <a:ext cx="8763000" cy="447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499732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41A45"/>
        </a:solidFill>
        <a:effectLst/>
      </p:bgPr>
    </p:bg>
    <p:spTree>
      <p:nvGrpSpPr>
        <p:cNvPr id="1" name="">
          <a:extLst>
            <a:ext uri="{FF2B5EF4-FFF2-40B4-BE49-F238E27FC236}">
              <a16:creationId xmlns:a16="http://schemas.microsoft.com/office/drawing/2014/main" id="{96ECB30C-F497-991A-CE9F-D1B0C2F5B9CD}"/>
            </a:ext>
          </a:extLst>
        </p:cNvPr>
        <p:cNvGrpSpPr/>
        <p:nvPr/>
      </p:nvGrpSpPr>
      <p:grpSpPr>
        <a:xfrm>
          <a:off x="0" y="0"/>
          <a:ext cx="0" cy="0"/>
          <a:chOff x="0" y="0"/>
          <a:chExt cx="0" cy="0"/>
        </a:xfrm>
      </p:grpSpPr>
      <p:sp>
        <p:nvSpPr>
          <p:cNvPr id="3" name="Text 103">
            <a:extLst>
              <a:ext uri="{FF2B5EF4-FFF2-40B4-BE49-F238E27FC236}">
                <a16:creationId xmlns:a16="http://schemas.microsoft.com/office/drawing/2014/main" id="{58AD2B26-CCBA-108D-BC42-7F0190C5C4BD}"/>
              </a:ext>
            </a:extLst>
          </p:cNvPr>
          <p:cNvSpPr txBox="1"/>
          <p:nvPr/>
        </p:nvSpPr>
        <p:spPr>
          <a:xfrm>
            <a:off x="1676400" y="914400"/>
            <a:ext cx="8890000" cy="419100"/>
          </a:xfrm>
          <a:prstGeom prst="rect">
            <a:avLst/>
          </a:prstGeom>
          <a:noFill/>
        </p:spPr>
        <p:txBody>
          <a:bodyPr wrap="square" lIns="7200" tIns="0" rIns="0" bIns="0" anchor="t">
            <a:normAutofit/>
          </a:bodyPr>
          <a:lstStyle/>
          <a:p>
            <a:pPr marL="0" indent="0" algn="l">
              <a:buNone/>
            </a:pPr>
            <a:r>
              <a:rPr lang="en-US" sz="2100" b="1" kern="0" spc="390" dirty="0">
                <a:solidFill>
                  <a:srgbClr val="55B37A"/>
                </a:solidFill>
                <a:latin typeface="Barlow"/>
                <a:cs typeface="Barlow"/>
              </a:rPr>
              <a:t>IN SUMMARY</a:t>
            </a:r>
          </a:p>
        </p:txBody>
      </p:sp>
      <p:sp>
        <p:nvSpPr>
          <p:cNvPr id="5" name="Text 104">
            <a:extLst>
              <a:ext uri="{FF2B5EF4-FFF2-40B4-BE49-F238E27FC236}">
                <a16:creationId xmlns:a16="http://schemas.microsoft.com/office/drawing/2014/main" id="{B8C9FDC0-C7FC-6E0B-5210-DAFDA37A39EC}"/>
              </a:ext>
            </a:extLst>
          </p:cNvPr>
          <p:cNvSpPr txBox="1"/>
          <p:nvPr/>
        </p:nvSpPr>
        <p:spPr>
          <a:xfrm>
            <a:off x="1676400" y="1422400"/>
            <a:ext cx="11430000" cy="889000"/>
          </a:xfrm>
          <a:prstGeom prst="rect">
            <a:avLst/>
          </a:prstGeom>
          <a:noFill/>
        </p:spPr>
        <p:txBody>
          <a:bodyPr wrap="square" lIns="7200" tIns="0" rIns="0" bIns="0" anchor="t">
            <a:normAutofit/>
          </a:bodyPr>
          <a:lstStyle/>
          <a:p>
            <a:pPr marL="0" indent="0" algn="l">
              <a:lnSpc>
                <a:spcPct val="80000"/>
              </a:lnSpc>
              <a:buNone/>
            </a:pPr>
            <a:r>
              <a:rPr lang="en-US" sz="6000" b="1" kern="0" spc="-120" dirty="0">
                <a:solidFill>
                  <a:srgbClr val="FFFFFF"/>
                </a:solidFill>
                <a:latin typeface="Barlow Condensed"/>
                <a:cs typeface="Barlow Condensed"/>
              </a:rPr>
              <a:t>Key Takeaways</a:t>
            </a:r>
          </a:p>
        </p:txBody>
      </p:sp>
      <p:sp>
        <p:nvSpPr>
          <p:cNvPr id="7" name="Shape 105">
            <a:extLst>
              <a:ext uri="{FF2B5EF4-FFF2-40B4-BE49-F238E27FC236}">
                <a16:creationId xmlns:a16="http://schemas.microsoft.com/office/drawing/2014/main" id="{847115A2-8A25-E221-A3D6-158AFB49BDD9}"/>
              </a:ext>
            </a:extLst>
          </p:cNvPr>
          <p:cNvSpPr/>
          <p:nvPr/>
        </p:nvSpPr>
        <p:spPr>
          <a:xfrm>
            <a:off x="1676400" y="2641600"/>
            <a:ext cx="14935200" cy="12700"/>
          </a:xfrm>
          <a:prstGeom prst="rect">
            <a:avLst/>
          </a:prstGeom>
          <a:solidFill>
            <a:srgbClr val="FFFFFF">
              <a:alpha val="28000"/>
            </a:srgbClr>
          </a:solidFill>
          <a:ln>
            <a:noFill/>
          </a:ln>
        </p:spPr>
        <p:txBody>
          <a:bodyPr/>
          <a:lstStyle/>
          <a:p>
            <a:endParaRPr/>
          </a:p>
        </p:txBody>
      </p:sp>
      <p:sp>
        <p:nvSpPr>
          <p:cNvPr id="10" name="Text 106">
            <a:extLst>
              <a:ext uri="{FF2B5EF4-FFF2-40B4-BE49-F238E27FC236}">
                <a16:creationId xmlns:a16="http://schemas.microsoft.com/office/drawing/2014/main" id="{86DBC6E7-673E-99C0-D264-4E0159EB8B6B}"/>
              </a:ext>
            </a:extLst>
          </p:cNvPr>
          <p:cNvSpPr txBox="1"/>
          <p:nvPr/>
        </p:nvSpPr>
        <p:spPr>
          <a:xfrm>
            <a:off x="1676400" y="3200400"/>
            <a:ext cx="889000" cy="558800"/>
          </a:xfrm>
          <a:prstGeom prst="rect">
            <a:avLst/>
          </a:prstGeom>
          <a:noFill/>
        </p:spPr>
        <p:txBody>
          <a:bodyPr wrap="square" lIns="7200" tIns="0" rIns="0" bIns="0" anchor="t">
            <a:normAutofit/>
          </a:bodyPr>
          <a:lstStyle/>
          <a:p>
            <a:pPr marL="0" indent="0" algn="l">
              <a:buNone/>
            </a:pPr>
            <a:r>
              <a:rPr lang="en-US" sz="3000" b="1" kern="0" dirty="0">
                <a:solidFill>
                  <a:srgbClr val="55B37A"/>
                </a:solidFill>
                <a:latin typeface="Barlow Condensed"/>
                <a:cs typeface="Barlow Condensed"/>
              </a:rPr>
              <a:t>01</a:t>
            </a:r>
          </a:p>
        </p:txBody>
      </p:sp>
      <p:sp>
        <p:nvSpPr>
          <p:cNvPr id="13" name="Text 107">
            <a:extLst>
              <a:ext uri="{FF2B5EF4-FFF2-40B4-BE49-F238E27FC236}">
                <a16:creationId xmlns:a16="http://schemas.microsoft.com/office/drawing/2014/main" id="{EF778F97-C29B-0EFD-330A-3B2CB7971A7B}"/>
              </a:ext>
            </a:extLst>
          </p:cNvPr>
          <p:cNvSpPr txBox="1"/>
          <p:nvPr/>
        </p:nvSpPr>
        <p:spPr>
          <a:xfrm>
            <a:off x="2743200" y="3149600"/>
            <a:ext cx="13970000" cy="482600"/>
          </a:xfrm>
          <a:prstGeom prst="rect">
            <a:avLst/>
          </a:prstGeom>
          <a:noFill/>
        </p:spPr>
        <p:txBody>
          <a:bodyPr wrap="square" lIns="7200" tIns="0" rIns="0" bIns="0" anchor="t">
            <a:normAutofit/>
          </a:bodyPr>
          <a:lstStyle/>
          <a:p>
            <a:pPr marL="0" indent="0" algn="l">
              <a:buNone/>
            </a:pPr>
            <a:r>
              <a:rPr lang="en-US" sz="2800" b="1" kern="0" spc="-20" dirty="0">
                <a:solidFill>
                  <a:srgbClr val="FFFFFF"/>
                </a:solidFill>
                <a:latin typeface="Barlow Condensed"/>
                <a:cs typeface="Barlow Condensed"/>
              </a:rPr>
              <a:t>The home loan ends in 2034, not 2039</a:t>
            </a:r>
          </a:p>
        </p:txBody>
      </p:sp>
      <p:sp>
        <p:nvSpPr>
          <p:cNvPr id="15" name="Text 108">
            <a:extLst>
              <a:ext uri="{FF2B5EF4-FFF2-40B4-BE49-F238E27FC236}">
                <a16:creationId xmlns:a16="http://schemas.microsoft.com/office/drawing/2014/main" id="{BDAB55E0-2B27-68BB-2E63-ED14DFF52BA5}"/>
              </a:ext>
            </a:extLst>
          </p:cNvPr>
          <p:cNvSpPr txBox="1"/>
          <p:nvPr/>
        </p:nvSpPr>
        <p:spPr>
          <a:xfrm>
            <a:off x="2743200" y="3657600"/>
            <a:ext cx="13970000" cy="406400"/>
          </a:xfrm>
          <a:prstGeom prst="rect">
            <a:avLst/>
          </a:prstGeom>
          <a:noFill/>
        </p:spPr>
        <p:txBody>
          <a:bodyPr wrap="square" lIns="7200" tIns="0" rIns="0" bIns="0" anchor="t">
            <a:normAutofit/>
          </a:bodyPr>
          <a:lstStyle/>
          <a:p>
            <a:pPr marL="0" indent="0" algn="l">
              <a:buNone/>
            </a:pPr>
            <a:r>
              <a:rPr lang="en-US" sz="1900" b="0" kern="0" dirty="0">
                <a:solidFill>
                  <a:srgbClr val="B9C0DF"/>
                </a:solidFill>
                <a:latin typeface="Barlow"/>
                <a:cs typeface="Barlow"/>
              </a:rPr>
              <a:t>₹5 lakh of idle deposits removes ₹11.2 lakh of interest and five years of EMI.</a:t>
            </a:r>
          </a:p>
        </p:txBody>
      </p:sp>
      <p:sp>
        <p:nvSpPr>
          <p:cNvPr id="18" name="Text 109">
            <a:extLst>
              <a:ext uri="{FF2B5EF4-FFF2-40B4-BE49-F238E27FC236}">
                <a16:creationId xmlns:a16="http://schemas.microsoft.com/office/drawing/2014/main" id="{26A47108-334E-A4E1-8808-5E4C5EF5FB0E}"/>
              </a:ext>
            </a:extLst>
          </p:cNvPr>
          <p:cNvSpPr txBox="1"/>
          <p:nvPr/>
        </p:nvSpPr>
        <p:spPr>
          <a:xfrm>
            <a:off x="1676400" y="4419600"/>
            <a:ext cx="889000" cy="558800"/>
          </a:xfrm>
          <a:prstGeom prst="rect">
            <a:avLst/>
          </a:prstGeom>
          <a:noFill/>
        </p:spPr>
        <p:txBody>
          <a:bodyPr wrap="square" lIns="7200" tIns="0" rIns="0" bIns="0" anchor="t">
            <a:normAutofit/>
          </a:bodyPr>
          <a:lstStyle/>
          <a:p>
            <a:pPr marL="0" indent="0" algn="l">
              <a:buNone/>
            </a:pPr>
            <a:r>
              <a:rPr lang="en-US" sz="3000" b="1" kern="0" dirty="0">
                <a:solidFill>
                  <a:srgbClr val="55B37A"/>
                </a:solidFill>
                <a:latin typeface="Barlow Condensed"/>
                <a:cs typeface="Barlow Condensed"/>
              </a:rPr>
              <a:t>02</a:t>
            </a:r>
          </a:p>
        </p:txBody>
      </p:sp>
      <p:sp>
        <p:nvSpPr>
          <p:cNvPr id="21" name="Text 110">
            <a:extLst>
              <a:ext uri="{FF2B5EF4-FFF2-40B4-BE49-F238E27FC236}">
                <a16:creationId xmlns:a16="http://schemas.microsoft.com/office/drawing/2014/main" id="{B61899B0-C96D-D3C7-BC7D-0F4D1E9ADEB0}"/>
              </a:ext>
            </a:extLst>
          </p:cNvPr>
          <p:cNvSpPr txBox="1"/>
          <p:nvPr/>
        </p:nvSpPr>
        <p:spPr>
          <a:xfrm>
            <a:off x="2743200" y="4368800"/>
            <a:ext cx="13970000" cy="482600"/>
          </a:xfrm>
          <a:prstGeom prst="rect">
            <a:avLst/>
          </a:prstGeom>
          <a:noFill/>
        </p:spPr>
        <p:txBody>
          <a:bodyPr wrap="square" lIns="7200" tIns="0" rIns="0" bIns="0" anchor="t">
            <a:normAutofit/>
          </a:bodyPr>
          <a:lstStyle/>
          <a:p>
            <a:pPr marL="0" indent="0" algn="l">
              <a:buNone/>
            </a:pPr>
            <a:r>
              <a:rPr lang="en-US" sz="2800" b="1" kern="0" spc="-20" dirty="0">
                <a:solidFill>
                  <a:srgbClr val="FFFFFF"/>
                </a:solidFill>
                <a:latin typeface="Barlow Condensed"/>
                <a:cs typeface="Barlow Condensed"/>
              </a:rPr>
              <a:t>Cover trebles on the same premium</a:t>
            </a:r>
          </a:p>
        </p:txBody>
      </p:sp>
      <p:sp>
        <p:nvSpPr>
          <p:cNvPr id="25" name="Text 111">
            <a:extLst>
              <a:ext uri="{FF2B5EF4-FFF2-40B4-BE49-F238E27FC236}">
                <a16:creationId xmlns:a16="http://schemas.microsoft.com/office/drawing/2014/main" id="{F73B943F-06A9-BA6C-E6CE-0D5A1DF5CFA7}"/>
              </a:ext>
            </a:extLst>
          </p:cNvPr>
          <p:cNvSpPr txBox="1"/>
          <p:nvPr/>
        </p:nvSpPr>
        <p:spPr>
          <a:xfrm>
            <a:off x="2743200" y="4876800"/>
            <a:ext cx="13970000" cy="406400"/>
          </a:xfrm>
          <a:prstGeom prst="rect">
            <a:avLst/>
          </a:prstGeom>
          <a:noFill/>
        </p:spPr>
        <p:txBody>
          <a:bodyPr wrap="square" lIns="7200" tIns="0" rIns="0" bIns="0" anchor="t">
            <a:normAutofit/>
          </a:bodyPr>
          <a:lstStyle/>
          <a:p>
            <a:pPr marL="0" indent="0" algn="l">
              <a:buNone/>
            </a:pPr>
            <a:r>
              <a:rPr lang="en-US" sz="1900" b="0" kern="0" dirty="0">
                <a:solidFill>
                  <a:srgbClr val="B9C0DF"/>
                </a:solidFill>
                <a:latin typeface="Barlow"/>
                <a:cs typeface="Barlow"/>
              </a:rPr>
              <a:t>₹1.35 lakh a year moves life cover from 4.2× to 10× income and health cover to ₹35 lakh.</a:t>
            </a:r>
          </a:p>
        </p:txBody>
      </p:sp>
      <p:sp>
        <p:nvSpPr>
          <p:cNvPr id="28" name="Text 112">
            <a:extLst>
              <a:ext uri="{FF2B5EF4-FFF2-40B4-BE49-F238E27FC236}">
                <a16:creationId xmlns:a16="http://schemas.microsoft.com/office/drawing/2014/main" id="{1E3A19F4-963E-E14B-A068-06C44DA2EDC8}"/>
              </a:ext>
            </a:extLst>
          </p:cNvPr>
          <p:cNvSpPr txBox="1"/>
          <p:nvPr/>
        </p:nvSpPr>
        <p:spPr>
          <a:xfrm>
            <a:off x="1676400" y="5638800"/>
            <a:ext cx="889000" cy="558800"/>
          </a:xfrm>
          <a:prstGeom prst="rect">
            <a:avLst/>
          </a:prstGeom>
          <a:noFill/>
        </p:spPr>
        <p:txBody>
          <a:bodyPr wrap="square" lIns="7200" tIns="0" rIns="0" bIns="0" anchor="t">
            <a:normAutofit/>
          </a:bodyPr>
          <a:lstStyle/>
          <a:p>
            <a:pPr marL="0" indent="0" algn="l">
              <a:buNone/>
            </a:pPr>
            <a:r>
              <a:rPr lang="en-US" sz="3000" b="1" kern="0" dirty="0">
                <a:solidFill>
                  <a:srgbClr val="55B37A"/>
                </a:solidFill>
                <a:latin typeface="Barlow Condensed"/>
                <a:cs typeface="Barlow Condensed"/>
              </a:rPr>
              <a:t>03</a:t>
            </a:r>
          </a:p>
        </p:txBody>
      </p:sp>
      <p:sp>
        <p:nvSpPr>
          <p:cNvPr id="31" name="Text 113">
            <a:extLst>
              <a:ext uri="{FF2B5EF4-FFF2-40B4-BE49-F238E27FC236}">
                <a16:creationId xmlns:a16="http://schemas.microsoft.com/office/drawing/2014/main" id="{30A2A8C3-33A7-5FCD-FB85-D1879E6FFCEB}"/>
              </a:ext>
            </a:extLst>
          </p:cNvPr>
          <p:cNvSpPr txBox="1"/>
          <p:nvPr/>
        </p:nvSpPr>
        <p:spPr>
          <a:xfrm>
            <a:off x="2743200" y="5588000"/>
            <a:ext cx="13970000" cy="482600"/>
          </a:xfrm>
          <a:prstGeom prst="rect">
            <a:avLst/>
          </a:prstGeom>
          <a:noFill/>
        </p:spPr>
        <p:txBody>
          <a:bodyPr wrap="square" lIns="7200" tIns="0" rIns="0" bIns="0" anchor="t">
            <a:normAutofit/>
          </a:bodyPr>
          <a:lstStyle/>
          <a:p>
            <a:pPr marL="0" indent="0" algn="l">
              <a:buNone/>
            </a:pPr>
            <a:r>
              <a:rPr lang="en-US" sz="2800" b="1" kern="0" spc="-20" dirty="0">
                <a:solidFill>
                  <a:srgbClr val="FFFFFF"/>
                </a:solidFill>
                <a:latin typeface="Barlow Condensed"/>
                <a:cs typeface="Barlow Condensed"/>
              </a:rPr>
              <a:t>Freed EMIs go to work, not to spending</a:t>
            </a:r>
          </a:p>
        </p:txBody>
      </p:sp>
      <p:sp>
        <p:nvSpPr>
          <p:cNvPr id="35" name="Text 114">
            <a:extLst>
              <a:ext uri="{FF2B5EF4-FFF2-40B4-BE49-F238E27FC236}">
                <a16:creationId xmlns:a16="http://schemas.microsoft.com/office/drawing/2014/main" id="{7B772C38-BC2E-C5A6-DFE6-D5EB9FA52037}"/>
              </a:ext>
            </a:extLst>
          </p:cNvPr>
          <p:cNvSpPr txBox="1"/>
          <p:nvPr/>
        </p:nvSpPr>
        <p:spPr>
          <a:xfrm>
            <a:off x="2743200" y="6096000"/>
            <a:ext cx="13970000" cy="406400"/>
          </a:xfrm>
          <a:prstGeom prst="rect">
            <a:avLst/>
          </a:prstGeom>
          <a:noFill/>
        </p:spPr>
        <p:txBody>
          <a:bodyPr wrap="square" lIns="7200" tIns="0" rIns="0" bIns="0" anchor="t">
            <a:normAutofit/>
          </a:bodyPr>
          <a:lstStyle/>
          <a:p>
            <a:pPr marL="0" indent="0" algn="l">
              <a:buNone/>
            </a:pPr>
            <a:r>
              <a:rPr lang="en-US" sz="1900" b="0" kern="0" dirty="0">
                <a:solidFill>
                  <a:srgbClr val="B9C0DF"/>
                </a:solidFill>
                <a:latin typeface="Barlow"/>
                <a:cs typeface="Barlow"/>
              </a:rPr>
              <a:t>The retirement SIP steps up from ₹30,000 to ₹1.85 lakh a month by 2035.</a:t>
            </a:r>
          </a:p>
        </p:txBody>
      </p:sp>
      <p:sp>
        <p:nvSpPr>
          <p:cNvPr id="39" name="Text 115">
            <a:extLst>
              <a:ext uri="{FF2B5EF4-FFF2-40B4-BE49-F238E27FC236}">
                <a16:creationId xmlns:a16="http://schemas.microsoft.com/office/drawing/2014/main" id="{77C86B58-0179-A829-9C65-076F356E9CA7}"/>
              </a:ext>
            </a:extLst>
          </p:cNvPr>
          <p:cNvSpPr txBox="1"/>
          <p:nvPr/>
        </p:nvSpPr>
        <p:spPr>
          <a:xfrm>
            <a:off x="1676400" y="6858000"/>
            <a:ext cx="889000" cy="558800"/>
          </a:xfrm>
          <a:prstGeom prst="rect">
            <a:avLst/>
          </a:prstGeom>
          <a:noFill/>
        </p:spPr>
        <p:txBody>
          <a:bodyPr wrap="square" lIns="7200" tIns="0" rIns="0" bIns="0" anchor="t">
            <a:normAutofit/>
          </a:bodyPr>
          <a:lstStyle/>
          <a:p>
            <a:pPr marL="0" indent="0" algn="l">
              <a:buNone/>
            </a:pPr>
            <a:r>
              <a:rPr lang="en-US" sz="3000" b="1" kern="0" dirty="0">
                <a:solidFill>
                  <a:srgbClr val="55B37A"/>
                </a:solidFill>
                <a:latin typeface="Barlow Condensed"/>
                <a:cs typeface="Barlow Condensed"/>
              </a:rPr>
              <a:t>04</a:t>
            </a:r>
          </a:p>
        </p:txBody>
      </p:sp>
      <p:sp>
        <p:nvSpPr>
          <p:cNvPr id="41" name="Text 116">
            <a:extLst>
              <a:ext uri="{FF2B5EF4-FFF2-40B4-BE49-F238E27FC236}">
                <a16:creationId xmlns:a16="http://schemas.microsoft.com/office/drawing/2014/main" id="{8F79C2F8-22F6-3F5D-95DF-B3F1B10855BB}"/>
              </a:ext>
            </a:extLst>
          </p:cNvPr>
          <p:cNvSpPr txBox="1"/>
          <p:nvPr/>
        </p:nvSpPr>
        <p:spPr>
          <a:xfrm>
            <a:off x="2743200" y="6807200"/>
            <a:ext cx="13970000" cy="482600"/>
          </a:xfrm>
          <a:prstGeom prst="rect">
            <a:avLst/>
          </a:prstGeom>
          <a:noFill/>
        </p:spPr>
        <p:txBody>
          <a:bodyPr wrap="square" lIns="7200" tIns="0" rIns="0" bIns="0" anchor="t">
            <a:normAutofit/>
          </a:bodyPr>
          <a:lstStyle/>
          <a:p>
            <a:pPr marL="0" indent="0" algn="l">
              <a:buNone/>
            </a:pPr>
            <a:r>
              <a:rPr lang="en-US" sz="2800" b="1" kern="0" spc="-20" dirty="0">
                <a:solidFill>
                  <a:srgbClr val="FFFFFF"/>
                </a:solidFill>
                <a:latin typeface="Barlow Condensed"/>
                <a:cs typeface="Barlow Condensed"/>
              </a:rPr>
              <a:t>The ₹0.75 crore retirement gap closes</a:t>
            </a:r>
          </a:p>
        </p:txBody>
      </p:sp>
      <p:sp>
        <p:nvSpPr>
          <p:cNvPr id="43" name="Text 117">
            <a:extLst>
              <a:ext uri="{FF2B5EF4-FFF2-40B4-BE49-F238E27FC236}">
                <a16:creationId xmlns:a16="http://schemas.microsoft.com/office/drawing/2014/main" id="{6CE2CD2D-2195-ACBC-B97C-DE49B3AC7482}"/>
              </a:ext>
            </a:extLst>
          </p:cNvPr>
          <p:cNvSpPr txBox="1"/>
          <p:nvPr/>
        </p:nvSpPr>
        <p:spPr>
          <a:xfrm>
            <a:off x="2743200" y="7315200"/>
            <a:ext cx="13970000" cy="406400"/>
          </a:xfrm>
          <a:prstGeom prst="rect">
            <a:avLst/>
          </a:prstGeom>
          <a:noFill/>
        </p:spPr>
        <p:txBody>
          <a:bodyPr wrap="square" lIns="7200" tIns="0" rIns="0" bIns="0" anchor="t">
            <a:normAutofit/>
          </a:bodyPr>
          <a:lstStyle/>
          <a:p>
            <a:pPr marL="0" indent="0" algn="l">
              <a:buNone/>
            </a:pPr>
            <a:r>
              <a:rPr lang="en-US" sz="1900" b="0" kern="0" dirty="0">
                <a:solidFill>
                  <a:srgbClr val="B9C0DF"/>
                </a:solidFill>
                <a:latin typeface="Barlow"/>
                <a:cs typeface="Barlow"/>
              </a:rPr>
              <a:t>The corpus reaches ₹6.31 crore against ₹6.25 crore needed, with no new saving.</a:t>
            </a:r>
          </a:p>
        </p:txBody>
      </p:sp>
      <p:sp>
        <p:nvSpPr>
          <p:cNvPr id="45" name="Shape 118">
            <a:extLst>
              <a:ext uri="{FF2B5EF4-FFF2-40B4-BE49-F238E27FC236}">
                <a16:creationId xmlns:a16="http://schemas.microsoft.com/office/drawing/2014/main" id="{72F016F2-C2F5-76E5-1365-62380E4D8970}"/>
              </a:ext>
            </a:extLst>
          </p:cNvPr>
          <p:cNvSpPr/>
          <p:nvPr/>
        </p:nvSpPr>
        <p:spPr>
          <a:xfrm>
            <a:off x="1676400" y="8229600"/>
            <a:ext cx="14935200" cy="12700"/>
          </a:xfrm>
          <a:prstGeom prst="rect">
            <a:avLst/>
          </a:prstGeom>
          <a:solidFill>
            <a:srgbClr val="FFFFFF">
              <a:alpha val="28000"/>
            </a:srgbClr>
          </a:solidFill>
          <a:ln>
            <a:noFill/>
          </a:ln>
        </p:spPr>
        <p:txBody>
          <a:bodyPr/>
          <a:lstStyle/>
          <a:p>
            <a:endParaRPr/>
          </a:p>
        </p:txBody>
      </p:sp>
      <p:sp>
        <p:nvSpPr>
          <p:cNvPr id="47" name="Text 119">
            <a:extLst>
              <a:ext uri="{FF2B5EF4-FFF2-40B4-BE49-F238E27FC236}">
                <a16:creationId xmlns:a16="http://schemas.microsoft.com/office/drawing/2014/main" id="{2D36D719-7539-7F45-15CC-EAA40EB10E2E}"/>
              </a:ext>
            </a:extLst>
          </p:cNvPr>
          <p:cNvSpPr txBox="1"/>
          <p:nvPr/>
        </p:nvSpPr>
        <p:spPr>
          <a:xfrm>
            <a:off x="1676400" y="8559800"/>
            <a:ext cx="3048000" cy="381000"/>
          </a:xfrm>
          <a:prstGeom prst="rect">
            <a:avLst/>
          </a:prstGeom>
          <a:noFill/>
        </p:spPr>
        <p:txBody>
          <a:bodyPr wrap="square" lIns="7200" tIns="0" rIns="0" bIns="0" anchor="t">
            <a:normAutofit/>
          </a:bodyPr>
          <a:lstStyle/>
          <a:p>
            <a:pPr marL="0" indent="0" algn="l">
              <a:buNone/>
            </a:pPr>
            <a:r>
              <a:rPr lang="en-US" sz="1600" b="1" kern="0" spc="300" dirty="0">
                <a:solidFill>
                  <a:srgbClr val="55B37A"/>
                </a:solidFill>
                <a:latin typeface="Barlow"/>
                <a:cs typeface="Barlow"/>
              </a:rPr>
              <a:t>NEXT STEP</a:t>
            </a:r>
          </a:p>
        </p:txBody>
      </p:sp>
      <p:sp>
        <p:nvSpPr>
          <p:cNvPr id="49" name="Text 120">
            <a:extLst>
              <a:ext uri="{FF2B5EF4-FFF2-40B4-BE49-F238E27FC236}">
                <a16:creationId xmlns:a16="http://schemas.microsoft.com/office/drawing/2014/main" id="{081ADC75-030A-484E-2AC3-DDA003FA725C}"/>
              </a:ext>
            </a:extLst>
          </p:cNvPr>
          <p:cNvSpPr txBox="1"/>
          <p:nvPr/>
        </p:nvSpPr>
        <p:spPr>
          <a:xfrm>
            <a:off x="5080000" y="8509000"/>
            <a:ext cx="11531600" cy="762000"/>
          </a:xfrm>
          <a:prstGeom prst="rect">
            <a:avLst/>
          </a:prstGeom>
          <a:noFill/>
        </p:spPr>
        <p:txBody>
          <a:bodyPr wrap="square" lIns="7200" tIns="0" rIns="0" bIns="0" anchor="t">
            <a:normAutofit/>
          </a:bodyPr>
          <a:lstStyle/>
          <a:p>
            <a:pPr marL="0" indent="0" algn="l">
              <a:lnSpc>
                <a:spcPct val="118000"/>
              </a:lnSpc>
              <a:buNone/>
            </a:pPr>
            <a:r>
              <a:rPr lang="en-US" sz="2100" b="0" kern="0" dirty="0">
                <a:solidFill>
                  <a:srgbClr val="FFFFFF">
                    <a:alpha val="92000"/>
                  </a:srgbClr>
                </a:solidFill>
                <a:latin typeface="Barlow"/>
                <a:cs typeface="Barlow"/>
              </a:rPr>
              <a:t>Authorise the ₹5 lakh prepayment this quarter and submit the term-cover application before the next policy renewal.</a:t>
            </a:r>
          </a:p>
        </p:txBody>
      </p:sp>
      <p:sp>
        <p:nvSpPr>
          <p:cNvPr id="51" name="Text 121">
            <a:extLst>
              <a:ext uri="{FF2B5EF4-FFF2-40B4-BE49-F238E27FC236}">
                <a16:creationId xmlns:a16="http://schemas.microsoft.com/office/drawing/2014/main" id="{6BD9E740-E00E-74FB-1DDE-144441026DE8}"/>
              </a:ext>
            </a:extLst>
          </p:cNvPr>
          <p:cNvSpPr txBox="1"/>
          <p:nvPr/>
        </p:nvSpPr>
        <p:spPr>
          <a:xfrm>
            <a:off x="14478000" y="9550400"/>
            <a:ext cx="2133600" cy="393700"/>
          </a:xfrm>
          <a:prstGeom prst="rect">
            <a:avLst/>
          </a:prstGeom>
          <a:noFill/>
        </p:spPr>
        <p:txBody>
          <a:bodyPr wrap="square" lIns="7200" tIns="0" rIns="0" bIns="0" anchor="t">
            <a:normAutofit/>
          </a:bodyPr>
          <a:lstStyle/>
          <a:p>
            <a:pPr marL="0" indent="0" algn="r">
              <a:buNone/>
            </a:pPr>
            <a:r>
              <a:rPr lang="en-US" sz="1600" b="0" kern="0" dirty="0">
                <a:solidFill>
                  <a:srgbClr val="B9C0DF"/>
                </a:solidFill>
                <a:latin typeface="Barlow"/>
                <a:cs typeface="Barlow"/>
              </a:rPr>
              <a:t>14 / 14</a:t>
            </a:r>
          </a:p>
        </p:txBody>
      </p:sp>
    </p:spTree>
    <p:extLst>
      <p:ext uri="{BB962C8B-B14F-4D97-AF65-F5344CB8AC3E}">
        <p14:creationId xmlns:p14="http://schemas.microsoft.com/office/powerpoint/2010/main" val="1324598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1">
    <p:bg>
      <p:bgPr>
        <a:solidFill>
          <a:srgbClr val="F2F2F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
          </a:blip>
          <a:srcRect t="19" b="19"/>
          <a:stretch/>
        </p:blipFill>
        <p:spPr>
          <a:xfrm>
            <a:off x="0" y="0"/>
            <a:ext cx="18287930" cy="10287001"/>
          </a:xfrm>
          <a:prstGeom prst="rect">
            <a:avLst/>
          </a:prstGeom>
        </p:spPr>
      </p:pic>
      <p:sp>
        <p:nvSpPr>
          <p:cNvPr id="3" name="Text 0"/>
          <p:cNvSpPr/>
          <p:nvPr/>
        </p:nvSpPr>
        <p:spPr>
          <a:xfrm>
            <a:off x="914372" y="571429"/>
            <a:ext cx="3425691"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BASIS OF THIS PLAN</a:t>
            </a:r>
            <a:endParaRPr lang="en-US" sz="2100" b="1" dirty="0">
              <a:solidFill>
                <a:srgbClr val="2A3480"/>
              </a:solidFill>
              <a:latin typeface="Barlow"/>
            </a:endParaRPr>
          </a:p>
        </p:txBody>
      </p:sp>
      <p:sp>
        <p:nvSpPr>
          <p:cNvPr id="4" name="Text 1"/>
          <p:cNvSpPr/>
          <p:nvPr/>
        </p:nvSpPr>
        <p:spPr>
          <a:xfrm>
            <a:off x="914372" y="1088501"/>
            <a:ext cx="3425691"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Disclaimer</a:t>
            </a:r>
            <a:endParaRPr lang="en-US" sz="6000" dirty="0"/>
          </a:p>
        </p:txBody>
      </p:sp>
      <p:pic>
        <p:nvPicPr>
          <p:cNvPr id="5" name="Image 1" descr="preencoded.png"/>
          <p:cNvPicPr>
            <a:picLocks noChangeAspect="1"/>
          </p:cNvPicPr>
          <p:nvPr/>
        </p:nvPicPr>
        <p:blipFill>
          <a:blip r:embed="rId4"/>
          <a:stretch>
            <a:fillRect/>
          </a:stretch>
        </p:blipFill>
        <p:spPr>
          <a:xfrm>
            <a:off x="15297193" y="571429"/>
            <a:ext cx="2076365" cy="590493"/>
          </a:xfrm>
          <a:prstGeom prst="rect">
            <a:avLst/>
          </a:prstGeom>
        </p:spPr>
      </p:pic>
      <p:sp>
        <p:nvSpPr>
          <p:cNvPr id="6"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7" name="Text 3"/>
          <p:cNvSpPr/>
          <p:nvPr/>
        </p:nvSpPr>
        <p:spPr>
          <a:xfrm>
            <a:off x="914372" y="2439010"/>
            <a:ext cx="9288022" cy="2178745"/>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The information provided in this financial plan is based on current market conditions, assumed rates of return, and other underlying assumptions that may not reflect future performance. The returns mentioned are for illustrative purposes only and are not guaranteed. Past performance of mutual funds or any financial instruments does not indicate future results.</a:t>
            </a:r>
            <a:endParaRPr lang="en-US" sz="2175" dirty="0"/>
          </a:p>
        </p:txBody>
      </p:sp>
      <p:sp>
        <p:nvSpPr>
          <p:cNvPr id="8" name="Text 4"/>
          <p:cNvSpPr/>
          <p:nvPr/>
        </p:nvSpPr>
        <p:spPr>
          <a:xfrm>
            <a:off x="914372" y="4846340"/>
            <a:ext cx="9288022" cy="1750616"/>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Investments in mutual funds and other financial products are subject to market risks, including the risk of loss of principal. The actual performance may vary due to changes in market conditions, interest rates, tax laws, or other unforeseen factors.</a:t>
            </a:r>
            <a:endParaRPr lang="en-US" sz="2175" dirty="0"/>
          </a:p>
        </p:txBody>
      </p:sp>
      <p:sp>
        <p:nvSpPr>
          <p:cNvPr id="9" name="Text 5"/>
          <p:cNvSpPr/>
          <p:nvPr/>
        </p:nvSpPr>
        <p:spPr>
          <a:xfrm>
            <a:off x="914372" y="6825542"/>
            <a:ext cx="9288022" cy="1322487"/>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Assumptions regarding inflation, interest rates, and market performance are estimates based on historical data and should not be relied upon as guarantees of future results.</a:t>
            </a:r>
            <a:endParaRPr lang="en-US" sz="2175" dirty="0"/>
          </a:p>
        </p:txBody>
      </p:sp>
      <p:sp>
        <p:nvSpPr>
          <p:cNvPr id="10" name="Shape 6"/>
          <p:cNvSpPr/>
          <p:nvPr/>
        </p:nvSpPr>
        <p:spPr>
          <a:xfrm>
            <a:off x="10693868" y="2439010"/>
            <a:ext cx="6679690" cy="6730717"/>
          </a:xfrm>
          <a:prstGeom prst="rect">
            <a:avLst/>
          </a:prstGeom>
          <a:ln w="9071">
            <a:solidFill>
              <a:srgbClr val="1F1F1F">
                <a:alpha val="16000"/>
              </a:srgbClr>
            </a:solidFill>
            <a:prstDash val="solid"/>
          </a:ln>
        </p:spPr>
        <p:txBody>
          <a:bodyPr/>
          <a:lstStyle/>
          <a:p>
            <a:endParaRPr lang="en-US"/>
          </a:p>
        </p:txBody>
      </p:sp>
      <p:sp>
        <p:nvSpPr>
          <p:cNvPr id="11" name="Text 7"/>
          <p:cNvSpPr/>
          <p:nvPr/>
        </p:nvSpPr>
        <p:spPr>
          <a:xfrm>
            <a:off x="11064876" y="2790953"/>
            <a:ext cx="6531443"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ASSUMPTIONS USED</a:t>
            </a:r>
            <a:endParaRPr lang="en-US" sz="2100" dirty="0"/>
          </a:p>
        </p:txBody>
      </p:sp>
      <p:sp>
        <p:nvSpPr>
          <p:cNvPr id="12" name="Shape 8"/>
          <p:cNvSpPr/>
          <p:nvPr/>
        </p:nvSpPr>
        <p:spPr>
          <a:xfrm>
            <a:off x="11064876" y="4125091"/>
            <a:ext cx="5937675" cy="9525"/>
          </a:xfrm>
          <a:prstGeom prst="rect">
            <a:avLst/>
          </a:prstGeom>
          <a:solidFill>
            <a:srgbClr val="1D1F20">
              <a:alpha val="12000"/>
            </a:srgbClr>
          </a:solidFill>
          <a:ln/>
        </p:spPr>
        <p:txBody>
          <a:bodyPr/>
          <a:lstStyle/>
          <a:p>
            <a:endParaRPr lang="en-US"/>
          </a:p>
        </p:txBody>
      </p:sp>
      <p:sp>
        <p:nvSpPr>
          <p:cNvPr id="13" name="Text 9"/>
          <p:cNvSpPr/>
          <p:nvPr/>
        </p:nvSpPr>
        <p:spPr>
          <a:xfrm>
            <a:off x="11064876" y="3593278"/>
            <a:ext cx="1601249" cy="436676"/>
          </a:xfrm>
          <a:prstGeom prst="rect">
            <a:avLst/>
          </a:prstGeom>
          <a:noFill/>
          <a:ln/>
        </p:spPr>
        <p:txBody>
          <a:bodyPr wrap="square" lIns="25400" tIns="25400" rIns="25400" bIns="25400" rtlCol="0" anchor="t">
            <a:normAutofit/>
          </a:bodyPr>
          <a:lstStyle/>
          <a:p>
            <a:pPr marL="0" indent="0" algn="l">
              <a:lnSpc>
                <a:spcPct val="129243"/>
              </a:lnSpc>
              <a:buNone/>
            </a:pPr>
            <a:r>
              <a:rPr lang="en-US" sz="2100" dirty="0">
                <a:solidFill>
                  <a:srgbClr val="1D1F20">
                    <a:alpha val="90000"/>
                  </a:srgbClr>
                </a:solidFill>
                <a:latin typeface="Barlow" pitchFamily="34" charset="0"/>
                <a:ea typeface="Barlow" pitchFamily="34" charset="-122"/>
                <a:cs typeface="Barlow" pitchFamily="34" charset="-120"/>
              </a:rPr>
              <a:t>Equity return</a:t>
            </a:r>
            <a:endParaRPr lang="en-US" sz="2100" dirty="0"/>
          </a:p>
        </p:txBody>
      </p:sp>
      <p:sp>
        <p:nvSpPr>
          <p:cNvPr id="14" name="Text 10"/>
          <p:cNvSpPr/>
          <p:nvPr/>
        </p:nvSpPr>
        <p:spPr>
          <a:xfrm>
            <a:off x="16508725" y="3488957"/>
            <a:ext cx="570026"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12%</a:t>
            </a:r>
            <a:endParaRPr lang="en-US" sz="2700" dirty="0"/>
          </a:p>
        </p:txBody>
      </p:sp>
      <p:sp>
        <p:nvSpPr>
          <p:cNvPr id="15" name="Shape 11"/>
          <p:cNvSpPr/>
          <p:nvPr/>
        </p:nvSpPr>
        <p:spPr>
          <a:xfrm>
            <a:off x="11064876" y="4875043"/>
            <a:ext cx="5937675" cy="9525"/>
          </a:xfrm>
          <a:prstGeom prst="rect">
            <a:avLst/>
          </a:prstGeom>
          <a:solidFill>
            <a:srgbClr val="1D1F20">
              <a:alpha val="12000"/>
            </a:srgbClr>
          </a:solidFill>
          <a:ln/>
        </p:spPr>
        <p:txBody>
          <a:bodyPr/>
          <a:lstStyle/>
          <a:p>
            <a:endParaRPr lang="en-US"/>
          </a:p>
        </p:txBody>
      </p:sp>
      <p:sp>
        <p:nvSpPr>
          <p:cNvPr id="16" name="Text 12"/>
          <p:cNvSpPr/>
          <p:nvPr/>
        </p:nvSpPr>
        <p:spPr>
          <a:xfrm>
            <a:off x="11064876" y="4343230"/>
            <a:ext cx="1399807" cy="436676"/>
          </a:xfrm>
          <a:prstGeom prst="rect">
            <a:avLst/>
          </a:prstGeom>
          <a:noFill/>
          <a:ln/>
        </p:spPr>
        <p:txBody>
          <a:bodyPr wrap="square" lIns="25400" tIns="25400" rIns="25400" bIns="25400" rtlCol="0" anchor="t">
            <a:normAutofit/>
          </a:bodyPr>
          <a:lstStyle/>
          <a:p>
            <a:pPr marL="0" indent="0" algn="l">
              <a:lnSpc>
                <a:spcPct val="129243"/>
              </a:lnSpc>
              <a:buNone/>
            </a:pPr>
            <a:r>
              <a:rPr lang="en-US" sz="2100" dirty="0">
                <a:solidFill>
                  <a:srgbClr val="1D1F20">
                    <a:alpha val="90000"/>
                  </a:srgbClr>
                </a:solidFill>
                <a:latin typeface="Barlow" pitchFamily="34" charset="0"/>
                <a:ea typeface="Barlow" pitchFamily="34" charset="-122"/>
                <a:cs typeface="Barlow" pitchFamily="34" charset="-120"/>
              </a:rPr>
              <a:t>Debt return</a:t>
            </a:r>
            <a:endParaRPr lang="en-US" sz="2100" dirty="0"/>
          </a:p>
        </p:txBody>
      </p:sp>
      <p:sp>
        <p:nvSpPr>
          <p:cNvPr id="17" name="Text 13"/>
          <p:cNvSpPr/>
          <p:nvPr/>
        </p:nvSpPr>
        <p:spPr>
          <a:xfrm>
            <a:off x="16609220" y="4238909"/>
            <a:ext cx="469532"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7%</a:t>
            </a:r>
            <a:endParaRPr lang="en-US" sz="2700" dirty="0"/>
          </a:p>
        </p:txBody>
      </p:sp>
      <p:sp>
        <p:nvSpPr>
          <p:cNvPr id="18" name="Shape 14"/>
          <p:cNvSpPr/>
          <p:nvPr/>
        </p:nvSpPr>
        <p:spPr>
          <a:xfrm>
            <a:off x="11064876" y="5624995"/>
            <a:ext cx="5937675" cy="9525"/>
          </a:xfrm>
          <a:prstGeom prst="rect">
            <a:avLst/>
          </a:prstGeom>
          <a:solidFill>
            <a:srgbClr val="1D1F20">
              <a:alpha val="12000"/>
            </a:srgbClr>
          </a:solidFill>
          <a:ln/>
        </p:spPr>
        <p:txBody>
          <a:bodyPr/>
          <a:lstStyle/>
          <a:p>
            <a:endParaRPr lang="en-US"/>
          </a:p>
        </p:txBody>
      </p:sp>
      <p:sp>
        <p:nvSpPr>
          <p:cNvPr id="19" name="Text 15"/>
          <p:cNvSpPr/>
          <p:nvPr/>
        </p:nvSpPr>
        <p:spPr>
          <a:xfrm>
            <a:off x="11064876" y="5093182"/>
            <a:ext cx="2009045" cy="436676"/>
          </a:xfrm>
          <a:prstGeom prst="rect">
            <a:avLst/>
          </a:prstGeom>
          <a:noFill/>
          <a:ln/>
        </p:spPr>
        <p:txBody>
          <a:bodyPr wrap="square" lIns="25400" tIns="25400" rIns="25400" bIns="25400" rtlCol="0" anchor="t">
            <a:normAutofit/>
          </a:bodyPr>
          <a:lstStyle/>
          <a:p>
            <a:pPr marL="0" indent="0" algn="l">
              <a:lnSpc>
                <a:spcPct val="129243"/>
              </a:lnSpc>
              <a:buNone/>
            </a:pPr>
            <a:r>
              <a:rPr lang="en-US" sz="2100" dirty="0">
                <a:solidFill>
                  <a:srgbClr val="1D1F20">
                    <a:alpha val="90000"/>
                  </a:srgbClr>
                </a:solidFill>
                <a:latin typeface="Barlow" pitchFamily="34" charset="0"/>
                <a:ea typeface="Barlow" pitchFamily="34" charset="-122"/>
                <a:cs typeface="Barlow" pitchFamily="34" charset="-120"/>
              </a:rPr>
              <a:t>General inflation</a:t>
            </a:r>
            <a:endParaRPr lang="en-US" sz="2100" dirty="0"/>
          </a:p>
        </p:txBody>
      </p:sp>
      <p:sp>
        <p:nvSpPr>
          <p:cNvPr id="20" name="Text 16"/>
          <p:cNvSpPr/>
          <p:nvPr/>
        </p:nvSpPr>
        <p:spPr>
          <a:xfrm>
            <a:off x="16594124" y="4988861"/>
            <a:ext cx="484627"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6%</a:t>
            </a:r>
            <a:endParaRPr lang="en-US" sz="2700" dirty="0"/>
          </a:p>
        </p:txBody>
      </p:sp>
      <p:sp>
        <p:nvSpPr>
          <p:cNvPr id="21" name="Shape 17"/>
          <p:cNvSpPr/>
          <p:nvPr/>
        </p:nvSpPr>
        <p:spPr>
          <a:xfrm>
            <a:off x="11064876" y="6374947"/>
            <a:ext cx="5937675" cy="9525"/>
          </a:xfrm>
          <a:prstGeom prst="rect">
            <a:avLst/>
          </a:prstGeom>
          <a:solidFill>
            <a:srgbClr val="1D1F20">
              <a:alpha val="12000"/>
            </a:srgbClr>
          </a:solidFill>
          <a:ln/>
        </p:spPr>
        <p:txBody>
          <a:bodyPr/>
          <a:lstStyle/>
          <a:p>
            <a:endParaRPr lang="en-US"/>
          </a:p>
        </p:txBody>
      </p:sp>
      <p:sp>
        <p:nvSpPr>
          <p:cNvPr id="22" name="Text 18"/>
          <p:cNvSpPr/>
          <p:nvPr/>
        </p:nvSpPr>
        <p:spPr>
          <a:xfrm>
            <a:off x="11064876" y="5843134"/>
            <a:ext cx="2321343" cy="436676"/>
          </a:xfrm>
          <a:prstGeom prst="rect">
            <a:avLst/>
          </a:prstGeom>
          <a:noFill/>
          <a:ln/>
        </p:spPr>
        <p:txBody>
          <a:bodyPr wrap="square" lIns="25400" tIns="25400" rIns="25400" bIns="25400" rtlCol="0" anchor="t">
            <a:normAutofit/>
          </a:bodyPr>
          <a:lstStyle/>
          <a:p>
            <a:pPr marL="0" indent="0" algn="l">
              <a:lnSpc>
                <a:spcPct val="129243"/>
              </a:lnSpc>
              <a:buNone/>
            </a:pPr>
            <a:r>
              <a:rPr lang="en-US" sz="2100" dirty="0">
                <a:solidFill>
                  <a:srgbClr val="1D1F20">
                    <a:alpha val="90000"/>
                  </a:srgbClr>
                </a:solidFill>
                <a:latin typeface="Barlow" pitchFamily="34" charset="0"/>
                <a:ea typeface="Barlow" pitchFamily="34" charset="-122"/>
                <a:cs typeface="Barlow" pitchFamily="34" charset="-120"/>
              </a:rPr>
              <a:t>Education inflation</a:t>
            </a:r>
            <a:endParaRPr lang="en-US" sz="2100" dirty="0"/>
          </a:p>
        </p:txBody>
      </p:sp>
      <p:sp>
        <p:nvSpPr>
          <p:cNvPr id="23" name="Text 19"/>
          <p:cNvSpPr/>
          <p:nvPr/>
        </p:nvSpPr>
        <p:spPr>
          <a:xfrm>
            <a:off x="16494693" y="5738813"/>
            <a:ext cx="584058"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10%</a:t>
            </a:r>
            <a:endParaRPr lang="en-US" sz="2700" dirty="0"/>
          </a:p>
        </p:txBody>
      </p:sp>
      <p:sp>
        <p:nvSpPr>
          <p:cNvPr id="24" name="Shape 20"/>
          <p:cNvSpPr/>
          <p:nvPr/>
        </p:nvSpPr>
        <p:spPr>
          <a:xfrm>
            <a:off x="11064876" y="7124899"/>
            <a:ext cx="5937675" cy="9525"/>
          </a:xfrm>
          <a:prstGeom prst="rect">
            <a:avLst/>
          </a:prstGeom>
          <a:solidFill>
            <a:srgbClr val="1D1F20">
              <a:alpha val="12000"/>
            </a:srgbClr>
          </a:solidFill>
          <a:ln/>
        </p:spPr>
        <p:txBody>
          <a:bodyPr/>
          <a:lstStyle/>
          <a:p>
            <a:endParaRPr lang="en-US"/>
          </a:p>
        </p:txBody>
      </p:sp>
      <p:sp>
        <p:nvSpPr>
          <p:cNvPr id="25" name="Text 21"/>
          <p:cNvSpPr/>
          <p:nvPr/>
        </p:nvSpPr>
        <p:spPr>
          <a:xfrm>
            <a:off x="11064876" y="6593087"/>
            <a:ext cx="2795092" cy="436676"/>
          </a:xfrm>
          <a:prstGeom prst="rect">
            <a:avLst/>
          </a:prstGeom>
          <a:noFill/>
          <a:ln/>
        </p:spPr>
        <p:txBody>
          <a:bodyPr wrap="square" lIns="25400" tIns="25400" rIns="25400" bIns="25400" rtlCol="0" anchor="t">
            <a:normAutofit/>
          </a:bodyPr>
          <a:lstStyle/>
          <a:p>
            <a:pPr marL="0" indent="0" algn="l">
              <a:lnSpc>
                <a:spcPct val="129243"/>
              </a:lnSpc>
              <a:buNone/>
            </a:pPr>
            <a:r>
              <a:rPr lang="en-US" sz="2100" dirty="0">
                <a:solidFill>
                  <a:srgbClr val="1D1F20">
                    <a:alpha val="90000"/>
                  </a:srgbClr>
                </a:solidFill>
                <a:latin typeface="Barlow" pitchFamily="34" charset="0"/>
                <a:ea typeface="Barlow" pitchFamily="34" charset="-122"/>
                <a:cs typeface="Barlow" pitchFamily="34" charset="-120"/>
              </a:rPr>
              <a:t>Post-retirement return</a:t>
            </a:r>
            <a:endParaRPr lang="en-US" sz="2100" dirty="0"/>
          </a:p>
        </p:txBody>
      </p:sp>
      <p:sp>
        <p:nvSpPr>
          <p:cNvPr id="26" name="Text 22"/>
          <p:cNvSpPr/>
          <p:nvPr/>
        </p:nvSpPr>
        <p:spPr>
          <a:xfrm>
            <a:off x="16590014" y="6488765"/>
            <a:ext cx="488737"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8%</a:t>
            </a:r>
            <a:endParaRPr lang="en-US" sz="2700" dirty="0"/>
          </a:p>
        </p:txBody>
      </p:sp>
      <p:sp>
        <p:nvSpPr>
          <p:cNvPr id="27" name="Text 23"/>
          <p:cNvSpPr/>
          <p:nvPr/>
        </p:nvSpPr>
        <p:spPr>
          <a:xfrm>
            <a:off x="11064876" y="7343038"/>
            <a:ext cx="1935219" cy="436676"/>
          </a:xfrm>
          <a:prstGeom prst="rect">
            <a:avLst/>
          </a:prstGeom>
          <a:noFill/>
          <a:ln/>
        </p:spPr>
        <p:txBody>
          <a:bodyPr wrap="square" lIns="25400" tIns="25400" rIns="25400" bIns="25400" rtlCol="0" anchor="t">
            <a:normAutofit/>
          </a:bodyPr>
          <a:lstStyle/>
          <a:p>
            <a:pPr marL="0" indent="0" algn="l">
              <a:lnSpc>
                <a:spcPct val="129243"/>
              </a:lnSpc>
              <a:buNone/>
            </a:pPr>
            <a:r>
              <a:rPr lang="en-US" sz="2100" dirty="0">
                <a:solidFill>
                  <a:srgbClr val="1D1F20">
                    <a:alpha val="90000"/>
                  </a:srgbClr>
                </a:solidFill>
                <a:latin typeface="Barlow" pitchFamily="34" charset="0"/>
                <a:ea typeface="Barlow" pitchFamily="34" charset="-122"/>
                <a:cs typeface="Barlow" pitchFamily="34" charset="-120"/>
              </a:rPr>
              <a:t>Life expectancy</a:t>
            </a:r>
            <a:endParaRPr lang="en-US" sz="2100" dirty="0"/>
          </a:p>
        </p:txBody>
      </p:sp>
      <p:sp>
        <p:nvSpPr>
          <p:cNvPr id="28" name="Text 24"/>
          <p:cNvSpPr/>
          <p:nvPr/>
        </p:nvSpPr>
        <p:spPr>
          <a:xfrm>
            <a:off x="16011568" y="7238717"/>
            <a:ext cx="1067183"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90 years</a:t>
            </a:r>
            <a:endParaRPr lang="en-US" sz="2700" dirty="0"/>
          </a:p>
        </p:txBody>
      </p:sp>
      <p:sp>
        <p:nvSpPr>
          <p:cNvPr id="29" name="Text 25"/>
          <p:cNvSpPr/>
          <p:nvPr/>
        </p:nvSpPr>
        <p:spPr>
          <a:xfrm>
            <a:off x="11064876" y="8103408"/>
            <a:ext cx="6115806" cy="752475"/>
          </a:xfrm>
          <a:prstGeom prst="rect">
            <a:avLst/>
          </a:prstGeom>
          <a:noFill/>
          <a:ln/>
        </p:spPr>
        <p:txBody>
          <a:bodyPr wrap="square" lIns="25400" tIns="25400" rIns="25400" bIns="25400" rtlCol="0" anchor="t">
            <a:normAutofit fontScale="92500" lnSpcReduction="10000"/>
          </a:bodyPr>
          <a:lstStyle/>
          <a:p>
            <a:pPr marL="0" indent="0" algn="l">
              <a:lnSpc>
                <a:spcPct val="127016"/>
              </a:lnSpc>
              <a:buNone/>
            </a:pPr>
            <a:r>
              <a:rPr lang="en-US" sz="2100" dirty="0">
                <a:solidFill>
                  <a:srgbClr val="1D1F20">
                    <a:alpha val="90000"/>
                  </a:srgbClr>
                </a:solidFill>
                <a:latin typeface="Barlow" pitchFamily="34" charset="0"/>
                <a:ea typeface="Barlow" pitchFamily="34" charset="-122"/>
                <a:cs typeface="Barlow" pitchFamily="34" charset="-120"/>
              </a:rPr>
              <a:t>Client details and holdings here are illustrative, to be replaced with the figures confirmed at review.</a:t>
            </a:r>
            <a:endParaRPr lang="en-US" sz="2100" dirty="0"/>
          </a:p>
        </p:txBody>
      </p:sp>
      <p:sp>
        <p:nvSpPr>
          <p:cNvPr id="30" name="Text 26"/>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31" name="Text 27"/>
          <p:cNvSpPr/>
          <p:nvPr/>
        </p:nvSpPr>
        <p:spPr>
          <a:xfrm>
            <a:off x="16754222" y="9475462"/>
            <a:ext cx="695538"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31 / 32</a:t>
            </a:r>
            <a:endParaRPr lang="en-US" sz="2100" dirty="0"/>
          </a:p>
        </p:txBody>
      </p:sp>
    </p:spTree>
    <p:extLst>
      <p:ext uri="{BB962C8B-B14F-4D97-AF65-F5344CB8AC3E}">
        <p14:creationId xmlns:p14="http://schemas.microsoft.com/office/powerpoint/2010/main" val="32856180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2">
    <p:bg>
      <p:bgPr>
        <a:solidFill>
          <a:srgbClr val="141A45"/>
        </a:solidFill>
        <a:effectLst/>
      </p:bgPr>
    </p:bg>
    <p:spTree>
      <p:nvGrpSpPr>
        <p:cNvPr id="1" name=""/>
        <p:cNvGrpSpPr/>
        <p:nvPr/>
      </p:nvGrpSpPr>
      <p:grpSpPr>
        <a:xfrm>
          <a:off x="0" y="0"/>
          <a:ext cx="0" cy="0"/>
          <a:chOff x="0" y="0"/>
          <a:chExt cx="0" cy="0"/>
        </a:xfrm>
      </p:grpSpPr>
      <p:sp>
        <p:nvSpPr>
          <p:cNvPr id="2" name="Text 0"/>
          <p:cNvSpPr/>
          <p:nvPr/>
        </p:nvSpPr>
        <p:spPr>
          <a:xfrm>
            <a:off x="914372" y="838186"/>
            <a:ext cx="9615368"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429" dirty="0">
                <a:solidFill>
                  <a:srgbClr val="8B96D2"/>
                </a:solidFill>
                <a:latin typeface="Barlow"/>
                <a:ea typeface="Barlow" pitchFamily="34" charset="-122"/>
                <a:cs typeface="Barlow" pitchFamily="34" charset="-120"/>
              </a:rPr>
              <a:t>CONTACT US TO KNOW MORE</a:t>
            </a:r>
            <a:endParaRPr lang="en-US" sz="2100" b="1" dirty="0">
              <a:latin typeface="Barlow"/>
            </a:endParaRPr>
          </a:p>
        </p:txBody>
      </p:sp>
      <p:sp>
        <p:nvSpPr>
          <p:cNvPr id="3" name="Text 1"/>
          <p:cNvSpPr/>
          <p:nvPr/>
        </p:nvSpPr>
        <p:spPr>
          <a:xfrm>
            <a:off x="914372" y="1488636"/>
            <a:ext cx="9615368" cy="1169619"/>
          </a:xfrm>
          <a:prstGeom prst="rect">
            <a:avLst/>
          </a:prstGeom>
          <a:noFill/>
          <a:ln/>
        </p:spPr>
        <p:txBody>
          <a:bodyPr wrap="square" lIns="25400" tIns="25400" rIns="25400" bIns="25400" rtlCol="0" anchor="t">
            <a:normAutofit lnSpcReduction="10000"/>
          </a:bodyPr>
          <a:lstStyle/>
          <a:p>
            <a:pPr marL="0" indent="0" algn="l">
              <a:lnSpc>
                <a:spcPct val="75145"/>
              </a:lnSpc>
              <a:buNone/>
            </a:pPr>
            <a:r>
              <a:rPr lang="en-US" sz="9900" b="1" kern="0" spc="-247" dirty="0">
                <a:solidFill>
                  <a:srgbClr val="F2F2F3"/>
                </a:solidFill>
                <a:latin typeface="Barlow Condensed" pitchFamily="34" charset="0"/>
                <a:ea typeface="Barlow Condensed" pitchFamily="34" charset="-122"/>
                <a:cs typeface="Barlow Condensed" pitchFamily="34" charset="-120"/>
              </a:rPr>
              <a:t>Thank You</a:t>
            </a:r>
            <a:endParaRPr lang="en-US" sz="9900" dirty="0"/>
          </a:p>
        </p:txBody>
      </p:sp>
      <p:sp>
        <p:nvSpPr>
          <p:cNvPr id="4" name="Shape 2"/>
          <p:cNvSpPr/>
          <p:nvPr/>
        </p:nvSpPr>
        <p:spPr>
          <a:xfrm>
            <a:off x="914372" y="3077341"/>
            <a:ext cx="7238930" cy="9525"/>
          </a:xfrm>
          <a:prstGeom prst="rect">
            <a:avLst/>
          </a:prstGeom>
          <a:solidFill>
            <a:srgbClr val="F2F2F3">
              <a:alpha val="24000"/>
            </a:srgbClr>
          </a:solidFill>
          <a:ln/>
        </p:spPr>
        <p:txBody>
          <a:bodyPr/>
          <a:lstStyle/>
          <a:p>
            <a:endParaRPr lang="en-US"/>
          </a:p>
        </p:txBody>
      </p:sp>
      <p:sp>
        <p:nvSpPr>
          <p:cNvPr id="5" name="Text 3"/>
          <p:cNvSpPr/>
          <p:nvPr/>
        </p:nvSpPr>
        <p:spPr>
          <a:xfrm>
            <a:off x="914372" y="3505895"/>
            <a:ext cx="396048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ADVISOR</a:t>
            </a:r>
            <a:endParaRPr lang="en-US" sz="2100" dirty="0"/>
          </a:p>
        </p:txBody>
      </p:sp>
      <p:sp>
        <p:nvSpPr>
          <p:cNvPr id="6" name="Text 4"/>
          <p:cNvSpPr/>
          <p:nvPr/>
        </p:nvSpPr>
        <p:spPr>
          <a:xfrm>
            <a:off x="914372" y="3936433"/>
            <a:ext cx="3960480" cy="6876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F2F2F3"/>
                </a:solidFill>
                <a:latin typeface="Barlow Condensed" pitchFamily="34" charset="0"/>
                <a:ea typeface="Barlow Condensed" pitchFamily="34" charset="-122"/>
                <a:cs typeface="Barlow Condensed" pitchFamily="34" charset="-120"/>
              </a:rPr>
              <a:t>Advisor Name</a:t>
            </a:r>
            <a:endParaRPr lang="en-US" sz="3300" dirty="0"/>
          </a:p>
        </p:txBody>
      </p:sp>
      <p:sp>
        <p:nvSpPr>
          <p:cNvPr id="7" name="Text 5"/>
          <p:cNvSpPr/>
          <p:nvPr/>
        </p:nvSpPr>
        <p:spPr>
          <a:xfrm>
            <a:off x="5124365" y="3505895"/>
            <a:ext cx="396048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DESIGNATION</a:t>
            </a:r>
            <a:endParaRPr lang="en-US" sz="2100" dirty="0"/>
          </a:p>
        </p:txBody>
      </p:sp>
      <p:sp>
        <p:nvSpPr>
          <p:cNvPr id="8" name="Text 6"/>
          <p:cNvSpPr/>
          <p:nvPr/>
        </p:nvSpPr>
        <p:spPr>
          <a:xfrm>
            <a:off x="5124365" y="3936433"/>
            <a:ext cx="3960480" cy="6876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F2F2F3"/>
                </a:solidFill>
                <a:latin typeface="Barlow Condensed" pitchFamily="34" charset="0"/>
                <a:ea typeface="Barlow Condensed" pitchFamily="34" charset="-122"/>
                <a:cs typeface="Barlow Condensed" pitchFamily="34" charset="-120"/>
              </a:rPr>
              <a:t>Designation</a:t>
            </a:r>
            <a:endParaRPr lang="en-US" sz="3300" dirty="0"/>
          </a:p>
        </p:txBody>
      </p:sp>
      <p:sp>
        <p:nvSpPr>
          <p:cNvPr id="9" name="Text 7"/>
          <p:cNvSpPr/>
          <p:nvPr/>
        </p:nvSpPr>
        <p:spPr>
          <a:xfrm>
            <a:off x="914372" y="4967033"/>
            <a:ext cx="396048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EMAIL</a:t>
            </a:r>
            <a:endParaRPr lang="en-US" sz="2100" dirty="0"/>
          </a:p>
        </p:txBody>
      </p:sp>
      <p:sp>
        <p:nvSpPr>
          <p:cNvPr id="10" name="Text 8"/>
          <p:cNvSpPr/>
          <p:nvPr/>
        </p:nvSpPr>
        <p:spPr>
          <a:xfrm>
            <a:off x="914372" y="5397571"/>
            <a:ext cx="3960480" cy="6876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F2F2F3"/>
                </a:solidFill>
                <a:latin typeface="Barlow Condensed" pitchFamily="34" charset="0"/>
                <a:ea typeface="Barlow Condensed" pitchFamily="34" charset="-122"/>
                <a:cs typeface="Barlow Condensed" pitchFamily="34" charset="-120"/>
              </a:rPr>
              <a:t>Work Email</a:t>
            </a:r>
            <a:endParaRPr lang="en-US" sz="3300" dirty="0"/>
          </a:p>
        </p:txBody>
      </p:sp>
      <p:sp>
        <p:nvSpPr>
          <p:cNvPr id="11" name="Text 9"/>
          <p:cNvSpPr/>
          <p:nvPr/>
        </p:nvSpPr>
        <p:spPr>
          <a:xfrm>
            <a:off x="5124365" y="4967033"/>
            <a:ext cx="396048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WEBSITE</a:t>
            </a:r>
            <a:endParaRPr lang="en-US" sz="2100" dirty="0"/>
          </a:p>
        </p:txBody>
      </p:sp>
      <p:sp>
        <p:nvSpPr>
          <p:cNvPr id="12" name="Text 10"/>
          <p:cNvSpPr/>
          <p:nvPr/>
        </p:nvSpPr>
        <p:spPr>
          <a:xfrm>
            <a:off x="5124365" y="5397571"/>
            <a:ext cx="3708449" cy="13372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F2F2F3"/>
                </a:solidFill>
                <a:latin typeface="Barlow Condensed" pitchFamily="34" charset="0"/>
                <a:ea typeface="Barlow Condensed" pitchFamily="34" charset="-122"/>
                <a:cs typeface="Barlow Condensed" pitchFamily="34" charset="-120"/>
              </a:rPr>
              <a:t>www.armstrong-cap.com</a:t>
            </a:r>
            <a:endParaRPr lang="en-US" sz="3300" dirty="0"/>
          </a:p>
        </p:txBody>
      </p:sp>
      <p:sp>
        <p:nvSpPr>
          <p:cNvPr id="13" name="Text 11"/>
          <p:cNvSpPr/>
          <p:nvPr/>
        </p:nvSpPr>
        <p:spPr>
          <a:xfrm>
            <a:off x="914372" y="9323090"/>
            <a:ext cx="268213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360" dirty="0">
                <a:solidFill>
                  <a:srgbClr val="F2F2F3">
                    <a:alpha val="90000"/>
                  </a:srgbClr>
                </a:solidFill>
                <a:latin typeface="Barlow" pitchFamily="34" charset="0"/>
                <a:ea typeface="Barlow" pitchFamily="34" charset="-122"/>
                <a:cs typeface="Barlow" pitchFamily="34" charset="-120"/>
              </a:rPr>
              <a:t>SEPTEMBER 2026</a:t>
            </a:r>
            <a:endParaRPr lang="en-US" sz="2100" dirty="0"/>
          </a:p>
        </p:txBody>
      </p:sp>
      <p:sp>
        <p:nvSpPr>
          <p:cNvPr id="14" name="Text 12"/>
          <p:cNvSpPr/>
          <p:nvPr/>
        </p:nvSpPr>
        <p:spPr>
          <a:xfrm>
            <a:off x="8672144" y="9323090"/>
            <a:ext cx="1059670" cy="392453"/>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60" dirty="0">
                <a:solidFill>
                  <a:srgbClr val="F2F2F3">
                    <a:alpha val="90000"/>
                  </a:srgbClr>
                </a:solidFill>
                <a:latin typeface="Barlow" pitchFamily="34" charset="0"/>
                <a:ea typeface="Barlow" pitchFamily="34" charset="-122"/>
                <a:cs typeface="Barlow" pitchFamily="34" charset="-120"/>
              </a:rPr>
              <a:t>32 / 32</a:t>
            </a:r>
            <a:endParaRPr lang="en-US" sz="2100" dirty="0"/>
          </a:p>
        </p:txBody>
      </p:sp>
      <p:pic>
        <p:nvPicPr>
          <p:cNvPr id="15" name="Image 0" descr="preencoded.png"/>
          <p:cNvPicPr>
            <a:picLocks noChangeAspect="1"/>
          </p:cNvPicPr>
          <p:nvPr/>
        </p:nvPicPr>
        <p:blipFill>
          <a:blip r:embed="rId3">
            <a:alphaModFix amt="55000"/>
          </a:blip>
          <a:srcRect l="11376" r="11376"/>
          <a:stretch/>
        </p:blipFill>
        <p:spPr>
          <a:xfrm>
            <a:off x="10341358" y="0"/>
            <a:ext cx="7946572" cy="10287001"/>
          </a:xfrm>
          <a:prstGeom prst="rect">
            <a:avLst/>
          </a:prstGeom>
        </p:spPr>
      </p:pic>
      <p:sp>
        <p:nvSpPr>
          <p:cNvPr id="16" name="Shape 13"/>
          <p:cNvSpPr/>
          <p:nvPr/>
        </p:nvSpPr>
        <p:spPr>
          <a:xfrm>
            <a:off x="10341358" y="0"/>
            <a:ext cx="7946572" cy="10287001"/>
          </a:xfrm>
          <a:prstGeom prst="rect">
            <a:avLst/>
          </a:prstGeom>
          <a:gradFill rotWithShape="1">
            <a:gsLst>
              <a:gs pos="0">
                <a:srgbClr val="141A45">
                  <a:alpha val="100000"/>
                </a:srgbClr>
              </a:gs>
              <a:gs pos="40000">
                <a:srgbClr val="141A45">
                  <a:alpha val="45000"/>
                </a:srgbClr>
              </a:gs>
              <a:gs pos="100000">
                <a:srgbClr val="141A45">
                  <a:alpha val="20000"/>
                </a:srgbClr>
              </a:gs>
            </a:gsLst>
            <a:lin ang="0" scaled="0"/>
          </a:gradFill>
          <a:ln/>
        </p:spPr>
        <p:txBody>
          <a:bodyPr/>
          <a:lstStyle/>
          <a:p>
            <a:endParaRPr lang="en-US"/>
          </a:p>
        </p:txBody>
      </p:sp>
    </p:spTree>
    <p:extLst>
      <p:ext uri="{BB962C8B-B14F-4D97-AF65-F5344CB8AC3E}">
        <p14:creationId xmlns:p14="http://schemas.microsoft.com/office/powerpoint/2010/main" val="1832893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5B6E277-FD27-4D9E-B578-15240295E7BC}">
  <we:reference id="WA200010001" version="1.0.0.1" store="Omex" storeType="OMEX"/>
  <we:alternateReferences>
    <we:reference id="WA200010001" version="1.0.0.1" store="WA200010001" storeType="OMEX"/>
  </we:alternateReferences>
  <we:properties>
    <we:property name="claude.fileId" value="&quot;3e865f9c-442b-4dc4-aa19-1187785769b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767</TotalTime>
  <Words>7286</Words>
  <Application>Microsoft Office PowerPoint</Application>
  <PresentationFormat>Custom</PresentationFormat>
  <Paragraphs>1215</Paragraphs>
  <Slides>49</Slides>
  <Notes>38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49</vt:i4>
      </vt:variant>
    </vt:vector>
  </HeadingPairs>
  <TitlesOfParts>
    <vt:vector size="55" baseType="lpstr">
      <vt:lpstr>Arial</vt:lpstr>
      <vt:lpstr>Barlow</vt:lpstr>
      <vt:lpstr>Barlow Condensed</vt:lpstr>
      <vt:lpstr>Calibri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Divyanshu</cp:lastModifiedBy>
  <cp:revision>19</cp:revision>
  <dcterms:created xsi:type="dcterms:W3CDTF">2026-09-09T11:30:46Z</dcterms:created>
  <dcterms:modified xsi:type="dcterms:W3CDTF">2026-09-27T09:38:34Z</dcterms:modified>
</cp:coreProperties>
</file>