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4.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5.xml" ContentType="application/vnd.openxmlformats-officedocument.drawingml.chart+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1" r:id="rId2"/>
  </p:sldMasterIdLst>
  <p:notesMasterIdLst>
    <p:notesMasterId r:id="rId52"/>
  </p:notesMasterIdLst>
  <p:sldIdLst>
    <p:sldId id="289" r:id="rId3"/>
    <p:sldId id="290" r:id="rId4"/>
    <p:sldId id="291" r:id="rId5"/>
    <p:sldId id="292" r:id="rId6"/>
    <p:sldId id="293" r:id="rId7"/>
    <p:sldId id="294" r:id="rId8"/>
    <p:sldId id="296" r:id="rId9"/>
    <p:sldId id="299" r:id="rId10"/>
    <p:sldId id="300" r:id="rId11"/>
    <p:sldId id="365" r:id="rId12"/>
    <p:sldId id="295" r:id="rId13"/>
    <p:sldId id="312" r:id="rId14"/>
    <p:sldId id="313" r:id="rId15"/>
    <p:sldId id="301" r:id="rId16"/>
    <p:sldId id="349" r:id="rId17"/>
    <p:sldId id="297" r:id="rId18"/>
    <p:sldId id="355" r:id="rId19"/>
    <p:sldId id="357" r:id="rId20"/>
    <p:sldId id="358" r:id="rId21"/>
    <p:sldId id="298" r:id="rId22"/>
    <p:sldId id="348" r:id="rId23"/>
    <p:sldId id="269" r:id="rId24"/>
    <p:sldId id="341" r:id="rId25"/>
    <p:sldId id="344" r:id="rId26"/>
    <p:sldId id="347" r:id="rId27"/>
    <p:sldId id="366" r:id="rId28"/>
    <p:sldId id="275" r:id="rId29"/>
    <p:sldId id="277" r:id="rId30"/>
    <p:sldId id="281" r:id="rId31"/>
    <p:sldId id="279" r:id="rId32"/>
    <p:sldId id="280" r:id="rId33"/>
    <p:sldId id="282" r:id="rId34"/>
    <p:sldId id="306" r:id="rId35"/>
    <p:sldId id="367" r:id="rId36"/>
    <p:sldId id="285" r:id="rId37"/>
    <p:sldId id="286" r:id="rId38"/>
    <p:sldId id="288" r:id="rId39"/>
    <p:sldId id="287" r:id="rId40"/>
    <p:sldId id="361" r:id="rId41"/>
    <p:sldId id="314" r:id="rId42"/>
    <p:sldId id="315" r:id="rId43"/>
    <p:sldId id="316" r:id="rId44"/>
    <p:sldId id="317" r:id="rId45"/>
    <p:sldId id="318" r:id="rId46"/>
    <p:sldId id="339" r:id="rId47"/>
    <p:sldId id="363" r:id="rId48"/>
    <p:sldId id="368" r:id="rId49"/>
    <p:sldId id="319" r:id="rId50"/>
    <p:sldId id="320" r:id="rId51"/>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B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300"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26306F"/>
            </a:solidFill>
            <a:ln>
              <a:noFill/>
            </a:ln>
          </c:spPr>
          <c:invertIfNegative val="1"/>
          <c:dPt>
            <c:idx val="1"/>
            <c:invertIfNegative val="1"/>
            <c:bubble3D val="0"/>
            <c:spPr>
              <a:solidFill>
                <a:srgbClr val="2F7D3A"/>
              </a:solidFill>
              <a:ln>
                <a:noFill/>
              </a:ln>
            </c:spPr>
            <c:extLst>
              <c:ext xmlns:c16="http://schemas.microsoft.com/office/drawing/2014/chart" uri="{C3380CC4-5D6E-409C-BE32-E72D297353CC}">
                <c16:uniqueId val="{00000001-588F-43BB-9A08-5304D8B1A52A}"/>
              </c:ext>
            </c:extLst>
          </c:dPt>
          <c:dLbls>
            <c:numFmt formatCode="&quot;₹&quot;#,##0.00&quot; Cr&quot;" sourceLinked="0"/>
            <c:spPr>
              <a:noFill/>
              <a:ln>
                <a:noFill/>
              </a:ln>
              <a:effectLst/>
            </c:spPr>
            <c:txPr>
              <a:bodyPr/>
              <a:lstStyle/>
              <a:p>
                <a:pPr>
                  <a:defRPr sz="1400" b="1">
                    <a:solidFill>
                      <a:srgbClr val="1D1F20"/>
                    </a:solidFill>
                    <a:latin typeface="Barlow"/>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In force today</c:v>
              </c:pt>
              <c:pt idx="1">
                <c:v>Recommended cover</c:v>
              </c:pt>
            </c:strLit>
          </c:cat>
          <c:val>
            <c:numLit>
              <c:formatCode>General</c:formatCode>
              <c:ptCount val="2"/>
              <c:pt idx="0">
                <c:v>2.25</c:v>
              </c:pt>
              <c:pt idx="1">
                <c:v>5.4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588F-43BB-9A08-5304D8B1A52A}"/>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1D1F20"/>
                </a:solidFill>
                <a:latin typeface="Barlow"/>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v>Interest</c:v>
          </c:tx>
          <c:spPr>
            <a:solidFill>
              <a:srgbClr val="26306F"/>
            </a:solidFill>
            <a:ln>
              <a:noFill/>
            </a:ln>
          </c:spPr>
          <c:invertIfNegative val="1"/>
          <c:dLbls>
            <c:numFmt formatCode="#,##0.0" sourceLinked="0"/>
            <c:spPr>
              <a:noFill/>
              <a:ln>
                <a:noFill/>
              </a:ln>
              <a:effectLst/>
            </c:spPr>
            <c:txPr>
              <a:bodyPr/>
              <a:lstStyle/>
              <a:p>
                <a:pPr>
                  <a:defRPr sz="1400" b="0">
                    <a:solidFill>
                      <a:srgbClr val="FFFFFF"/>
                    </a:solidFill>
                    <a:latin typeface="Barlow"/>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2038</c:v>
              </c:pt>
            </c:strLit>
          </c:cat>
          <c:val>
            <c:numLit>
              <c:formatCode>General</c:formatCode>
              <c:ptCount val="7"/>
              <c:pt idx="0">
                <c:v>26.6</c:v>
              </c:pt>
              <c:pt idx="1">
                <c:v>23.7</c:v>
              </c:pt>
              <c:pt idx="2">
                <c:v>20.3</c:v>
              </c:pt>
              <c:pt idx="3">
                <c:v>16.2</c:v>
              </c:pt>
              <c:pt idx="4">
                <c:v>11.4</c:v>
              </c:pt>
              <c:pt idx="5">
                <c:v>5.8</c:v>
              </c:pt>
              <c:pt idx="6">
                <c:v>1.1000000000000001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CAD5-4552-BB46-C8A70658A05E}"/>
            </c:ext>
          </c:extLst>
        </c:ser>
        <c:ser>
          <c:idx val="1"/>
          <c:order val="1"/>
          <c:tx>
            <c:v>Principal</c:v>
          </c:tx>
          <c:spPr>
            <a:solidFill>
              <a:srgbClr val="2F7D3A"/>
            </a:solidFill>
            <a:ln>
              <a:noFill/>
            </a:ln>
          </c:spPr>
          <c:invertIfNegative val="1"/>
          <c:dLbls>
            <c:numFmt formatCode="#,##0.0" sourceLinked="0"/>
            <c:spPr>
              <a:noFill/>
              <a:ln>
                <a:noFill/>
              </a:ln>
              <a:effectLst/>
            </c:spPr>
            <c:txPr>
              <a:bodyPr/>
              <a:lstStyle/>
              <a:p>
                <a:pPr>
                  <a:defRPr sz="1400" b="0">
                    <a:solidFill>
                      <a:srgbClr val="FFFFFF"/>
                    </a:solidFill>
                    <a:latin typeface="Barlow"/>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2038</c:v>
              </c:pt>
            </c:strLit>
          </c:cat>
          <c:val>
            <c:numLit>
              <c:formatCode>General</c:formatCode>
              <c:ptCount val="7"/>
              <c:pt idx="0">
                <c:v>15.9</c:v>
              </c:pt>
              <c:pt idx="1">
                <c:v>18.8</c:v>
              </c:pt>
              <c:pt idx="2">
                <c:v>22.2</c:v>
              </c:pt>
              <c:pt idx="3">
                <c:v>26.3</c:v>
              </c:pt>
              <c:pt idx="4">
                <c:v>31.1</c:v>
              </c:pt>
              <c:pt idx="5">
                <c:v>36.700000000000003</c:v>
              </c:pt>
              <c:pt idx="6">
                <c:v>41.4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CAD5-4552-BB46-C8A70658A05E}"/>
            </c:ext>
          </c:extLst>
        </c:ser>
        <c:ser>
          <c:idx val="2"/>
          <c:order val="2"/>
          <c:tx>
            <c:v>Totals</c:v>
          </c:tx>
          <c:spPr>
            <a:noFill/>
            <a:ln>
              <a:noFill/>
            </a:ln>
          </c:spPr>
          <c:invertIfNegative val="1"/>
          <c:dLbls>
            <c:numFmt formatCode="&quot;₹&quot;#,##0.0&quot;k&quot;" sourceLinked="0"/>
            <c:spPr>
              <a:noFill/>
              <a:ln>
                <a:noFill/>
              </a:ln>
              <a:effectLst/>
            </c:spPr>
            <c:txPr>
              <a:bodyPr/>
              <a:lstStyle/>
              <a:p>
                <a:pPr>
                  <a:defRPr sz="1400" b="1">
                    <a:solidFill>
                      <a:srgbClr val="1D1F20"/>
                    </a:solidFill>
                    <a:latin typeface="Barlow"/>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2026</c:v>
              </c:pt>
              <c:pt idx="1">
                <c:v>2028</c:v>
              </c:pt>
              <c:pt idx="2">
                <c:v>2030</c:v>
              </c:pt>
              <c:pt idx="3">
                <c:v>2032</c:v>
              </c:pt>
              <c:pt idx="4">
                <c:v>2034</c:v>
              </c:pt>
              <c:pt idx="5">
                <c:v>2036</c:v>
              </c:pt>
              <c:pt idx="6">
                <c:v>2038</c:v>
              </c:pt>
            </c:strLit>
          </c:cat>
          <c:val>
            <c:numLit>
              <c:formatCode>General</c:formatCode>
              <c:ptCount val="7"/>
              <c:pt idx="0">
                <c:v>42.5</c:v>
              </c:pt>
              <c:pt idx="1">
                <c:v>42.5</c:v>
              </c:pt>
              <c:pt idx="2">
                <c:v>42.5</c:v>
              </c:pt>
              <c:pt idx="3">
                <c:v>42.5</c:v>
              </c:pt>
              <c:pt idx="4">
                <c:v>42.5</c:v>
              </c:pt>
              <c:pt idx="5">
                <c:v>42.5</c:v>
              </c:pt>
              <c:pt idx="6">
                <c:v>42.5</c:v>
              </c:pt>
            </c:numLit>
          </c:val>
          <c:extLst>
            <c:ext xmlns:c16="http://schemas.microsoft.com/office/drawing/2014/chart" uri="{C3380CC4-5D6E-409C-BE32-E72D297353CC}">
              <c16:uniqueId val="{00000002-CAD5-4552-BB46-C8A70658A05E}"/>
            </c:ext>
          </c:extLst>
        </c:ser>
        <c:dLbls>
          <c:showLegendKey val="0"/>
          <c:showVal val="0"/>
          <c:showCatName val="0"/>
          <c:showSerName val="0"/>
          <c:showPercent val="0"/>
          <c:showBubbleSize val="0"/>
        </c:dLbls>
        <c:gapWidth val="50"/>
        <c:overlap val="10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1D1F20"/>
                </a:solidFill>
                <a:latin typeface="Barlow"/>
              </a:defRPr>
            </a:pPr>
            <a:endParaRPr lang="en-US"/>
          </a:p>
        </c:txPr>
        <c:crossAx val="2"/>
        <c:crosses val="autoZero"/>
        <c:auto val="1"/>
        <c:lblAlgn val="ctr"/>
        <c:lblOffset val="100"/>
        <c:noMultiLvlLbl val="1"/>
      </c:catAx>
      <c:valAx>
        <c:axId val="2"/>
        <c:scaling>
          <c:orientation val="minMax"/>
          <c:max val="53.2"/>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26306F"/>
            </a:solidFill>
            <a:ln>
              <a:noFill/>
            </a:ln>
          </c:spPr>
          <c:invertIfNegative val="1"/>
          <c:dPt>
            <c:idx val="1"/>
            <c:invertIfNegative val="1"/>
            <c:bubble3D val="0"/>
            <c:spPr>
              <a:solidFill>
                <a:srgbClr val="2F7D3A"/>
              </a:solidFill>
              <a:ln>
                <a:noFill/>
              </a:ln>
            </c:spPr>
            <c:extLst>
              <c:ext xmlns:c16="http://schemas.microsoft.com/office/drawing/2014/chart" uri="{C3380CC4-5D6E-409C-BE32-E72D297353CC}">
                <c16:uniqueId val="{00000001-C3B8-448E-9061-EAD6D6E4C1DB}"/>
              </c:ext>
            </c:extLst>
          </c:dPt>
          <c:dLbls>
            <c:numFmt formatCode="&quot;₹&quot;#,##0.0&quot; L&quot;" sourceLinked="0"/>
            <c:spPr>
              <a:noFill/>
              <a:ln>
                <a:noFill/>
              </a:ln>
              <a:effectLst/>
            </c:spPr>
            <c:txPr>
              <a:bodyPr/>
              <a:lstStyle/>
              <a:p>
                <a:pPr>
                  <a:defRPr sz="1400" b="1">
                    <a:solidFill>
                      <a:srgbClr val="1D1F20"/>
                    </a:solidFill>
                    <a:latin typeface="Barlow"/>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2"/>
              <c:pt idx="0">
                <c:v>Continue as it is</c:v>
              </c:pt>
              <c:pt idx="1">
                <c:v>Prepay ₹5 L in 2026</c:v>
              </c:pt>
            </c:strLit>
          </c:cat>
          <c:val>
            <c:numLit>
              <c:formatCode>General</c:formatCode>
              <c:ptCount val="2"/>
              <c:pt idx="0">
                <c:v>27.4</c:v>
              </c:pt>
              <c:pt idx="1">
                <c:v>16.2</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C3B8-448E-9061-EAD6D6E4C1DB}"/>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1D1F20"/>
                </a:solidFill>
                <a:latin typeface="Barlow"/>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stacked"/>
        <c:varyColors val="0"/>
        <c:ser>
          <c:idx val="0"/>
          <c:order val="0"/>
          <c:tx>
            <c:v>Base</c:v>
          </c:tx>
          <c:spPr>
            <a:noFill/>
            <a:ln>
              <a:noFill/>
            </a:ln>
          </c:spPr>
          <c:invertIfNegative val="1"/>
          <c:cat>
            <c:strLit>
              <c:ptCount val="6"/>
              <c:pt idx="0">
                <c:v>2026 today</c:v>
              </c:pt>
              <c:pt idx="1">
                <c:v>2029 car loan ends</c:v>
              </c:pt>
              <c:pt idx="2">
                <c:v>2031 renovation funded</c:v>
              </c:pt>
              <c:pt idx="3">
                <c:v>2034 home loan closes</c:v>
              </c:pt>
              <c:pt idx="4">
                <c:v>2035 education funded</c:v>
              </c:pt>
              <c:pt idx="5">
                <c:v>2035 onward</c:v>
              </c:pt>
            </c:strLit>
          </c:cat>
          <c:val>
            <c:numLit>
              <c:formatCode>General</c:formatCode>
              <c:ptCount val="6"/>
              <c:pt idx="0">
                <c:v>0</c:v>
              </c:pt>
              <c:pt idx="1">
                <c:v>30000</c:v>
              </c:pt>
              <c:pt idx="2">
                <c:v>45800</c:v>
              </c:pt>
              <c:pt idx="3">
                <c:v>65800</c:v>
              </c:pt>
              <c:pt idx="4">
                <c:v>108300</c:v>
              </c:pt>
              <c:pt idx="5">
                <c:v>0</c:v>
              </c:pt>
            </c:numLit>
          </c:val>
          <c:extLst>
            <c:ext xmlns:c16="http://schemas.microsoft.com/office/drawing/2014/chart" uri="{C3380CC4-5D6E-409C-BE32-E72D297353CC}">
              <c16:uniqueId val="{00000000-97C1-4CFA-BED3-A26FE517F82A}"/>
            </c:ext>
          </c:extLst>
        </c:ser>
        <c:ser>
          <c:idx val="1"/>
          <c:order val="1"/>
          <c:tx>
            <c:v>Increase</c:v>
          </c:tx>
          <c:spPr>
            <a:solidFill>
              <a:srgbClr val="2F7D3A"/>
            </a:solidFill>
            <a:ln>
              <a:noFill/>
            </a:ln>
          </c:spPr>
          <c:invertIfNegative val="1"/>
          <c:cat>
            <c:strLit>
              <c:ptCount val="6"/>
              <c:pt idx="0">
                <c:v>2026 today</c:v>
              </c:pt>
              <c:pt idx="1">
                <c:v>2029 car loan ends</c:v>
              </c:pt>
              <c:pt idx="2">
                <c:v>2031 renovation funded</c:v>
              </c:pt>
              <c:pt idx="3">
                <c:v>2034 home loan closes</c:v>
              </c:pt>
              <c:pt idx="4">
                <c:v>2035 education funded</c:v>
              </c:pt>
              <c:pt idx="5">
                <c:v>2035 onward</c:v>
              </c:pt>
            </c:strLit>
          </c:cat>
          <c:val>
            <c:numLit>
              <c:formatCode>General</c:formatCode>
              <c:ptCount val="6"/>
              <c:pt idx="1">
                <c:v>15800</c:v>
              </c:pt>
              <c:pt idx="2">
                <c:v>20000</c:v>
              </c:pt>
              <c:pt idx="3">
                <c:v>42500</c:v>
              </c:pt>
              <c:pt idx="4">
                <c:v>77000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97C1-4CFA-BED3-A26FE517F82A}"/>
            </c:ext>
          </c:extLst>
        </c:ser>
        <c:ser>
          <c:idx val="2"/>
          <c:order val="2"/>
          <c:tx>
            <c:v>Decrease</c:v>
          </c:tx>
          <c:spPr>
            <a:solidFill>
              <a:srgbClr val="E07B39"/>
            </a:solidFill>
            <a:ln>
              <a:noFill/>
            </a:ln>
          </c:spPr>
          <c:invertIfNegative val="1"/>
          <c:cat>
            <c:strLit>
              <c:ptCount val="6"/>
              <c:pt idx="0">
                <c:v>2026 today</c:v>
              </c:pt>
              <c:pt idx="1">
                <c:v>2029 car loan ends</c:v>
              </c:pt>
              <c:pt idx="2">
                <c:v>2031 renovation funded</c:v>
              </c:pt>
              <c:pt idx="3">
                <c:v>2034 home loan closes</c:v>
              </c:pt>
              <c:pt idx="4">
                <c:v>2035 education funded</c:v>
              </c:pt>
              <c:pt idx="5">
                <c:v>2035 onward</c:v>
              </c:pt>
            </c:strLit>
          </c:cat>
          <c:val>
            <c:numLit>
              <c:formatCode>General</c:formatCode>
              <c:ptCount val="6"/>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97C1-4CFA-BED3-A26FE517F82A}"/>
            </c:ext>
          </c:extLst>
        </c:ser>
        <c:ser>
          <c:idx val="3"/>
          <c:order val="3"/>
          <c:tx>
            <c:v>Total</c:v>
          </c:tx>
          <c:spPr>
            <a:solidFill>
              <a:srgbClr val="26306F"/>
            </a:solidFill>
            <a:ln>
              <a:noFill/>
            </a:ln>
          </c:spPr>
          <c:invertIfNegative val="1"/>
          <c:cat>
            <c:strLit>
              <c:ptCount val="6"/>
              <c:pt idx="0">
                <c:v>2026 today</c:v>
              </c:pt>
              <c:pt idx="1">
                <c:v>2029 car loan ends</c:v>
              </c:pt>
              <c:pt idx="2">
                <c:v>2031 renovation funded</c:v>
              </c:pt>
              <c:pt idx="3">
                <c:v>2034 home loan closes</c:v>
              </c:pt>
              <c:pt idx="4">
                <c:v>2035 education funded</c:v>
              </c:pt>
              <c:pt idx="5">
                <c:v>2035 onward</c:v>
              </c:pt>
            </c:strLit>
          </c:cat>
          <c:val>
            <c:numLit>
              <c:formatCode>General</c:formatCode>
              <c:ptCount val="6"/>
              <c:pt idx="0">
                <c:v>30000</c:v>
              </c:pt>
              <c:pt idx="5">
                <c:v>185300</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3-97C1-4CFA-BED3-A26FE517F82A}"/>
            </c:ext>
          </c:extLst>
        </c:ser>
        <c:ser>
          <c:idx val="4"/>
          <c:order val="4"/>
          <c:tx>
            <c:v>Labels</c:v>
          </c:tx>
          <c:spPr>
            <a:noFill/>
            <a:ln>
              <a:noFill/>
            </a:ln>
          </c:spPr>
          <c:invertIfNegative val="1"/>
          <c:dLbls>
            <c:dLbl>
              <c:idx val="0"/>
              <c:tx>
                <c:rich>
                  <a:bodyPr/>
                  <a:lstStyle/>
                  <a:p>
                    <a:r>
                      <a:rPr lang="en-US" sz="1400" b="1">
                        <a:solidFill>
                          <a:srgbClr val="26306F"/>
                        </a:solidFill>
                        <a:latin typeface="Barlow"/>
                      </a:rPr>
                      <a:t>₹30,000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7C1-4CFA-BED3-A26FE517F82A}"/>
                </c:ext>
              </c:extLst>
            </c:dLbl>
            <c:dLbl>
              <c:idx val="1"/>
              <c:tx>
                <c:rich>
                  <a:bodyPr/>
                  <a:lstStyle/>
                  <a:p>
                    <a:r>
                      <a:rPr lang="en-US" sz="1400" b="0">
                        <a:solidFill>
                          <a:srgbClr val="2F7D3A"/>
                        </a:solidFill>
                        <a:latin typeface="Barlow"/>
                      </a:rPr>
                      <a:t>+15,800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7C1-4CFA-BED3-A26FE517F82A}"/>
                </c:ext>
              </c:extLst>
            </c:dLbl>
            <c:dLbl>
              <c:idx val="2"/>
              <c:tx>
                <c:rich>
                  <a:bodyPr/>
                  <a:lstStyle/>
                  <a:p>
                    <a:r>
                      <a:rPr lang="en-US" sz="1400" b="0">
                        <a:solidFill>
                          <a:srgbClr val="2F7D3A"/>
                        </a:solidFill>
                        <a:latin typeface="Barlow"/>
                      </a:rPr>
                      <a:t>+20,000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7C1-4CFA-BED3-A26FE517F82A}"/>
                </c:ext>
              </c:extLst>
            </c:dLbl>
            <c:dLbl>
              <c:idx val="3"/>
              <c:tx>
                <c:rich>
                  <a:bodyPr/>
                  <a:lstStyle/>
                  <a:p>
                    <a:r>
                      <a:rPr lang="en-US" sz="1400" b="0">
                        <a:solidFill>
                          <a:srgbClr val="2F7D3A"/>
                        </a:solidFill>
                        <a:latin typeface="Barlow"/>
                      </a:rPr>
                      <a:t>+42,500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7C1-4CFA-BED3-A26FE517F82A}"/>
                </c:ext>
              </c:extLst>
            </c:dLbl>
            <c:dLbl>
              <c:idx val="4"/>
              <c:tx>
                <c:rich>
                  <a:bodyPr/>
                  <a:lstStyle/>
                  <a:p>
                    <a:r>
                      <a:rPr lang="en-US" sz="1400" b="0">
                        <a:solidFill>
                          <a:srgbClr val="2F7D3A"/>
                        </a:solidFill>
                        <a:latin typeface="Barlow"/>
                      </a:rPr>
                      <a:t>+77,000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7C1-4CFA-BED3-A26FE517F82A}"/>
                </c:ext>
              </c:extLst>
            </c:dLbl>
            <c:dLbl>
              <c:idx val="5"/>
              <c:tx>
                <c:rich>
                  <a:bodyPr/>
                  <a:lstStyle/>
                  <a:p>
                    <a:r>
                      <a:rPr lang="en-US" sz="1400" b="1">
                        <a:solidFill>
                          <a:srgbClr val="26306F"/>
                        </a:solidFill>
                        <a:latin typeface="Barlow"/>
                      </a:rPr>
                      <a:t>₹1,85,300</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7C1-4CFA-BED3-A26FE517F82A}"/>
                </c:ext>
              </c:extLst>
            </c:dLbl>
            <c:spPr>
              <a:noFill/>
              <a:ln>
                <a:noFill/>
              </a:ln>
              <a:effectLst/>
            </c:spPr>
            <c:dLblPos val="inBase"/>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6"/>
              <c:pt idx="0">
                <c:v>2026 today</c:v>
              </c:pt>
              <c:pt idx="1">
                <c:v>2029 car loan ends</c:v>
              </c:pt>
              <c:pt idx="2">
                <c:v>2031 renovation funded</c:v>
              </c:pt>
              <c:pt idx="3">
                <c:v>2034 home loan closes</c:v>
              </c:pt>
              <c:pt idx="4">
                <c:v>2035 education funded</c:v>
              </c:pt>
              <c:pt idx="5">
                <c:v>2035 onward</c:v>
              </c:pt>
            </c:strLit>
          </c:cat>
          <c:val>
            <c:numLit>
              <c:formatCode>General</c:formatCode>
              <c:ptCount val="6"/>
              <c:pt idx="0">
                <c:v>1853</c:v>
              </c:pt>
              <c:pt idx="1">
                <c:v>1853</c:v>
              </c:pt>
              <c:pt idx="2">
                <c:v>1853</c:v>
              </c:pt>
              <c:pt idx="3">
                <c:v>1853</c:v>
              </c:pt>
              <c:pt idx="4">
                <c:v>1853</c:v>
              </c:pt>
              <c:pt idx="5">
                <c:v>1853</c:v>
              </c:pt>
            </c:numLit>
          </c:val>
          <c:extLst>
            <c:ext xmlns:c16="http://schemas.microsoft.com/office/drawing/2014/chart" uri="{C3380CC4-5D6E-409C-BE32-E72D297353CC}">
              <c16:uniqueId val="{0000000A-97C1-4CFA-BED3-A26FE517F82A}"/>
            </c:ext>
          </c:extLst>
        </c:ser>
        <c:dLbls>
          <c:showLegendKey val="0"/>
          <c:showVal val="0"/>
          <c:showCatName val="0"/>
          <c:showSerName val="0"/>
          <c:showPercent val="0"/>
          <c:showBubbleSize val="0"/>
        </c:dLbls>
        <c:gapWidth val="50"/>
        <c:overlap val="10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1D1F20"/>
                </a:solidFill>
                <a:latin typeface="Barlow"/>
              </a:defRPr>
            </a:pPr>
            <a:endParaRPr lang="en-US"/>
          </a:p>
        </c:txPr>
        <c:crossAx val="2"/>
        <c:crosses val="autoZero"/>
        <c:auto val="1"/>
        <c:lblAlgn val="ctr"/>
        <c:lblOffset val="100"/>
        <c:noMultiLvlLbl val="1"/>
      </c:catAx>
      <c:valAx>
        <c:axId val="2"/>
        <c:scaling>
          <c:orientation val="minMax"/>
          <c:max val="232000"/>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Values</c:v>
          </c:tx>
          <c:spPr>
            <a:solidFill>
              <a:srgbClr val="26306F"/>
            </a:solidFill>
            <a:ln>
              <a:noFill/>
            </a:ln>
          </c:spPr>
          <c:invertIfNegative val="1"/>
          <c:dPt>
            <c:idx val="2"/>
            <c:invertIfNegative val="1"/>
            <c:bubble3D val="0"/>
            <c:spPr>
              <a:solidFill>
                <a:srgbClr val="2F7D3A"/>
              </a:solidFill>
              <a:ln>
                <a:noFill/>
              </a:ln>
            </c:spPr>
            <c:extLst>
              <c:ext xmlns:c16="http://schemas.microsoft.com/office/drawing/2014/chart" uri="{C3380CC4-5D6E-409C-BE32-E72D297353CC}">
                <c16:uniqueId val="{00000001-38FA-4BA7-AF3C-4573DB221B2D}"/>
              </c:ext>
            </c:extLst>
          </c:dPt>
          <c:dLbls>
            <c:numFmt formatCode="&quot;₹&quot;#,##0.00&quot; Cr&quot;" sourceLinked="0"/>
            <c:spPr>
              <a:noFill/>
              <a:ln>
                <a:noFill/>
              </a:ln>
              <a:effectLst/>
            </c:spPr>
            <c:txPr>
              <a:bodyPr/>
              <a:lstStyle/>
              <a:p>
                <a:pPr>
                  <a:defRPr sz="1400" b="1">
                    <a:solidFill>
                      <a:srgbClr val="1D1F20"/>
                    </a:solidFill>
                    <a:latin typeface="Barlow"/>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Current path</c:v>
              </c:pt>
              <c:pt idx="1">
                <c:v>Corpus required</c:v>
              </c:pt>
              <c:pt idx="2">
                <c:v>With the plan</c:v>
              </c:pt>
            </c:strLit>
          </c:cat>
          <c:val>
            <c:numLit>
              <c:formatCode>General</c:formatCode>
              <c:ptCount val="3"/>
              <c:pt idx="0">
                <c:v>5.5</c:v>
              </c:pt>
              <c:pt idx="1">
                <c:v>6.25</c:v>
              </c:pt>
              <c:pt idx="2">
                <c:v>6.31</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38FA-4BA7-AF3C-4573DB221B2D}"/>
            </c:ext>
          </c:extLst>
        </c:ser>
        <c:dLbls>
          <c:showLegendKey val="0"/>
          <c:showVal val="0"/>
          <c:showCatName val="0"/>
          <c:showSerName val="0"/>
          <c:showPercent val="0"/>
          <c:showBubbleSize val="0"/>
        </c:dLbls>
        <c:gapWidth val="50"/>
        <c:axId val="1"/>
        <c:axId val="2"/>
      </c:bar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1400" b="0">
                <a:solidFill>
                  <a:srgbClr val="1D1F20"/>
                </a:solidFill>
                <a:latin typeface="Barlow"/>
              </a:defRPr>
            </a:pPr>
            <a:endParaRPr lang="en-US"/>
          </a:p>
        </c:txPr>
        <c:crossAx val="2"/>
        <c:crosses val="autoZero"/>
        <c:auto val="1"/>
        <c:lblAlgn val="ctr"/>
        <c:lblOffset val="100"/>
        <c:noMultiLvlLbl val="1"/>
      </c:catAx>
      <c:valAx>
        <c:axId val="2"/>
        <c:scaling>
          <c:orientation val="minMax"/>
          <c:min val="0"/>
        </c:scaling>
        <c:delete val="1"/>
        <c:axPos val="l"/>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4735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purpose: this is a goal-linked view of where they stand and what each goal needs. Confirm the household details on the next slide before going further.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household back to the client and correct anything on the spot. Flag that retirement age 55 is the assumption everything downstream runs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whole plan here: what comes in, what goes out, and what is left to invest. Every SIP later in the deck is funded from this ₹2.20 lakh.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break. The point of the quote: allocation, not product selection, is what decides the outcome. Then move straight into the numbers.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real estate is 40% of the balance sheet, and the financial side is where every goal has to be funded from. Do not debate products yet.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 buckets matter more than the product names: fixed assets cannot be spent in instalments, liquid assets fund the near goals, retirement assets are locked by design.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is a summary, not a verdict. Point at the two components dragging it down: property concentration and the single-income dependency.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prepayment case: ₹5 lakh now plus a 5% annual EMI step-up closes the loan five years early and frees the EMI before retirement.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balance, high rate. Clear it from cash flow rather than from investments.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EF425-2F67-2A98-B3EF-DEC13859A4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9A6354-B203-196D-A85E-6F09F05B51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3CCDBE-CD55-823B-C225-A363D68BD919}"/>
              </a:ext>
            </a:extLst>
          </p:cNvPr>
          <p:cNvSpPr>
            <a:spLocks noGrp="1"/>
          </p:cNvSpPr>
          <p:nvPr>
            <p:ph type="body" idx="1"/>
          </p:nvPr>
        </p:nvSpPr>
        <p:spPr/>
        <p:txBody>
          <a:bodyPr/>
          <a:lstStyle/>
          <a:p>
            <a:r>
              <a:rPr lang="en-US" dirty="0"/>
              <a:t>Section break. The point of the quote: allocation, not product selection, is what decides the outcome. Then move straight into the numbers.</a:t>
            </a:r>
          </a:p>
        </p:txBody>
      </p:sp>
      <p:sp>
        <p:nvSpPr>
          <p:cNvPr id="4" name="Slide Number Placeholder 3">
            <a:extLst>
              <a:ext uri="{FF2B5EF4-FFF2-40B4-BE49-F238E27FC236}">
                <a16:creationId xmlns:a16="http://schemas.microsoft.com/office/drawing/2014/main" id="{203F1DB1-C8CE-138D-4AFC-9ED54758371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5227631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crowded year is 2036: retirement and the second child's undergraduate course land together. That is the constraint the rest of the plan works around.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operative slide: every asset now has a job. Anything unallocated is what the action plan moves.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the client should remember: ₹2.20 lakh a month, and what each rupee is for. Read the largest three and stop.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here needs a rupee of new saving. As each commitment ends, its instalment is already assigned to retirement. Agree the redirections now so they happen automatically.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Protection first: the term cover is adequate, the health cover is not. The endowment policy is the one product decision to revisit.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 lakh in deposits against a ₹12 lakh emergency need. The excess is the first thing the action plan moves.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9" name="Google Shape;559;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Section break. The single largest and most controllable cost in the plan.</a:t>
            </a:r>
            <a:endParaRPr/>
          </a:p>
        </p:txBody>
      </p:sp>
      <p:sp>
        <p:nvSpPr>
          <p:cNvPr id="560" name="Google Shape;560;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2E3DB-1A1F-F305-A25B-237C15825F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951C0-4582-6766-08BA-D660FCF70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3A2025-8A2B-8429-0BC5-7F31E76B81C2}"/>
              </a:ext>
            </a:extLst>
          </p:cNvPr>
          <p:cNvSpPr>
            <a:spLocks noGrp="1"/>
          </p:cNvSpPr>
          <p:nvPr>
            <p:ph type="body" idx="1"/>
          </p:nvPr>
        </p:nvSpPr>
        <p:spPr/>
        <p:txBody>
          <a:bodyPr/>
          <a:lstStyle/>
          <a:p>
            <a:r>
              <a:rPr lang="en-US" dirty="0"/>
              <a:t>Section break. The point of the quote: allocation, not product selection, is what decides the outcome. Then move straight into the numbers.</a:t>
            </a:r>
          </a:p>
        </p:txBody>
      </p:sp>
      <p:sp>
        <p:nvSpPr>
          <p:cNvPr id="4" name="Slide Number Placeholder 3">
            <a:extLst>
              <a:ext uri="{FF2B5EF4-FFF2-40B4-BE49-F238E27FC236}">
                <a16:creationId xmlns:a16="http://schemas.microsoft.com/office/drawing/2014/main" id="{8B29421C-FFA4-F9CD-6E1D-30D89DFE459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6053239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0" name="Google Shape;850;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0" name="Google Shape;940;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6" name="Google Shape;1116;p2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6" name="Google Shape;1026;p2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9" name="Google Shape;1069;p2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7" name="Google Shape;1167;p2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tax-free is the best fixed-income rate available to the household. Keep contributing to the fifteen-year limit.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6DEF6-4F8A-20FE-F8F1-B20E7E014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C3768-7ADD-05B3-2557-AF71F42921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91CEB-AC59-82DE-BC16-AD4C7EBB5797}"/>
              </a:ext>
            </a:extLst>
          </p:cNvPr>
          <p:cNvSpPr>
            <a:spLocks noGrp="1"/>
          </p:cNvSpPr>
          <p:nvPr>
            <p:ph type="body" idx="1"/>
          </p:nvPr>
        </p:nvSpPr>
        <p:spPr/>
        <p:txBody>
          <a:bodyPr/>
          <a:lstStyle/>
          <a:p>
            <a:r>
              <a:rPr lang="en-US" dirty="0"/>
              <a:t>Section break. The point of the quote: allocation, not product selection, is what decides the outcome. Then move straight into the numbers.</a:t>
            </a:r>
          </a:p>
        </p:txBody>
      </p:sp>
      <p:sp>
        <p:nvSpPr>
          <p:cNvPr id="4" name="Slide Number Placeholder 3">
            <a:extLst>
              <a:ext uri="{FF2B5EF4-FFF2-40B4-BE49-F238E27FC236}">
                <a16:creationId xmlns:a16="http://schemas.microsoft.com/office/drawing/2014/main" id="{92CFFAEE-F970-B4C0-FE9D-EE309E48DD63}"/>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6357588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6" name="Google Shape;126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5"/>
        <p:cNvGrpSpPr/>
        <p:nvPr/>
      </p:nvGrpSpPr>
      <p:grpSpPr>
        <a:xfrm>
          <a:off x="0" y="0"/>
          <a:ext cx="0" cy="0"/>
          <a:chOff x="0" y="0"/>
          <a:chExt cx="0" cy="0"/>
        </a:xfrm>
      </p:grpSpPr>
      <p:sp>
        <p:nvSpPr>
          <p:cNvPr id="1306" name="Google Shape;1306;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7" name="Google Shape;1307;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0"/>
        <p:cNvGrpSpPr/>
        <p:nvPr/>
      </p:nvGrpSpPr>
      <p:grpSpPr>
        <a:xfrm>
          <a:off x="0" y="0"/>
          <a:ext cx="0" cy="0"/>
          <a:chOff x="0" y="0"/>
          <a:chExt cx="0" cy="0"/>
        </a:xfrm>
      </p:grpSpPr>
      <p:sp>
        <p:nvSpPr>
          <p:cNvPr id="1391" name="Google Shape;1391;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2" name="Google Shape;139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5" name="Google Shape;1355;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up what is actually available at 55, and separate out what is not: NPS pays at 60, and the second property only counts if they are willing to sell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₹0.75 crore gap and then give the three levers. Any two of them close it; none of them requires a change in lifestyle today.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where the corpus comes from. Right: why the withdrawal cannot be flat — the same lifestyle costs four times as much at 80 as at 55.</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Cheapest part of the plan and the most often skipped. Four documents, one afternoon.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Agree owners and dates for the first three before the meeting ends. The rest can wait for the next review.</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56396-1659-A1F4-21C6-949DB26A84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70E5DD-1BAB-DD95-29DD-55456822EC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CA863B-0CCC-B996-7DF9-07899A7F73E0}"/>
              </a:ext>
            </a:extLst>
          </p:cNvPr>
          <p:cNvSpPr>
            <a:spLocks noGrp="1"/>
          </p:cNvSpPr>
          <p:nvPr>
            <p:ph type="body" idx="1"/>
          </p:nvPr>
        </p:nvSpPr>
        <p:spPr/>
        <p:txBody>
          <a:bodyPr/>
          <a:lstStyle/>
          <a:p>
            <a:r>
              <a:rPr lang="en-US" dirty="0"/>
              <a:t>Section break. The point of the quote: allocation, not product selection, is what decides the outcome. Then move straight into the numbers.</a:t>
            </a:r>
          </a:p>
        </p:txBody>
      </p:sp>
      <p:sp>
        <p:nvSpPr>
          <p:cNvPr id="4" name="Slide Number Placeholder 3">
            <a:extLst>
              <a:ext uri="{FF2B5EF4-FFF2-40B4-BE49-F238E27FC236}">
                <a16:creationId xmlns:a16="http://schemas.microsoft.com/office/drawing/2014/main" id="{AAD2A966-84CA-8AAC-29E1-2B18B0FF387F}"/>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281858923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assumptions column aloud. Every number in the deck moves if these move.</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next action: confirm the figures, then implement the first three steps.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27807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626656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57662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21732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067182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06553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48922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1345173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26314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134780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835494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822071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11695307"/>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1.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9.sv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1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31.jpe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33.svg"/><Relationship Id="rId4" Type="http://schemas.openxmlformats.org/officeDocument/2006/relationships/image" Target="../media/image32.sv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34.jpe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35.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7E7E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372" y="1077136"/>
            <a:ext cx="8346169" cy="2106695"/>
          </a:xfrm>
          <a:prstGeom prst="rect">
            <a:avLst/>
          </a:prstGeom>
        </p:spPr>
      </p:pic>
      <p:sp>
        <p:nvSpPr>
          <p:cNvPr id="4" name="Text 1"/>
          <p:cNvSpPr/>
          <p:nvPr/>
        </p:nvSpPr>
        <p:spPr>
          <a:xfrm>
            <a:off x="914372" y="3917157"/>
            <a:ext cx="10222112" cy="1221071"/>
          </a:xfrm>
          <a:prstGeom prst="rect">
            <a:avLst/>
          </a:prstGeom>
          <a:noFill/>
          <a:ln/>
        </p:spPr>
        <p:txBody>
          <a:bodyPr wrap="square" lIns="25400" tIns="25400" rIns="25400" bIns="25400" rtlCol="0" anchor="t">
            <a:normAutofit/>
          </a:bodyPr>
          <a:lstStyle/>
          <a:p>
            <a:pPr marL="0" indent="0" algn="l">
              <a:lnSpc>
                <a:spcPct val="74948"/>
              </a:lnSpc>
              <a:buNone/>
            </a:pPr>
            <a:r>
              <a:rPr lang="en-US" sz="9900" b="1" kern="0" spc="-259" dirty="0">
                <a:solidFill>
                  <a:srgbClr val="1D1F20"/>
                </a:solidFill>
                <a:latin typeface="Barlow Condensed" pitchFamily="34" charset="0"/>
                <a:ea typeface="Barlow Condensed" pitchFamily="34" charset="-122"/>
                <a:cs typeface="Barlow Condensed" pitchFamily="34" charset="-120"/>
              </a:rPr>
              <a:t>Goal Based Planning</a:t>
            </a:r>
            <a:endParaRPr lang="en-US" sz="9900" dirty="0"/>
          </a:p>
        </p:txBody>
      </p:sp>
      <p:sp>
        <p:nvSpPr>
          <p:cNvPr id="5" name="Shape 2"/>
          <p:cNvSpPr/>
          <p:nvPr/>
        </p:nvSpPr>
        <p:spPr>
          <a:xfrm>
            <a:off x="914372" y="5519185"/>
            <a:ext cx="7810430" cy="9525"/>
          </a:xfrm>
          <a:prstGeom prst="rect">
            <a:avLst/>
          </a:prstGeom>
          <a:solidFill>
            <a:srgbClr val="1D1F20">
              <a:alpha val="28000"/>
            </a:srgbClr>
          </a:solidFill>
          <a:ln/>
        </p:spPr>
        <p:txBody>
          <a:bodyPr/>
          <a:lstStyle/>
          <a:p>
            <a:endParaRPr lang="en-US"/>
          </a:p>
        </p:txBody>
      </p:sp>
      <p:sp>
        <p:nvSpPr>
          <p:cNvPr id="6" name="Text 3"/>
          <p:cNvSpPr/>
          <p:nvPr/>
        </p:nvSpPr>
        <p:spPr>
          <a:xfrm>
            <a:off x="914372" y="5871553"/>
            <a:ext cx="8240958" cy="1363946"/>
          </a:xfrm>
          <a:prstGeom prst="rect">
            <a:avLst/>
          </a:prstGeom>
          <a:noFill/>
          <a:ln/>
        </p:spPr>
        <p:txBody>
          <a:bodyPr wrap="square" lIns="25400" tIns="25400" rIns="25400" bIns="25400" rtlCol="0" anchor="t">
            <a:normAutofit/>
          </a:bodyPr>
          <a:lstStyle/>
          <a:p>
            <a:pPr marL="0" indent="0" algn="l">
              <a:lnSpc>
                <a:spcPct val="121800"/>
              </a:lnSpc>
              <a:buNone/>
            </a:pPr>
            <a:r>
              <a:rPr lang="en-US" sz="2400" dirty="0">
                <a:solidFill>
                  <a:srgbClr val="1D1F20">
                    <a:alpha val="90000"/>
                  </a:srgbClr>
                </a:solidFill>
                <a:latin typeface="Barlow" pitchFamily="34" charset="0"/>
                <a:ea typeface="Barlow" pitchFamily="34" charset="-122"/>
                <a:cs typeface="Barlow" pitchFamily="34" charset="-120"/>
              </a:rPr>
              <a:t>Prepared for you by Armstrong Capital — a goal-linked view of your assets, liabilities and the savings required to fund what matters.</a:t>
            </a:r>
            <a:endParaRPr lang="en-US" sz="2400" dirty="0"/>
          </a:p>
        </p:txBody>
      </p:sp>
      <p:sp>
        <p:nvSpPr>
          <p:cNvPr id="7" name="Text 4"/>
          <p:cNvSpPr/>
          <p:nvPr/>
        </p:nvSpPr>
        <p:spPr>
          <a:xfrm>
            <a:off x="914372" y="7692643"/>
            <a:ext cx="2832901"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273" dirty="0">
                <a:solidFill>
                  <a:srgbClr val="1D1F20">
                    <a:alpha val="90000"/>
                  </a:srgbClr>
                </a:solidFill>
                <a:latin typeface="Barlow" pitchFamily="34" charset="0"/>
                <a:ea typeface="Barlow" pitchFamily="34" charset="-122"/>
                <a:cs typeface="Barlow" pitchFamily="34" charset="-120"/>
              </a:rPr>
              <a:t>PREPARED FOR</a:t>
            </a:r>
            <a:endParaRPr lang="en-US" sz="2100" dirty="0"/>
          </a:p>
        </p:txBody>
      </p:sp>
      <p:sp>
        <p:nvSpPr>
          <p:cNvPr id="8" name="Text 5"/>
          <p:cNvSpPr/>
          <p:nvPr/>
        </p:nvSpPr>
        <p:spPr>
          <a:xfrm>
            <a:off x="914372" y="8152592"/>
            <a:ext cx="2832901" cy="599040"/>
          </a:xfrm>
          <a:prstGeom prst="rect">
            <a:avLst/>
          </a:prstGeom>
          <a:noFill/>
          <a:ln/>
        </p:spPr>
        <p:txBody>
          <a:bodyPr wrap="squar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{{client_display_name}}</a:t>
            </a:r>
            <a:endParaRPr lang="en-US" sz="2850" dirty="0"/>
          </a:p>
        </p:txBody>
      </p:sp>
      <p:sp>
        <p:nvSpPr>
          <p:cNvPr id="9" name="Text 6"/>
          <p:cNvSpPr/>
          <p:nvPr/>
        </p:nvSpPr>
        <p:spPr>
          <a:xfrm>
            <a:off x="4099294" y="7692643"/>
            <a:ext cx="2210643"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273" dirty="0">
                <a:solidFill>
                  <a:srgbClr val="1D1F20">
                    <a:alpha val="90000"/>
                  </a:srgbClr>
                </a:solidFill>
                <a:latin typeface="Barlow" pitchFamily="34" charset="0"/>
                <a:ea typeface="Barlow" pitchFamily="34" charset="-122"/>
                <a:cs typeface="Barlow" pitchFamily="34" charset="-120"/>
              </a:rPr>
              <a:t>REVIEW DATE</a:t>
            </a:r>
            <a:endParaRPr lang="en-US" sz="2100" dirty="0"/>
          </a:p>
        </p:txBody>
      </p:sp>
      <p:sp>
        <p:nvSpPr>
          <p:cNvPr id="10" name="Text 7"/>
          <p:cNvSpPr/>
          <p:nvPr/>
        </p:nvSpPr>
        <p:spPr>
          <a:xfrm>
            <a:off x="4099294" y="8152592"/>
            <a:ext cx="2210643" cy="599040"/>
          </a:xfrm>
          <a:prstGeom prst="rect">
            <a:avLst/>
          </a:prstGeom>
          <a:noFill/>
          <a:ln/>
        </p:spPr>
        <p:txBody>
          <a:bodyPr wrap="squar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{{review_date}}</a:t>
            </a:r>
            <a:endParaRPr lang="en-US" sz="2850" dirty="0"/>
          </a:p>
        </p:txBody>
      </p:sp>
      <p:sp>
        <p:nvSpPr>
          <p:cNvPr id="11" name="Text 8"/>
          <p:cNvSpPr/>
          <p:nvPr/>
        </p:nvSpPr>
        <p:spPr>
          <a:xfrm>
            <a:off x="914372" y="9323090"/>
            <a:ext cx="1022211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360" dirty="0">
                <a:solidFill>
                  <a:srgbClr val="1D1F20">
                    <a:alpha val="90000"/>
                  </a:srgbClr>
                </a:solidFill>
                <a:latin typeface="Barlow" pitchFamily="34" charset="0"/>
                <a:ea typeface="Barlow" pitchFamily="34" charset="-122"/>
                <a:cs typeface="Barlow" pitchFamily="34" charset="-120"/>
              </a:rPr>
              <a:t>STRONG VALUES · WWW.ARMSTRONG-CAP.COM</a:t>
            </a:r>
            <a:endParaRPr lang="en-US" sz="2100" dirty="0"/>
          </a:p>
        </p:txBody>
      </p:sp>
      <p:sp>
        <p:nvSpPr>
          <p:cNvPr id="12" name="Shape 9"/>
          <p:cNvSpPr/>
          <p:nvPr/>
        </p:nvSpPr>
        <p:spPr>
          <a:xfrm>
            <a:off x="10207200" y="0"/>
            <a:ext cx="8080730" cy="10287001"/>
          </a:xfrm>
          <a:prstGeom prst="rect">
            <a:avLst/>
          </a:prstGeom>
          <a:solidFill>
            <a:srgbClr val="DEDEDF"/>
          </a:solidFill>
          <a:ln/>
        </p:spPr>
        <p:txBody>
          <a:bodyPr/>
          <a:lstStyle/>
          <a:p>
            <a:endParaRPr lang="en-US"/>
          </a:p>
        </p:txBody>
      </p:sp>
      <p:pic>
        <p:nvPicPr>
          <p:cNvPr id="13" name="Image 1" descr="preencoded.png"/>
          <p:cNvPicPr>
            <a:picLocks noChangeAspect="1"/>
          </p:cNvPicPr>
          <p:nvPr/>
        </p:nvPicPr>
        <p:blipFill>
          <a:blip r:embed="rId4"/>
          <a:srcRect l="10724" r="10724"/>
          <a:stretch/>
        </p:blipFill>
        <p:spPr>
          <a:xfrm>
            <a:off x="10207200" y="0"/>
            <a:ext cx="8080730" cy="10287001"/>
          </a:xfrm>
          <a:prstGeom prst="rect">
            <a:avLst/>
          </a:prstGeom>
        </p:spPr>
      </p:pic>
      <p:sp>
        <p:nvSpPr>
          <p:cNvPr id="14" name="Shape 10"/>
          <p:cNvSpPr/>
          <p:nvPr/>
        </p:nvSpPr>
        <p:spPr>
          <a:xfrm>
            <a:off x="10207200" y="0"/>
            <a:ext cx="8080730" cy="10287001"/>
          </a:xfrm>
          <a:prstGeom prst="rect">
            <a:avLst/>
          </a:prstGeom>
          <a:solidFill>
            <a:srgbClr val="26306F">
              <a:alpha val="32000"/>
            </a:srgbClr>
          </a:solidFill>
          <a:ln/>
        </p:spPr>
        <p:txBody>
          <a:bodyPr/>
          <a:lstStyle/>
          <a:p>
            <a:endParaRPr lang="en-US"/>
          </a:p>
        </p:txBody>
      </p:sp>
      <p:sp>
        <p:nvSpPr>
          <p:cNvPr id="15" name="Shape 11"/>
          <p:cNvSpPr/>
          <p:nvPr/>
        </p:nvSpPr>
        <p:spPr>
          <a:xfrm>
            <a:off x="10207200" y="0"/>
            <a:ext cx="8080730" cy="10287001"/>
          </a:xfrm>
          <a:prstGeom prst="rect">
            <a:avLst/>
          </a:prstGeom>
          <a:gradFill rotWithShape="1">
            <a:gsLst>
              <a:gs pos="0">
                <a:srgbClr val="E7E7EA">
                  <a:alpha val="100000"/>
                </a:srgbClr>
              </a:gs>
              <a:gs pos="26000">
                <a:srgbClr val="E7E7EA">
                  <a:alpha val="0"/>
                </a:srgbClr>
              </a:gs>
            </a:gsLst>
            <a:lin ang="0" scaled="0"/>
          </a:gradFill>
          <a:ln/>
        </p:spPr>
        <p:txBody>
          <a:bodyPr/>
          <a:lstStyle/>
          <a:p>
            <a:endParaRPr lang="en-US"/>
          </a:p>
        </p:txBody>
      </p:sp>
    </p:spTree>
    <p:extLst>
      <p:ext uri="{BB962C8B-B14F-4D97-AF65-F5344CB8AC3E}">
        <p14:creationId xmlns:p14="http://schemas.microsoft.com/office/powerpoint/2010/main" val="2733308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3"/>
        </a:solidFill>
        <a:effectLst/>
      </p:bgPr>
    </p:bg>
    <p:spTree>
      <p:nvGrpSpPr>
        <p:cNvPr id="1" name=""/>
        <p:cNvGrpSpPr/>
        <p:nvPr/>
      </p:nvGrpSpPr>
      <p:grpSpPr>
        <a:xfrm>
          <a:off x="0" y="0"/>
          <a:ext cx="0" cy="0"/>
          <a:chOff x="0" y="0"/>
          <a:chExt cx="0" cy="0"/>
        </a:xfrm>
      </p:grpSpPr>
      <p:pic>
        <p:nvPicPr>
          <p:cNvPr id="2" name="Image 0"/>
          <p:cNvPicPr>
            <a:picLocks noChangeAspect="1"/>
          </p:cNvPicPr>
          <p:nvPr/>
        </p:nvPicPr>
        <p:blipFill>
          <a:blip r:embed="rId3">
            <a:alphaModFix amt="7000"/>
            <a:duotone>
              <a:prstClr val="black"/>
              <a:schemeClr val="accent5">
                <a:tint val="45000"/>
                <a:satMod val="400000"/>
              </a:schemeClr>
            </a:duotone>
          </a:blip>
          <a:srcRect/>
          <a:stretch/>
        </p:blipFill>
        <p:spPr>
          <a:xfrm>
            <a:off x="0" y="0"/>
            <a:ext cx="18288000" cy="10287001"/>
          </a:xfrm>
          <a:prstGeom prst="rect">
            <a:avLst/>
          </a:prstGeom>
        </p:spPr>
      </p:pic>
      <p:sp>
        <p:nvSpPr>
          <p:cNvPr id="3" name="Text 0"/>
          <p:cNvSpPr/>
          <p:nvPr/>
        </p:nvSpPr>
        <p:spPr>
          <a:xfrm>
            <a:off x="914372" y="571429"/>
            <a:ext cx="6268960"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WHOM WE ARE PLANNING FOR</a:t>
            </a:r>
            <a:endParaRPr lang="en-US" sz="2100" b="1" dirty="0">
              <a:solidFill>
                <a:srgbClr val="2A3480"/>
              </a:solidFill>
              <a:latin typeface="Barlow"/>
            </a:endParaRPr>
          </a:p>
        </p:txBody>
      </p:sp>
      <p:sp>
        <p:nvSpPr>
          <p:cNvPr id="4" name="Text 1"/>
          <p:cNvSpPr/>
          <p:nvPr/>
        </p:nvSpPr>
        <p:spPr>
          <a:xfrm>
            <a:off x="842453" y="1269482"/>
            <a:ext cx="6268960"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Client Personal Details</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90000"/>
            </a:srgbClr>
          </a:solidFill>
          <a:ln/>
        </p:spPr>
        <p:txBody>
          <a:bodyPr/>
          <a:lstStyle/>
          <a:p>
            <a:endParaRPr lang="en-US"/>
          </a:p>
        </p:txBody>
      </p:sp>
      <p:sp>
        <p:nvSpPr>
          <p:cNvPr id="7" name="Shape 3"/>
          <p:cNvSpPr/>
          <p:nvPr/>
        </p:nvSpPr>
        <p:spPr>
          <a:xfrm>
            <a:off x="914372" y="2926670"/>
            <a:ext cx="8805310" cy="9525"/>
          </a:xfrm>
          <a:prstGeom prst="rect">
            <a:avLst/>
          </a:prstGeom>
          <a:solidFill>
            <a:srgbClr val="1D1F20">
              <a:alpha val="90000"/>
            </a:srgbClr>
          </a:solidFill>
          <a:ln/>
        </p:spPr>
        <p:txBody>
          <a:bodyPr/>
          <a:lstStyle/>
          <a:p>
            <a:endParaRPr lang="en-US"/>
          </a:p>
        </p:txBody>
      </p:sp>
      <p:sp>
        <p:nvSpPr>
          <p:cNvPr id="8" name="Text 4"/>
          <p:cNvSpPr/>
          <p:nvPr/>
        </p:nvSpPr>
        <p:spPr>
          <a:xfrm>
            <a:off x="914372" y="2439010"/>
            <a:ext cx="484288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52" dirty="0">
                <a:solidFill>
                  <a:schemeClr val="accent6">
                    <a:lumMod val="50000"/>
                  </a:schemeClr>
                </a:solidFill>
                <a:latin typeface="Barlow" pitchFamily="34" charset="0"/>
                <a:ea typeface="Barlow" pitchFamily="34" charset="-122"/>
                <a:cs typeface="Barlow" pitchFamily="34" charset="-120"/>
              </a:rPr>
              <a:t>PARTICULARS</a:t>
            </a:r>
            <a:endParaRPr lang="en-US" sz="2100" b="1" dirty="0">
              <a:solidFill>
                <a:schemeClr val="accent6">
                  <a:lumMod val="50000"/>
                </a:schemeClr>
              </a:solidFill>
            </a:endParaRPr>
          </a:p>
        </p:txBody>
      </p:sp>
      <p:sp>
        <p:nvSpPr>
          <p:cNvPr id="9" name="Text 5"/>
          <p:cNvSpPr/>
          <p:nvPr/>
        </p:nvSpPr>
        <p:spPr>
          <a:xfrm>
            <a:off x="5316991" y="2439010"/>
            <a:ext cx="484296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52" dirty="0">
                <a:solidFill>
                  <a:schemeClr val="accent6">
                    <a:lumMod val="50000"/>
                  </a:schemeClr>
                </a:solidFill>
                <a:latin typeface="Barlow" pitchFamily="34" charset="0"/>
                <a:ea typeface="Barlow" pitchFamily="34" charset="-122"/>
                <a:cs typeface="Barlow" pitchFamily="34" charset="-120"/>
              </a:rPr>
              <a:t>DETAILS</a:t>
            </a:r>
            <a:endParaRPr lang="en-US" sz="2100" b="1" dirty="0">
              <a:solidFill>
                <a:schemeClr val="accent6">
                  <a:lumMod val="50000"/>
                </a:schemeClr>
              </a:solidFill>
            </a:endParaRPr>
          </a:p>
        </p:txBody>
      </p:sp>
      <p:sp>
        <p:nvSpPr>
          <p:cNvPr id="10" name="Shape 6"/>
          <p:cNvSpPr/>
          <p:nvPr/>
        </p:nvSpPr>
        <p:spPr>
          <a:xfrm>
            <a:off x="761972" y="2779031"/>
            <a:ext cx="4402620" cy="9525"/>
          </a:xfrm>
          <a:prstGeom prst="rect">
            <a:avLst/>
          </a:prstGeom>
          <a:solidFill>
            <a:srgbClr val="1D1F20">
              <a:alpha val="10000"/>
            </a:srgbClr>
          </a:solidFill>
          <a:ln/>
        </p:spPr>
        <p:txBody>
          <a:bodyPr/>
          <a:lstStyle/>
          <a:p>
            <a:endParaRPr lang="en-US"/>
          </a:p>
        </p:txBody>
      </p:sp>
      <p:sp>
        <p:nvSpPr>
          <p:cNvPr id="11" name="Text 7"/>
          <p:cNvSpPr/>
          <p:nvPr/>
        </p:nvSpPr>
        <p:spPr>
          <a:xfrm>
            <a:off x="914372" y="3126241"/>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Client’s Name</a:t>
            </a:r>
            <a:endParaRPr lang="en-US" sz="2175" dirty="0"/>
          </a:p>
        </p:txBody>
      </p:sp>
      <p:sp>
        <p:nvSpPr>
          <p:cNvPr id="13" name="Text 9"/>
          <p:cNvSpPr/>
          <p:nvPr/>
        </p:nvSpPr>
        <p:spPr>
          <a:xfrm>
            <a:off x="5316991" y="3126241"/>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{{client_name}}</a:t>
            </a:r>
            <a:endParaRPr lang="en-US" sz="2175" dirty="0"/>
          </a:p>
        </p:txBody>
      </p:sp>
      <p:sp>
        <p:nvSpPr>
          <p:cNvPr id="14" name="Shape 10"/>
          <p:cNvSpPr/>
          <p:nvPr/>
        </p:nvSpPr>
        <p:spPr>
          <a:xfrm>
            <a:off x="914372" y="4563071"/>
            <a:ext cx="4402620" cy="9525"/>
          </a:xfrm>
          <a:prstGeom prst="rect">
            <a:avLst/>
          </a:prstGeom>
          <a:solidFill>
            <a:srgbClr val="1D1F20">
              <a:alpha val="90000"/>
            </a:srgbClr>
          </a:solidFill>
          <a:ln/>
        </p:spPr>
        <p:txBody>
          <a:bodyPr/>
          <a:lstStyle/>
          <a:p>
            <a:endParaRPr lang="en-US"/>
          </a:p>
        </p:txBody>
      </p:sp>
      <p:sp>
        <p:nvSpPr>
          <p:cNvPr id="15" name="Text 11"/>
          <p:cNvSpPr/>
          <p:nvPr/>
        </p:nvSpPr>
        <p:spPr>
          <a:xfrm>
            <a:off x="914372" y="3944442"/>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Date of Birth</a:t>
            </a:r>
            <a:endParaRPr lang="en-US" sz="2175" dirty="0"/>
          </a:p>
        </p:txBody>
      </p:sp>
      <p:sp>
        <p:nvSpPr>
          <p:cNvPr id="16" name="Shape 12"/>
          <p:cNvSpPr/>
          <p:nvPr/>
        </p:nvSpPr>
        <p:spPr>
          <a:xfrm>
            <a:off x="5316991" y="4563071"/>
            <a:ext cx="4402691" cy="9525"/>
          </a:xfrm>
          <a:prstGeom prst="rect">
            <a:avLst/>
          </a:prstGeom>
          <a:solidFill>
            <a:srgbClr val="1D1F20">
              <a:alpha val="90000"/>
            </a:srgbClr>
          </a:solidFill>
          <a:ln/>
        </p:spPr>
        <p:txBody>
          <a:bodyPr/>
          <a:lstStyle/>
          <a:p>
            <a:endParaRPr lang="en-US"/>
          </a:p>
        </p:txBody>
      </p:sp>
      <p:sp>
        <p:nvSpPr>
          <p:cNvPr id="17" name="Text 13"/>
          <p:cNvSpPr/>
          <p:nvPr/>
        </p:nvSpPr>
        <p:spPr>
          <a:xfrm>
            <a:off x="5316991" y="3944442"/>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{{client_dob}}</a:t>
            </a:r>
            <a:endParaRPr lang="en-US" sz="2175" dirty="0"/>
          </a:p>
        </p:txBody>
      </p:sp>
      <p:sp>
        <p:nvSpPr>
          <p:cNvPr id="18" name="Shape 14"/>
          <p:cNvSpPr/>
          <p:nvPr/>
        </p:nvSpPr>
        <p:spPr>
          <a:xfrm>
            <a:off x="914372" y="5381271"/>
            <a:ext cx="4402620" cy="9525"/>
          </a:xfrm>
          <a:prstGeom prst="rect">
            <a:avLst/>
          </a:prstGeom>
          <a:solidFill>
            <a:srgbClr val="1D1F20">
              <a:alpha val="90000"/>
            </a:srgbClr>
          </a:solidFill>
          <a:ln/>
        </p:spPr>
        <p:txBody>
          <a:bodyPr/>
          <a:lstStyle/>
          <a:p>
            <a:endParaRPr lang="en-US"/>
          </a:p>
        </p:txBody>
      </p:sp>
      <p:sp>
        <p:nvSpPr>
          <p:cNvPr id="19" name="Text 15"/>
          <p:cNvSpPr/>
          <p:nvPr/>
        </p:nvSpPr>
        <p:spPr>
          <a:xfrm>
            <a:off x="914372" y="4762642"/>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Current Age</a:t>
            </a:r>
            <a:endParaRPr lang="en-US" sz="2175" dirty="0"/>
          </a:p>
        </p:txBody>
      </p:sp>
      <p:sp>
        <p:nvSpPr>
          <p:cNvPr id="20" name="Shape 16"/>
          <p:cNvSpPr/>
          <p:nvPr/>
        </p:nvSpPr>
        <p:spPr>
          <a:xfrm>
            <a:off x="5316991" y="5381271"/>
            <a:ext cx="4402691" cy="9525"/>
          </a:xfrm>
          <a:prstGeom prst="rect">
            <a:avLst/>
          </a:prstGeom>
          <a:solidFill>
            <a:srgbClr val="1D1F20">
              <a:alpha val="90000"/>
            </a:srgbClr>
          </a:solidFill>
          <a:ln/>
        </p:spPr>
        <p:txBody>
          <a:bodyPr/>
          <a:lstStyle/>
          <a:p>
            <a:endParaRPr lang="en-US"/>
          </a:p>
        </p:txBody>
      </p:sp>
      <p:sp>
        <p:nvSpPr>
          <p:cNvPr id="21" name="Text 17"/>
          <p:cNvSpPr/>
          <p:nvPr/>
        </p:nvSpPr>
        <p:spPr>
          <a:xfrm>
            <a:off x="5316991" y="4762642"/>
            <a:ext cx="4534771" cy="466229"/>
          </a:xfrm>
          <a:prstGeom prst="rect">
            <a:avLst/>
          </a:prstGeom>
          <a:noFill/>
          <a:ln/>
        </p:spPr>
        <p:txBody>
          <a:bodyPr wrap="non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{{client_age}} years</a:t>
            </a:r>
            <a:endParaRPr lang="en-US" sz="2175" dirty="0"/>
          </a:p>
        </p:txBody>
      </p:sp>
      <p:sp>
        <p:nvSpPr>
          <p:cNvPr id="22" name="Shape 18"/>
          <p:cNvSpPr/>
          <p:nvPr/>
        </p:nvSpPr>
        <p:spPr>
          <a:xfrm>
            <a:off x="914372" y="6199471"/>
            <a:ext cx="4402620" cy="9525"/>
          </a:xfrm>
          <a:prstGeom prst="rect">
            <a:avLst/>
          </a:prstGeom>
          <a:solidFill>
            <a:srgbClr val="1D1F20">
              <a:alpha val="90000"/>
            </a:srgbClr>
          </a:solidFill>
          <a:ln/>
        </p:spPr>
        <p:txBody>
          <a:bodyPr/>
          <a:lstStyle/>
          <a:p>
            <a:endParaRPr lang="en-US"/>
          </a:p>
        </p:txBody>
      </p:sp>
      <p:sp>
        <p:nvSpPr>
          <p:cNvPr id="23" name="Text 19"/>
          <p:cNvSpPr/>
          <p:nvPr/>
        </p:nvSpPr>
        <p:spPr>
          <a:xfrm>
            <a:off x="914372" y="5580842"/>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Desired Retirement Age</a:t>
            </a:r>
            <a:endParaRPr lang="en-US" sz="2175" dirty="0"/>
          </a:p>
        </p:txBody>
      </p:sp>
      <p:sp>
        <p:nvSpPr>
          <p:cNvPr id="24" name="Shape 20"/>
          <p:cNvSpPr/>
          <p:nvPr/>
        </p:nvSpPr>
        <p:spPr>
          <a:xfrm>
            <a:off x="5316991" y="6199471"/>
            <a:ext cx="4402691" cy="9525"/>
          </a:xfrm>
          <a:prstGeom prst="rect">
            <a:avLst/>
          </a:prstGeom>
          <a:solidFill>
            <a:srgbClr val="1D1F20">
              <a:alpha val="90000"/>
            </a:srgbClr>
          </a:solidFill>
          <a:ln/>
        </p:spPr>
        <p:txBody>
          <a:bodyPr/>
          <a:lstStyle/>
          <a:p>
            <a:endParaRPr lang="en-US"/>
          </a:p>
        </p:txBody>
      </p:sp>
      <p:sp>
        <p:nvSpPr>
          <p:cNvPr id="25" name="Text 21"/>
          <p:cNvSpPr/>
          <p:nvPr/>
        </p:nvSpPr>
        <p:spPr>
          <a:xfrm>
            <a:off x="5316991" y="5580842"/>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{{retirement_age}} years — {{retirement_year}}</a:t>
            </a:r>
            <a:endParaRPr lang="en-US" sz="2175" dirty="0"/>
          </a:p>
        </p:txBody>
      </p:sp>
      <p:sp>
        <p:nvSpPr>
          <p:cNvPr id="26" name="Shape 22"/>
          <p:cNvSpPr/>
          <p:nvPr/>
        </p:nvSpPr>
        <p:spPr>
          <a:xfrm>
            <a:off x="914372" y="7017672"/>
            <a:ext cx="4402620" cy="9525"/>
          </a:xfrm>
          <a:prstGeom prst="rect">
            <a:avLst/>
          </a:prstGeom>
          <a:solidFill>
            <a:srgbClr val="1D1F20">
              <a:alpha val="90000"/>
            </a:srgbClr>
          </a:solidFill>
          <a:ln/>
        </p:spPr>
        <p:txBody>
          <a:bodyPr/>
          <a:lstStyle/>
          <a:p>
            <a:endParaRPr lang="en-US"/>
          </a:p>
        </p:txBody>
      </p:sp>
      <p:sp>
        <p:nvSpPr>
          <p:cNvPr id="27" name="Text 23"/>
          <p:cNvSpPr/>
          <p:nvPr/>
        </p:nvSpPr>
        <p:spPr>
          <a:xfrm>
            <a:off x="914372" y="6399043"/>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Spouse’s Name</a:t>
            </a:r>
            <a:endParaRPr lang="en-US" sz="2175" dirty="0"/>
          </a:p>
        </p:txBody>
      </p:sp>
      <p:sp>
        <p:nvSpPr>
          <p:cNvPr id="28" name="Shape 24"/>
          <p:cNvSpPr/>
          <p:nvPr/>
        </p:nvSpPr>
        <p:spPr>
          <a:xfrm>
            <a:off x="5316991" y="7017672"/>
            <a:ext cx="4402691" cy="9525"/>
          </a:xfrm>
          <a:prstGeom prst="rect">
            <a:avLst/>
          </a:prstGeom>
          <a:solidFill>
            <a:srgbClr val="1D1F20">
              <a:alpha val="90000"/>
            </a:srgbClr>
          </a:solidFill>
          <a:ln/>
        </p:spPr>
        <p:txBody>
          <a:bodyPr/>
          <a:lstStyle/>
          <a:p>
            <a:endParaRPr lang="en-US"/>
          </a:p>
        </p:txBody>
      </p:sp>
      <p:sp>
        <p:nvSpPr>
          <p:cNvPr id="29" name="Text 25"/>
          <p:cNvSpPr/>
          <p:nvPr/>
        </p:nvSpPr>
        <p:spPr>
          <a:xfrm>
            <a:off x="5316991" y="6399043"/>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{{spouse_name}}</a:t>
            </a:r>
            <a:endParaRPr lang="en-US" sz="2175" dirty="0"/>
          </a:p>
        </p:txBody>
      </p:sp>
      <p:sp>
        <p:nvSpPr>
          <p:cNvPr id="30" name="Shape 26"/>
          <p:cNvSpPr/>
          <p:nvPr/>
        </p:nvSpPr>
        <p:spPr>
          <a:xfrm>
            <a:off x="914372" y="7835872"/>
            <a:ext cx="4402620" cy="9525"/>
          </a:xfrm>
          <a:prstGeom prst="rect">
            <a:avLst/>
          </a:prstGeom>
          <a:solidFill>
            <a:srgbClr val="1D1F20">
              <a:alpha val="90000"/>
            </a:srgbClr>
          </a:solidFill>
          <a:ln/>
        </p:spPr>
        <p:txBody>
          <a:bodyPr/>
          <a:lstStyle/>
          <a:p>
            <a:endParaRPr lang="en-US"/>
          </a:p>
        </p:txBody>
      </p:sp>
      <p:sp>
        <p:nvSpPr>
          <p:cNvPr id="31" name="Text 27"/>
          <p:cNvSpPr/>
          <p:nvPr/>
        </p:nvSpPr>
        <p:spPr>
          <a:xfrm>
            <a:off x="914372" y="7217243"/>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Date of Birth</a:t>
            </a:r>
            <a:endParaRPr lang="en-US" sz="2175" dirty="0"/>
          </a:p>
        </p:txBody>
      </p:sp>
      <p:sp>
        <p:nvSpPr>
          <p:cNvPr id="32" name="Shape 28"/>
          <p:cNvSpPr/>
          <p:nvPr/>
        </p:nvSpPr>
        <p:spPr>
          <a:xfrm>
            <a:off x="5316991" y="7835872"/>
            <a:ext cx="4402691" cy="9525"/>
          </a:xfrm>
          <a:prstGeom prst="rect">
            <a:avLst/>
          </a:prstGeom>
          <a:solidFill>
            <a:srgbClr val="1D1F20">
              <a:alpha val="90000"/>
            </a:srgbClr>
          </a:solidFill>
          <a:ln/>
        </p:spPr>
        <p:txBody>
          <a:bodyPr/>
          <a:lstStyle/>
          <a:p>
            <a:endParaRPr lang="en-US"/>
          </a:p>
        </p:txBody>
      </p:sp>
      <p:sp>
        <p:nvSpPr>
          <p:cNvPr id="33" name="Text 29"/>
          <p:cNvSpPr/>
          <p:nvPr/>
        </p:nvSpPr>
        <p:spPr>
          <a:xfrm>
            <a:off x="5316991" y="7217243"/>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{{spouse_dob}}</a:t>
            </a:r>
            <a:endParaRPr lang="en-US" sz="2175" dirty="0"/>
          </a:p>
        </p:txBody>
      </p:sp>
      <p:sp>
        <p:nvSpPr>
          <p:cNvPr id="34" name="Text 30"/>
          <p:cNvSpPr/>
          <p:nvPr/>
        </p:nvSpPr>
        <p:spPr>
          <a:xfrm>
            <a:off x="914372" y="8035444"/>
            <a:ext cx="4534698"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Children’s Name &amp; Age</a:t>
            </a:r>
            <a:endParaRPr lang="en-US" sz="2175" dirty="0"/>
          </a:p>
        </p:txBody>
      </p:sp>
      <p:sp>
        <p:nvSpPr>
          <p:cNvPr id="35" name="Text 31"/>
          <p:cNvSpPr/>
          <p:nvPr/>
        </p:nvSpPr>
        <p:spPr>
          <a:xfrm>
            <a:off x="5316991" y="8035444"/>
            <a:ext cx="4534771"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{{children_names_ages}}</a:t>
            </a:r>
            <a:endParaRPr lang="en-US" sz="2175" dirty="0"/>
          </a:p>
        </p:txBody>
      </p:sp>
      <p:sp>
        <p:nvSpPr>
          <p:cNvPr id="36" name="Shape 32"/>
          <p:cNvSpPr/>
          <p:nvPr/>
        </p:nvSpPr>
        <p:spPr>
          <a:xfrm>
            <a:off x="10329239" y="2439010"/>
            <a:ext cx="3369752" cy="1711524"/>
          </a:xfrm>
          <a:prstGeom prst="rect">
            <a:avLst/>
          </a:prstGeom>
          <a:ln w="9071">
            <a:solidFill>
              <a:srgbClr val="1F1F1F">
                <a:alpha val="90000"/>
              </a:srgbClr>
            </a:solidFill>
            <a:prstDash val="solid"/>
          </a:ln>
        </p:spPr>
        <p:txBody>
          <a:bodyPr/>
          <a:lstStyle/>
          <a:p>
            <a:endParaRPr lang="en-US"/>
          </a:p>
        </p:txBody>
      </p:sp>
      <p:sp>
        <p:nvSpPr>
          <p:cNvPr id="37" name="Text 33"/>
          <p:cNvSpPr/>
          <p:nvPr/>
        </p:nvSpPr>
        <p:spPr>
          <a:xfrm>
            <a:off x="10547804" y="2600453"/>
            <a:ext cx="3225885"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chemeClr val="accent6">
                    <a:lumMod val="50000"/>
                  </a:schemeClr>
                </a:solidFill>
                <a:latin typeface="Barlow" pitchFamily="34" charset="0"/>
                <a:ea typeface="Barlow" pitchFamily="34" charset="-122"/>
                <a:cs typeface="Barlow" pitchFamily="34" charset="-120"/>
              </a:rPr>
              <a:t>INVESTMENT HORIZON</a:t>
            </a:r>
            <a:endParaRPr lang="en-US" sz="2100" b="1" dirty="0">
              <a:solidFill>
                <a:schemeClr val="accent6">
                  <a:lumMod val="50000"/>
                </a:schemeClr>
              </a:solidFill>
            </a:endParaRPr>
          </a:p>
        </p:txBody>
      </p:sp>
      <p:sp>
        <p:nvSpPr>
          <p:cNvPr id="38" name="Text 34"/>
          <p:cNvSpPr/>
          <p:nvPr/>
        </p:nvSpPr>
        <p:spPr>
          <a:xfrm>
            <a:off x="10547804" y="3069049"/>
            <a:ext cx="3225885" cy="498121"/>
          </a:xfrm>
          <a:prstGeom prst="rect">
            <a:avLst/>
          </a:prstGeom>
          <a:noFill/>
          <a:ln/>
        </p:spPr>
        <p:txBody>
          <a:bodyPr wrap="square" lIns="25400" tIns="25400" rIns="25400" bIns="25400" rtlCol="0" anchor="t">
            <a:normAutofit lnSpcReduction="10000"/>
          </a:bodyPr>
          <a:lstStyle/>
          <a:p>
            <a:pPr marL="0" indent="0" algn="l">
              <a:lnSpc>
                <a:spcPct val="87440"/>
              </a:lnSpc>
              <a:buNone/>
            </a:pPr>
            <a:r>
              <a:rPr lang="en-US" sz="3450" dirty="0">
                <a:solidFill>
                  <a:srgbClr val="1D1F20"/>
                </a:solidFill>
                <a:latin typeface="Barlow Condensed" pitchFamily="34" charset="0"/>
                <a:ea typeface="Barlow Condensed" pitchFamily="34" charset="-122"/>
                <a:cs typeface="Barlow Condensed" pitchFamily="34" charset="-120"/>
              </a:rPr>
              <a:t>{{years_to_retirement}} yrs to retirement</a:t>
            </a:r>
            <a:endParaRPr lang="en-US" sz="3450" dirty="0"/>
          </a:p>
        </p:txBody>
      </p:sp>
      <p:sp>
        <p:nvSpPr>
          <p:cNvPr id="39" name="Shape 35"/>
          <p:cNvSpPr/>
          <p:nvPr/>
        </p:nvSpPr>
        <p:spPr>
          <a:xfrm>
            <a:off x="14003735" y="2439010"/>
            <a:ext cx="3369823" cy="1711524"/>
          </a:xfrm>
          <a:prstGeom prst="rect">
            <a:avLst/>
          </a:prstGeom>
          <a:ln w="9071">
            <a:solidFill>
              <a:srgbClr val="1F1F1F">
                <a:alpha val="90000"/>
              </a:srgbClr>
            </a:solidFill>
            <a:prstDash val="solid"/>
          </a:ln>
        </p:spPr>
        <p:txBody>
          <a:bodyPr/>
          <a:lstStyle/>
          <a:p>
            <a:endParaRPr lang="en-US"/>
          </a:p>
        </p:txBody>
      </p:sp>
      <p:sp>
        <p:nvSpPr>
          <p:cNvPr id="40" name="Text 36"/>
          <p:cNvSpPr/>
          <p:nvPr/>
        </p:nvSpPr>
        <p:spPr>
          <a:xfrm>
            <a:off x="14222300" y="2600453"/>
            <a:ext cx="3225963"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chemeClr val="accent6">
                    <a:lumMod val="50000"/>
                  </a:schemeClr>
                </a:solidFill>
                <a:latin typeface="Barlow" pitchFamily="34" charset="0"/>
                <a:ea typeface="Barlow" pitchFamily="34" charset="-122"/>
                <a:cs typeface="Barlow" pitchFamily="34" charset="-120"/>
              </a:rPr>
              <a:t>RISK APPETITE</a:t>
            </a:r>
            <a:endParaRPr lang="en-US" sz="2100" b="1" dirty="0">
              <a:solidFill>
                <a:schemeClr val="accent6">
                  <a:lumMod val="50000"/>
                </a:schemeClr>
              </a:solidFill>
            </a:endParaRPr>
          </a:p>
        </p:txBody>
      </p:sp>
      <p:sp>
        <p:nvSpPr>
          <p:cNvPr id="41" name="Text 37"/>
          <p:cNvSpPr/>
          <p:nvPr/>
        </p:nvSpPr>
        <p:spPr>
          <a:xfrm>
            <a:off x="14222300" y="3069049"/>
            <a:ext cx="3020675" cy="958141"/>
          </a:xfrm>
          <a:prstGeom prst="rect">
            <a:avLst/>
          </a:prstGeom>
          <a:noFill/>
          <a:ln/>
        </p:spPr>
        <p:txBody>
          <a:bodyPr wrap="square" lIns="25400" tIns="25400" rIns="25400" bIns="25400" rtlCol="0" anchor="t">
            <a:normAutofit lnSpcReduction="10000"/>
          </a:bodyPr>
          <a:lstStyle/>
          <a:p>
            <a:pPr marL="0" indent="0" algn="l">
              <a:lnSpc>
                <a:spcPct val="87440"/>
              </a:lnSpc>
              <a:buNone/>
            </a:pPr>
            <a:r>
              <a:rPr lang="en-US" sz="3450" dirty="0">
                <a:solidFill>
                  <a:srgbClr val="1D1F20"/>
                </a:solidFill>
                <a:latin typeface="Barlow Condensed" pitchFamily="34" charset="0"/>
                <a:ea typeface="Barlow Condensed" pitchFamily="34" charset="-122"/>
                <a:cs typeface="Barlow Condensed" pitchFamily="34" charset="-120"/>
              </a:rPr>
              <a:t>{{risk_appetite}}</a:t>
            </a:r>
            <a:endParaRPr lang="en-US" sz="3450" dirty="0"/>
          </a:p>
        </p:txBody>
      </p:sp>
      <p:sp>
        <p:nvSpPr>
          <p:cNvPr id="42" name="Shape 38"/>
          <p:cNvSpPr/>
          <p:nvPr/>
        </p:nvSpPr>
        <p:spPr>
          <a:xfrm>
            <a:off x="10329239" y="4531533"/>
            <a:ext cx="7044319" cy="4753429"/>
          </a:xfrm>
          <a:prstGeom prst="rect">
            <a:avLst/>
          </a:prstGeom>
          <a:ln w="9071">
            <a:solidFill>
              <a:srgbClr val="1F1F1F">
                <a:alpha val="16000"/>
              </a:srgbClr>
            </a:solidFill>
            <a:prstDash val="solid"/>
          </a:ln>
        </p:spPr>
        <p:txBody>
          <a:bodyPr/>
          <a:lstStyle/>
          <a:p>
            <a:endParaRPr lang="en-US"/>
          </a:p>
        </p:txBody>
      </p:sp>
      <p:sp>
        <p:nvSpPr>
          <p:cNvPr id="43" name="Text 39"/>
          <p:cNvSpPr/>
          <p:nvPr/>
        </p:nvSpPr>
        <p:spPr>
          <a:xfrm>
            <a:off x="10700247" y="4883476"/>
            <a:ext cx="6932535"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b="1" kern="0" spc="351" dirty="0">
                <a:solidFill>
                  <a:srgbClr val="2A3480"/>
                </a:solidFill>
                <a:latin typeface="Barlow" pitchFamily="34" charset="0"/>
                <a:ea typeface="Barlow" pitchFamily="34" charset="-122"/>
                <a:cs typeface="Barlow" pitchFamily="34" charset="-120"/>
              </a:rPr>
              <a:t>FINANCIAL GOALS</a:t>
            </a:r>
            <a:endParaRPr lang="en-US" sz="2100" b="1" dirty="0"/>
          </a:p>
        </p:txBody>
      </p:sp>
      <p:sp>
        <p:nvSpPr>
          <p:cNvPr id="44" name="Shape 40"/>
          <p:cNvSpPr/>
          <p:nvPr/>
        </p:nvSpPr>
        <p:spPr>
          <a:xfrm>
            <a:off x="10700247" y="6484300"/>
            <a:ext cx="6302304" cy="9525"/>
          </a:xfrm>
          <a:prstGeom prst="rect">
            <a:avLst/>
          </a:prstGeom>
          <a:solidFill>
            <a:srgbClr val="1D1F20">
              <a:alpha val="12000"/>
            </a:srgbClr>
          </a:solidFill>
          <a:ln/>
        </p:spPr>
        <p:txBody>
          <a:bodyPr/>
          <a:lstStyle/>
          <a:p>
            <a:endParaRPr lang="en-US"/>
          </a:p>
        </p:txBody>
      </p:sp>
      <p:sp>
        <p:nvSpPr>
          <p:cNvPr id="45" name="Text 41"/>
          <p:cNvSpPr/>
          <p:nvPr/>
        </p:nvSpPr>
        <p:spPr>
          <a:xfrm>
            <a:off x="10700247" y="5743419"/>
            <a:ext cx="3657600"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{{summary_goal_1_name}}</a:t>
            </a:r>
            <a:endParaRPr lang="en-US" sz="2700" dirty="0"/>
          </a:p>
        </p:txBody>
      </p:sp>
      <p:sp>
        <p:nvSpPr>
          <p:cNvPr id="46" name="Text 42"/>
          <p:cNvSpPr/>
          <p:nvPr/>
        </p:nvSpPr>
        <p:spPr>
          <a:xfrm>
            <a:off x="14703551" y="5856812"/>
            <a:ext cx="2368296" cy="421864"/>
          </a:xfrm>
          <a:prstGeom prst="rect">
            <a:avLst/>
          </a:prstGeom>
          <a:noFill/>
          <a:ln/>
        </p:spPr>
        <p:txBody>
          <a:bodyPr wrap="square" lIns="25400" tIns="25400" rIns="25400" bIns="25400" rtlCol="0" anchor="t">
            <a:noAutofit/>
          </a:bodyPr>
          <a:lstStyle/>
          <a:p>
            <a:pPr marL="0" indent="0" algn="r">
              <a:lnSpc>
                <a:spcPct val="128227"/>
              </a:lnSpc>
              <a:buNone/>
            </a:pPr>
            <a:r>
              <a:rPr lang="en-US" sz="2400" dirty="0">
                <a:latin typeface="Barlow" pitchFamily="34" charset="0"/>
                <a:ea typeface="Barlow" pitchFamily="34" charset="-122"/>
                <a:cs typeface="Barlow" pitchFamily="34" charset="-120"/>
              </a:rPr>
              <a:t>{{summary_goal_1_years}}</a:t>
            </a:r>
            <a:endParaRPr lang="en-US" sz="2400" dirty="0"/>
          </a:p>
        </p:txBody>
      </p:sp>
      <p:sp>
        <p:nvSpPr>
          <p:cNvPr id="47" name="Shape 43"/>
          <p:cNvSpPr/>
          <p:nvPr/>
        </p:nvSpPr>
        <p:spPr>
          <a:xfrm>
            <a:off x="10700247" y="7443746"/>
            <a:ext cx="6302304" cy="9525"/>
          </a:xfrm>
          <a:prstGeom prst="rect">
            <a:avLst/>
          </a:prstGeom>
          <a:solidFill>
            <a:srgbClr val="1D1F20">
              <a:alpha val="12000"/>
            </a:srgbClr>
          </a:solidFill>
          <a:ln/>
        </p:spPr>
        <p:txBody>
          <a:bodyPr/>
          <a:lstStyle/>
          <a:p>
            <a:endParaRPr lang="en-US"/>
          </a:p>
        </p:txBody>
      </p:sp>
      <p:sp>
        <p:nvSpPr>
          <p:cNvPr id="48" name="Text 44"/>
          <p:cNvSpPr/>
          <p:nvPr/>
        </p:nvSpPr>
        <p:spPr>
          <a:xfrm>
            <a:off x="10700247" y="6702865"/>
            <a:ext cx="3657600"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{{summary_goal_2_name}}</a:t>
            </a:r>
            <a:endParaRPr lang="en-US" sz="2700" dirty="0"/>
          </a:p>
        </p:txBody>
      </p:sp>
      <p:sp>
        <p:nvSpPr>
          <p:cNvPr id="49" name="Text 45"/>
          <p:cNvSpPr/>
          <p:nvPr/>
        </p:nvSpPr>
        <p:spPr>
          <a:xfrm>
            <a:off x="14707456" y="6816258"/>
            <a:ext cx="2371295" cy="421864"/>
          </a:xfrm>
          <a:prstGeom prst="rect">
            <a:avLst/>
          </a:prstGeom>
          <a:noFill/>
          <a:ln/>
        </p:spPr>
        <p:txBody>
          <a:bodyPr wrap="none" lIns="25400" tIns="25400" rIns="25400" bIns="25400" rtlCol="0" anchor="t">
            <a:noAutofit/>
          </a:bodyPr>
          <a:lstStyle/>
          <a:p>
            <a:pPr marL="0" indent="0" algn="r">
              <a:lnSpc>
                <a:spcPct val="128227"/>
              </a:lnSpc>
              <a:buNone/>
            </a:pPr>
            <a:r>
              <a:rPr lang="en-US" sz="2400" dirty="0">
                <a:latin typeface="Barlow" pitchFamily="34" charset="0"/>
                <a:ea typeface="Barlow" pitchFamily="34" charset="-122"/>
                <a:cs typeface="Barlow" pitchFamily="34" charset="-120"/>
              </a:rPr>
              <a:t>{{summary_goal_2_years}}</a:t>
            </a:r>
            <a:endParaRPr lang="en-US" sz="2400" dirty="0"/>
          </a:p>
        </p:txBody>
      </p:sp>
      <p:sp>
        <p:nvSpPr>
          <p:cNvPr id="50" name="Text 46"/>
          <p:cNvSpPr/>
          <p:nvPr/>
        </p:nvSpPr>
        <p:spPr>
          <a:xfrm>
            <a:off x="10700247" y="7662310"/>
            <a:ext cx="3657600" cy="569487"/>
          </a:xfrm>
          <a:prstGeom prst="rect">
            <a:avLst/>
          </a:prstGeom>
          <a:noFill/>
          <a:ln/>
        </p:spPr>
        <p:txBody>
          <a:bodyPr wrap="squar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{{summary_goal_3_name}}</a:t>
            </a:r>
            <a:endParaRPr lang="en-US" sz="2700" dirty="0"/>
          </a:p>
        </p:txBody>
      </p:sp>
      <p:sp>
        <p:nvSpPr>
          <p:cNvPr id="51" name="Text 47"/>
          <p:cNvSpPr/>
          <p:nvPr/>
        </p:nvSpPr>
        <p:spPr>
          <a:xfrm>
            <a:off x="14707457" y="7775703"/>
            <a:ext cx="2371296" cy="421864"/>
          </a:xfrm>
          <a:prstGeom prst="rect">
            <a:avLst/>
          </a:prstGeom>
          <a:noFill/>
          <a:ln/>
        </p:spPr>
        <p:txBody>
          <a:bodyPr wrap="none" lIns="25400" tIns="25400" rIns="25400" bIns="25400" rtlCol="0" anchor="t">
            <a:noAutofit/>
          </a:bodyPr>
          <a:lstStyle/>
          <a:p>
            <a:pPr marL="0" indent="0" algn="r">
              <a:lnSpc>
                <a:spcPct val="128227"/>
              </a:lnSpc>
              <a:buNone/>
            </a:pPr>
            <a:r>
              <a:rPr lang="en-US" sz="2400" dirty="0">
                <a:latin typeface="Barlow" pitchFamily="34" charset="0"/>
                <a:ea typeface="Barlow" pitchFamily="34" charset="-122"/>
                <a:cs typeface="Barlow" pitchFamily="34" charset="-120"/>
              </a:rPr>
              <a:t>{{summary_goal_3_years}}</a:t>
            </a:r>
            <a:endParaRPr lang="en-US" sz="2400" dirty="0"/>
          </a:p>
        </p:txBody>
      </p:sp>
      <p:sp>
        <p:nvSpPr>
          <p:cNvPr id="52" name="Text 48"/>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53" name="Text 49"/>
          <p:cNvSpPr/>
          <p:nvPr/>
        </p:nvSpPr>
        <p:spPr>
          <a:xfrm>
            <a:off x="16698730" y="9475462"/>
            <a:ext cx="751029"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
        <p:nvSpPr>
          <p:cNvPr id="55" name="Shape 10">
            <a:extLst>
              <a:ext uri="{FF2B5EF4-FFF2-40B4-BE49-F238E27FC236}">
                <a16:creationId xmlns:a16="http://schemas.microsoft.com/office/drawing/2014/main" id="{A2C57EDA-44F6-CCBB-8746-5ABD3E5B4CF0}"/>
              </a:ext>
            </a:extLst>
          </p:cNvPr>
          <p:cNvSpPr/>
          <p:nvPr/>
        </p:nvSpPr>
        <p:spPr>
          <a:xfrm>
            <a:off x="914372" y="3749632"/>
            <a:ext cx="4402620" cy="9525"/>
          </a:xfrm>
          <a:prstGeom prst="rect">
            <a:avLst/>
          </a:prstGeom>
          <a:solidFill>
            <a:srgbClr val="1D1F20">
              <a:alpha val="90000"/>
            </a:srgbClr>
          </a:solidFill>
          <a:ln/>
        </p:spPr>
        <p:txBody>
          <a:bodyPr/>
          <a:lstStyle/>
          <a:p>
            <a:endParaRPr lang="en-US"/>
          </a:p>
        </p:txBody>
      </p:sp>
      <p:sp>
        <p:nvSpPr>
          <p:cNvPr id="57" name="Shape 12">
            <a:extLst>
              <a:ext uri="{FF2B5EF4-FFF2-40B4-BE49-F238E27FC236}">
                <a16:creationId xmlns:a16="http://schemas.microsoft.com/office/drawing/2014/main" id="{19AD6770-23AD-B4E7-5BCC-E7A85E4D3BA5}"/>
              </a:ext>
            </a:extLst>
          </p:cNvPr>
          <p:cNvSpPr/>
          <p:nvPr/>
        </p:nvSpPr>
        <p:spPr>
          <a:xfrm>
            <a:off x="5316991" y="3749632"/>
            <a:ext cx="4402691" cy="9525"/>
          </a:xfrm>
          <a:prstGeom prst="rect">
            <a:avLst/>
          </a:prstGeom>
          <a:solidFill>
            <a:srgbClr val="1D1F20">
              <a:alpha val="90000"/>
            </a:srgbClr>
          </a:solidFill>
          <a:ln/>
        </p:spPr>
        <p:txBody>
          <a:bodyPr/>
          <a:lstStyle/>
          <a:p>
            <a:endParaRPr lang="en-US"/>
          </a:p>
        </p:txBody>
      </p:sp>
    </p:spTree>
    <p:extLst>
      <p:ext uri="{BB962C8B-B14F-4D97-AF65-F5344CB8AC3E}">
        <p14:creationId xmlns:p14="http://schemas.microsoft.com/office/powerpoint/2010/main" val="4132493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3"/>
        </a:solidFill>
        <a:effectLst/>
      </p:bgPr>
    </p:bg>
    <p:spTree>
      <p:nvGrpSpPr>
        <p:cNvPr id="1" name=""/>
        <p:cNvGrpSpPr/>
        <p:nvPr/>
      </p:nvGrpSpPr>
      <p:grpSpPr>
        <a:xfrm>
          <a:off x="0" y="0"/>
          <a:ext cx="0" cy="0"/>
          <a:chOff x="0" y="0"/>
          <a:chExt cx="0" cy="0"/>
        </a:xfrm>
      </p:grpSpPr>
      <p:pic>
        <p:nvPicPr>
          <p:cNvPr id="2" name="Image 0" descr="Money and passport"/>
          <p:cNvPicPr>
            <a:picLocks noChangeAspect="1"/>
          </p:cNvPicPr>
          <p:nvPr/>
        </p:nvPicPr>
        <p:blipFill>
          <a:blip r:embed="rId3">
            <a:alphaModFix amt="7000"/>
          </a:blip>
          <a:srcRect l="2621" r="2621"/>
          <a:stretch/>
        </p:blipFill>
        <p:spPr>
          <a:xfrm>
            <a:off x="0" y="-26501"/>
            <a:ext cx="18287930" cy="10287001"/>
          </a:xfrm>
          <a:prstGeom prst="rect">
            <a:avLst/>
          </a:prstGeom>
        </p:spPr>
      </p:pic>
      <p:sp>
        <p:nvSpPr>
          <p:cNvPr id="3" name="Text 0"/>
          <p:cNvSpPr/>
          <p:nvPr/>
        </p:nvSpPr>
        <p:spPr>
          <a:xfrm>
            <a:off x="914372" y="571429"/>
            <a:ext cx="7294024"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CASH FLOW</a:t>
            </a:r>
            <a:endParaRPr lang="en-US" sz="2100" b="1" dirty="0">
              <a:solidFill>
                <a:srgbClr val="2A3480"/>
              </a:solidFill>
              <a:latin typeface="Barlow"/>
            </a:endParaRPr>
          </a:p>
        </p:txBody>
      </p:sp>
      <p:sp>
        <p:nvSpPr>
          <p:cNvPr id="4" name="Text 1"/>
          <p:cNvSpPr/>
          <p:nvPr/>
        </p:nvSpPr>
        <p:spPr>
          <a:xfrm>
            <a:off x="914372" y="1178526"/>
            <a:ext cx="7294024" cy="769555"/>
          </a:xfrm>
          <a:prstGeom prst="rect">
            <a:avLst/>
          </a:prstGeom>
          <a:noFill/>
          <a:ln/>
        </p:spPr>
        <p:txBody>
          <a:bodyPr wrap="square" lIns="25400" tIns="25400" rIns="25400" bIns="25400" rtlCol="0" anchor="ctr">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Monthly Income &amp; Surplus</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b="1"/>
          </a:p>
        </p:txBody>
      </p:sp>
      <p:sp>
        <p:nvSpPr>
          <p:cNvPr id="7" name="Shape 3"/>
          <p:cNvSpPr/>
          <p:nvPr/>
        </p:nvSpPr>
        <p:spPr>
          <a:xfrm>
            <a:off x="914372" y="2419945"/>
            <a:ext cx="3943378" cy="1789198"/>
          </a:xfrm>
          <a:prstGeom prst="rect">
            <a:avLst/>
          </a:prstGeom>
          <a:ln w="9071">
            <a:solidFill>
              <a:srgbClr val="1F1F1F">
                <a:alpha val="16000"/>
              </a:srgbClr>
            </a:solidFill>
            <a:prstDash val="solid"/>
          </a:ln>
        </p:spPr>
        <p:txBody>
          <a:bodyPr/>
          <a:lstStyle/>
          <a:p>
            <a:endParaRPr lang="en-US" b="1"/>
          </a:p>
        </p:txBody>
      </p:sp>
      <p:sp>
        <p:nvSpPr>
          <p:cNvPr id="8" name="Text 4"/>
          <p:cNvSpPr/>
          <p:nvPr/>
        </p:nvSpPr>
        <p:spPr>
          <a:xfrm>
            <a:off x="1171065" y="2638510"/>
            <a:ext cx="377299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rgbClr val="1D1F20">
                    <a:alpha val="90000"/>
                  </a:srgbClr>
                </a:solidFill>
                <a:latin typeface="Barlow" pitchFamily="34" charset="0"/>
                <a:ea typeface="Barlow" pitchFamily="34" charset="-122"/>
                <a:cs typeface="Barlow" pitchFamily="34" charset="-120"/>
              </a:rPr>
              <a:t>GROSS INCOME</a:t>
            </a:r>
            <a:endParaRPr lang="en-US" sz="2100" b="1" dirty="0"/>
          </a:p>
        </p:txBody>
      </p:sp>
      <p:sp>
        <p:nvSpPr>
          <p:cNvPr id="9" name="Text 5"/>
          <p:cNvSpPr/>
          <p:nvPr/>
        </p:nvSpPr>
        <p:spPr>
          <a:xfrm>
            <a:off x="1171065" y="3110415"/>
            <a:ext cx="3772992" cy="514350"/>
          </a:xfrm>
          <a:prstGeom prst="rect">
            <a:avLst/>
          </a:prstGeom>
          <a:noFill/>
          <a:ln/>
        </p:spPr>
        <p:txBody>
          <a:bodyPr wrap="none" lIns="25400" tIns="25400" rIns="25400" bIns="25400" rtlCol="0" anchor="t">
            <a:normAutofit lnSpcReduction="10000"/>
          </a:bodyPr>
          <a:lstStyle/>
          <a:p>
            <a:pPr marL="0" indent="0" algn="l">
              <a:lnSpc>
                <a:spcPct val="83333"/>
              </a:lnSpc>
              <a:buNone/>
            </a:pPr>
            <a:r>
              <a:rPr lang="en-US" sz="3750" b="1" dirty="0">
                <a:solidFill>
                  <a:schemeClr val="accent6">
                    <a:lumMod val="50000"/>
                  </a:schemeClr>
                </a:solidFill>
                <a:latin typeface="Barlow Condensed" pitchFamily="34" charset="0"/>
                <a:ea typeface="Barlow Condensed" pitchFamily="34" charset="-122"/>
                <a:cs typeface="Barlow Condensed" pitchFamily="34" charset="-120"/>
              </a:rPr>
              <a:t>{{gross_monthly_income}}</a:t>
            </a:r>
            <a:endParaRPr lang="en-US" sz="3750" b="1" dirty="0">
              <a:solidFill>
                <a:schemeClr val="accent6">
                  <a:lumMod val="50000"/>
                </a:schemeClr>
              </a:solidFill>
            </a:endParaRPr>
          </a:p>
        </p:txBody>
      </p:sp>
      <p:sp>
        <p:nvSpPr>
          <p:cNvPr id="10" name="Text 6"/>
          <p:cNvSpPr/>
          <p:nvPr/>
        </p:nvSpPr>
        <p:spPr>
          <a:xfrm>
            <a:off x="1171065" y="3621484"/>
            <a:ext cx="3772992"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b="1" dirty="0">
                <a:solidFill>
                  <a:srgbClr val="1D1F20">
                    <a:alpha val="90000"/>
                  </a:srgbClr>
                </a:solidFill>
                <a:latin typeface="Barlow" pitchFamily="34" charset="0"/>
                <a:ea typeface="Barlow" pitchFamily="34" charset="-122"/>
                <a:cs typeface="Barlow" pitchFamily="34" charset="-120"/>
              </a:rPr>
              <a:t>a month, household</a:t>
            </a:r>
            <a:endParaRPr lang="en-US" sz="2100" b="1" dirty="0"/>
          </a:p>
        </p:txBody>
      </p:sp>
      <p:sp>
        <p:nvSpPr>
          <p:cNvPr id="11" name="Shape 7"/>
          <p:cNvSpPr/>
          <p:nvPr/>
        </p:nvSpPr>
        <p:spPr>
          <a:xfrm>
            <a:off x="5086308" y="2419945"/>
            <a:ext cx="3943378" cy="1789198"/>
          </a:xfrm>
          <a:prstGeom prst="rect">
            <a:avLst/>
          </a:prstGeom>
          <a:ln w="9071">
            <a:solidFill>
              <a:srgbClr val="1F1F1F">
                <a:alpha val="16000"/>
              </a:srgbClr>
            </a:solidFill>
            <a:prstDash val="solid"/>
          </a:ln>
        </p:spPr>
        <p:txBody>
          <a:bodyPr/>
          <a:lstStyle/>
          <a:p>
            <a:endParaRPr lang="en-US" b="1"/>
          </a:p>
        </p:txBody>
      </p:sp>
      <p:sp>
        <p:nvSpPr>
          <p:cNvPr id="12" name="Text 8"/>
          <p:cNvSpPr/>
          <p:nvPr/>
        </p:nvSpPr>
        <p:spPr>
          <a:xfrm>
            <a:off x="5343001" y="2638510"/>
            <a:ext cx="377299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rgbClr val="1D1F20">
                    <a:alpha val="90000"/>
                  </a:srgbClr>
                </a:solidFill>
                <a:latin typeface="Barlow" pitchFamily="34" charset="0"/>
                <a:ea typeface="Barlow" pitchFamily="34" charset="-122"/>
                <a:cs typeface="Barlow" pitchFamily="34" charset="-120"/>
              </a:rPr>
              <a:t>HOUSEHOLD EXPENSES</a:t>
            </a:r>
            <a:endParaRPr lang="en-US" sz="2100" b="1" dirty="0"/>
          </a:p>
        </p:txBody>
      </p:sp>
      <p:sp>
        <p:nvSpPr>
          <p:cNvPr id="13" name="Text 9"/>
          <p:cNvSpPr/>
          <p:nvPr/>
        </p:nvSpPr>
        <p:spPr>
          <a:xfrm>
            <a:off x="5343001" y="3110415"/>
            <a:ext cx="3772992" cy="514350"/>
          </a:xfrm>
          <a:prstGeom prst="rect">
            <a:avLst/>
          </a:prstGeom>
          <a:noFill/>
          <a:ln/>
        </p:spPr>
        <p:txBody>
          <a:bodyPr wrap="none" lIns="25400" tIns="25400" rIns="25400" bIns="25400" rtlCol="0" anchor="t">
            <a:normAutofit lnSpcReduction="10000"/>
          </a:bodyPr>
          <a:lstStyle/>
          <a:p>
            <a:pPr marL="0" indent="0" algn="l">
              <a:lnSpc>
                <a:spcPct val="83333"/>
              </a:lnSpc>
              <a:buNone/>
            </a:pPr>
            <a:r>
              <a:rPr lang="en-US" sz="3750" b="1" dirty="0">
                <a:solidFill>
                  <a:schemeClr val="accent6">
                    <a:lumMod val="50000"/>
                  </a:schemeClr>
                </a:solidFill>
                <a:latin typeface="Barlow Condensed" pitchFamily="34" charset="0"/>
                <a:ea typeface="Barlow Condensed" pitchFamily="34" charset="-122"/>
                <a:cs typeface="Barlow Condensed" pitchFamily="34" charset="-120"/>
              </a:rPr>
              <a:t>{{monthly_expenses}}</a:t>
            </a:r>
            <a:endParaRPr lang="en-US" sz="3750" b="1" dirty="0">
              <a:solidFill>
                <a:schemeClr val="accent6">
                  <a:lumMod val="50000"/>
                </a:schemeClr>
              </a:solidFill>
            </a:endParaRPr>
          </a:p>
        </p:txBody>
      </p:sp>
      <p:sp>
        <p:nvSpPr>
          <p:cNvPr id="14" name="Text 10"/>
          <p:cNvSpPr/>
          <p:nvPr/>
        </p:nvSpPr>
        <p:spPr>
          <a:xfrm>
            <a:off x="5343001" y="3621484"/>
            <a:ext cx="3772992"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b="1" dirty="0">
                <a:solidFill>
                  <a:srgbClr val="1D1F20">
                    <a:alpha val="90000"/>
                  </a:srgbClr>
                </a:solidFill>
                <a:latin typeface="Barlow" pitchFamily="34" charset="0"/>
                <a:ea typeface="Barlow" pitchFamily="34" charset="-122"/>
                <a:cs typeface="Barlow" pitchFamily="34" charset="-120"/>
              </a:rPr>
              <a:t>{{expenses_pct}} of income</a:t>
            </a:r>
            <a:endParaRPr lang="en-US" sz="2100" b="1" dirty="0"/>
          </a:p>
        </p:txBody>
      </p:sp>
      <p:sp>
        <p:nvSpPr>
          <p:cNvPr id="15" name="Shape 11"/>
          <p:cNvSpPr/>
          <p:nvPr/>
        </p:nvSpPr>
        <p:spPr>
          <a:xfrm>
            <a:off x="9258244" y="2419945"/>
            <a:ext cx="3943378" cy="1789198"/>
          </a:xfrm>
          <a:prstGeom prst="rect">
            <a:avLst/>
          </a:prstGeom>
          <a:ln w="9071">
            <a:solidFill>
              <a:srgbClr val="1F1F1F">
                <a:alpha val="16000"/>
              </a:srgbClr>
            </a:solidFill>
            <a:prstDash val="solid"/>
          </a:ln>
        </p:spPr>
        <p:txBody>
          <a:bodyPr/>
          <a:lstStyle/>
          <a:p>
            <a:endParaRPr lang="en-US" b="1"/>
          </a:p>
        </p:txBody>
      </p:sp>
      <p:sp>
        <p:nvSpPr>
          <p:cNvPr id="16" name="Text 12"/>
          <p:cNvSpPr/>
          <p:nvPr/>
        </p:nvSpPr>
        <p:spPr>
          <a:xfrm>
            <a:off x="9514937" y="2638510"/>
            <a:ext cx="377299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rgbClr val="1D1F20">
                    <a:alpha val="90000"/>
                  </a:srgbClr>
                </a:solidFill>
                <a:latin typeface="Barlow" pitchFamily="34" charset="0"/>
                <a:ea typeface="Barlow" pitchFamily="34" charset="-122"/>
                <a:cs typeface="Barlow" pitchFamily="34" charset="-120"/>
              </a:rPr>
              <a:t>LOAN EMIS</a:t>
            </a:r>
            <a:endParaRPr lang="en-US" sz="2100" b="1" dirty="0"/>
          </a:p>
        </p:txBody>
      </p:sp>
      <p:sp>
        <p:nvSpPr>
          <p:cNvPr id="17" name="Text 13"/>
          <p:cNvSpPr/>
          <p:nvPr/>
        </p:nvSpPr>
        <p:spPr>
          <a:xfrm>
            <a:off x="9514937" y="3110415"/>
            <a:ext cx="3772992" cy="514350"/>
          </a:xfrm>
          <a:prstGeom prst="rect">
            <a:avLst/>
          </a:prstGeom>
          <a:noFill/>
          <a:ln/>
        </p:spPr>
        <p:txBody>
          <a:bodyPr wrap="none" lIns="25400" tIns="25400" rIns="25400" bIns="25400" rtlCol="0" anchor="t">
            <a:normAutofit lnSpcReduction="10000"/>
          </a:bodyPr>
          <a:lstStyle/>
          <a:p>
            <a:pPr marL="0" indent="0" algn="l">
              <a:lnSpc>
                <a:spcPct val="83333"/>
              </a:lnSpc>
              <a:buNone/>
            </a:pPr>
            <a:r>
              <a:rPr lang="en-US" sz="3750" b="1" dirty="0">
                <a:solidFill>
                  <a:schemeClr val="accent6">
                    <a:lumMod val="50000"/>
                  </a:schemeClr>
                </a:solidFill>
                <a:latin typeface="Barlow Condensed" pitchFamily="34" charset="0"/>
                <a:ea typeface="Barlow Condensed" pitchFamily="34" charset="-122"/>
                <a:cs typeface="Barlow Condensed" pitchFamily="34" charset="-120"/>
              </a:rPr>
              <a:t>{{monthly_emis}}</a:t>
            </a:r>
            <a:endParaRPr lang="en-US" sz="3750" b="1" dirty="0">
              <a:solidFill>
                <a:schemeClr val="accent6">
                  <a:lumMod val="50000"/>
                </a:schemeClr>
              </a:solidFill>
            </a:endParaRPr>
          </a:p>
        </p:txBody>
      </p:sp>
      <p:sp>
        <p:nvSpPr>
          <p:cNvPr id="18" name="Text 14"/>
          <p:cNvSpPr/>
          <p:nvPr/>
        </p:nvSpPr>
        <p:spPr>
          <a:xfrm>
            <a:off x="9514937" y="3621484"/>
            <a:ext cx="3772992"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b="1" dirty="0">
                <a:solidFill>
                  <a:srgbClr val="1D1F20">
                    <a:alpha val="90000"/>
                  </a:srgbClr>
                </a:solidFill>
                <a:latin typeface="Barlow" pitchFamily="34" charset="0"/>
                <a:ea typeface="Barlow" pitchFamily="34" charset="-122"/>
                <a:cs typeface="Barlow" pitchFamily="34" charset="-120"/>
              </a:rPr>
              <a:t>{{emi_note}}</a:t>
            </a:r>
            <a:endParaRPr lang="en-US" sz="2100" b="1" dirty="0"/>
          </a:p>
        </p:txBody>
      </p:sp>
      <p:sp>
        <p:nvSpPr>
          <p:cNvPr id="19" name="Shape 15"/>
          <p:cNvSpPr/>
          <p:nvPr/>
        </p:nvSpPr>
        <p:spPr>
          <a:xfrm>
            <a:off x="13430180" y="2419945"/>
            <a:ext cx="3943378" cy="1789198"/>
          </a:xfrm>
          <a:prstGeom prst="rect">
            <a:avLst/>
          </a:prstGeom>
          <a:ln w="9071">
            <a:solidFill>
              <a:srgbClr val="1F1F1F">
                <a:alpha val="16000"/>
              </a:srgbClr>
            </a:solidFill>
            <a:prstDash val="solid"/>
          </a:ln>
        </p:spPr>
        <p:txBody>
          <a:bodyPr/>
          <a:lstStyle/>
          <a:p>
            <a:endParaRPr lang="en-US" b="1"/>
          </a:p>
        </p:txBody>
      </p:sp>
      <p:sp>
        <p:nvSpPr>
          <p:cNvPr id="20" name="Text 16"/>
          <p:cNvSpPr/>
          <p:nvPr/>
        </p:nvSpPr>
        <p:spPr>
          <a:xfrm>
            <a:off x="13686873" y="2638510"/>
            <a:ext cx="377299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b="1" kern="0" spc="216" dirty="0">
                <a:solidFill>
                  <a:srgbClr val="1D1F20">
                    <a:alpha val="90000"/>
                  </a:srgbClr>
                </a:solidFill>
                <a:latin typeface="Barlow" pitchFamily="34" charset="0"/>
                <a:ea typeface="Barlow" pitchFamily="34" charset="-122"/>
                <a:cs typeface="Barlow" pitchFamily="34" charset="-120"/>
              </a:rPr>
              <a:t>COMMITTED SAVINGS</a:t>
            </a:r>
            <a:endParaRPr lang="en-US" sz="2100" b="1" dirty="0"/>
          </a:p>
        </p:txBody>
      </p:sp>
      <p:sp>
        <p:nvSpPr>
          <p:cNvPr id="21" name="Text 17"/>
          <p:cNvSpPr/>
          <p:nvPr/>
        </p:nvSpPr>
        <p:spPr>
          <a:xfrm>
            <a:off x="13686873" y="3110415"/>
            <a:ext cx="3772992" cy="514350"/>
          </a:xfrm>
          <a:prstGeom prst="rect">
            <a:avLst/>
          </a:prstGeom>
          <a:noFill/>
          <a:ln/>
        </p:spPr>
        <p:txBody>
          <a:bodyPr wrap="none" lIns="25400" tIns="25400" rIns="25400" bIns="25400" rtlCol="0" anchor="t">
            <a:normAutofit lnSpcReduction="10000"/>
          </a:bodyPr>
          <a:lstStyle/>
          <a:p>
            <a:pPr marL="0" indent="0" algn="l">
              <a:lnSpc>
                <a:spcPct val="83333"/>
              </a:lnSpc>
              <a:buNone/>
            </a:pPr>
            <a:r>
              <a:rPr lang="en-US" sz="3750" b="1" dirty="0">
                <a:solidFill>
                  <a:schemeClr val="accent6">
                    <a:lumMod val="50000"/>
                  </a:schemeClr>
                </a:solidFill>
                <a:latin typeface="Barlow Condensed" pitchFamily="34" charset="0"/>
                <a:ea typeface="Barlow Condensed" pitchFamily="34" charset="-122"/>
                <a:cs typeface="Barlow Condensed" pitchFamily="34" charset="-120"/>
              </a:rPr>
              <a:t>{{monthly_savings}}</a:t>
            </a:r>
            <a:endParaRPr lang="en-US" sz="3750" b="1" dirty="0">
              <a:solidFill>
                <a:schemeClr val="accent6">
                  <a:lumMod val="50000"/>
                </a:schemeClr>
              </a:solidFill>
            </a:endParaRPr>
          </a:p>
        </p:txBody>
      </p:sp>
      <p:sp>
        <p:nvSpPr>
          <p:cNvPr id="22" name="Text 18"/>
          <p:cNvSpPr/>
          <p:nvPr/>
        </p:nvSpPr>
        <p:spPr>
          <a:xfrm>
            <a:off x="13686873" y="3621484"/>
            <a:ext cx="3772992"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b="1" dirty="0">
                <a:solidFill>
                  <a:srgbClr val="1D1F20">
                    <a:alpha val="90000"/>
                  </a:srgbClr>
                </a:solidFill>
                <a:latin typeface="Barlow" pitchFamily="34" charset="0"/>
                <a:ea typeface="Barlow" pitchFamily="34" charset="-122"/>
                <a:cs typeface="Barlow" pitchFamily="34" charset="-120"/>
              </a:rPr>
              <a:t>{{savings_pct}} of income</a:t>
            </a:r>
            <a:endParaRPr lang="en-US" sz="2100" b="1" dirty="0"/>
          </a:p>
        </p:txBody>
      </p:sp>
      <p:sp>
        <p:nvSpPr>
          <p:cNvPr id="23" name="Shape 19"/>
          <p:cNvSpPr/>
          <p:nvPr/>
        </p:nvSpPr>
        <p:spPr>
          <a:xfrm>
            <a:off x="914372" y="4552015"/>
            <a:ext cx="5465323" cy="838186"/>
          </a:xfrm>
          <a:prstGeom prst="rect">
            <a:avLst/>
          </a:prstGeom>
          <a:solidFill>
            <a:srgbClr val="5980A6"/>
          </a:solidFill>
          <a:ln/>
        </p:spPr>
        <p:txBody>
          <a:bodyPr/>
          <a:lstStyle/>
          <a:p>
            <a:endParaRPr lang="en-US"/>
          </a:p>
        </p:txBody>
      </p:sp>
      <p:sp>
        <p:nvSpPr>
          <p:cNvPr id="24" name="Text 20"/>
          <p:cNvSpPr/>
          <p:nvPr/>
        </p:nvSpPr>
        <p:spPr>
          <a:xfrm>
            <a:off x="1181072" y="4552015"/>
            <a:ext cx="5362583" cy="876286"/>
          </a:xfrm>
          <a:prstGeom prst="rect">
            <a:avLst/>
          </a:prstGeom>
          <a:noFill/>
          <a:ln/>
        </p:spPr>
        <p:txBody>
          <a:bodyPr wrap="none" lIns="25400" tIns="25400" rIns="25400" bIns="25400" rtlCol="0" anchor="ctr">
            <a:normAutofit/>
          </a:bodyPr>
          <a:lstStyle/>
          <a:p>
            <a:pPr marL="0" indent="0" algn="l">
              <a:lnSpc>
                <a:spcPct val="128911"/>
              </a:lnSpc>
              <a:buNone/>
            </a:pPr>
            <a:r>
              <a:rPr lang="en-US" sz="3000" dirty="0">
                <a:solidFill>
                  <a:srgbClr val="F2F2F3"/>
                </a:solidFill>
                <a:latin typeface="Barlow Condensed" pitchFamily="34" charset="0"/>
                <a:ea typeface="Barlow Condensed" pitchFamily="34" charset="-122"/>
                <a:cs typeface="Barlow Condensed" pitchFamily="34" charset="-120"/>
              </a:rPr>
              <a:t>{{expenses_pct}}</a:t>
            </a:r>
            <a:endParaRPr lang="en-US" sz="3000" dirty="0"/>
          </a:p>
        </p:txBody>
      </p:sp>
      <p:sp>
        <p:nvSpPr>
          <p:cNvPr id="25" name="Shape 21"/>
          <p:cNvSpPr/>
          <p:nvPr/>
        </p:nvSpPr>
        <p:spPr>
          <a:xfrm>
            <a:off x="6408256" y="4552015"/>
            <a:ext cx="2258077" cy="838186"/>
          </a:xfrm>
          <a:prstGeom prst="rect">
            <a:avLst/>
          </a:prstGeom>
          <a:solidFill>
            <a:srgbClr val="B7B7BA"/>
          </a:solidFill>
          <a:ln/>
        </p:spPr>
        <p:txBody>
          <a:bodyPr/>
          <a:lstStyle/>
          <a:p>
            <a:endParaRPr lang="en-US"/>
          </a:p>
        </p:txBody>
      </p:sp>
      <p:sp>
        <p:nvSpPr>
          <p:cNvPr id="26" name="Text 22"/>
          <p:cNvSpPr/>
          <p:nvPr/>
        </p:nvSpPr>
        <p:spPr>
          <a:xfrm>
            <a:off x="6636856" y="4552015"/>
            <a:ext cx="2105677" cy="876286"/>
          </a:xfrm>
          <a:prstGeom prst="rect">
            <a:avLst/>
          </a:prstGeom>
          <a:noFill/>
          <a:ln/>
        </p:spPr>
        <p:txBody>
          <a:bodyPr wrap="none" lIns="25400" tIns="25400" rIns="25400" bIns="25400" rtlCol="0" anchor="ctr">
            <a:normAutofit/>
          </a:bodyPr>
          <a:lstStyle/>
          <a:p>
            <a:pPr marL="0" indent="0" algn="l">
              <a:lnSpc>
                <a:spcPct val="128911"/>
              </a:lnSpc>
              <a:buNone/>
            </a:pPr>
            <a:r>
              <a:rPr lang="en-US" sz="3000" dirty="0">
                <a:solidFill>
                  <a:srgbClr val="1D1F20"/>
                </a:solidFill>
                <a:latin typeface="Barlow Condensed" pitchFamily="34" charset="0"/>
                <a:ea typeface="Barlow Condensed" pitchFamily="34" charset="-122"/>
                <a:cs typeface="Barlow Condensed" pitchFamily="34" charset="-120"/>
              </a:rPr>
              <a:t>{{emis_pct}}</a:t>
            </a:r>
            <a:endParaRPr lang="en-US" sz="3000" dirty="0"/>
          </a:p>
        </p:txBody>
      </p:sp>
      <p:sp>
        <p:nvSpPr>
          <p:cNvPr id="27" name="Shape 23"/>
          <p:cNvSpPr/>
          <p:nvPr/>
        </p:nvSpPr>
        <p:spPr>
          <a:xfrm>
            <a:off x="8694894" y="4552015"/>
            <a:ext cx="7900719" cy="838186"/>
          </a:xfrm>
          <a:prstGeom prst="rect">
            <a:avLst/>
          </a:prstGeom>
          <a:solidFill>
            <a:srgbClr val="26306F"/>
          </a:solidFill>
          <a:ln/>
        </p:spPr>
        <p:txBody>
          <a:bodyPr/>
          <a:lstStyle/>
          <a:p>
            <a:endParaRPr lang="en-US"/>
          </a:p>
        </p:txBody>
      </p:sp>
      <p:sp>
        <p:nvSpPr>
          <p:cNvPr id="28" name="Text 24"/>
          <p:cNvSpPr/>
          <p:nvPr/>
        </p:nvSpPr>
        <p:spPr>
          <a:xfrm>
            <a:off x="8961594" y="4552015"/>
            <a:ext cx="7871040" cy="876286"/>
          </a:xfrm>
          <a:prstGeom prst="rect">
            <a:avLst/>
          </a:prstGeom>
          <a:noFill/>
          <a:ln/>
        </p:spPr>
        <p:txBody>
          <a:bodyPr wrap="none" lIns="25400" tIns="25400" rIns="25400" bIns="25400" rtlCol="0" anchor="ctr">
            <a:normAutofit/>
          </a:bodyPr>
          <a:lstStyle/>
          <a:p>
            <a:pPr marL="0" indent="0" algn="l">
              <a:lnSpc>
                <a:spcPct val="128911"/>
              </a:lnSpc>
              <a:buNone/>
            </a:pPr>
            <a:r>
              <a:rPr lang="en-US" sz="3000" dirty="0">
                <a:solidFill>
                  <a:srgbClr val="F2F2F3"/>
                </a:solidFill>
                <a:latin typeface="Barlow Condensed" pitchFamily="34" charset="0"/>
                <a:ea typeface="Barlow Condensed" pitchFamily="34" charset="-122"/>
                <a:cs typeface="Barlow Condensed" pitchFamily="34" charset="-120"/>
              </a:rPr>
              <a:t>{{savings_pct}}</a:t>
            </a:r>
            <a:endParaRPr lang="en-US" sz="3000" dirty="0"/>
          </a:p>
        </p:txBody>
      </p:sp>
      <p:sp>
        <p:nvSpPr>
          <p:cNvPr id="29" name="Shape 25"/>
          <p:cNvSpPr/>
          <p:nvPr/>
        </p:nvSpPr>
        <p:spPr>
          <a:xfrm>
            <a:off x="16624174" y="4552015"/>
            <a:ext cx="749385" cy="838186"/>
          </a:xfrm>
          <a:prstGeom prst="rect">
            <a:avLst/>
          </a:prstGeom>
          <a:solidFill>
            <a:srgbClr val="2F7D3A"/>
          </a:solidFill>
          <a:ln/>
        </p:spPr>
        <p:txBody>
          <a:bodyPr/>
          <a:lstStyle/>
          <a:p>
            <a:endParaRPr lang="en-US"/>
          </a:p>
        </p:txBody>
      </p:sp>
      <p:sp>
        <p:nvSpPr>
          <p:cNvPr id="30" name="Shape 26"/>
          <p:cNvSpPr/>
          <p:nvPr/>
        </p:nvSpPr>
        <p:spPr>
          <a:xfrm>
            <a:off x="914372" y="5686865"/>
            <a:ext cx="171436" cy="171436"/>
          </a:xfrm>
          <a:prstGeom prst="rect">
            <a:avLst/>
          </a:prstGeom>
          <a:solidFill>
            <a:srgbClr val="5980A6"/>
          </a:solidFill>
          <a:ln/>
        </p:spPr>
        <p:txBody>
          <a:bodyPr/>
          <a:lstStyle/>
          <a:p>
            <a:endParaRPr lang="en-US" b="1"/>
          </a:p>
        </p:txBody>
      </p:sp>
      <p:sp>
        <p:nvSpPr>
          <p:cNvPr id="31" name="Text 27"/>
          <p:cNvSpPr/>
          <p:nvPr/>
        </p:nvSpPr>
        <p:spPr>
          <a:xfrm>
            <a:off x="1200051" y="5621522"/>
            <a:ext cx="1112682" cy="337457"/>
          </a:xfrm>
          <a:prstGeom prst="rect">
            <a:avLst/>
          </a:prstGeom>
          <a:noFill/>
          <a:ln/>
        </p:spPr>
        <p:txBody>
          <a:bodyPr wrap="square" lIns="0" tIns="0" rIns="0" bIns="0" rtlCol="0" anchor="t">
            <a:normAutofit fontScale="92500" lnSpcReduction="10000"/>
          </a:bodyPr>
          <a:lstStyle/>
          <a:p>
            <a:pPr marL="0" indent="0" algn="l">
              <a:lnSpc>
                <a:spcPct val="128227"/>
              </a:lnSpc>
              <a:buNone/>
            </a:pPr>
            <a:r>
              <a:rPr lang="en-US" sz="2100" b="1" dirty="0">
                <a:solidFill>
                  <a:srgbClr val="1D1F20"/>
                </a:solidFill>
                <a:latin typeface="Barlow" pitchFamily="34" charset="0"/>
                <a:ea typeface="Barlow" pitchFamily="34" charset="-122"/>
                <a:cs typeface="Barlow" pitchFamily="34" charset="-120"/>
              </a:rPr>
              <a:t>Expenses</a:t>
            </a:r>
            <a:endParaRPr lang="en-US" sz="2100" b="1" dirty="0"/>
          </a:p>
        </p:txBody>
      </p:sp>
      <p:sp>
        <p:nvSpPr>
          <p:cNvPr id="32" name="Shape 28"/>
          <p:cNvSpPr/>
          <p:nvPr/>
        </p:nvSpPr>
        <p:spPr>
          <a:xfrm>
            <a:off x="2655590" y="5686865"/>
            <a:ext cx="171436" cy="171436"/>
          </a:xfrm>
          <a:prstGeom prst="rect">
            <a:avLst/>
          </a:prstGeom>
          <a:solidFill>
            <a:srgbClr val="B7B7BA"/>
          </a:solidFill>
          <a:ln/>
        </p:spPr>
        <p:txBody>
          <a:bodyPr/>
          <a:lstStyle/>
          <a:p>
            <a:endParaRPr lang="en-US" b="1"/>
          </a:p>
        </p:txBody>
      </p:sp>
      <p:sp>
        <p:nvSpPr>
          <p:cNvPr id="33" name="Text 29"/>
          <p:cNvSpPr/>
          <p:nvPr/>
        </p:nvSpPr>
        <p:spPr>
          <a:xfrm>
            <a:off x="2941269" y="5621522"/>
            <a:ext cx="1171575" cy="337457"/>
          </a:xfrm>
          <a:prstGeom prst="rect">
            <a:avLst/>
          </a:prstGeom>
          <a:noFill/>
          <a:ln/>
        </p:spPr>
        <p:txBody>
          <a:bodyPr wrap="square" lIns="0" tIns="0" rIns="0" bIns="0" rtlCol="0" anchor="t">
            <a:normAutofit fontScale="92500" lnSpcReduction="10000"/>
          </a:bodyPr>
          <a:lstStyle/>
          <a:p>
            <a:pPr marL="0" indent="0" algn="l">
              <a:lnSpc>
                <a:spcPct val="128227"/>
              </a:lnSpc>
              <a:buNone/>
            </a:pPr>
            <a:r>
              <a:rPr lang="en-US" sz="2100" b="1" dirty="0">
                <a:solidFill>
                  <a:srgbClr val="1D1F20"/>
                </a:solidFill>
                <a:latin typeface="Barlow" pitchFamily="34" charset="0"/>
                <a:ea typeface="Barlow" pitchFamily="34" charset="-122"/>
                <a:cs typeface="Barlow" pitchFamily="34" charset="-120"/>
              </a:rPr>
              <a:t>Loan EMIs</a:t>
            </a:r>
            <a:endParaRPr lang="en-US" sz="2100" b="1" dirty="0"/>
          </a:p>
        </p:txBody>
      </p:sp>
      <p:sp>
        <p:nvSpPr>
          <p:cNvPr id="34" name="Shape 30"/>
          <p:cNvSpPr/>
          <p:nvPr/>
        </p:nvSpPr>
        <p:spPr>
          <a:xfrm>
            <a:off x="4455702" y="5686865"/>
            <a:ext cx="171436" cy="171436"/>
          </a:xfrm>
          <a:prstGeom prst="rect">
            <a:avLst/>
          </a:prstGeom>
          <a:solidFill>
            <a:srgbClr val="26306F"/>
          </a:solidFill>
          <a:ln/>
        </p:spPr>
        <p:txBody>
          <a:bodyPr/>
          <a:lstStyle/>
          <a:p>
            <a:endParaRPr lang="en-US"/>
          </a:p>
        </p:txBody>
      </p:sp>
      <p:sp>
        <p:nvSpPr>
          <p:cNvPr id="35" name="Text 31"/>
          <p:cNvSpPr/>
          <p:nvPr/>
        </p:nvSpPr>
        <p:spPr>
          <a:xfrm>
            <a:off x="4741381" y="5621522"/>
            <a:ext cx="2729929" cy="337457"/>
          </a:xfrm>
          <a:prstGeom prst="rect">
            <a:avLst/>
          </a:prstGeom>
          <a:noFill/>
          <a:ln/>
        </p:spPr>
        <p:txBody>
          <a:bodyPr wrap="square" lIns="0" tIns="0" rIns="0" bIns="0" rtlCol="0" anchor="t">
            <a:normAutofit fontScale="92500" lnSpcReduction="10000"/>
          </a:bodyPr>
          <a:lstStyle/>
          <a:p>
            <a:pPr marL="0" indent="0" algn="l">
              <a:lnSpc>
                <a:spcPct val="128227"/>
              </a:lnSpc>
              <a:buNone/>
            </a:pPr>
            <a:r>
              <a:rPr lang="en-US" sz="2100" b="1" dirty="0">
                <a:solidFill>
                  <a:srgbClr val="1D1F20"/>
                </a:solidFill>
                <a:latin typeface="Barlow" pitchFamily="34" charset="0"/>
                <a:ea typeface="Barlow" pitchFamily="34" charset="-122"/>
                <a:cs typeface="Barlow" pitchFamily="34" charset="-120"/>
              </a:rPr>
              <a:t>Savings and investments</a:t>
            </a:r>
            <a:endParaRPr lang="en-US" sz="2100" b="1" dirty="0"/>
          </a:p>
        </p:txBody>
      </p:sp>
      <p:sp>
        <p:nvSpPr>
          <p:cNvPr id="36" name="Shape 32"/>
          <p:cNvSpPr/>
          <p:nvPr/>
        </p:nvSpPr>
        <p:spPr>
          <a:xfrm>
            <a:off x="7810855" y="5686865"/>
            <a:ext cx="171436" cy="171436"/>
          </a:xfrm>
          <a:prstGeom prst="rect">
            <a:avLst/>
          </a:prstGeom>
          <a:solidFill>
            <a:srgbClr val="2F7D3A"/>
          </a:solidFill>
          <a:ln/>
        </p:spPr>
        <p:txBody>
          <a:bodyPr/>
          <a:lstStyle/>
          <a:p>
            <a:endParaRPr lang="en-US"/>
          </a:p>
        </p:txBody>
      </p:sp>
      <p:sp>
        <p:nvSpPr>
          <p:cNvPr id="37" name="Text 33"/>
          <p:cNvSpPr/>
          <p:nvPr/>
        </p:nvSpPr>
        <p:spPr>
          <a:xfrm>
            <a:off x="8096534" y="5621522"/>
            <a:ext cx="3069436" cy="337457"/>
          </a:xfrm>
          <a:prstGeom prst="rect">
            <a:avLst/>
          </a:prstGeom>
          <a:noFill/>
          <a:ln/>
        </p:spPr>
        <p:txBody>
          <a:bodyPr wrap="square" lIns="0" tIns="0" rIns="0" bIns="0" rtlCol="0" anchor="t">
            <a:normAutofit fontScale="92500" lnSpcReduction="10000"/>
          </a:bodyPr>
          <a:lstStyle/>
          <a:p>
            <a:pPr marL="0" indent="0" algn="l">
              <a:lnSpc>
                <a:spcPct val="128227"/>
              </a:lnSpc>
              <a:buNone/>
            </a:pPr>
            <a:r>
              <a:rPr lang="en-US" sz="2100" b="1" dirty="0">
                <a:solidFill>
                  <a:srgbClr val="1D1F20"/>
                </a:solidFill>
                <a:latin typeface="Barlow" pitchFamily="34" charset="0"/>
                <a:ea typeface="Barlow" pitchFamily="34" charset="-122"/>
                <a:cs typeface="Barlow" pitchFamily="34" charset="-120"/>
              </a:rPr>
              <a:t>Unallocated surplus {{monthly_surplus}}</a:t>
            </a:r>
            <a:endParaRPr lang="en-US" sz="2100" b="1" dirty="0"/>
          </a:p>
        </p:txBody>
      </p:sp>
      <p:sp>
        <p:nvSpPr>
          <p:cNvPr id="38" name="Shape 34"/>
          <p:cNvSpPr/>
          <p:nvPr/>
        </p:nvSpPr>
        <p:spPr>
          <a:xfrm>
            <a:off x="914372" y="7169264"/>
            <a:ext cx="16459187" cy="9525"/>
          </a:xfrm>
          <a:prstGeom prst="rect">
            <a:avLst/>
          </a:prstGeom>
          <a:solidFill>
            <a:srgbClr val="1D1F20">
              <a:alpha val="18000"/>
            </a:srgbClr>
          </a:solidFill>
          <a:ln/>
        </p:spPr>
        <p:txBody>
          <a:bodyPr/>
          <a:lstStyle/>
          <a:p>
            <a:endParaRPr lang="en-US"/>
          </a:p>
        </p:txBody>
      </p:sp>
      <p:sp>
        <p:nvSpPr>
          <p:cNvPr id="39" name="Text 35"/>
          <p:cNvSpPr/>
          <p:nvPr/>
        </p:nvSpPr>
        <p:spPr>
          <a:xfrm>
            <a:off x="914372" y="7406934"/>
            <a:ext cx="1981129" cy="73039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ADVISOR COMMENT</a:t>
            </a:r>
            <a:endParaRPr lang="en-US" sz="2100" dirty="0"/>
          </a:p>
        </p:txBody>
      </p:sp>
      <p:sp>
        <p:nvSpPr>
          <p:cNvPr id="40" name="Text 36"/>
          <p:cNvSpPr/>
          <p:nvPr/>
        </p:nvSpPr>
        <p:spPr>
          <a:xfrm>
            <a:off x="3276487" y="7368835"/>
            <a:ext cx="13347687"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{{cashflow_comment}}</a:t>
            </a:r>
            <a:endParaRPr lang="en-US" sz="2100" dirty="0"/>
          </a:p>
        </p:txBody>
      </p:sp>
      <p:sp>
        <p:nvSpPr>
          <p:cNvPr id="41" name="Text 37"/>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2" name="Text 38"/>
          <p:cNvSpPr/>
          <p:nvPr/>
        </p:nvSpPr>
        <p:spPr>
          <a:xfrm>
            <a:off x="16703478" y="9475462"/>
            <a:ext cx="746281"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3488554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A45"/>
        </a:solidFill>
        <a:effectLst/>
      </p:bgPr>
    </p:bg>
    <p:spTree>
      <p:nvGrpSpPr>
        <p:cNvPr id="1" name=""/>
        <p:cNvGrpSpPr/>
        <p:nvPr/>
      </p:nvGrpSpPr>
      <p:grpSpPr>
        <a:xfrm>
          <a:off x="0" y="0"/>
          <a:ext cx="0" cy="0"/>
          <a:chOff x="0" y="0"/>
          <a:chExt cx="0" cy="0"/>
        </a:xfrm>
      </p:grpSpPr>
      <p:sp>
        <p:nvSpPr>
          <p:cNvPr id="2" name="Text 0"/>
          <p:cNvSpPr/>
          <p:nvPr/>
        </p:nvSpPr>
        <p:spPr>
          <a:xfrm>
            <a:off x="914372" y="762000"/>
            <a:ext cx="9088530"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429" dirty="0">
                <a:solidFill>
                  <a:srgbClr val="8B96D2"/>
                </a:solidFill>
                <a:latin typeface="Barlow"/>
                <a:ea typeface="Barlow" pitchFamily="34" charset="-122"/>
                <a:cs typeface="Barlow" pitchFamily="34" charset="-120"/>
              </a:rPr>
              <a:t>WHERE YOU STAND TODAY</a:t>
            </a:r>
            <a:endParaRPr lang="en-US" sz="2100" b="1" dirty="0">
              <a:latin typeface="Barlow"/>
            </a:endParaRPr>
          </a:p>
        </p:txBody>
      </p:sp>
      <p:sp>
        <p:nvSpPr>
          <p:cNvPr id="3" name="Text 1"/>
          <p:cNvSpPr/>
          <p:nvPr/>
        </p:nvSpPr>
        <p:spPr>
          <a:xfrm>
            <a:off x="914372" y="1374321"/>
            <a:ext cx="9575543" cy="1756994"/>
          </a:xfrm>
          <a:prstGeom prst="rect">
            <a:avLst/>
          </a:prstGeom>
          <a:noFill/>
          <a:ln/>
        </p:spPr>
        <p:txBody>
          <a:bodyPr wrap="square" lIns="25400" tIns="25400" rIns="25400" bIns="25400" rtlCol="0" anchor="t">
            <a:normAutofit/>
          </a:bodyPr>
          <a:lstStyle/>
          <a:p>
            <a:pPr marL="0" indent="0" algn="l">
              <a:lnSpc>
                <a:spcPct val="78307"/>
              </a:lnSpc>
              <a:buNone/>
            </a:pPr>
            <a:r>
              <a:rPr lang="en-US" sz="6000" b="1" kern="0" spc="-144" dirty="0">
                <a:solidFill>
                  <a:srgbClr val="F2F2F3"/>
                </a:solidFill>
                <a:latin typeface="Barlow Condensed" pitchFamily="34" charset="0"/>
                <a:ea typeface="Barlow Condensed" pitchFamily="34" charset="-122"/>
                <a:cs typeface="Barlow Condensed" pitchFamily="34" charset="-120"/>
              </a:rPr>
              <a:t>Current Assets &amp; Liabilities</a:t>
            </a:r>
            <a:endParaRPr lang="en-US" sz="6000" dirty="0"/>
          </a:p>
        </p:txBody>
      </p:sp>
      <p:sp>
        <p:nvSpPr>
          <p:cNvPr id="4" name="Text 2"/>
          <p:cNvSpPr/>
          <p:nvPr/>
        </p:nvSpPr>
        <p:spPr>
          <a:xfrm>
            <a:off x="914372" y="7787680"/>
            <a:ext cx="2061277"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TOTAL ASSETS</a:t>
            </a:r>
            <a:endParaRPr lang="en-US" sz="2100" dirty="0"/>
          </a:p>
        </p:txBody>
      </p:sp>
      <p:sp>
        <p:nvSpPr>
          <p:cNvPr id="5" name="Text 3"/>
          <p:cNvSpPr/>
          <p:nvPr/>
        </p:nvSpPr>
        <p:spPr>
          <a:xfrm>
            <a:off x="914372" y="8237283"/>
            <a:ext cx="2061277" cy="628664"/>
          </a:xfrm>
          <a:prstGeom prst="rect">
            <a:avLst/>
          </a:prstGeom>
          <a:noFill/>
          <a:ln/>
        </p:spPr>
        <p:txBody>
          <a:bodyPr wrap="none" lIns="25400" tIns="25400" rIns="25400" bIns="25400" rtlCol="0" anchor="t">
            <a:normAutofit lnSpcReduction="10000"/>
          </a:bodyPr>
          <a:lstStyle/>
          <a:p>
            <a:pPr marL="0" indent="0" algn="l">
              <a:lnSpc>
                <a:spcPct val="83462"/>
              </a:lnSpc>
              <a:buNone/>
            </a:pPr>
            <a:r>
              <a:rPr lang="en-US" sz="4650" dirty="0">
                <a:solidFill>
                  <a:srgbClr val="F2F2F3"/>
                </a:solidFill>
                <a:latin typeface="Barlow Condensed" pitchFamily="34" charset="0"/>
                <a:ea typeface="Barlow Condensed" pitchFamily="34" charset="-122"/>
                <a:cs typeface="Barlow Condensed" pitchFamily="34" charset="-120"/>
              </a:rPr>
              <a:t>{{total_assets}}</a:t>
            </a:r>
            <a:endParaRPr lang="en-US" sz="4650" dirty="0"/>
          </a:p>
        </p:txBody>
      </p:sp>
      <p:sp>
        <p:nvSpPr>
          <p:cNvPr id="6" name="Text 4"/>
          <p:cNvSpPr/>
          <p:nvPr/>
        </p:nvSpPr>
        <p:spPr>
          <a:xfrm>
            <a:off x="3321631" y="7787680"/>
            <a:ext cx="1685833"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LIABILITIES</a:t>
            </a:r>
            <a:endParaRPr lang="en-US" sz="2100" dirty="0"/>
          </a:p>
        </p:txBody>
      </p:sp>
      <p:sp>
        <p:nvSpPr>
          <p:cNvPr id="7" name="Text 5"/>
          <p:cNvSpPr/>
          <p:nvPr/>
        </p:nvSpPr>
        <p:spPr>
          <a:xfrm>
            <a:off x="3321631" y="8237283"/>
            <a:ext cx="1685833" cy="628664"/>
          </a:xfrm>
          <a:prstGeom prst="rect">
            <a:avLst/>
          </a:prstGeom>
          <a:noFill/>
          <a:ln/>
        </p:spPr>
        <p:txBody>
          <a:bodyPr wrap="none" lIns="25400" tIns="25400" rIns="25400" bIns="25400" rtlCol="0" anchor="t">
            <a:normAutofit lnSpcReduction="10000"/>
          </a:bodyPr>
          <a:lstStyle/>
          <a:p>
            <a:pPr marL="0" indent="0" algn="l">
              <a:lnSpc>
                <a:spcPct val="83462"/>
              </a:lnSpc>
              <a:buNone/>
            </a:pPr>
            <a:r>
              <a:rPr lang="en-US" sz="4650" dirty="0">
                <a:solidFill>
                  <a:srgbClr val="F2F2F3"/>
                </a:solidFill>
                <a:latin typeface="Barlow Condensed" pitchFamily="34" charset="0"/>
                <a:ea typeface="Barlow Condensed" pitchFamily="34" charset="-122"/>
                <a:cs typeface="Barlow Condensed" pitchFamily="34" charset="-120"/>
              </a:rPr>
              <a:t>{{total_liabilities}}</a:t>
            </a:r>
            <a:endParaRPr lang="en-US" sz="4650" dirty="0"/>
          </a:p>
        </p:txBody>
      </p:sp>
      <p:sp>
        <p:nvSpPr>
          <p:cNvPr id="8" name="Text 6"/>
          <p:cNvSpPr/>
          <p:nvPr/>
        </p:nvSpPr>
        <p:spPr>
          <a:xfrm>
            <a:off x="5387579" y="7787680"/>
            <a:ext cx="1908714"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NET WORTH</a:t>
            </a:r>
            <a:endParaRPr lang="en-US" sz="2100" dirty="0"/>
          </a:p>
        </p:txBody>
      </p:sp>
      <p:sp>
        <p:nvSpPr>
          <p:cNvPr id="9" name="Text 7"/>
          <p:cNvSpPr/>
          <p:nvPr/>
        </p:nvSpPr>
        <p:spPr>
          <a:xfrm>
            <a:off x="5387579" y="8237283"/>
            <a:ext cx="1908714" cy="628664"/>
          </a:xfrm>
          <a:prstGeom prst="rect">
            <a:avLst/>
          </a:prstGeom>
          <a:noFill/>
          <a:ln/>
        </p:spPr>
        <p:txBody>
          <a:bodyPr wrap="none" lIns="25400" tIns="25400" rIns="25400" bIns="25400" rtlCol="0" anchor="t">
            <a:normAutofit lnSpcReduction="10000"/>
          </a:bodyPr>
          <a:lstStyle/>
          <a:p>
            <a:pPr marL="0" indent="0" algn="l">
              <a:lnSpc>
                <a:spcPct val="83462"/>
              </a:lnSpc>
              <a:buNone/>
            </a:pPr>
            <a:r>
              <a:rPr lang="en-US" sz="4650" dirty="0">
                <a:solidFill>
                  <a:srgbClr val="94BCE3"/>
                </a:solidFill>
                <a:latin typeface="Barlow Condensed" pitchFamily="34" charset="0"/>
                <a:ea typeface="Barlow Condensed" pitchFamily="34" charset="-122"/>
                <a:cs typeface="Barlow Condensed" pitchFamily="34" charset="-120"/>
              </a:rPr>
              <a:t>{{net_worth}}</a:t>
            </a:r>
            <a:endParaRPr lang="en-US" sz="4650" dirty="0"/>
          </a:p>
        </p:txBody>
      </p:sp>
      <p:sp>
        <p:nvSpPr>
          <p:cNvPr id="10" name="Text 8"/>
          <p:cNvSpPr/>
          <p:nvPr/>
        </p:nvSpPr>
        <p:spPr>
          <a:xfrm>
            <a:off x="914372" y="9323090"/>
            <a:ext cx="9088530" cy="392453"/>
          </a:xfrm>
          <a:prstGeom prst="rect">
            <a:avLst/>
          </a:prstGeom>
          <a:noFill/>
          <a:ln/>
        </p:spPr>
        <p:txBody>
          <a:bodyPr wrap="none" lIns="25400" tIns="25400" rIns="25400" bIns="25400" rtlCol="0" anchor="t">
            <a:normAutofit fontScale="92500" lnSpcReduction="10000"/>
          </a:bodyPr>
          <a:lstStyle/>
          <a:p>
            <a:pPr marL="0" indent="0" algn="l">
              <a:lnSpc>
                <a:spcPct val="130200"/>
              </a:lnSpc>
              <a:buNone/>
            </a:pPr>
            <a:r>
              <a:rPr lang="en-US" sz="2100" kern="0" spc="360" dirty="0">
                <a:solidFill>
                  <a:srgbClr val="F2F2F3">
                    <a:alpha val="90000"/>
                  </a:srgbClr>
                </a:solidFill>
                <a:latin typeface="Barlow" pitchFamily="34" charset="0"/>
                <a:ea typeface="Barlow" pitchFamily="34" charset="-122"/>
                <a:cs typeface="Barlow" pitchFamily="34" charset="-120"/>
              </a:rPr>
              <a:t>{{page_no}} / {{page_total}}</a:t>
            </a:r>
            <a:endParaRPr lang="en-US" sz="2100" dirty="0"/>
          </a:p>
        </p:txBody>
      </p:sp>
      <p:pic>
        <p:nvPicPr>
          <p:cNvPr id="11" name="Image 0" descr="preencoded.png"/>
          <p:cNvPicPr>
            <a:picLocks noChangeAspect="1"/>
          </p:cNvPicPr>
          <p:nvPr/>
        </p:nvPicPr>
        <p:blipFill>
          <a:blip r:embed="rId3">
            <a:alphaModFix amt="50000"/>
          </a:blip>
          <a:srcRect l="26964" r="26964"/>
          <a:stretch/>
        </p:blipFill>
        <p:spPr>
          <a:xfrm>
            <a:off x="9862415" y="0"/>
            <a:ext cx="8425515" cy="10287001"/>
          </a:xfrm>
          <a:prstGeom prst="rect">
            <a:avLst/>
          </a:prstGeom>
        </p:spPr>
      </p:pic>
      <p:sp>
        <p:nvSpPr>
          <p:cNvPr id="12" name="Shape 9"/>
          <p:cNvSpPr/>
          <p:nvPr/>
        </p:nvSpPr>
        <p:spPr>
          <a:xfrm>
            <a:off x="9862485" y="0"/>
            <a:ext cx="8425515" cy="10287001"/>
          </a:xfrm>
          <a:prstGeom prst="rect">
            <a:avLst/>
          </a:prstGeom>
          <a:gradFill rotWithShape="1">
            <a:gsLst>
              <a:gs pos="0">
                <a:srgbClr val="141A45">
                  <a:alpha val="100000"/>
                </a:srgbClr>
              </a:gs>
              <a:gs pos="55000">
                <a:srgbClr val="141A45">
                  <a:alpha val="72000"/>
                </a:srgbClr>
              </a:gs>
              <a:gs pos="100000">
                <a:srgbClr val="141A45">
                  <a:alpha val="86000"/>
                </a:srgbClr>
              </a:gs>
            </a:gsLst>
            <a:lin ang="0" scaled="0"/>
          </a:gradFill>
          <a:ln/>
        </p:spPr>
        <p:txBody>
          <a:bodyPr/>
          <a:lstStyle/>
          <a:p>
            <a:endParaRPr lang="en-US"/>
          </a:p>
        </p:txBody>
      </p:sp>
      <p:sp>
        <p:nvSpPr>
          <p:cNvPr id="13" name="Text 10"/>
          <p:cNvSpPr/>
          <p:nvPr/>
        </p:nvSpPr>
        <p:spPr>
          <a:xfrm>
            <a:off x="9862415" y="6977630"/>
            <a:ext cx="7736478" cy="2116875"/>
          </a:xfrm>
          <a:prstGeom prst="rect">
            <a:avLst/>
          </a:prstGeom>
          <a:noFill/>
          <a:ln/>
        </p:spPr>
        <p:txBody>
          <a:bodyPr wrap="square" lIns="25400" tIns="25400" rIns="25400" bIns="25400" rtlCol="0" anchor="t">
            <a:normAutofit lnSpcReduction="10000"/>
          </a:bodyPr>
          <a:lstStyle/>
          <a:p>
            <a:pPr marL="0" indent="0" algn="l">
              <a:lnSpc>
                <a:spcPct val="104160"/>
              </a:lnSpc>
              <a:buNone/>
            </a:pPr>
            <a:r>
              <a:rPr lang="en-US" sz="3300" dirty="0">
                <a:solidFill>
                  <a:srgbClr val="F2F2F3"/>
                </a:solidFill>
                <a:latin typeface="Barlow Condensed" pitchFamily="34" charset="0"/>
                <a:ea typeface="Barlow Condensed" pitchFamily="34" charset="-122"/>
                <a:cs typeface="Barlow Condensed" pitchFamily="34" charset="-120"/>
              </a:rPr>
              <a:t>“Your asset allocation is more than just a combination of stocks and bonds. It’s the single most important factor determining your long-term investment success.”</a:t>
            </a:r>
            <a:endParaRPr lang="en-US" sz="3300" dirty="0"/>
          </a:p>
        </p:txBody>
      </p:sp>
      <p:sp>
        <p:nvSpPr>
          <p:cNvPr id="14" name="Text 11"/>
          <p:cNvSpPr/>
          <p:nvPr/>
        </p:nvSpPr>
        <p:spPr>
          <a:xfrm>
            <a:off x="9862415" y="9323090"/>
            <a:ext cx="826225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360" dirty="0">
                <a:solidFill>
                  <a:srgbClr val="8B96D2"/>
                </a:solidFill>
                <a:latin typeface="Barlow" pitchFamily="34" charset="0"/>
                <a:ea typeface="Barlow" pitchFamily="34" charset="-122"/>
                <a:cs typeface="Barlow" pitchFamily="34" charset="-120"/>
              </a:rPr>
              <a:t>— WILLIAM BERNSTEIN</a:t>
            </a:r>
            <a:endParaRPr lang="en-US" sz="2100" dirty="0"/>
          </a:p>
        </p:txBody>
      </p:sp>
    </p:spTree>
    <p:extLst>
      <p:ext uri="{BB962C8B-B14F-4D97-AF65-F5344CB8AC3E}">
        <p14:creationId xmlns:p14="http://schemas.microsoft.com/office/powerpoint/2010/main" val="699326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alphaModFix amt="20000"/>
            <a:duotone>
              <a:schemeClr val="accent3">
                <a:shade val="45000"/>
                <a:satMod val="135000"/>
              </a:schemeClr>
              <a:prstClr val="white"/>
            </a:duotone>
            <a:lum/>
            <a:extLst>
              <a:ext uri="{BEBA8EAE-BF5A-486C-A8C5-ECC9F3942E4B}">
                <a14:imgProps xmlns:a14="http://schemas.microsoft.com/office/drawing/2010/main">
                  <a14:imgLayer r:embed="rId4">
                    <a14:imgEffect>
                      <a14:saturation sat="129000"/>
                    </a14:imgEffect>
                  </a14:imgLayer>
                </a14:imgProps>
              </a:ext>
            </a:extLst>
          </a:blip>
          <a:srcRect/>
          <a:stretch>
            <a:fillRect l="-5000" r="-5000"/>
          </a:stretch>
        </a:blipFill>
        <a:effectLst/>
      </p:bgPr>
    </p:bg>
    <p:spTree>
      <p:nvGrpSpPr>
        <p:cNvPr id="1" name=""/>
        <p:cNvGrpSpPr/>
        <p:nvPr/>
      </p:nvGrpSpPr>
      <p:grpSpPr>
        <a:xfrm>
          <a:off x="0" y="0"/>
          <a:ext cx="0" cy="0"/>
          <a:chOff x="0" y="0"/>
          <a:chExt cx="0" cy="0"/>
        </a:xfrm>
      </p:grpSpPr>
      <p:sp>
        <p:nvSpPr>
          <p:cNvPr id="2" name="Text 0"/>
          <p:cNvSpPr/>
          <p:nvPr/>
        </p:nvSpPr>
        <p:spPr>
          <a:xfrm>
            <a:off x="914372" y="571429"/>
            <a:ext cx="4123177"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ALLOCATION SNAPSHOT</a:t>
            </a:r>
            <a:endParaRPr lang="en-US" sz="2100" b="1" dirty="0">
              <a:solidFill>
                <a:srgbClr val="2A3480"/>
              </a:solidFill>
              <a:latin typeface="Barlow"/>
            </a:endParaRPr>
          </a:p>
        </p:txBody>
      </p:sp>
      <p:sp>
        <p:nvSpPr>
          <p:cNvPr id="3" name="Text 1"/>
          <p:cNvSpPr/>
          <p:nvPr/>
        </p:nvSpPr>
        <p:spPr>
          <a:xfrm>
            <a:off x="896442" y="1124361"/>
            <a:ext cx="4123177"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Current Assets</a:t>
            </a:r>
            <a:endParaRPr lang="en-US" sz="6000" dirty="0"/>
          </a:p>
        </p:txBody>
      </p:sp>
      <p:pic>
        <p:nvPicPr>
          <p:cNvPr id="4" name="Image 0" descr="preencoded.png"/>
          <p:cNvPicPr>
            <a:picLocks noChangeAspect="1"/>
          </p:cNvPicPr>
          <p:nvPr/>
        </p:nvPicPr>
        <p:blipFill>
          <a:blip r:embed="rId5"/>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pic>
        <p:nvPicPr>
          <p:cNvPr id="6" name="Image 1"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4372" y="3004486"/>
            <a:ext cx="5715001" cy="5715001"/>
          </a:xfrm>
          <a:prstGeom prst="rect">
            <a:avLst/>
          </a:prstGeom>
        </p:spPr>
      </p:pic>
      <p:sp>
        <p:nvSpPr>
          <p:cNvPr id="7" name="Shape 3"/>
          <p:cNvSpPr/>
          <p:nvPr/>
        </p:nvSpPr>
        <p:spPr>
          <a:xfrm>
            <a:off x="7315116" y="3485201"/>
            <a:ext cx="4762500" cy="9525"/>
          </a:xfrm>
          <a:prstGeom prst="rect">
            <a:avLst/>
          </a:prstGeom>
          <a:solidFill>
            <a:srgbClr val="1D1F20">
              <a:alpha val="12000"/>
            </a:srgbClr>
          </a:solidFill>
          <a:ln/>
        </p:spPr>
        <p:txBody>
          <a:bodyPr/>
          <a:lstStyle/>
          <a:p>
            <a:endParaRPr lang="en-US"/>
          </a:p>
        </p:txBody>
      </p:sp>
      <p:sp>
        <p:nvSpPr>
          <p:cNvPr id="8" name="Shape 4"/>
          <p:cNvSpPr/>
          <p:nvPr/>
        </p:nvSpPr>
        <p:spPr>
          <a:xfrm>
            <a:off x="7315116" y="3083506"/>
            <a:ext cx="171436" cy="171436"/>
          </a:xfrm>
          <a:prstGeom prst="rect">
            <a:avLst/>
          </a:prstGeom>
          <a:solidFill>
            <a:srgbClr val="141A45"/>
          </a:solidFill>
          <a:ln/>
        </p:spPr>
        <p:txBody>
          <a:bodyPr/>
          <a:lstStyle/>
          <a:p>
            <a:endParaRPr lang="en-US"/>
          </a:p>
        </p:txBody>
      </p:sp>
      <p:sp>
        <p:nvSpPr>
          <p:cNvPr id="9" name="Text 5"/>
          <p:cNvSpPr/>
          <p:nvPr/>
        </p:nvSpPr>
        <p:spPr>
          <a:xfrm>
            <a:off x="7657987" y="2941978"/>
            <a:ext cx="2747771"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{{alloc_1_label}}</a:t>
            </a:r>
            <a:endParaRPr lang="en-US" sz="2100" dirty="0"/>
          </a:p>
        </p:txBody>
      </p:sp>
      <p:sp>
        <p:nvSpPr>
          <p:cNvPr id="10" name="Text 6"/>
          <p:cNvSpPr/>
          <p:nvPr/>
        </p:nvSpPr>
        <p:spPr>
          <a:xfrm>
            <a:off x="10327396" y="2878478"/>
            <a:ext cx="607304" cy="540076"/>
          </a:xfrm>
          <a:prstGeom prst="rect">
            <a:avLst/>
          </a:prstGeom>
          <a:noFill/>
          <a:ln/>
        </p:spPr>
        <p:txBody>
          <a:bodyPr wrap="non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{{alloc_1_pct}}</a:t>
            </a:r>
            <a:endParaRPr lang="en-US" sz="2550" dirty="0"/>
          </a:p>
        </p:txBody>
      </p:sp>
      <p:sp>
        <p:nvSpPr>
          <p:cNvPr id="11" name="Text 7"/>
          <p:cNvSpPr/>
          <p:nvPr/>
        </p:nvSpPr>
        <p:spPr>
          <a:xfrm>
            <a:off x="9582136" y="2978264"/>
            <a:ext cx="2495479" cy="407194"/>
          </a:xfrm>
          <a:prstGeom prst="rect">
            <a:avLst/>
          </a:prstGeom>
          <a:noFill/>
          <a:ln/>
        </p:spPr>
        <p:txBody>
          <a:bodyPr wrap="non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{{alloc_1_value}}</a:t>
            </a:r>
            <a:endParaRPr lang="en-US" sz="2100" b="1" dirty="0">
              <a:solidFill>
                <a:srgbClr val="0070C0"/>
              </a:solidFill>
            </a:endParaRPr>
          </a:p>
        </p:txBody>
      </p:sp>
      <p:sp>
        <p:nvSpPr>
          <p:cNvPr id="12" name="Shape 8"/>
          <p:cNvSpPr/>
          <p:nvPr/>
        </p:nvSpPr>
        <p:spPr>
          <a:xfrm>
            <a:off x="12610987" y="3485201"/>
            <a:ext cx="4762571" cy="9525"/>
          </a:xfrm>
          <a:prstGeom prst="rect">
            <a:avLst/>
          </a:prstGeom>
          <a:solidFill>
            <a:srgbClr val="1D1F20">
              <a:alpha val="12000"/>
            </a:srgbClr>
          </a:solidFill>
          <a:ln/>
        </p:spPr>
        <p:txBody>
          <a:bodyPr/>
          <a:lstStyle/>
          <a:p>
            <a:endParaRPr lang="en-US"/>
          </a:p>
        </p:txBody>
      </p:sp>
      <p:sp>
        <p:nvSpPr>
          <p:cNvPr id="13" name="Shape 9"/>
          <p:cNvSpPr/>
          <p:nvPr/>
        </p:nvSpPr>
        <p:spPr>
          <a:xfrm>
            <a:off x="12610987" y="3083506"/>
            <a:ext cx="171436" cy="171436"/>
          </a:xfrm>
          <a:prstGeom prst="rect">
            <a:avLst/>
          </a:prstGeom>
          <a:solidFill>
            <a:srgbClr val="1A7AB5"/>
          </a:solidFill>
          <a:ln/>
        </p:spPr>
        <p:txBody>
          <a:bodyPr/>
          <a:lstStyle/>
          <a:p>
            <a:endParaRPr lang="en-US"/>
          </a:p>
        </p:txBody>
      </p:sp>
      <p:sp>
        <p:nvSpPr>
          <p:cNvPr id="14" name="Text 10"/>
          <p:cNvSpPr/>
          <p:nvPr/>
        </p:nvSpPr>
        <p:spPr>
          <a:xfrm>
            <a:off x="12953859" y="2941978"/>
            <a:ext cx="290781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{{alloc_2_label}}</a:t>
            </a:r>
            <a:endParaRPr lang="en-US" sz="2100" dirty="0"/>
          </a:p>
        </p:txBody>
      </p:sp>
      <p:sp>
        <p:nvSpPr>
          <p:cNvPr id="15" name="Text 11"/>
          <p:cNvSpPr/>
          <p:nvPr/>
        </p:nvSpPr>
        <p:spPr>
          <a:xfrm>
            <a:off x="14397167" y="2878478"/>
            <a:ext cx="1833477" cy="540076"/>
          </a:xfrm>
          <a:prstGeom prst="rect">
            <a:avLst/>
          </a:prstGeom>
          <a:noFill/>
          <a:ln/>
        </p:spPr>
        <p:txBody>
          <a:bodyPr wrap="none" lIns="25400" tIns="25400" rIns="25400" bIns="25400" rtlCol="0" anchor="t">
            <a:normAutofit/>
          </a:bodyPr>
          <a:lstStyle/>
          <a:p>
            <a:pPr marL="0" indent="0" algn="r">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{{alloc_2_pct}}</a:t>
            </a:r>
            <a:endParaRPr lang="en-US" sz="2550" dirty="0"/>
          </a:p>
        </p:txBody>
      </p:sp>
      <p:sp>
        <p:nvSpPr>
          <p:cNvPr id="16" name="Text 12"/>
          <p:cNvSpPr/>
          <p:nvPr/>
        </p:nvSpPr>
        <p:spPr>
          <a:xfrm>
            <a:off x="14878079" y="2978264"/>
            <a:ext cx="2495479" cy="407194"/>
          </a:xfrm>
          <a:prstGeom prst="rect">
            <a:avLst/>
          </a:prstGeom>
          <a:noFill/>
          <a:ln/>
        </p:spPr>
        <p:txBody>
          <a:bodyPr wrap="non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{{alloc_2_value}}</a:t>
            </a:r>
            <a:endParaRPr lang="en-US" sz="2100" b="1" dirty="0">
              <a:solidFill>
                <a:srgbClr val="0070C0"/>
              </a:solidFill>
            </a:endParaRPr>
          </a:p>
        </p:txBody>
      </p:sp>
      <p:sp>
        <p:nvSpPr>
          <p:cNvPr id="17" name="Shape 13"/>
          <p:cNvSpPr/>
          <p:nvPr/>
        </p:nvSpPr>
        <p:spPr>
          <a:xfrm>
            <a:off x="7315116" y="4205741"/>
            <a:ext cx="4762500" cy="9525"/>
          </a:xfrm>
          <a:prstGeom prst="rect">
            <a:avLst/>
          </a:prstGeom>
          <a:solidFill>
            <a:srgbClr val="1D1F20">
              <a:alpha val="12000"/>
            </a:srgbClr>
          </a:solidFill>
          <a:ln/>
        </p:spPr>
        <p:txBody>
          <a:bodyPr/>
          <a:lstStyle/>
          <a:p>
            <a:endParaRPr lang="en-US"/>
          </a:p>
        </p:txBody>
      </p:sp>
      <p:sp>
        <p:nvSpPr>
          <p:cNvPr id="18" name="Shape 14"/>
          <p:cNvSpPr/>
          <p:nvPr/>
        </p:nvSpPr>
        <p:spPr>
          <a:xfrm>
            <a:off x="7315116" y="3804047"/>
            <a:ext cx="171436" cy="171436"/>
          </a:xfrm>
          <a:prstGeom prst="rect">
            <a:avLst/>
          </a:prstGeom>
          <a:solidFill>
            <a:srgbClr val="C8862B"/>
          </a:solidFill>
          <a:ln/>
        </p:spPr>
        <p:txBody>
          <a:bodyPr/>
          <a:lstStyle/>
          <a:p>
            <a:endParaRPr lang="en-US"/>
          </a:p>
        </p:txBody>
      </p:sp>
      <p:sp>
        <p:nvSpPr>
          <p:cNvPr id="19" name="Text 15"/>
          <p:cNvSpPr/>
          <p:nvPr/>
        </p:nvSpPr>
        <p:spPr>
          <a:xfrm>
            <a:off x="7657987" y="3662519"/>
            <a:ext cx="281902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{{alloc_3_label}}</a:t>
            </a:r>
            <a:endParaRPr lang="en-US" sz="2100" dirty="0"/>
          </a:p>
        </p:txBody>
      </p:sp>
      <p:sp>
        <p:nvSpPr>
          <p:cNvPr id="20" name="Text 16"/>
          <p:cNvSpPr/>
          <p:nvPr/>
        </p:nvSpPr>
        <p:spPr>
          <a:xfrm>
            <a:off x="10392173" y="3599019"/>
            <a:ext cx="542528" cy="540076"/>
          </a:xfrm>
          <a:prstGeom prst="rect">
            <a:avLst/>
          </a:prstGeom>
          <a:noFill/>
          <a:ln/>
        </p:spPr>
        <p:txBody>
          <a:bodyPr wrap="non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{{alloc_3_pct}}</a:t>
            </a:r>
            <a:endParaRPr lang="en-US" sz="2550" dirty="0"/>
          </a:p>
        </p:txBody>
      </p:sp>
      <p:sp>
        <p:nvSpPr>
          <p:cNvPr id="21" name="Text 17"/>
          <p:cNvSpPr/>
          <p:nvPr/>
        </p:nvSpPr>
        <p:spPr>
          <a:xfrm>
            <a:off x="9582136" y="3698804"/>
            <a:ext cx="2495479" cy="407194"/>
          </a:xfrm>
          <a:prstGeom prst="rect">
            <a:avLst/>
          </a:prstGeom>
          <a:noFill/>
          <a:ln/>
        </p:spPr>
        <p:txBody>
          <a:bodyPr wrap="non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{{alloc_3_value}}</a:t>
            </a:r>
            <a:endParaRPr lang="en-US" sz="2100" b="1" dirty="0">
              <a:solidFill>
                <a:srgbClr val="0070C0"/>
              </a:solidFill>
            </a:endParaRPr>
          </a:p>
        </p:txBody>
      </p:sp>
      <p:sp>
        <p:nvSpPr>
          <p:cNvPr id="22" name="Shape 18"/>
          <p:cNvSpPr/>
          <p:nvPr/>
        </p:nvSpPr>
        <p:spPr>
          <a:xfrm>
            <a:off x="12610987" y="4205741"/>
            <a:ext cx="4762571" cy="9525"/>
          </a:xfrm>
          <a:prstGeom prst="rect">
            <a:avLst/>
          </a:prstGeom>
          <a:solidFill>
            <a:srgbClr val="1D1F20">
              <a:alpha val="12000"/>
            </a:srgbClr>
          </a:solidFill>
          <a:ln/>
        </p:spPr>
        <p:txBody>
          <a:bodyPr/>
          <a:lstStyle/>
          <a:p>
            <a:endParaRPr lang="en-US"/>
          </a:p>
        </p:txBody>
      </p:sp>
      <p:sp>
        <p:nvSpPr>
          <p:cNvPr id="23" name="Shape 19"/>
          <p:cNvSpPr/>
          <p:nvPr/>
        </p:nvSpPr>
        <p:spPr>
          <a:xfrm>
            <a:off x="12610987" y="3804047"/>
            <a:ext cx="171436" cy="171436"/>
          </a:xfrm>
          <a:prstGeom prst="rect">
            <a:avLst/>
          </a:prstGeom>
          <a:solidFill>
            <a:srgbClr val="58B0A8"/>
          </a:solidFill>
          <a:ln/>
        </p:spPr>
        <p:txBody>
          <a:bodyPr/>
          <a:lstStyle/>
          <a:p>
            <a:endParaRPr lang="en-US"/>
          </a:p>
        </p:txBody>
      </p:sp>
      <p:sp>
        <p:nvSpPr>
          <p:cNvPr id="24" name="Text 20"/>
          <p:cNvSpPr/>
          <p:nvPr/>
        </p:nvSpPr>
        <p:spPr>
          <a:xfrm>
            <a:off x="12953859" y="3662519"/>
            <a:ext cx="2908130"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{{alloc_4_label}}</a:t>
            </a:r>
            <a:endParaRPr lang="en-US" sz="2100" dirty="0"/>
          </a:p>
        </p:txBody>
      </p:sp>
      <p:sp>
        <p:nvSpPr>
          <p:cNvPr id="25" name="Text 21"/>
          <p:cNvSpPr/>
          <p:nvPr/>
        </p:nvSpPr>
        <p:spPr>
          <a:xfrm>
            <a:off x="14397449" y="3599019"/>
            <a:ext cx="1833194" cy="540076"/>
          </a:xfrm>
          <a:prstGeom prst="rect">
            <a:avLst/>
          </a:prstGeom>
          <a:noFill/>
          <a:ln/>
        </p:spPr>
        <p:txBody>
          <a:bodyPr wrap="none" lIns="25400" tIns="25400" rIns="25400" bIns="25400" rtlCol="0" anchor="t">
            <a:normAutofit/>
          </a:bodyPr>
          <a:lstStyle/>
          <a:p>
            <a:pPr marL="0" indent="0" algn="r">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{{alloc_4_pct}}</a:t>
            </a:r>
            <a:endParaRPr lang="en-US" sz="2550" dirty="0"/>
          </a:p>
        </p:txBody>
      </p:sp>
      <p:sp>
        <p:nvSpPr>
          <p:cNvPr id="26" name="Text 22"/>
          <p:cNvSpPr/>
          <p:nvPr/>
        </p:nvSpPr>
        <p:spPr>
          <a:xfrm>
            <a:off x="14878079" y="3698804"/>
            <a:ext cx="2495479" cy="407194"/>
          </a:xfrm>
          <a:prstGeom prst="rect">
            <a:avLst/>
          </a:prstGeom>
          <a:noFill/>
          <a:ln/>
        </p:spPr>
        <p:txBody>
          <a:bodyPr wrap="non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{{alloc_4_value}}</a:t>
            </a:r>
            <a:endParaRPr lang="en-US" sz="2100" b="1" dirty="0">
              <a:solidFill>
                <a:srgbClr val="0070C0"/>
              </a:solidFill>
            </a:endParaRPr>
          </a:p>
        </p:txBody>
      </p:sp>
      <p:sp>
        <p:nvSpPr>
          <p:cNvPr id="27" name="Shape 23"/>
          <p:cNvSpPr/>
          <p:nvPr/>
        </p:nvSpPr>
        <p:spPr>
          <a:xfrm>
            <a:off x="7315116" y="4926282"/>
            <a:ext cx="4762500" cy="9525"/>
          </a:xfrm>
          <a:prstGeom prst="rect">
            <a:avLst/>
          </a:prstGeom>
          <a:solidFill>
            <a:srgbClr val="1D1F20">
              <a:alpha val="12000"/>
            </a:srgbClr>
          </a:solidFill>
          <a:ln/>
        </p:spPr>
        <p:txBody>
          <a:bodyPr/>
          <a:lstStyle/>
          <a:p>
            <a:endParaRPr lang="en-US"/>
          </a:p>
        </p:txBody>
      </p:sp>
      <p:sp>
        <p:nvSpPr>
          <p:cNvPr id="28" name="Shape 24"/>
          <p:cNvSpPr/>
          <p:nvPr/>
        </p:nvSpPr>
        <p:spPr>
          <a:xfrm>
            <a:off x="7315116" y="4524588"/>
            <a:ext cx="171436" cy="171436"/>
          </a:xfrm>
          <a:prstGeom prst="rect">
            <a:avLst/>
          </a:prstGeom>
          <a:solidFill>
            <a:srgbClr val="2F7D3A"/>
          </a:solidFill>
          <a:ln/>
        </p:spPr>
        <p:txBody>
          <a:bodyPr/>
          <a:lstStyle/>
          <a:p>
            <a:endParaRPr lang="en-US"/>
          </a:p>
        </p:txBody>
      </p:sp>
      <p:sp>
        <p:nvSpPr>
          <p:cNvPr id="29" name="Text 25"/>
          <p:cNvSpPr/>
          <p:nvPr/>
        </p:nvSpPr>
        <p:spPr>
          <a:xfrm>
            <a:off x="7657987" y="4383059"/>
            <a:ext cx="281902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{{alloc_5_label}}</a:t>
            </a:r>
            <a:endParaRPr lang="en-US" sz="2100" dirty="0"/>
          </a:p>
        </p:txBody>
      </p:sp>
      <p:sp>
        <p:nvSpPr>
          <p:cNvPr id="30" name="Text 26"/>
          <p:cNvSpPr/>
          <p:nvPr/>
        </p:nvSpPr>
        <p:spPr>
          <a:xfrm>
            <a:off x="10392173" y="4319559"/>
            <a:ext cx="542528" cy="540076"/>
          </a:xfrm>
          <a:prstGeom prst="rect">
            <a:avLst/>
          </a:prstGeom>
          <a:noFill/>
          <a:ln/>
        </p:spPr>
        <p:txBody>
          <a:bodyPr wrap="non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{{alloc_5_pct}}</a:t>
            </a:r>
            <a:endParaRPr lang="en-US" sz="2550" dirty="0"/>
          </a:p>
        </p:txBody>
      </p:sp>
      <p:sp>
        <p:nvSpPr>
          <p:cNvPr id="31" name="Text 27"/>
          <p:cNvSpPr/>
          <p:nvPr/>
        </p:nvSpPr>
        <p:spPr>
          <a:xfrm>
            <a:off x="9582136" y="4419345"/>
            <a:ext cx="2495479" cy="407194"/>
          </a:xfrm>
          <a:prstGeom prst="rect">
            <a:avLst/>
          </a:prstGeom>
          <a:noFill/>
          <a:ln/>
        </p:spPr>
        <p:txBody>
          <a:bodyPr wrap="non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{{alloc_5_value}}</a:t>
            </a:r>
            <a:endParaRPr lang="en-US" sz="2100" b="1" dirty="0">
              <a:solidFill>
                <a:srgbClr val="0070C0"/>
              </a:solidFill>
            </a:endParaRPr>
          </a:p>
        </p:txBody>
      </p:sp>
      <p:sp>
        <p:nvSpPr>
          <p:cNvPr id="32" name="Shape 28"/>
          <p:cNvSpPr/>
          <p:nvPr/>
        </p:nvSpPr>
        <p:spPr>
          <a:xfrm>
            <a:off x="12610987" y="4926282"/>
            <a:ext cx="4762571" cy="9525"/>
          </a:xfrm>
          <a:prstGeom prst="rect">
            <a:avLst/>
          </a:prstGeom>
          <a:solidFill>
            <a:srgbClr val="1D1F20">
              <a:alpha val="12000"/>
            </a:srgbClr>
          </a:solidFill>
          <a:ln/>
        </p:spPr>
        <p:txBody>
          <a:bodyPr/>
          <a:lstStyle/>
          <a:p>
            <a:endParaRPr lang="en-US"/>
          </a:p>
        </p:txBody>
      </p:sp>
      <p:sp>
        <p:nvSpPr>
          <p:cNvPr id="33" name="Shape 29"/>
          <p:cNvSpPr/>
          <p:nvPr/>
        </p:nvSpPr>
        <p:spPr>
          <a:xfrm>
            <a:off x="12610987" y="4524588"/>
            <a:ext cx="171436" cy="171436"/>
          </a:xfrm>
          <a:prstGeom prst="rect">
            <a:avLst/>
          </a:prstGeom>
          <a:solidFill>
            <a:srgbClr val="B5495B"/>
          </a:solidFill>
          <a:ln/>
        </p:spPr>
        <p:txBody>
          <a:bodyPr/>
          <a:lstStyle/>
          <a:p>
            <a:endParaRPr lang="en-US"/>
          </a:p>
        </p:txBody>
      </p:sp>
      <p:sp>
        <p:nvSpPr>
          <p:cNvPr id="34" name="Text 30"/>
          <p:cNvSpPr/>
          <p:nvPr/>
        </p:nvSpPr>
        <p:spPr>
          <a:xfrm>
            <a:off x="12953859" y="4383059"/>
            <a:ext cx="290602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{{alloc_6_label}}</a:t>
            </a:r>
            <a:endParaRPr lang="en-US" sz="2100" dirty="0"/>
          </a:p>
        </p:txBody>
      </p:sp>
      <p:sp>
        <p:nvSpPr>
          <p:cNvPr id="35" name="Text 31"/>
          <p:cNvSpPr/>
          <p:nvPr/>
        </p:nvSpPr>
        <p:spPr>
          <a:xfrm>
            <a:off x="14395536" y="4319559"/>
            <a:ext cx="1835108" cy="540076"/>
          </a:xfrm>
          <a:prstGeom prst="rect">
            <a:avLst/>
          </a:prstGeom>
          <a:noFill/>
          <a:ln/>
        </p:spPr>
        <p:txBody>
          <a:bodyPr wrap="none" lIns="25400" tIns="25400" rIns="25400" bIns="25400" rtlCol="0" anchor="t">
            <a:normAutofit/>
          </a:bodyPr>
          <a:lstStyle/>
          <a:p>
            <a:pPr marL="0" indent="0" algn="r">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{{alloc_6_pct}}</a:t>
            </a:r>
            <a:endParaRPr lang="en-US" sz="2550" dirty="0"/>
          </a:p>
        </p:txBody>
      </p:sp>
      <p:sp>
        <p:nvSpPr>
          <p:cNvPr id="36" name="Text 32"/>
          <p:cNvSpPr/>
          <p:nvPr/>
        </p:nvSpPr>
        <p:spPr>
          <a:xfrm>
            <a:off x="14878079" y="4419345"/>
            <a:ext cx="2495479" cy="407194"/>
          </a:xfrm>
          <a:prstGeom prst="rect">
            <a:avLst/>
          </a:prstGeom>
          <a:noFill/>
          <a:ln/>
        </p:spPr>
        <p:txBody>
          <a:bodyPr wrap="non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{{alloc_6_value}}</a:t>
            </a:r>
            <a:endParaRPr lang="en-US" sz="2100" b="1" dirty="0">
              <a:solidFill>
                <a:srgbClr val="0070C0"/>
              </a:solidFill>
            </a:endParaRPr>
          </a:p>
        </p:txBody>
      </p:sp>
      <p:sp>
        <p:nvSpPr>
          <p:cNvPr id="37" name="Shape 33"/>
          <p:cNvSpPr/>
          <p:nvPr/>
        </p:nvSpPr>
        <p:spPr>
          <a:xfrm>
            <a:off x="7315116" y="5646823"/>
            <a:ext cx="4762500" cy="9525"/>
          </a:xfrm>
          <a:prstGeom prst="rect">
            <a:avLst/>
          </a:prstGeom>
          <a:solidFill>
            <a:srgbClr val="1D1F20">
              <a:alpha val="12000"/>
            </a:srgbClr>
          </a:solidFill>
          <a:ln/>
        </p:spPr>
        <p:txBody>
          <a:bodyPr/>
          <a:lstStyle/>
          <a:p>
            <a:endParaRPr lang="en-US"/>
          </a:p>
        </p:txBody>
      </p:sp>
      <p:sp>
        <p:nvSpPr>
          <p:cNvPr id="38" name="Shape 34"/>
          <p:cNvSpPr/>
          <p:nvPr/>
        </p:nvSpPr>
        <p:spPr>
          <a:xfrm>
            <a:off x="7315116" y="5245129"/>
            <a:ext cx="171436" cy="171436"/>
          </a:xfrm>
          <a:prstGeom prst="rect">
            <a:avLst/>
          </a:prstGeom>
          <a:solidFill>
            <a:srgbClr val="7A4F9E"/>
          </a:solidFill>
          <a:ln/>
        </p:spPr>
        <p:txBody>
          <a:bodyPr/>
          <a:lstStyle/>
          <a:p>
            <a:endParaRPr lang="en-US"/>
          </a:p>
        </p:txBody>
      </p:sp>
      <p:sp>
        <p:nvSpPr>
          <p:cNvPr id="39" name="Text 35"/>
          <p:cNvSpPr/>
          <p:nvPr/>
        </p:nvSpPr>
        <p:spPr>
          <a:xfrm>
            <a:off x="7657987" y="5103600"/>
            <a:ext cx="290345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{{alloc_7_label}}</a:t>
            </a:r>
            <a:endParaRPr lang="en-US" sz="2100" dirty="0"/>
          </a:p>
        </p:txBody>
      </p:sp>
      <p:sp>
        <p:nvSpPr>
          <p:cNvPr id="40" name="Text 36"/>
          <p:cNvSpPr/>
          <p:nvPr/>
        </p:nvSpPr>
        <p:spPr>
          <a:xfrm>
            <a:off x="10468925" y="5040100"/>
            <a:ext cx="465775" cy="540076"/>
          </a:xfrm>
          <a:prstGeom prst="rect">
            <a:avLst/>
          </a:prstGeom>
          <a:noFill/>
          <a:ln/>
        </p:spPr>
        <p:txBody>
          <a:bodyPr wrap="non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{{alloc_7_pct}}</a:t>
            </a:r>
            <a:endParaRPr lang="en-US" sz="2550" dirty="0"/>
          </a:p>
        </p:txBody>
      </p:sp>
      <p:sp>
        <p:nvSpPr>
          <p:cNvPr id="41" name="Text 37"/>
          <p:cNvSpPr/>
          <p:nvPr/>
        </p:nvSpPr>
        <p:spPr>
          <a:xfrm>
            <a:off x="9582136" y="5139886"/>
            <a:ext cx="2495479" cy="407194"/>
          </a:xfrm>
          <a:prstGeom prst="rect">
            <a:avLst/>
          </a:prstGeom>
          <a:noFill/>
          <a:ln/>
        </p:spPr>
        <p:txBody>
          <a:bodyPr wrap="non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{{alloc_7_value}}</a:t>
            </a:r>
            <a:endParaRPr lang="en-US" sz="2100" b="1" dirty="0">
              <a:solidFill>
                <a:srgbClr val="0070C0"/>
              </a:solidFill>
            </a:endParaRPr>
          </a:p>
        </p:txBody>
      </p:sp>
      <p:sp>
        <p:nvSpPr>
          <p:cNvPr id="42" name="Shape 38"/>
          <p:cNvSpPr/>
          <p:nvPr/>
        </p:nvSpPr>
        <p:spPr>
          <a:xfrm>
            <a:off x="12610987" y="5646823"/>
            <a:ext cx="4762571" cy="9525"/>
          </a:xfrm>
          <a:prstGeom prst="rect">
            <a:avLst/>
          </a:prstGeom>
          <a:solidFill>
            <a:srgbClr val="1D1F20">
              <a:alpha val="12000"/>
            </a:srgbClr>
          </a:solidFill>
          <a:ln/>
        </p:spPr>
        <p:txBody>
          <a:bodyPr/>
          <a:lstStyle/>
          <a:p>
            <a:endParaRPr lang="en-US"/>
          </a:p>
        </p:txBody>
      </p:sp>
      <p:sp>
        <p:nvSpPr>
          <p:cNvPr id="43" name="Shape 39"/>
          <p:cNvSpPr/>
          <p:nvPr/>
        </p:nvSpPr>
        <p:spPr>
          <a:xfrm>
            <a:off x="12610987" y="5245129"/>
            <a:ext cx="171436" cy="171436"/>
          </a:xfrm>
          <a:prstGeom prst="rect">
            <a:avLst/>
          </a:prstGeom>
          <a:solidFill>
            <a:srgbClr val="6B8F2E"/>
          </a:solidFill>
          <a:ln/>
        </p:spPr>
        <p:txBody>
          <a:bodyPr/>
          <a:lstStyle/>
          <a:p>
            <a:endParaRPr lang="en-US"/>
          </a:p>
        </p:txBody>
      </p:sp>
      <p:sp>
        <p:nvSpPr>
          <p:cNvPr id="44" name="Text 40"/>
          <p:cNvSpPr/>
          <p:nvPr/>
        </p:nvSpPr>
        <p:spPr>
          <a:xfrm>
            <a:off x="12953859" y="5103600"/>
            <a:ext cx="290602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{{alloc_8_label}}</a:t>
            </a:r>
            <a:endParaRPr lang="en-US" sz="2100" dirty="0"/>
          </a:p>
        </p:txBody>
      </p:sp>
      <p:sp>
        <p:nvSpPr>
          <p:cNvPr id="45" name="Text 41"/>
          <p:cNvSpPr/>
          <p:nvPr/>
        </p:nvSpPr>
        <p:spPr>
          <a:xfrm>
            <a:off x="14395536" y="5040100"/>
            <a:ext cx="1835108" cy="540076"/>
          </a:xfrm>
          <a:prstGeom prst="rect">
            <a:avLst/>
          </a:prstGeom>
          <a:noFill/>
          <a:ln/>
        </p:spPr>
        <p:txBody>
          <a:bodyPr wrap="none" lIns="25400" tIns="25400" rIns="25400" bIns="25400" rtlCol="0" anchor="t">
            <a:normAutofit/>
          </a:bodyPr>
          <a:lstStyle/>
          <a:p>
            <a:pPr marL="0" indent="0" algn="r">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{{alloc_8_pct}}</a:t>
            </a:r>
            <a:endParaRPr lang="en-US" sz="2550" dirty="0"/>
          </a:p>
        </p:txBody>
      </p:sp>
      <p:sp>
        <p:nvSpPr>
          <p:cNvPr id="46" name="Text 42"/>
          <p:cNvSpPr/>
          <p:nvPr/>
        </p:nvSpPr>
        <p:spPr>
          <a:xfrm>
            <a:off x="14878079" y="5139886"/>
            <a:ext cx="2495479" cy="407194"/>
          </a:xfrm>
          <a:prstGeom prst="rect">
            <a:avLst/>
          </a:prstGeom>
          <a:noFill/>
          <a:ln/>
        </p:spPr>
        <p:txBody>
          <a:bodyPr wrap="non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{{alloc_8_value}}</a:t>
            </a:r>
            <a:endParaRPr lang="en-US" sz="2100" b="1" dirty="0">
              <a:solidFill>
                <a:srgbClr val="0070C0"/>
              </a:solidFill>
            </a:endParaRPr>
          </a:p>
        </p:txBody>
      </p:sp>
      <p:sp>
        <p:nvSpPr>
          <p:cNvPr id="47" name="Shape 43"/>
          <p:cNvSpPr/>
          <p:nvPr/>
        </p:nvSpPr>
        <p:spPr>
          <a:xfrm>
            <a:off x="7315116" y="6022791"/>
            <a:ext cx="171436" cy="171436"/>
          </a:xfrm>
          <a:prstGeom prst="rect">
            <a:avLst/>
          </a:prstGeom>
          <a:solidFill>
            <a:srgbClr val="B7B7BA"/>
          </a:solidFill>
          <a:ln/>
        </p:spPr>
        <p:txBody>
          <a:bodyPr/>
          <a:lstStyle/>
          <a:p>
            <a:endParaRPr lang="en-US"/>
          </a:p>
        </p:txBody>
      </p:sp>
      <p:sp>
        <p:nvSpPr>
          <p:cNvPr id="48" name="Text 44"/>
          <p:cNvSpPr/>
          <p:nvPr/>
        </p:nvSpPr>
        <p:spPr>
          <a:xfrm>
            <a:off x="7657987" y="5881263"/>
            <a:ext cx="2910547"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{{alloc_9_label}}</a:t>
            </a:r>
            <a:endParaRPr lang="en-US" sz="2100" dirty="0"/>
          </a:p>
        </p:txBody>
      </p:sp>
      <p:sp>
        <p:nvSpPr>
          <p:cNvPr id="49" name="Text 45"/>
          <p:cNvSpPr/>
          <p:nvPr/>
        </p:nvSpPr>
        <p:spPr>
          <a:xfrm>
            <a:off x="10475375" y="5817763"/>
            <a:ext cx="459326" cy="540076"/>
          </a:xfrm>
          <a:prstGeom prst="rect">
            <a:avLst/>
          </a:prstGeom>
          <a:noFill/>
          <a:ln/>
        </p:spPr>
        <p:txBody>
          <a:bodyPr wrap="none" lIns="25400" tIns="25400" rIns="25400" bIns="25400" rtlCol="0" anchor="t">
            <a:normAutofit/>
          </a:bodyPr>
          <a:lstStyle/>
          <a:p>
            <a:pPr marL="0" indent="0" algn="l">
              <a:lnSpc>
                <a:spcPct val="130200"/>
              </a:lnSpc>
              <a:buNone/>
            </a:pPr>
            <a:r>
              <a:rPr lang="en-US" sz="2550" dirty="0">
                <a:solidFill>
                  <a:srgbClr val="1D1F20"/>
                </a:solidFill>
                <a:latin typeface="Barlow Condensed" pitchFamily="34" charset="0"/>
                <a:ea typeface="Barlow Condensed" pitchFamily="34" charset="-122"/>
                <a:cs typeface="Barlow Condensed" pitchFamily="34" charset="-120"/>
              </a:rPr>
              <a:t>{{alloc_9_pct}}</a:t>
            </a:r>
            <a:endParaRPr lang="en-US" sz="2550" dirty="0"/>
          </a:p>
        </p:txBody>
      </p:sp>
      <p:sp>
        <p:nvSpPr>
          <p:cNvPr id="50" name="Text 46"/>
          <p:cNvSpPr/>
          <p:nvPr/>
        </p:nvSpPr>
        <p:spPr>
          <a:xfrm>
            <a:off x="9582136" y="5917548"/>
            <a:ext cx="2495479" cy="407194"/>
          </a:xfrm>
          <a:prstGeom prst="rect">
            <a:avLst/>
          </a:prstGeom>
          <a:noFill/>
          <a:ln/>
        </p:spPr>
        <p:txBody>
          <a:bodyPr wrap="none" lIns="25400" tIns="25400" rIns="25400" bIns="25400" rtlCol="0" anchor="t">
            <a:normAutofit fontScale="92500"/>
          </a:bodyPr>
          <a:lstStyle/>
          <a:p>
            <a:pPr marL="0" indent="0" algn="r">
              <a:lnSpc>
                <a:spcPct val="131250"/>
              </a:lnSpc>
              <a:buNone/>
            </a:pPr>
            <a:r>
              <a:rPr lang="en-US" sz="2100" b="1" dirty="0">
                <a:solidFill>
                  <a:srgbClr val="0070C0"/>
                </a:solidFill>
                <a:latin typeface="Barlow" pitchFamily="34" charset="0"/>
                <a:ea typeface="Barlow" pitchFamily="34" charset="-122"/>
                <a:cs typeface="Barlow" pitchFamily="34" charset="-120"/>
              </a:rPr>
              <a:t>{{alloc_9_value}}</a:t>
            </a:r>
            <a:endParaRPr lang="en-US" sz="2100" b="1" dirty="0">
              <a:solidFill>
                <a:srgbClr val="0070C0"/>
              </a:solidFill>
            </a:endParaRPr>
          </a:p>
        </p:txBody>
      </p:sp>
      <p:sp>
        <p:nvSpPr>
          <p:cNvPr id="51" name="Text 47"/>
          <p:cNvSpPr/>
          <p:nvPr/>
        </p:nvSpPr>
        <p:spPr>
          <a:xfrm>
            <a:off x="7315116" y="6824479"/>
            <a:ext cx="9388574" cy="1638073"/>
          </a:xfrm>
          <a:prstGeom prst="rect">
            <a:avLst/>
          </a:prstGeom>
          <a:noFill/>
          <a:ln/>
        </p:spPr>
        <p:txBody>
          <a:bodyPr wrap="square" lIns="25400" tIns="25400" rIns="25400" bIns="25400" rtlCol="0" anchor="t">
            <a:normAutofit/>
          </a:bodyPr>
          <a:lstStyle/>
          <a:p>
            <a:pPr marL="0" indent="0" algn="l">
              <a:lnSpc>
                <a:spcPct val="124225"/>
              </a:lnSpc>
              <a:buNone/>
            </a:pPr>
            <a:r>
              <a:rPr lang="en-US" sz="2100" dirty="0">
                <a:solidFill>
                  <a:srgbClr val="1D1F20">
                    <a:alpha val="90000"/>
                  </a:srgbClr>
                </a:solidFill>
                <a:latin typeface="Barlow" pitchFamily="34" charset="0"/>
                <a:ea typeface="Barlow" pitchFamily="34" charset="-122"/>
                <a:cs typeface="Barlow" pitchFamily="34" charset="-120"/>
              </a:rPr>
              <a:t>{{allocation_comment}}</a:t>
            </a:r>
            <a:endParaRPr lang="en-US" sz="2100" dirty="0"/>
          </a:p>
        </p:txBody>
      </p:sp>
      <p:sp>
        <p:nvSpPr>
          <p:cNvPr id="52" name="Text 48"/>
          <p:cNvSpPr/>
          <p:nvPr/>
        </p:nvSpPr>
        <p:spPr>
          <a:xfrm>
            <a:off x="7315116" y="8595888"/>
            <a:ext cx="11064287"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Percentages reflect the current market value of holdings shared for this review.</a:t>
            </a:r>
            <a:endParaRPr lang="en-US" sz="2100" dirty="0"/>
          </a:p>
        </p:txBody>
      </p:sp>
      <p:sp>
        <p:nvSpPr>
          <p:cNvPr id="53" name="Text 49"/>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54" name="Text 50"/>
          <p:cNvSpPr/>
          <p:nvPr/>
        </p:nvSpPr>
        <p:spPr>
          <a:xfrm>
            <a:off x="16703690" y="9475462"/>
            <a:ext cx="746068"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3753640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3802148"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ASSET BUCKETS</a:t>
            </a:r>
            <a:endParaRPr lang="en-US" sz="2100" b="1" dirty="0">
              <a:solidFill>
                <a:srgbClr val="2A3480"/>
              </a:solidFill>
              <a:latin typeface="Barlow"/>
            </a:endParaRPr>
          </a:p>
        </p:txBody>
      </p:sp>
      <p:sp>
        <p:nvSpPr>
          <p:cNvPr id="3" name="Text 1"/>
          <p:cNvSpPr/>
          <p:nvPr/>
        </p:nvSpPr>
        <p:spPr>
          <a:xfrm>
            <a:off x="914372" y="1178148"/>
            <a:ext cx="3802148"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Classification</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400" y="2477138"/>
            <a:ext cx="5461000" cy="914372"/>
          </a:xfrm>
          <a:prstGeom prst="rect">
            <a:avLst/>
          </a:prstGeom>
          <a:solidFill>
            <a:srgbClr val="141A45"/>
          </a:solidFill>
          <a:ln/>
        </p:spPr>
        <p:txBody>
          <a:bodyPr/>
          <a:lstStyle/>
          <a:p>
            <a:endParaRPr lang="en-US"/>
          </a:p>
        </p:txBody>
      </p:sp>
      <p:sp>
        <p:nvSpPr>
          <p:cNvPr id="7" name="Text 4"/>
          <p:cNvSpPr/>
          <p:nvPr/>
        </p:nvSpPr>
        <p:spPr>
          <a:xfrm>
            <a:off x="1219200" y="2477138"/>
            <a:ext cx="4851400" cy="952472"/>
          </a:xfrm>
          <a:prstGeom prst="rect">
            <a:avLst/>
          </a:prstGeom>
          <a:noFill/>
          <a:ln/>
        </p:spPr>
        <p:txBody>
          <a:bodyPr wrap="none" lIns="25400" tIns="25400" rIns="25400" bIns="25400" rtlCol="0" anchor="ctr">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{{bucket_fixed_pct}}</a:t>
            </a:r>
            <a:endParaRPr lang="en-US" sz="3300" dirty="0"/>
          </a:p>
        </p:txBody>
      </p:sp>
      <p:sp>
        <p:nvSpPr>
          <p:cNvPr id="8" name="Shape 5"/>
          <p:cNvSpPr/>
          <p:nvPr/>
        </p:nvSpPr>
        <p:spPr>
          <a:xfrm>
            <a:off x="6413500" y="2477138"/>
            <a:ext cx="5461000" cy="914372"/>
          </a:xfrm>
          <a:prstGeom prst="rect">
            <a:avLst/>
          </a:prstGeom>
          <a:solidFill>
            <a:srgbClr val="1A7AB5"/>
          </a:solidFill>
          <a:ln/>
        </p:spPr>
        <p:txBody>
          <a:bodyPr/>
          <a:lstStyle/>
          <a:p>
            <a:endParaRPr lang="en-US"/>
          </a:p>
        </p:txBody>
      </p:sp>
      <p:sp>
        <p:nvSpPr>
          <p:cNvPr id="9" name="Text 6"/>
          <p:cNvSpPr/>
          <p:nvPr/>
        </p:nvSpPr>
        <p:spPr>
          <a:xfrm>
            <a:off x="6718300" y="2477138"/>
            <a:ext cx="4851400" cy="952472"/>
          </a:xfrm>
          <a:prstGeom prst="rect">
            <a:avLst/>
          </a:prstGeom>
          <a:noFill/>
          <a:ln/>
        </p:spPr>
        <p:txBody>
          <a:bodyPr wrap="none" lIns="25400" tIns="25400" rIns="25400" bIns="25400" rtlCol="0" anchor="ctr">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{{bucket_liquid_pct}}</a:t>
            </a:r>
            <a:endParaRPr lang="en-US" sz="3300" dirty="0"/>
          </a:p>
        </p:txBody>
      </p:sp>
      <p:sp>
        <p:nvSpPr>
          <p:cNvPr id="10" name="Shape 7"/>
          <p:cNvSpPr/>
          <p:nvPr/>
        </p:nvSpPr>
        <p:spPr>
          <a:xfrm>
            <a:off x="11912600" y="2477138"/>
            <a:ext cx="5461000" cy="914372"/>
          </a:xfrm>
          <a:prstGeom prst="rect">
            <a:avLst/>
          </a:prstGeom>
          <a:solidFill>
            <a:srgbClr val="2F7D3A"/>
          </a:solidFill>
          <a:ln/>
        </p:spPr>
        <p:txBody>
          <a:bodyPr/>
          <a:lstStyle/>
          <a:p>
            <a:endParaRPr lang="en-US"/>
          </a:p>
        </p:txBody>
      </p:sp>
      <p:sp>
        <p:nvSpPr>
          <p:cNvPr id="11" name="Text 8"/>
          <p:cNvSpPr/>
          <p:nvPr/>
        </p:nvSpPr>
        <p:spPr>
          <a:xfrm>
            <a:off x="12217400" y="2477138"/>
            <a:ext cx="4851400" cy="952472"/>
          </a:xfrm>
          <a:prstGeom prst="rect">
            <a:avLst/>
          </a:prstGeom>
          <a:noFill/>
          <a:ln/>
        </p:spPr>
        <p:txBody>
          <a:bodyPr wrap="none" lIns="25400" tIns="25400" rIns="25400" bIns="25400" rtlCol="0" anchor="ctr">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{{bucket_retirement_pct}}</a:t>
            </a:r>
            <a:endParaRPr lang="en-US" sz="3300" dirty="0"/>
          </a:p>
        </p:txBody>
      </p:sp>
      <p:sp>
        <p:nvSpPr>
          <p:cNvPr id="12" name="Shape 9"/>
          <p:cNvSpPr/>
          <p:nvPr/>
        </p:nvSpPr>
        <p:spPr>
          <a:xfrm>
            <a:off x="914400" y="3772510"/>
            <a:ext cx="5461000" cy="5512452"/>
          </a:xfrm>
          <a:prstGeom prst="rect">
            <a:avLst/>
          </a:prstGeom>
          <a:ln w="9071">
            <a:solidFill>
              <a:srgbClr val="1F1F1F">
                <a:alpha val="16000"/>
              </a:srgbClr>
            </a:solidFill>
            <a:prstDash val="solid"/>
          </a:ln>
        </p:spPr>
        <p:txBody>
          <a:bodyPr/>
          <a:lstStyle/>
          <a:p>
            <a:endParaRPr lang="en-US"/>
          </a:p>
        </p:txBody>
      </p:sp>
      <p:sp>
        <p:nvSpPr>
          <p:cNvPr id="13" name="Shape 10"/>
          <p:cNvSpPr/>
          <p:nvPr/>
        </p:nvSpPr>
        <p:spPr>
          <a:xfrm>
            <a:off x="1308100" y="4344648"/>
            <a:ext cx="190500" cy="190500"/>
          </a:xfrm>
          <a:prstGeom prst="rect">
            <a:avLst/>
          </a:prstGeom>
          <a:solidFill>
            <a:srgbClr val="141A45"/>
          </a:solidFill>
          <a:ln/>
        </p:spPr>
        <p:txBody>
          <a:bodyPr/>
          <a:lstStyle/>
          <a:p>
            <a:endParaRPr lang="en-US"/>
          </a:p>
        </p:txBody>
      </p:sp>
      <p:sp>
        <p:nvSpPr>
          <p:cNvPr id="14" name="Text 11"/>
          <p:cNvSpPr/>
          <p:nvPr/>
        </p:nvSpPr>
        <p:spPr>
          <a:xfrm>
            <a:off x="1651000" y="4162581"/>
            <a:ext cx="4419600" cy="592804"/>
          </a:xfrm>
          <a:prstGeom prst="rect">
            <a:avLst/>
          </a:prstGeom>
          <a:noFill/>
          <a:ln/>
        </p:spPr>
        <p:txBody>
          <a:bodyPr wrap="square" lIns="25400" tIns="25400" rIns="25400" bIns="25400" rtlCol="0" anchor="t">
            <a:normAutofit lnSpcReduction="10000"/>
          </a:bodyPr>
          <a:lstStyle/>
          <a:p>
            <a:pPr marL="0" indent="0" algn="l">
              <a:lnSpc>
                <a:spcPct val="93362"/>
              </a:lnSpc>
              <a:buNone/>
            </a:pPr>
            <a:r>
              <a:rPr lang="en-US" sz="3900" b="1" kern="0" spc="-58" dirty="0">
                <a:solidFill>
                  <a:srgbClr val="1D1F20"/>
                </a:solidFill>
                <a:latin typeface="Barlow Condensed" pitchFamily="34" charset="0"/>
                <a:ea typeface="Barlow Condensed" pitchFamily="34" charset="-122"/>
                <a:cs typeface="Barlow Condensed" pitchFamily="34" charset="-120"/>
              </a:rPr>
              <a:t>Fixed Assets</a:t>
            </a:r>
            <a:endParaRPr lang="en-US" sz="3900" dirty="0"/>
          </a:p>
        </p:txBody>
      </p:sp>
      <p:sp>
        <p:nvSpPr>
          <p:cNvPr id="15" name="Text 12"/>
          <p:cNvSpPr/>
          <p:nvPr/>
        </p:nvSpPr>
        <p:spPr>
          <a:xfrm>
            <a:off x="1308100" y="4964907"/>
            <a:ext cx="4762500" cy="1638073"/>
          </a:xfrm>
          <a:prstGeom prst="rect">
            <a:avLst/>
          </a:prstGeom>
          <a:noFill/>
          <a:ln/>
        </p:spPr>
        <p:txBody>
          <a:bodyPr wrap="square" lIns="25400" tIns="25400" rIns="25400" bIns="25400" rtlCol="0" anchor="t">
            <a:normAutofit fontScale="92500"/>
          </a:bodyPr>
          <a:lstStyle/>
          <a:p>
            <a:pPr marL="0" indent="0" algn="l">
              <a:lnSpc>
                <a:spcPct val="124225"/>
              </a:lnSpc>
              <a:buNone/>
            </a:pPr>
            <a:r>
              <a:rPr lang="en-US" sz="2100" dirty="0">
                <a:solidFill>
                  <a:srgbClr val="1D1F20">
                    <a:alpha val="90000"/>
                  </a:srgbClr>
                </a:solidFill>
                <a:latin typeface="Barlow" pitchFamily="34" charset="0"/>
                <a:ea typeface="Barlow" pitchFamily="34" charset="-122"/>
                <a:cs typeface="Barlow" pitchFamily="34" charset="-120"/>
              </a:rPr>
              <a:t>Residential and other real estate, are considered Fixed assets. Having a large allocation in these assets limits the portfolio’s flexibility and growth potential</a:t>
            </a:r>
            <a:endParaRPr lang="en-US" sz="2100" dirty="0"/>
          </a:p>
        </p:txBody>
      </p:sp>
      <p:sp>
        <p:nvSpPr>
          <p:cNvPr id="16" name="Text 13"/>
          <p:cNvSpPr/>
          <p:nvPr/>
        </p:nvSpPr>
        <p:spPr>
          <a:xfrm>
            <a:off x="1308100" y="7854723"/>
            <a:ext cx="476250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VALUE</a:t>
            </a:r>
            <a:endParaRPr lang="en-US" sz="2100" dirty="0"/>
          </a:p>
        </p:txBody>
      </p:sp>
      <p:sp>
        <p:nvSpPr>
          <p:cNvPr id="17" name="Text 14"/>
          <p:cNvSpPr/>
          <p:nvPr/>
        </p:nvSpPr>
        <p:spPr>
          <a:xfrm>
            <a:off x="1308100" y="8285262"/>
            <a:ext cx="4762500" cy="647728"/>
          </a:xfrm>
          <a:prstGeom prst="rect">
            <a:avLst/>
          </a:prstGeom>
          <a:noFill/>
          <a:ln/>
        </p:spPr>
        <p:txBody>
          <a:bodyPr wrap="none" lIns="25400" tIns="25400" rIns="25400" bIns="25400" rtlCol="0" anchor="t">
            <a:normAutofit lnSpcReduction="10000"/>
          </a:bodyPr>
          <a:lstStyle/>
          <a:p>
            <a:pPr marL="0" indent="0" algn="l">
              <a:lnSpc>
                <a:spcPct val="83478"/>
              </a:lnSpc>
              <a:buNone/>
            </a:pPr>
            <a:r>
              <a:rPr lang="en-US" sz="4800" dirty="0">
                <a:solidFill>
                  <a:srgbClr val="1D1F20"/>
                </a:solidFill>
                <a:latin typeface="Barlow Condensed" pitchFamily="34" charset="0"/>
                <a:ea typeface="Barlow Condensed" pitchFamily="34" charset="-122"/>
                <a:cs typeface="Barlow Condensed" pitchFamily="34" charset="-120"/>
              </a:rPr>
              <a:t>~ {{bucket_fixed_value}}</a:t>
            </a:r>
            <a:endParaRPr lang="en-US" sz="4800" dirty="0"/>
          </a:p>
        </p:txBody>
      </p:sp>
      <p:sp>
        <p:nvSpPr>
          <p:cNvPr id="18" name="Shape 15"/>
          <p:cNvSpPr/>
          <p:nvPr/>
        </p:nvSpPr>
        <p:spPr>
          <a:xfrm>
            <a:off x="6413500" y="3772510"/>
            <a:ext cx="5461000" cy="5512452"/>
          </a:xfrm>
          <a:prstGeom prst="rect">
            <a:avLst/>
          </a:prstGeom>
          <a:ln w="9071">
            <a:solidFill>
              <a:srgbClr val="1F1F1F">
                <a:alpha val="16000"/>
              </a:srgbClr>
            </a:solidFill>
            <a:prstDash val="solid"/>
          </a:ln>
        </p:spPr>
        <p:txBody>
          <a:bodyPr/>
          <a:lstStyle/>
          <a:p>
            <a:endParaRPr lang="en-US"/>
          </a:p>
        </p:txBody>
      </p:sp>
      <p:sp>
        <p:nvSpPr>
          <p:cNvPr id="19" name="Shape 16"/>
          <p:cNvSpPr/>
          <p:nvPr/>
        </p:nvSpPr>
        <p:spPr>
          <a:xfrm>
            <a:off x="6807200" y="4344648"/>
            <a:ext cx="190500" cy="190500"/>
          </a:xfrm>
          <a:prstGeom prst="rect">
            <a:avLst/>
          </a:prstGeom>
          <a:solidFill>
            <a:srgbClr val="1A7AB5"/>
          </a:solidFill>
          <a:ln/>
        </p:spPr>
        <p:txBody>
          <a:bodyPr/>
          <a:lstStyle/>
          <a:p>
            <a:endParaRPr lang="en-US"/>
          </a:p>
        </p:txBody>
      </p:sp>
      <p:sp>
        <p:nvSpPr>
          <p:cNvPr id="20" name="Text 17"/>
          <p:cNvSpPr/>
          <p:nvPr/>
        </p:nvSpPr>
        <p:spPr>
          <a:xfrm>
            <a:off x="7150100" y="4162581"/>
            <a:ext cx="4419600" cy="592804"/>
          </a:xfrm>
          <a:prstGeom prst="rect">
            <a:avLst/>
          </a:prstGeom>
          <a:noFill/>
          <a:ln/>
        </p:spPr>
        <p:txBody>
          <a:bodyPr wrap="square" lIns="25400" tIns="25400" rIns="25400" bIns="25400" rtlCol="0" anchor="t">
            <a:normAutofit lnSpcReduction="10000"/>
          </a:bodyPr>
          <a:lstStyle/>
          <a:p>
            <a:pPr marL="0" indent="0" algn="l">
              <a:lnSpc>
                <a:spcPct val="93362"/>
              </a:lnSpc>
              <a:buNone/>
            </a:pPr>
            <a:r>
              <a:rPr lang="en-US" sz="3900" b="1" kern="0" spc="-58" dirty="0">
                <a:solidFill>
                  <a:srgbClr val="1D1F20"/>
                </a:solidFill>
                <a:latin typeface="Barlow Condensed" pitchFamily="34" charset="0"/>
                <a:ea typeface="Barlow Condensed" pitchFamily="34" charset="-122"/>
                <a:cs typeface="Barlow Condensed" pitchFamily="34" charset="-120"/>
              </a:rPr>
              <a:t>Liquid Assets</a:t>
            </a:r>
            <a:endParaRPr lang="en-US" sz="3900" dirty="0"/>
          </a:p>
        </p:txBody>
      </p:sp>
      <p:sp>
        <p:nvSpPr>
          <p:cNvPr id="21" name="Text 18"/>
          <p:cNvSpPr/>
          <p:nvPr/>
        </p:nvSpPr>
        <p:spPr>
          <a:xfrm>
            <a:off x="6807200" y="4964907"/>
            <a:ext cx="4762500" cy="2038067"/>
          </a:xfrm>
          <a:prstGeom prst="rect">
            <a:avLst/>
          </a:prstGeom>
          <a:noFill/>
          <a:ln/>
        </p:spPr>
        <p:txBody>
          <a:bodyPr wrap="square" lIns="25400" tIns="25400" rIns="25400" bIns="25400" rtlCol="0" anchor="t">
            <a:normAutofit/>
          </a:bodyPr>
          <a:lstStyle/>
          <a:p>
            <a:pPr marL="0" indent="0" algn="l">
              <a:lnSpc>
                <a:spcPct val="124225"/>
              </a:lnSpc>
              <a:buNone/>
            </a:pPr>
            <a:r>
              <a:rPr lang="en-US" sz="2100" dirty="0">
                <a:solidFill>
                  <a:srgbClr val="1D1F20">
                    <a:alpha val="90000"/>
                  </a:srgbClr>
                </a:solidFill>
                <a:latin typeface="Barlow" pitchFamily="34" charset="0"/>
                <a:ea typeface="Barlow" pitchFamily="34" charset="-122"/>
                <a:cs typeface="Barlow" pitchFamily="34" charset="-120"/>
              </a:rPr>
              <a:t>Mutual funds, direct equity, FDs and SGB are considered under liquid assets. The required allocation to liquid assets depends on each individual’s goal timelines.</a:t>
            </a:r>
            <a:endParaRPr lang="en-US" sz="2100" dirty="0"/>
          </a:p>
        </p:txBody>
      </p:sp>
      <p:sp>
        <p:nvSpPr>
          <p:cNvPr id="22" name="Text 19"/>
          <p:cNvSpPr/>
          <p:nvPr/>
        </p:nvSpPr>
        <p:spPr>
          <a:xfrm>
            <a:off x="6807200" y="7854723"/>
            <a:ext cx="476250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VALUE</a:t>
            </a:r>
            <a:endParaRPr lang="en-US" sz="2100" dirty="0"/>
          </a:p>
        </p:txBody>
      </p:sp>
      <p:sp>
        <p:nvSpPr>
          <p:cNvPr id="23" name="Text 20"/>
          <p:cNvSpPr/>
          <p:nvPr/>
        </p:nvSpPr>
        <p:spPr>
          <a:xfrm>
            <a:off x="6807200" y="8285262"/>
            <a:ext cx="4762500" cy="647728"/>
          </a:xfrm>
          <a:prstGeom prst="rect">
            <a:avLst/>
          </a:prstGeom>
          <a:noFill/>
          <a:ln/>
        </p:spPr>
        <p:txBody>
          <a:bodyPr wrap="none" lIns="25400" tIns="25400" rIns="25400" bIns="25400" rtlCol="0" anchor="t">
            <a:normAutofit lnSpcReduction="10000"/>
          </a:bodyPr>
          <a:lstStyle/>
          <a:p>
            <a:pPr marL="0" indent="0" algn="l">
              <a:lnSpc>
                <a:spcPct val="83478"/>
              </a:lnSpc>
              <a:buNone/>
            </a:pPr>
            <a:r>
              <a:rPr lang="en-US" sz="4800" dirty="0">
                <a:solidFill>
                  <a:srgbClr val="1D1F20"/>
                </a:solidFill>
                <a:latin typeface="Barlow Condensed" pitchFamily="34" charset="0"/>
                <a:ea typeface="Barlow Condensed" pitchFamily="34" charset="-122"/>
                <a:cs typeface="Barlow Condensed" pitchFamily="34" charset="-120"/>
              </a:rPr>
              <a:t>~ {{bucket_liquid_value}}</a:t>
            </a:r>
            <a:endParaRPr lang="en-US" sz="4800" dirty="0"/>
          </a:p>
        </p:txBody>
      </p:sp>
      <p:sp>
        <p:nvSpPr>
          <p:cNvPr id="24" name="Shape 21"/>
          <p:cNvSpPr/>
          <p:nvPr/>
        </p:nvSpPr>
        <p:spPr>
          <a:xfrm>
            <a:off x="11912600" y="3772510"/>
            <a:ext cx="5461000" cy="5512452"/>
          </a:xfrm>
          <a:prstGeom prst="rect">
            <a:avLst/>
          </a:prstGeom>
          <a:ln w="9071">
            <a:solidFill>
              <a:srgbClr val="1F1F1F">
                <a:alpha val="16000"/>
              </a:srgbClr>
            </a:solidFill>
            <a:prstDash val="solid"/>
          </a:ln>
        </p:spPr>
        <p:txBody>
          <a:bodyPr/>
          <a:lstStyle/>
          <a:p>
            <a:endParaRPr lang="en-US"/>
          </a:p>
        </p:txBody>
      </p:sp>
      <p:sp>
        <p:nvSpPr>
          <p:cNvPr id="25" name="Shape 22"/>
          <p:cNvSpPr/>
          <p:nvPr/>
        </p:nvSpPr>
        <p:spPr>
          <a:xfrm>
            <a:off x="12306300" y="4344648"/>
            <a:ext cx="190500" cy="190500"/>
          </a:xfrm>
          <a:prstGeom prst="rect">
            <a:avLst/>
          </a:prstGeom>
          <a:solidFill>
            <a:srgbClr val="2F7D3A"/>
          </a:solidFill>
          <a:ln/>
        </p:spPr>
        <p:txBody>
          <a:bodyPr/>
          <a:lstStyle/>
          <a:p>
            <a:endParaRPr lang="en-US"/>
          </a:p>
        </p:txBody>
      </p:sp>
      <p:sp>
        <p:nvSpPr>
          <p:cNvPr id="26" name="Text 23"/>
          <p:cNvSpPr/>
          <p:nvPr/>
        </p:nvSpPr>
        <p:spPr>
          <a:xfrm>
            <a:off x="12649200" y="4162581"/>
            <a:ext cx="4419600" cy="592804"/>
          </a:xfrm>
          <a:prstGeom prst="rect">
            <a:avLst/>
          </a:prstGeom>
          <a:noFill/>
          <a:ln/>
        </p:spPr>
        <p:txBody>
          <a:bodyPr wrap="square" lIns="25400" tIns="25400" rIns="25400" bIns="25400" rtlCol="0" anchor="t">
            <a:normAutofit lnSpcReduction="10000"/>
          </a:bodyPr>
          <a:lstStyle/>
          <a:p>
            <a:pPr marL="0" indent="0" algn="l">
              <a:lnSpc>
                <a:spcPct val="93362"/>
              </a:lnSpc>
              <a:buNone/>
            </a:pPr>
            <a:r>
              <a:rPr lang="en-US" sz="3900" b="1" kern="0" spc="-58" dirty="0">
                <a:solidFill>
                  <a:srgbClr val="1D1F20"/>
                </a:solidFill>
                <a:latin typeface="Barlow Condensed" pitchFamily="34" charset="0"/>
                <a:ea typeface="Barlow Condensed" pitchFamily="34" charset="-122"/>
                <a:cs typeface="Barlow Condensed" pitchFamily="34" charset="-120"/>
              </a:rPr>
              <a:t>Retirement Assets</a:t>
            </a:r>
            <a:endParaRPr lang="en-US" sz="3900" dirty="0"/>
          </a:p>
        </p:txBody>
      </p:sp>
      <p:sp>
        <p:nvSpPr>
          <p:cNvPr id="27" name="Text 24"/>
          <p:cNvSpPr/>
          <p:nvPr/>
        </p:nvSpPr>
        <p:spPr>
          <a:xfrm>
            <a:off x="12306300" y="4964907"/>
            <a:ext cx="4762500" cy="2438060"/>
          </a:xfrm>
          <a:prstGeom prst="rect">
            <a:avLst/>
          </a:prstGeom>
          <a:noFill/>
          <a:ln/>
        </p:spPr>
        <p:txBody>
          <a:bodyPr wrap="square" lIns="25400" tIns="25400" rIns="25400" bIns="25400" rtlCol="0" anchor="t">
            <a:normAutofit/>
          </a:bodyPr>
          <a:lstStyle/>
          <a:p>
            <a:pPr marL="0" indent="0" algn="l">
              <a:lnSpc>
                <a:spcPct val="124225"/>
              </a:lnSpc>
              <a:buNone/>
            </a:pPr>
            <a:r>
              <a:rPr lang="en-US" sz="2100" dirty="0">
                <a:solidFill>
                  <a:srgbClr val="1D1F20">
                    <a:alpha val="90000"/>
                  </a:srgbClr>
                </a:solidFill>
                <a:latin typeface="Barlow" pitchFamily="34" charset="0"/>
                <a:ea typeface="Barlow" pitchFamily="34" charset="-122"/>
                <a:cs typeface="Barlow" pitchFamily="34" charset="-120"/>
              </a:rPr>
              <a:t>{{bucket_retirement_desc}}</a:t>
            </a:r>
            <a:endParaRPr lang="en-US" sz="2100" dirty="0"/>
          </a:p>
        </p:txBody>
      </p:sp>
      <p:sp>
        <p:nvSpPr>
          <p:cNvPr id="28" name="Text 25"/>
          <p:cNvSpPr/>
          <p:nvPr/>
        </p:nvSpPr>
        <p:spPr>
          <a:xfrm>
            <a:off x="12306300" y="7854723"/>
            <a:ext cx="476250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VALUE</a:t>
            </a:r>
            <a:endParaRPr lang="en-US" sz="2100" dirty="0"/>
          </a:p>
        </p:txBody>
      </p:sp>
      <p:sp>
        <p:nvSpPr>
          <p:cNvPr id="29" name="Text 26"/>
          <p:cNvSpPr/>
          <p:nvPr/>
        </p:nvSpPr>
        <p:spPr>
          <a:xfrm>
            <a:off x="12306300" y="8285262"/>
            <a:ext cx="4762500" cy="647728"/>
          </a:xfrm>
          <a:prstGeom prst="rect">
            <a:avLst/>
          </a:prstGeom>
          <a:noFill/>
          <a:ln/>
        </p:spPr>
        <p:txBody>
          <a:bodyPr wrap="none" lIns="25400" tIns="25400" rIns="25400" bIns="25400" rtlCol="0" anchor="t">
            <a:normAutofit lnSpcReduction="10000"/>
          </a:bodyPr>
          <a:lstStyle/>
          <a:p>
            <a:pPr marL="0" indent="0" algn="l">
              <a:lnSpc>
                <a:spcPct val="83478"/>
              </a:lnSpc>
              <a:buNone/>
            </a:pPr>
            <a:r>
              <a:rPr lang="en-US" sz="4800" dirty="0">
                <a:solidFill>
                  <a:srgbClr val="1D1F20"/>
                </a:solidFill>
                <a:latin typeface="Barlow Condensed" pitchFamily="34" charset="0"/>
                <a:ea typeface="Barlow Condensed" pitchFamily="34" charset="-122"/>
                <a:cs typeface="Barlow Condensed" pitchFamily="34" charset="-120"/>
              </a:rPr>
              <a:t>~ {{bucket_retirement_value}}</a:t>
            </a:r>
            <a:endParaRPr lang="en-US" sz="4800" dirty="0"/>
          </a:p>
        </p:txBody>
      </p:sp>
      <p:sp>
        <p:nvSpPr>
          <p:cNvPr id="30" name="Text 27"/>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1" name="Text 28"/>
          <p:cNvSpPr/>
          <p:nvPr/>
        </p:nvSpPr>
        <p:spPr>
          <a:xfrm>
            <a:off x="16703478" y="9475462"/>
            <a:ext cx="746281"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1839758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2F2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
          </a:blip>
          <a:srcRect t="4130" b="4130"/>
          <a:stretch/>
        </p:blipFill>
        <p:spPr>
          <a:xfrm>
            <a:off x="0" y="0"/>
            <a:ext cx="18287930" cy="10287001"/>
          </a:xfrm>
          <a:prstGeom prst="rect">
            <a:avLst/>
          </a:prstGeom>
        </p:spPr>
      </p:pic>
      <p:sp>
        <p:nvSpPr>
          <p:cNvPr id="3" name="Text 0"/>
          <p:cNvSpPr/>
          <p:nvPr/>
        </p:nvSpPr>
        <p:spPr>
          <a:xfrm>
            <a:off x="914372" y="571429"/>
            <a:ext cx="6744190"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DIAGNOSTIC</a:t>
            </a:r>
            <a:endParaRPr lang="en-US" sz="2100" b="1" dirty="0">
              <a:solidFill>
                <a:srgbClr val="2A3480"/>
              </a:solidFill>
              <a:latin typeface="Barlow"/>
            </a:endParaRPr>
          </a:p>
        </p:txBody>
      </p:sp>
      <p:sp>
        <p:nvSpPr>
          <p:cNvPr id="4" name="Text 1"/>
          <p:cNvSpPr/>
          <p:nvPr/>
        </p:nvSpPr>
        <p:spPr>
          <a:xfrm>
            <a:off x="878512" y="1115396"/>
            <a:ext cx="6744190"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Current Financial Health</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a:p>
        </p:txBody>
      </p:sp>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14372" y="3667480"/>
            <a:ext cx="6857930" cy="3977538"/>
          </a:xfrm>
          <a:prstGeom prst="rect">
            <a:avLst/>
          </a:prstGeom>
        </p:spPr>
      </p:pic>
      <p:sp>
        <p:nvSpPr>
          <p:cNvPr id="8" name="Text 3"/>
          <p:cNvSpPr/>
          <p:nvPr/>
        </p:nvSpPr>
        <p:spPr>
          <a:xfrm>
            <a:off x="1142929" y="7721204"/>
            <a:ext cx="205397"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0</a:t>
            </a:r>
            <a:endParaRPr lang="en-US" sz="2100" dirty="0"/>
          </a:p>
        </p:txBody>
      </p:sp>
      <p:sp>
        <p:nvSpPr>
          <p:cNvPr id="9" name="Text 4"/>
          <p:cNvSpPr/>
          <p:nvPr/>
        </p:nvSpPr>
        <p:spPr>
          <a:xfrm>
            <a:off x="7205408" y="7721204"/>
            <a:ext cx="414536"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100</a:t>
            </a:r>
            <a:endParaRPr lang="en-US" sz="2100" dirty="0"/>
          </a:p>
        </p:txBody>
      </p:sp>
      <p:sp>
        <p:nvSpPr>
          <p:cNvPr id="10" name="Text 5"/>
          <p:cNvSpPr/>
          <p:nvPr/>
        </p:nvSpPr>
        <p:spPr>
          <a:xfrm>
            <a:off x="8534301" y="2703499"/>
            <a:ext cx="9104435" cy="2467188"/>
          </a:xfrm>
          <a:prstGeom prst="rect">
            <a:avLst/>
          </a:prstGeom>
          <a:noFill/>
          <a:ln/>
        </p:spPr>
        <p:txBody>
          <a:bodyPr wrap="square" lIns="25400" tIns="25400" rIns="25400" bIns="25400" rtlCol="0" anchor="t">
            <a:normAutofit/>
          </a:bodyPr>
          <a:lstStyle/>
          <a:p>
            <a:pPr marL="0" indent="0" algn="l">
              <a:lnSpc>
                <a:spcPct val="126000"/>
              </a:lnSpc>
              <a:buNone/>
            </a:pPr>
            <a:r>
              <a:rPr lang="en-US" sz="2550" dirty="0">
                <a:solidFill>
                  <a:srgbClr val="1D1F20">
                    <a:alpha val="90000"/>
                  </a:srgbClr>
                </a:solidFill>
                <a:latin typeface="Barlow" pitchFamily="34" charset="0"/>
                <a:ea typeface="Barlow" pitchFamily="34" charset="-122"/>
                <a:cs typeface="Barlow" pitchFamily="34" charset="-120"/>
              </a:rPr>
              <a:t>{{health_summary}}</a:t>
            </a:r>
            <a:endParaRPr lang="en-US" sz="2550" dirty="0"/>
          </a:p>
        </p:txBody>
      </p:sp>
      <p:sp>
        <p:nvSpPr>
          <p:cNvPr id="11" name="Shape 6"/>
          <p:cNvSpPr/>
          <p:nvPr/>
        </p:nvSpPr>
        <p:spPr>
          <a:xfrm>
            <a:off x="8534301" y="5627830"/>
            <a:ext cx="4267257" cy="1553482"/>
          </a:xfrm>
          <a:prstGeom prst="rect">
            <a:avLst/>
          </a:prstGeom>
          <a:ln w="9071">
            <a:solidFill>
              <a:srgbClr val="1F1F1F">
                <a:alpha val="16000"/>
              </a:srgbClr>
            </a:solidFill>
            <a:prstDash val="solid"/>
          </a:ln>
        </p:spPr>
        <p:txBody>
          <a:bodyPr/>
          <a:lstStyle/>
          <a:p>
            <a:endParaRPr lang="en-US"/>
          </a:p>
        </p:txBody>
      </p:sp>
      <p:sp>
        <p:nvSpPr>
          <p:cNvPr id="12" name="Text 7"/>
          <p:cNvSpPr/>
          <p:nvPr/>
        </p:nvSpPr>
        <p:spPr>
          <a:xfrm>
            <a:off x="8829052" y="5903587"/>
            <a:ext cx="404553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SAVINGS RATE</a:t>
            </a:r>
            <a:endParaRPr lang="en-US" sz="2100" dirty="0"/>
          </a:p>
        </p:txBody>
      </p:sp>
      <p:sp>
        <p:nvSpPr>
          <p:cNvPr id="13" name="Text 8"/>
          <p:cNvSpPr/>
          <p:nvPr/>
        </p:nvSpPr>
        <p:spPr>
          <a:xfrm>
            <a:off x="8829052" y="6372183"/>
            <a:ext cx="4045531"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1D1F20"/>
                </a:solidFill>
                <a:latin typeface="Barlow Condensed" pitchFamily="34" charset="0"/>
                <a:ea typeface="Barlow Condensed" pitchFamily="34" charset="-122"/>
                <a:cs typeface="Barlow Condensed" pitchFamily="34" charset="-120"/>
              </a:rPr>
              <a:t>{{savings_pct}}</a:t>
            </a:r>
            <a:endParaRPr lang="en-US" sz="4200" dirty="0"/>
          </a:p>
        </p:txBody>
      </p:sp>
      <p:sp>
        <p:nvSpPr>
          <p:cNvPr id="14" name="Shape 9"/>
          <p:cNvSpPr/>
          <p:nvPr/>
        </p:nvSpPr>
        <p:spPr>
          <a:xfrm>
            <a:off x="13106301" y="5627830"/>
            <a:ext cx="4267257" cy="1553482"/>
          </a:xfrm>
          <a:prstGeom prst="rect">
            <a:avLst/>
          </a:prstGeom>
          <a:ln w="9071">
            <a:solidFill>
              <a:srgbClr val="1F1F1F">
                <a:alpha val="16000"/>
              </a:srgbClr>
            </a:solidFill>
            <a:prstDash val="solid"/>
          </a:ln>
        </p:spPr>
        <p:txBody>
          <a:bodyPr/>
          <a:lstStyle/>
          <a:p>
            <a:endParaRPr lang="en-US"/>
          </a:p>
        </p:txBody>
      </p:sp>
      <p:sp>
        <p:nvSpPr>
          <p:cNvPr id="15" name="Text 10"/>
          <p:cNvSpPr/>
          <p:nvPr/>
        </p:nvSpPr>
        <p:spPr>
          <a:xfrm>
            <a:off x="13401052" y="5903587"/>
            <a:ext cx="404553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EMERGENCY RESERVE</a:t>
            </a:r>
            <a:endParaRPr lang="en-US" sz="2100" dirty="0"/>
          </a:p>
        </p:txBody>
      </p:sp>
      <p:sp>
        <p:nvSpPr>
          <p:cNvPr id="16" name="Text 11"/>
          <p:cNvSpPr/>
          <p:nvPr/>
        </p:nvSpPr>
        <p:spPr>
          <a:xfrm>
            <a:off x="13401052" y="6372183"/>
            <a:ext cx="4045531"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1D1F20"/>
                </a:solidFill>
                <a:latin typeface="Barlow Condensed" pitchFamily="34" charset="0"/>
                <a:ea typeface="Barlow Condensed" pitchFamily="34" charset="-122"/>
                <a:cs typeface="Barlow Condensed" pitchFamily="34" charset="-120"/>
              </a:rPr>
              <a:t>{{emergency_reserve}}</a:t>
            </a:r>
            <a:endParaRPr lang="en-US" sz="4200" dirty="0"/>
          </a:p>
        </p:txBody>
      </p:sp>
      <p:sp>
        <p:nvSpPr>
          <p:cNvPr id="17" name="Shape 12"/>
          <p:cNvSpPr/>
          <p:nvPr/>
        </p:nvSpPr>
        <p:spPr>
          <a:xfrm>
            <a:off x="8534301" y="7486055"/>
            <a:ext cx="4267257" cy="1553482"/>
          </a:xfrm>
          <a:prstGeom prst="rect">
            <a:avLst/>
          </a:prstGeom>
          <a:ln w="9071">
            <a:solidFill>
              <a:srgbClr val="1F1F1F">
                <a:alpha val="16000"/>
              </a:srgbClr>
            </a:solidFill>
            <a:prstDash val="solid"/>
          </a:ln>
        </p:spPr>
        <p:txBody>
          <a:bodyPr/>
          <a:lstStyle/>
          <a:p>
            <a:endParaRPr lang="en-US"/>
          </a:p>
        </p:txBody>
      </p:sp>
      <p:sp>
        <p:nvSpPr>
          <p:cNvPr id="18" name="Text 13"/>
          <p:cNvSpPr/>
          <p:nvPr/>
        </p:nvSpPr>
        <p:spPr>
          <a:xfrm>
            <a:off x="8829052" y="7761812"/>
            <a:ext cx="404553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DEBT TO INCOME</a:t>
            </a:r>
            <a:endParaRPr lang="en-US" sz="2100" dirty="0"/>
          </a:p>
        </p:txBody>
      </p:sp>
      <p:sp>
        <p:nvSpPr>
          <p:cNvPr id="19" name="Text 14"/>
          <p:cNvSpPr/>
          <p:nvPr/>
        </p:nvSpPr>
        <p:spPr>
          <a:xfrm>
            <a:off x="8829052" y="8230409"/>
            <a:ext cx="4045531"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1D1F20"/>
                </a:solidFill>
                <a:latin typeface="Barlow Condensed" pitchFamily="34" charset="0"/>
                <a:ea typeface="Barlow Condensed" pitchFamily="34" charset="-122"/>
                <a:cs typeface="Barlow Condensed" pitchFamily="34" charset="-120"/>
              </a:rPr>
              <a:t>{{emis_pct}}</a:t>
            </a:r>
            <a:endParaRPr lang="en-US" sz="4200" dirty="0"/>
          </a:p>
        </p:txBody>
      </p:sp>
      <p:sp>
        <p:nvSpPr>
          <p:cNvPr id="20" name="Shape 15"/>
          <p:cNvSpPr/>
          <p:nvPr/>
        </p:nvSpPr>
        <p:spPr>
          <a:xfrm>
            <a:off x="13106301" y="7486055"/>
            <a:ext cx="4267257" cy="1553482"/>
          </a:xfrm>
          <a:prstGeom prst="rect">
            <a:avLst/>
          </a:prstGeom>
          <a:ln w="9071">
            <a:solidFill>
              <a:srgbClr val="1F1F1F">
                <a:alpha val="16000"/>
              </a:srgbClr>
            </a:solidFill>
            <a:prstDash val="solid"/>
          </a:ln>
        </p:spPr>
        <p:txBody>
          <a:bodyPr/>
          <a:lstStyle/>
          <a:p>
            <a:endParaRPr lang="en-US"/>
          </a:p>
        </p:txBody>
      </p:sp>
      <p:sp>
        <p:nvSpPr>
          <p:cNvPr id="21" name="Text 16"/>
          <p:cNvSpPr/>
          <p:nvPr/>
        </p:nvSpPr>
        <p:spPr>
          <a:xfrm>
            <a:off x="13401052" y="7761812"/>
            <a:ext cx="404553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GROSS MONTHLY INCOME</a:t>
            </a:r>
            <a:endParaRPr lang="en-US" sz="2100" dirty="0"/>
          </a:p>
        </p:txBody>
      </p:sp>
      <p:sp>
        <p:nvSpPr>
          <p:cNvPr id="22" name="Text 17"/>
          <p:cNvSpPr/>
          <p:nvPr/>
        </p:nvSpPr>
        <p:spPr>
          <a:xfrm>
            <a:off x="13401052" y="8230409"/>
            <a:ext cx="4045531"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1D1F20"/>
                </a:solidFill>
                <a:latin typeface="Barlow Condensed" pitchFamily="34" charset="0"/>
                <a:ea typeface="Barlow Condensed" pitchFamily="34" charset="-122"/>
                <a:cs typeface="Barlow Condensed" pitchFamily="34" charset="-120"/>
              </a:rPr>
              <a:t>{{gross_monthly_income_short}}</a:t>
            </a:r>
            <a:endParaRPr lang="en-US" sz="4200" dirty="0"/>
          </a:p>
        </p:txBody>
      </p:sp>
      <p:sp>
        <p:nvSpPr>
          <p:cNvPr id="23" name="Text 18"/>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24" name="Text 19"/>
          <p:cNvSpPr/>
          <p:nvPr/>
        </p:nvSpPr>
        <p:spPr>
          <a:xfrm>
            <a:off x="16702132" y="9475462"/>
            <a:ext cx="747627"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5542592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3134909"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LIABILITIES</a:t>
            </a:r>
            <a:endParaRPr lang="en-US" sz="2100" b="1" dirty="0">
              <a:solidFill>
                <a:srgbClr val="2A3480"/>
              </a:solidFill>
              <a:latin typeface="Barlow"/>
            </a:endParaRPr>
          </a:p>
        </p:txBody>
      </p:sp>
      <p:sp>
        <p:nvSpPr>
          <p:cNvPr id="3" name="Text 1"/>
          <p:cNvSpPr/>
          <p:nvPr/>
        </p:nvSpPr>
        <p:spPr>
          <a:xfrm>
            <a:off x="887477" y="1124361"/>
            <a:ext cx="10972800"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{{loan_1_name}}</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419945"/>
            <a:ext cx="8001001" cy="4811188"/>
          </a:xfrm>
          <a:prstGeom prst="rect">
            <a:avLst/>
          </a:prstGeom>
          <a:ln w="9071">
            <a:solidFill>
              <a:srgbClr val="1F1F1F">
                <a:alpha val="16000"/>
              </a:srgbClr>
            </a:solidFill>
            <a:prstDash val="solid"/>
          </a:ln>
        </p:spPr>
        <p:txBody>
          <a:bodyPr/>
          <a:lstStyle/>
          <a:p>
            <a:endParaRPr lang="en-US"/>
          </a:p>
        </p:txBody>
      </p:sp>
      <p:sp>
        <p:nvSpPr>
          <p:cNvPr id="7" name="Text 4"/>
          <p:cNvSpPr/>
          <p:nvPr/>
        </p:nvSpPr>
        <p:spPr>
          <a:xfrm>
            <a:off x="1209122" y="2676639"/>
            <a:ext cx="81526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LOAN DETAILS</a:t>
            </a:r>
            <a:endParaRPr lang="en-US" sz="2100" dirty="0"/>
          </a:p>
        </p:txBody>
      </p:sp>
      <p:sp>
        <p:nvSpPr>
          <p:cNvPr id="8" name="Shape 5"/>
          <p:cNvSpPr/>
          <p:nvPr/>
        </p:nvSpPr>
        <p:spPr>
          <a:xfrm>
            <a:off x="1209122" y="3915526"/>
            <a:ext cx="7411499" cy="9525"/>
          </a:xfrm>
          <a:prstGeom prst="rect">
            <a:avLst/>
          </a:prstGeom>
          <a:solidFill>
            <a:srgbClr val="1D1F20">
              <a:alpha val="12000"/>
            </a:srgbClr>
          </a:solidFill>
          <a:ln/>
        </p:spPr>
        <p:txBody>
          <a:bodyPr/>
          <a:lstStyle/>
          <a:p>
            <a:endParaRPr lang="en-US"/>
          </a:p>
        </p:txBody>
      </p:sp>
      <p:sp>
        <p:nvSpPr>
          <p:cNvPr id="9" name="Text 6"/>
          <p:cNvSpPr/>
          <p:nvPr/>
        </p:nvSpPr>
        <p:spPr>
          <a:xfrm>
            <a:off x="1209122" y="3370107"/>
            <a:ext cx="260908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Amount Outstanding</a:t>
            </a:r>
            <a:endParaRPr lang="en-US" sz="2100" dirty="0"/>
          </a:p>
        </p:txBody>
      </p:sp>
      <p:sp>
        <p:nvSpPr>
          <p:cNvPr id="10" name="Text 7"/>
          <p:cNvSpPr/>
          <p:nvPr/>
        </p:nvSpPr>
        <p:spPr>
          <a:xfrm>
            <a:off x="5952744" y="3279393"/>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{{loan_1_outstanding}}</a:t>
            </a:r>
            <a:endParaRPr lang="en-US" sz="2700" dirty="0"/>
          </a:p>
        </p:txBody>
      </p:sp>
      <p:sp>
        <p:nvSpPr>
          <p:cNvPr id="11" name="Shape 8"/>
          <p:cNvSpPr/>
          <p:nvPr/>
        </p:nvSpPr>
        <p:spPr>
          <a:xfrm>
            <a:off x="1209122" y="4665479"/>
            <a:ext cx="7411499" cy="9525"/>
          </a:xfrm>
          <a:prstGeom prst="rect">
            <a:avLst/>
          </a:prstGeom>
          <a:solidFill>
            <a:srgbClr val="1D1F20">
              <a:alpha val="12000"/>
            </a:srgbClr>
          </a:solidFill>
          <a:ln/>
        </p:spPr>
        <p:txBody>
          <a:bodyPr/>
          <a:lstStyle/>
          <a:p>
            <a:endParaRPr lang="en-US"/>
          </a:p>
        </p:txBody>
      </p:sp>
      <p:sp>
        <p:nvSpPr>
          <p:cNvPr id="12" name="Text 9"/>
          <p:cNvSpPr/>
          <p:nvPr/>
        </p:nvSpPr>
        <p:spPr>
          <a:xfrm>
            <a:off x="1209122" y="4120059"/>
            <a:ext cx="164498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Rate</a:t>
            </a:r>
            <a:endParaRPr lang="en-US" sz="2100" dirty="0"/>
          </a:p>
        </p:txBody>
      </p:sp>
      <p:sp>
        <p:nvSpPr>
          <p:cNvPr id="13" name="Text 10"/>
          <p:cNvSpPr/>
          <p:nvPr/>
        </p:nvSpPr>
        <p:spPr>
          <a:xfrm>
            <a:off x="5952744" y="4029344"/>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{{loan_1_rate}}</a:t>
            </a:r>
            <a:endParaRPr lang="en-US" sz="2700" dirty="0"/>
          </a:p>
        </p:txBody>
      </p:sp>
      <p:sp>
        <p:nvSpPr>
          <p:cNvPr id="14" name="Shape 11"/>
          <p:cNvSpPr/>
          <p:nvPr/>
        </p:nvSpPr>
        <p:spPr>
          <a:xfrm>
            <a:off x="1209122" y="5415430"/>
            <a:ext cx="7411499" cy="9525"/>
          </a:xfrm>
          <a:prstGeom prst="rect">
            <a:avLst/>
          </a:prstGeom>
          <a:solidFill>
            <a:srgbClr val="1D1F20">
              <a:alpha val="12000"/>
            </a:srgbClr>
          </a:solidFill>
          <a:ln/>
        </p:spPr>
        <p:txBody>
          <a:bodyPr/>
          <a:lstStyle/>
          <a:p>
            <a:endParaRPr lang="en-US"/>
          </a:p>
        </p:txBody>
      </p:sp>
      <p:sp>
        <p:nvSpPr>
          <p:cNvPr id="15" name="Text 12"/>
          <p:cNvSpPr/>
          <p:nvPr/>
        </p:nvSpPr>
        <p:spPr>
          <a:xfrm>
            <a:off x="1209122" y="4870011"/>
            <a:ext cx="49731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EMI</a:t>
            </a:r>
            <a:endParaRPr lang="en-US" sz="2100" dirty="0"/>
          </a:p>
        </p:txBody>
      </p:sp>
      <p:sp>
        <p:nvSpPr>
          <p:cNvPr id="16" name="Text 13"/>
          <p:cNvSpPr/>
          <p:nvPr/>
        </p:nvSpPr>
        <p:spPr>
          <a:xfrm>
            <a:off x="5952744" y="4779297"/>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{{loan_1_emi}}</a:t>
            </a:r>
            <a:endParaRPr lang="en-US" sz="2700" dirty="0"/>
          </a:p>
        </p:txBody>
      </p:sp>
      <p:sp>
        <p:nvSpPr>
          <p:cNvPr id="17" name="Shape 14"/>
          <p:cNvSpPr/>
          <p:nvPr/>
        </p:nvSpPr>
        <p:spPr>
          <a:xfrm>
            <a:off x="1209122" y="6165383"/>
            <a:ext cx="7411499" cy="9525"/>
          </a:xfrm>
          <a:prstGeom prst="rect">
            <a:avLst/>
          </a:prstGeom>
          <a:solidFill>
            <a:srgbClr val="1D1F20">
              <a:alpha val="12000"/>
            </a:srgbClr>
          </a:solidFill>
          <a:ln/>
        </p:spPr>
        <p:txBody>
          <a:bodyPr/>
          <a:lstStyle/>
          <a:p>
            <a:endParaRPr lang="en-US"/>
          </a:p>
        </p:txBody>
      </p:sp>
      <p:sp>
        <p:nvSpPr>
          <p:cNvPr id="18" name="Text 15"/>
          <p:cNvSpPr/>
          <p:nvPr/>
        </p:nvSpPr>
        <p:spPr>
          <a:xfrm>
            <a:off x="1209122" y="5619963"/>
            <a:ext cx="1554630"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Closing Year</a:t>
            </a:r>
            <a:endParaRPr lang="en-US" sz="2100" dirty="0"/>
          </a:p>
        </p:txBody>
      </p:sp>
      <p:sp>
        <p:nvSpPr>
          <p:cNvPr id="19" name="Text 16"/>
          <p:cNvSpPr/>
          <p:nvPr/>
        </p:nvSpPr>
        <p:spPr>
          <a:xfrm>
            <a:off x="5952744" y="5529249"/>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{{loan_1_closing_year}}</a:t>
            </a:r>
            <a:endParaRPr lang="en-US" sz="2700" dirty="0"/>
          </a:p>
        </p:txBody>
      </p:sp>
      <p:sp>
        <p:nvSpPr>
          <p:cNvPr id="20" name="Text 17"/>
          <p:cNvSpPr/>
          <p:nvPr/>
        </p:nvSpPr>
        <p:spPr>
          <a:xfrm>
            <a:off x="1209122" y="6369915"/>
            <a:ext cx="298460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on Outstanding</a:t>
            </a:r>
            <a:endParaRPr lang="en-US" sz="2100" dirty="0"/>
          </a:p>
        </p:txBody>
      </p:sp>
      <p:sp>
        <p:nvSpPr>
          <p:cNvPr id="21" name="Text 18"/>
          <p:cNvSpPr/>
          <p:nvPr/>
        </p:nvSpPr>
        <p:spPr>
          <a:xfrm>
            <a:off x="5952744" y="6279201"/>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{{loan_1_interest_outstanding}}</a:t>
            </a:r>
            <a:endParaRPr lang="en-US" sz="2700" dirty="0"/>
          </a:p>
        </p:txBody>
      </p:sp>
      <p:sp>
        <p:nvSpPr>
          <p:cNvPr id="22" name="Shape 19"/>
          <p:cNvSpPr/>
          <p:nvPr/>
        </p:nvSpPr>
        <p:spPr>
          <a:xfrm>
            <a:off x="9372558" y="2419945"/>
            <a:ext cx="8001001" cy="4811188"/>
          </a:xfrm>
          <a:prstGeom prst="rect">
            <a:avLst/>
          </a:prstGeom>
          <a:ln w="9071">
            <a:solidFill>
              <a:srgbClr val="1F1F1F">
                <a:alpha val="16000"/>
              </a:srgbClr>
            </a:solidFill>
            <a:prstDash val="solid"/>
          </a:ln>
        </p:spPr>
        <p:txBody>
          <a:bodyPr/>
          <a:lstStyle/>
          <a:p>
            <a:endParaRPr lang="en-US"/>
          </a:p>
        </p:txBody>
      </p:sp>
      <p:sp>
        <p:nvSpPr>
          <p:cNvPr id="23" name="Text 20"/>
          <p:cNvSpPr/>
          <p:nvPr/>
        </p:nvSpPr>
        <p:spPr>
          <a:xfrm>
            <a:off x="9667309" y="2676639"/>
            <a:ext cx="81526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PREPAYMENT DETAILS</a:t>
            </a:r>
            <a:endParaRPr lang="en-US" sz="2100" dirty="0"/>
          </a:p>
        </p:txBody>
      </p:sp>
      <p:sp>
        <p:nvSpPr>
          <p:cNvPr id="24" name="Shape 21"/>
          <p:cNvSpPr/>
          <p:nvPr/>
        </p:nvSpPr>
        <p:spPr>
          <a:xfrm>
            <a:off x="9667309" y="3915526"/>
            <a:ext cx="7411499" cy="9525"/>
          </a:xfrm>
          <a:prstGeom prst="rect">
            <a:avLst/>
          </a:prstGeom>
          <a:solidFill>
            <a:srgbClr val="1D1F20">
              <a:alpha val="12000"/>
            </a:srgbClr>
          </a:solidFill>
          <a:ln/>
        </p:spPr>
        <p:txBody>
          <a:bodyPr/>
          <a:lstStyle/>
          <a:p>
            <a:endParaRPr lang="en-US"/>
          </a:p>
        </p:txBody>
      </p:sp>
      <p:sp>
        <p:nvSpPr>
          <p:cNvPr id="25" name="Text 22"/>
          <p:cNvSpPr/>
          <p:nvPr/>
        </p:nvSpPr>
        <p:spPr>
          <a:xfrm>
            <a:off x="9667309" y="3370107"/>
            <a:ext cx="260152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Prepayment Amount</a:t>
            </a:r>
            <a:endParaRPr lang="en-US" sz="2100" dirty="0"/>
          </a:p>
        </p:txBody>
      </p:sp>
      <p:sp>
        <p:nvSpPr>
          <p:cNvPr id="26" name="Text 23"/>
          <p:cNvSpPr/>
          <p:nvPr/>
        </p:nvSpPr>
        <p:spPr>
          <a:xfrm>
            <a:off x="14410944" y="3279393"/>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{{loan_1_prepay_amount}}</a:t>
            </a:r>
            <a:endParaRPr lang="en-US" sz="2700" dirty="0"/>
          </a:p>
        </p:txBody>
      </p:sp>
      <p:sp>
        <p:nvSpPr>
          <p:cNvPr id="27" name="Shape 24"/>
          <p:cNvSpPr/>
          <p:nvPr/>
        </p:nvSpPr>
        <p:spPr>
          <a:xfrm>
            <a:off x="9667309" y="4665479"/>
            <a:ext cx="7411499" cy="9525"/>
          </a:xfrm>
          <a:prstGeom prst="rect">
            <a:avLst/>
          </a:prstGeom>
          <a:solidFill>
            <a:srgbClr val="1D1F20">
              <a:alpha val="12000"/>
            </a:srgbClr>
          </a:solidFill>
          <a:ln/>
        </p:spPr>
        <p:txBody>
          <a:bodyPr/>
          <a:lstStyle/>
          <a:p>
            <a:endParaRPr lang="en-US"/>
          </a:p>
        </p:txBody>
      </p:sp>
      <p:sp>
        <p:nvSpPr>
          <p:cNvPr id="28" name="Text 25"/>
          <p:cNvSpPr/>
          <p:nvPr/>
        </p:nvSpPr>
        <p:spPr>
          <a:xfrm>
            <a:off x="9667309" y="4120059"/>
            <a:ext cx="145546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EMI Top-Up</a:t>
            </a:r>
            <a:endParaRPr lang="en-US" sz="2100" dirty="0"/>
          </a:p>
        </p:txBody>
      </p:sp>
      <p:sp>
        <p:nvSpPr>
          <p:cNvPr id="29" name="Text 26"/>
          <p:cNvSpPr/>
          <p:nvPr/>
        </p:nvSpPr>
        <p:spPr>
          <a:xfrm>
            <a:off x="14410944" y="4029344"/>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{{loan_1_emi_topup}}</a:t>
            </a:r>
            <a:endParaRPr lang="en-US" sz="2700" dirty="0"/>
          </a:p>
        </p:txBody>
      </p:sp>
      <p:sp>
        <p:nvSpPr>
          <p:cNvPr id="30" name="Shape 27"/>
          <p:cNvSpPr/>
          <p:nvPr/>
        </p:nvSpPr>
        <p:spPr>
          <a:xfrm>
            <a:off x="9667309" y="5474537"/>
            <a:ext cx="7411499" cy="9525"/>
          </a:xfrm>
          <a:prstGeom prst="rect">
            <a:avLst/>
          </a:prstGeom>
          <a:solidFill>
            <a:srgbClr val="1D1F20">
              <a:alpha val="12000"/>
            </a:srgbClr>
          </a:solidFill>
          <a:ln/>
        </p:spPr>
        <p:txBody>
          <a:bodyPr/>
          <a:lstStyle/>
          <a:p>
            <a:endParaRPr lang="en-US"/>
          </a:p>
        </p:txBody>
      </p:sp>
      <p:sp>
        <p:nvSpPr>
          <p:cNvPr id="31" name="Text 28"/>
          <p:cNvSpPr/>
          <p:nvPr/>
        </p:nvSpPr>
        <p:spPr>
          <a:xfrm>
            <a:off x="9667309" y="4910832"/>
            <a:ext cx="182771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Saved</a:t>
            </a:r>
            <a:endParaRPr lang="en-US" sz="2100" dirty="0"/>
          </a:p>
        </p:txBody>
      </p:sp>
      <p:sp>
        <p:nvSpPr>
          <p:cNvPr id="32" name="Text 29"/>
          <p:cNvSpPr/>
          <p:nvPr/>
        </p:nvSpPr>
        <p:spPr>
          <a:xfrm>
            <a:off x="14410944" y="4779297"/>
            <a:ext cx="2743200" cy="628593"/>
          </a:xfrm>
          <a:prstGeom prst="rect">
            <a:avLst/>
          </a:prstGeom>
          <a:noFill/>
          <a:ln/>
        </p:spPr>
        <p:txBody>
          <a:bodyPr wrap="none" lIns="25400" tIns="25400" rIns="25400" bIns="25400" rtlCol="0" anchor="t">
            <a:normAutofit/>
          </a:bodyPr>
          <a:lstStyle/>
          <a:p>
            <a:pPr marL="0" indent="0" algn="r">
              <a:lnSpc>
                <a:spcPct val="128911"/>
              </a:lnSpc>
              <a:buNone/>
            </a:pPr>
            <a:r>
              <a:rPr lang="en-US" sz="3000" dirty="0">
                <a:solidFill>
                  <a:srgbClr val="2F7D3A"/>
                </a:solidFill>
                <a:latin typeface="Barlow Condensed" pitchFamily="34" charset="0"/>
                <a:ea typeface="Barlow Condensed" pitchFamily="34" charset="-122"/>
                <a:cs typeface="Barlow Condensed" pitchFamily="34" charset="-120"/>
              </a:rPr>
              <a:t>{{loan_1_interest_saved}}</a:t>
            </a:r>
            <a:endParaRPr lang="en-US" sz="3000" dirty="0"/>
          </a:p>
        </p:txBody>
      </p:sp>
      <p:sp>
        <p:nvSpPr>
          <p:cNvPr id="33" name="Shape 30"/>
          <p:cNvSpPr/>
          <p:nvPr/>
        </p:nvSpPr>
        <p:spPr>
          <a:xfrm>
            <a:off x="9667309" y="6224489"/>
            <a:ext cx="7411499" cy="9525"/>
          </a:xfrm>
          <a:prstGeom prst="rect">
            <a:avLst/>
          </a:prstGeom>
          <a:solidFill>
            <a:srgbClr val="1D1F20">
              <a:alpha val="12000"/>
            </a:srgbClr>
          </a:solidFill>
          <a:ln/>
        </p:spPr>
        <p:txBody>
          <a:bodyPr/>
          <a:lstStyle/>
          <a:p>
            <a:endParaRPr lang="en-US"/>
          </a:p>
        </p:txBody>
      </p:sp>
      <p:sp>
        <p:nvSpPr>
          <p:cNvPr id="34" name="Text 31"/>
          <p:cNvSpPr/>
          <p:nvPr/>
        </p:nvSpPr>
        <p:spPr>
          <a:xfrm>
            <a:off x="9667309" y="5679069"/>
            <a:ext cx="1554630"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Closing Year</a:t>
            </a:r>
            <a:endParaRPr lang="en-US" sz="2100" dirty="0"/>
          </a:p>
        </p:txBody>
      </p:sp>
      <p:sp>
        <p:nvSpPr>
          <p:cNvPr id="35" name="Text 32"/>
          <p:cNvSpPr/>
          <p:nvPr/>
        </p:nvSpPr>
        <p:spPr>
          <a:xfrm>
            <a:off x="14410944" y="5588355"/>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{{loan_1_new_closing_year}}</a:t>
            </a:r>
            <a:endParaRPr lang="en-US" sz="2700" dirty="0"/>
          </a:p>
        </p:txBody>
      </p:sp>
      <p:sp>
        <p:nvSpPr>
          <p:cNvPr id="36" name="Text 33"/>
          <p:cNvSpPr/>
          <p:nvPr/>
        </p:nvSpPr>
        <p:spPr>
          <a:xfrm>
            <a:off x="9667309" y="6429021"/>
            <a:ext cx="152820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Years Saved</a:t>
            </a:r>
            <a:endParaRPr lang="en-US" sz="2100" dirty="0"/>
          </a:p>
        </p:txBody>
      </p:sp>
      <p:sp>
        <p:nvSpPr>
          <p:cNvPr id="37" name="Text 34"/>
          <p:cNvSpPr/>
          <p:nvPr/>
        </p:nvSpPr>
        <p:spPr>
          <a:xfrm>
            <a:off x="14410944" y="6338307"/>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{{loan_1_years_saved}}</a:t>
            </a:r>
            <a:endParaRPr lang="en-US" sz="2700" dirty="0"/>
          </a:p>
        </p:txBody>
      </p:sp>
      <p:sp>
        <p:nvSpPr>
          <p:cNvPr id="38" name="Shape 35"/>
          <p:cNvSpPr/>
          <p:nvPr/>
        </p:nvSpPr>
        <p:spPr>
          <a:xfrm>
            <a:off x="914372" y="7459691"/>
            <a:ext cx="16459187" cy="9525"/>
          </a:xfrm>
          <a:prstGeom prst="rect">
            <a:avLst/>
          </a:prstGeom>
          <a:solidFill>
            <a:srgbClr val="1D1F20">
              <a:alpha val="18000"/>
            </a:srgbClr>
          </a:solidFill>
          <a:ln/>
        </p:spPr>
        <p:txBody>
          <a:bodyPr/>
          <a:lstStyle/>
          <a:p>
            <a:endParaRPr lang="en-US"/>
          </a:p>
        </p:txBody>
      </p:sp>
      <p:sp>
        <p:nvSpPr>
          <p:cNvPr id="39" name="Text 36"/>
          <p:cNvSpPr/>
          <p:nvPr/>
        </p:nvSpPr>
        <p:spPr>
          <a:xfrm>
            <a:off x="914372" y="7697363"/>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40" name="Text 37"/>
          <p:cNvSpPr/>
          <p:nvPr/>
        </p:nvSpPr>
        <p:spPr>
          <a:xfrm>
            <a:off x="3276487" y="7659263"/>
            <a:ext cx="13244441"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{{loan_1_comment}}</a:t>
            </a:r>
            <a:endParaRPr lang="en-US" sz="2100" dirty="0"/>
          </a:p>
        </p:txBody>
      </p:sp>
      <p:sp>
        <p:nvSpPr>
          <p:cNvPr id="41" name="Text 38"/>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2" name="Text 39"/>
          <p:cNvSpPr/>
          <p:nvPr/>
        </p:nvSpPr>
        <p:spPr>
          <a:xfrm>
            <a:off x="16789657" y="9475462"/>
            <a:ext cx="660102"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2329659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305695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LIABILITIES</a:t>
            </a:r>
            <a:endParaRPr lang="en-US" sz="2100" b="1" dirty="0">
              <a:solidFill>
                <a:srgbClr val="2A3480"/>
              </a:solidFill>
              <a:latin typeface="Barlow"/>
            </a:endParaRPr>
          </a:p>
        </p:txBody>
      </p:sp>
      <p:sp>
        <p:nvSpPr>
          <p:cNvPr id="3" name="Text 1"/>
          <p:cNvSpPr/>
          <p:nvPr/>
        </p:nvSpPr>
        <p:spPr>
          <a:xfrm>
            <a:off x="914372" y="1088501"/>
            <a:ext cx="10972800"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{{loan_2_name}}</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419945"/>
            <a:ext cx="8001001" cy="4811188"/>
          </a:xfrm>
          <a:prstGeom prst="rect">
            <a:avLst/>
          </a:prstGeom>
          <a:ln w="9071">
            <a:solidFill>
              <a:srgbClr val="1F1F1F">
                <a:alpha val="16000"/>
              </a:srgbClr>
            </a:solidFill>
            <a:prstDash val="solid"/>
          </a:ln>
        </p:spPr>
        <p:txBody>
          <a:bodyPr/>
          <a:lstStyle/>
          <a:p>
            <a:endParaRPr lang="en-US"/>
          </a:p>
        </p:txBody>
      </p:sp>
      <p:sp>
        <p:nvSpPr>
          <p:cNvPr id="7" name="Text 4"/>
          <p:cNvSpPr/>
          <p:nvPr/>
        </p:nvSpPr>
        <p:spPr>
          <a:xfrm>
            <a:off x="1209122" y="2676639"/>
            <a:ext cx="81526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LOAN DETAILS{{loan_heading_suffix}}</a:t>
            </a:r>
            <a:endParaRPr lang="en-US" sz="2100" dirty="0"/>
          </a:p>
        </p:txBody>
      </p:sp>
      <p:sp>
        <p:nvSpPr>
          <p:cNvPr id="8" name="Shape 5"/>
          <p:cNvSpPr/>
          <p:nvPr/>
        </p:nvSpPr>
        <p:spPr>
          <a:xfrm>
            <a:off x="1209122" y="3915526"/>
            <a:ext cx="7411499" cy="9525"/>
          </a:xfrm>
          <a:prstGeom prst="rect">
            <a:avLst/>
          </a:prstGeom>
          <a:solidFill>
            <a:srgbClr val="1D1F20">
              <a:alpha val="12000"/>
            </a:srgbClr>
          </a:solidFill>
          <a:ln/>
        </p:spPr>
        <p:txBody>
          <a:bodyPr/>
          <a:lstStyle/>
          <a:p>
            <a:endParaRPr lang="en-US"/>
          </a:p>
        </p:txBody>
      </p:sp>
      <p:sp>
        <p:nvSpPr>
          <p:cNvPr id="9" name="Text 6"/>
          <p:cNvSpPr/>
          <p:nvPr/>
        </p:nvSpPr>
        <p:spPr>
          <a:xfrm>
            <a:off x="1209122" y="3370107"/>
            <a:ext cx="2609085"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Amount Outstanding</a:t>
            </a:r>
            <a:endParaRPr lang="en-US" sz="2100" dirty="0"/>
          </a:p>
        </p:txBody>
      </p:sp>
      <p:sp>
        <p:nvSpPr>
          <p:cNvPr id="10" name="Text 7"/>
          <p:cNvSpPr/>
          <p:nvPr/>
        </p:nvSpPr>
        <p:spPr>
          <a:xfrm>
            <a:off x="5952744" y="3279393"/>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{{loan_2_outstanding}}</a:t>
            </a:r>
            <a:endParaRPr lang="en-US" sz="2700" dirty="0"/>
          </a:p>
        </p:txBody>
      </p:sp>
      <p:sp>
        <p:nvSpPr>
          <p:cNvPr id="11" name="Shape 8"/>
          <p:cNvSpPr/>
          <p:nvPr/>
        </p:nvSpPr>
        <p:spPr>
          <a:xfrm>
            <a:off x="1209122" y="4665479"/>
            <a:ext cx="7411499" cy="9525"/>
          </a:xfrm>
          <a:prstGeom prst="rect">
            <a:avLst/>
          </a:prstGeom>
          <a:solidFill>
            <a:srgbClr val="1D1F20">
              <a:alpha val="12000"/>
            </a:srgbClr>
          </a:solidFill>
          <a:ln/>
        </p:spPr>
        <p:txBody>
          <a:bodyPr/>
          <a:lstStyle/>
          <a:p>
            <a:endParaRPr lang="en-US"/>
          </a:p>
        </p:txBody>
      </p:sp>
      <p:sp>
        <p:nvSpPr>
          <p:cNvPr id="12" name="Text 9"/>
          <p:cNvSpPr/>
          <p:nvPr/>
        </p:nvSpPr>
        <p:spPr>
          <a:xfrm>
            <a:off x="1209122" y="4120059"/>
            <a:ext cx="164498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Rate</a:t>
            </a:r>
            <a:endParaRPr lang="en-US" sz="2100" dirty="0"/>
          </a:p>
        </p:txBody>
      </p:sp>
      <p:sp>
        <p:nvSpPr>
          <p:cNvPr id="13" name="Text 10"/>
          <p:cNvSpPr/>
          <p:nvPr/>
        </p:nvSpPr>
        <p:spPr>
          <a:xfrm>
            <a:off x="5952744" y="4029344"/>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{{loan_2_rate}}</a:t>
            </a:r>
            <a:endParaRPr lang="en-US" sz="2700" dirty="0"/>
          </a:p>
        </p:txBody>
      </p:sp>
      <p:sp>
        <p:nvSpPr>
          <p:cNvPr id="14" name="Shape 11"/>
          <p:cNvSpPr/>
          <p:nvPr/>
        </p:nvSpPr>
        <p:spPr>
          <a:xfrm>
            <a:off x="1209122" y="5415430"/>
            <a:ext cx="7411499" cy="9525"/>
          </a:xfrm>
          <a:prstGeom prst="rect">
            <a:avLst/>
          </a:prstGeom>
          <a:solidFill>
            <a:srgbClr val="1D1F20">
              <a:alpha val="12000"/>
            </a:srgbClr>
          </a:solidFill>
          <a:ln/>
        </p:spPr>
        <p:txBody>
          <a:bodyPr/>
          <a:lstStyle/>
          <a:p>
            <a:endParaRPr lang="en-US"/>
          </a:p>
        </p:txBody>
      </p:sp>
      <p:sp>
        <p:nvSpPr>
          <p:cNvPr id="15" name="Text 12"/>
          <p:cNvSpPr/>
          <p:nvPr/>
        </p:nvSpPr>
        <p:spPr>
          <a:xfrm>
            <a:off x="1209122" y="4870011"/>
            <a:ext cx="49731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EMI</a:t>
            </a:r>
            <a:endParaRPr lang="en-US" sz="2100" dirty="0"/>
          </a:p>
        </p:txBody>
      </p:sp>
      <p:sp>
        <p:nvSpPr>
          <p:cNvPr id="16" name="Text 13"/>
          <p:cNvSpPr/>
          <p:nvPr/>
        </p:nvSpPr>
        <p:spPr>
          <a:xfrm>
            <a:off x="5952744" y="4779297"/>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{{loan_2_emi}}</a:t>
            </a:r>
            <a:endParaRPr lang="en-US" sz="2700" dirty="0"/>
          </a:p>
        </p:txBody>
      </p:sp>
      <p:sp>
        <p:nvSpPr>
          <p:cNvPr id="17" name="Shape 14"/>
          <p:cNvSpPr/>
          <p:nvPr/>
        </p:nvSpPr>
        <p:spPr>
          <a:xfrm>
            <a:off x="1209122" y="6165383"/>
            <a:ext cx="7411499" cy="9525"/>
          </a:xfrm>
          <a:prstGeom prst="rect">
            <a:avLst/>
          </a:prstGeom>
          <a:solidFill>
            <a:srgbClr val="1D1F20">
              <a:alpha val="12000"/>
            </a:srgbClr>
          </a:solidFill>
          <a:ln/>
        </p:spPr>
        <p:txBody>
          <a:bodyPr/>
          <a:lstStyle/>
          <a:p>
            <a:endParaRPr lang="en-US"/>
          </a:p>
        </p:txBody>
      </p:sp>
      <p:sp>
        <p:nvSpPr>
          <p:cNvPr id="18" name="Text 15"/>
          <p:cNvSpPr/>
          <p:nvPr/>
        </p:nvSpPr>
        <p:spPr>
          <a:xfrm>
            <a:off x="1209122" y="5619963"/>
            <a:ext cx="1554630"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Closing Year</a:t>
            </a:r>
            <a:endParaRPr lang="en-US" sz="2100" dirty="0"/>
          </a:p>
        </p:txBody>
      </p:sp>
      <p:sp>
        <p:nvSpPr>
          <p:cNvPr id="19" name="Text 16"/>
          <p:cNvSpPr/>
          <p:nvPr/>
        </p:nvSpPr>
        <p:spPr>
          <a:xfrm>
            <a:off x="5952744" y="5529249"/>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{{loan_2_closing_year}}</a:t>
            </a:r>
            <a:endParaRPr lang="en-US" sz="2700" dirty="0"/>
          </a:p>
        </p:txBody>
      </p:sp>
      <p:sp>
        <p:nvSpPr>
          <p:cNvPr id="20" name="Text 17"/>
          <p:cNvSpPr/>
          <p:nvPr/>
        </p:nvSpPr>
        <p:spPr>
          <a:xfrm>
            <a:off x="1209122" y="6369915"/>
            <a:ext cx="298460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on Outstanding</a:t>
            </a:r>
            <a:endParaRPr lang="en-US" sz="2100" dirty="0"/>
          </a:p>
        </p:txBody>
      </p:sp>
      <p:sp>
        <p:nvSpPr>
          <p:cNvPr id="21" name="Text 18"/>
          <p:cNvSpPr/>
          <p:nvPr/>
        </p:nvSpPr>
        <p:spPr>
          <a:xfrm>
            <a:off x="5952744" y="6279201"/>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{{loan_2_interest_outstanding}}</a:t>
            </a:r>
            <a:endParaRPr lang="en-US" sz="2700" dirty="0"/>
          </a:p>
        </p:txBody>
      </p:sp>
      <p:sp>
        <p:nvSpPr>
          <p:cNvPr id="22" name="Shape 19"/>
          <p:cNvSpPr/>
          <p:nvPr/>
        </p:nvSpPr>
        <p:spPr>
          <a:xfrm>
            <a:off x="9372558" y="2419945"/>
            <a:ext cx="8001001" cy="4811188"/>
          </a:xfrm>
          <a:prstGeom prst="rect">
            <a:avLst/>
          </a:prstGeom>
          <a:ln w="9071">
            <a:solidFill>
              <a:srgbClr val="1F1F1F">
                <a:alpha val="16000"/>
              </a:srgbClr>
            </a:solidFill>
            <a:prstDash val="solid"/>
          </a:ln>
        </p:spPr>
        <p:txBody>
          <a:bodyPr/>
          <a:lstStyle/>
          <a:p>
            <a:endParaRPr lang="en-US"/>
          </a:p>
        </p:txBody>
      </p:sp>
      <p:sp>
        <p:nvSpPr>
          <p:cNvPr id="23" name="Text 20"/>
          <p:cNvSpPr/>
          <p:nvPr/>
        </p:nvSpPr>
        <p:spPr>
          <a:xfrm>
            <a:off x="9667309" y="2676639"/>
            <a:ext cx="81526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PREPAYMENT DETAILS</a:t>
            </a:r>
            <a:endParaRPr lang="en-US" sz="2100" dirty="0"/>
          </a:p>
        </p:txBody>
      </p:sp>
      <p:sp>
        <p:nvSpPr>
          <p:cNvPr id="24" name="Shape 21"/>
          <p:cNvSpPr/>
          <p:nvPr/>
        </p:nvSpPr>
        <p:spPr>
          <a:xfrm>
            <a:off x="9667309" y="3915526"/>
            <a:ext cx="7411499" cy="9525"/>
          </a:xfrm>
          <a:prstGeom prst="rect">
            <a:avLst/>
          </a:prstGeom>
          <a:solidFill>
            <a:srgbClr val="1D1F20">
              <a:alpha val="12000"/>
            </a:srgbClr>
          </a:solidFill>
          <a:ln/>
        </p:spPr>
        <p:txBody>
          <a:bodyPr/>
          <a:lstStyle/>
          <a:p>
            <a:endParaRPr lang="en-US"/>
          </a:p>
        </p:txBody>
      </p:sp>
      <p:sp>
        <p:nvSpPr>
          <p:cNvPr id="25" name="Text 22"/>
          <p:cNvSpPr/>
          <p:nvPr/>
        </p:nvSpPr>
        <p:spPr>
          <a:xfrm>
            <a:off x="9667309" y="3370107"/>
            <a:ext cx="260152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Prepayment Amount</a:t>
            </a:r>
            <a:endParaRPr lang="en-US" sz="2100" dirty="0"/>
          </a:p>
        </p:txBody>
      </p:sp>
      <p:sp>
        <p:nvSpPr>
          <p:cNvPr id="26" name="Text 23"/>
          <p:cNvSpPr/>
          <p:nvPr/>
        </p:nvSpPr>
        <p:spPr>
          <a:xfrm>
            <a:off x="14410944" y="3279393"/>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{{loan_2_prepay_amount}}</a:t>
            </a:r>
            <a:endParaRPr lang="en-US" sz="2700" dirty="0"/>
          </a:p>
        </p:txBody>
      </p:sp>
      <p:sp>
        <p:nvSpPr>
          <p:cNvPr id="27" name="Shape 24"/>
          <p:cNvSpPr/>
          <p:nvPr/>
        </p:nvSpPr>
        <p:spPr>
          <a:xfrm>
            <a:off x="9667309" y="4665479"/>
            <a:ext cx="7411499" cy="9525"/>
          </a:xfrm>
          <a:prstGeom prst="rect">
            <a:avLst/>
          </a:prstGeom>
          <a:solidFill>
            <a:srgbClr val="1D1F20">
              <a:alpha val="12000"/>
            </a:srgbClr>
          </a:solidFill>
          <a:ln/>
        </p:spPr>
        <p:txBody>
          <a:bodyPr/>
          <a:lstStyle/>
          <a:p>
            <a:endParaRPr lang="en-US"/>
          </a:p>
        </p:txBody>
      </p:sp>
      <p:sp>
        <p:nvSpPr>
          <p:cNvPr id="28" name="Text 25"/>
          <p:cNvSpPr/>
          <p:nvPr/>
        </p:nvSpPr>
        <p:spPr>
          <a:xfrm>
            <a:off x="9667309" y="4120059"/>
            <a:ext cx="145546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EMI Top-Up</a:t>
            </a:r>
            <a:endParaRPr lang="en-US" sz="2100" dirty="0"/>
          </a:p>
        </p:txBody>
      </p:sp>
      <p:sp>
        <p:nvSpPr>
          <p:cNvPr id="29" name="Text 26"/>
          <p:cNvSpPr/>
          <p:nvPr/>
        </p:nvSpPr>
        <p:spPr>
          <a:xfrm>
            <a:off x="14410944" y="4029344"/>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{{loan_2_emi_topup}}</a:t>
            </a:r>
            <a:endParaRPr lang="en-US" sz="2700" dirty="0"/>
          </a:p>
        </p:txBody>
      </p:sp>
      <p:sp>
        <p:nvSpPr>
          <p:cNvPr id="30" name="Shape 27"/>
          <p:cNvSpPr/>
          <p:nvPr/>
        </p:nvSpPr>
        <p:spPr>
          <a:xfrm>
            <a:off x="9667309" y="5474537"/>
            <a:ext cx="7411499" cy="9525"/>
          </a:xfrm>
          <a:prstGeom prst="rect">
            <a:avLst/>
          </a:prstGeom>
          <a:solidFill>
            <a:srgbClr val="1D1F20">
              <a:alpha val="12000"/>
            </a:srgbClr>
          </a:solidFill>
          <a:ln/>
        </p:spPr>
        <p:txBody>
          <a:bodyPr/>
          <a:lstStyle/>
          <a:p>
            <a:endParaRPr lang="en-US"/>
          </a:p>
        </p:txBody>
      </p:sp>
      <p:sp>
        <p:nvSpPr>
          <p:cNvPr id="31" name="Text 28"/>
          <p:cNvSpPr/>
          <p:nvPr/>
        </p:nvSpPr>
        <p:spPr>
          <a:xfrm>
            <a:off x="9667309" y="4910832"/>
            <a:ext cx="182771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Interest Saved</a:t>
            </a:r>
            <a:endParaRPr lang="en-US" sz="2100" dirty="0"/>
          </a:p>
        </p:txBody>
      </p:sp>
      <p:sp>
        <p:nvSpPr>
          <p:cNvPr id="32" name="Text 29"/>
          <p:cNvSpPr/>
          <p:nvPr/>
        </p:nvSpPr>
        <p:spPr>
          <a:xfrm>
            <a:off x="14410944" y="4779297"/>
            <a:ext cx="2743200" cy="628593"/>
          </a:xfrm>
          <a:prstGeom prst="rect">
            <a:avLst/>
          </a:prstGeom>
          <a:noFill/>
          <a:ln/>
        </p:spPr>
        <p:txBody>
          <a:bodyPr wrap="none" lIns="25400" tIns="25400" rIns="25400" bIns="25400" rtlCol="0" anchor="t">
            <a:normAutofit/>
          </a:bodyPr>
          <a:lstStyle/>
          <a:p>
            <a:pPr marL="0" indent="0" algn="r">
              <a:lnSpc>
                <a:spcPct val="128911"/>
              </a:lnSpc>
              <a:buNone/>
            </a:pPr>
            <a:r>
              <a:rPr lang="en-US" sz="3000" dirty="0">
                <a:solidFill>
                  <a:srgbClr val="2F7D3A"/>
                </a:solidFill>
                <a:latin typeface="Barlow Condensed" pitchFamily="34" charset="0"/>
                <a:ea typeface="Barlow Condensed" pitchFamily="34" charset="-122"/>
                <a:cs typeface="Barlow Condensed" pitchFamily="34" charset="-120"/>
              </a:rPr>
              <a:t>{{loan_2_interest_saved}}</a:t>
            </a:r>
            <a:endParaRPr lang="en-US" sz="3000" dirty="0"/>
          </a:p>
        </p:txBody>
      </p:sp>
      <p:sp>
        <p:nvSpPr>
          <p:cNvPr id="33" name="Shape 30"/>
          <p:cNvSpPr/>
          <p:nvPr/>
        </p:nvSpPr>
        <p:spPr>
          <a:xfrm>
            <a:off x="9667309" y="6224489"/>
            <a:ext cx="7411499" cy="9525"/>
          </a:xfrm>
          <a:prstGeom prst="rect">
            <a:avLst/>
          </a:prstGeom>
          <a:solidFill>
            <a:srgbClr val="1D1F20">
              <a:alpha val="12000"/>
            </a:srgbClr>
          </a:solidFill>
          <a:ln/>
        </p:spPr>
        <p:txBody>
          <a:bodyPr/>
          <a:lstStyle/>
          <a:p>
            <a:endParaRPr lang="en-US"/>
          </a:p>
        </p:txBody>
      </p:sp>
      <p:sp>
        <p:nvSpPr>
          <p:cNvPr id="34" name="Text 31"/>
          <p:cNvSpPr/>
          <p:nvPr/>
        </p:nvSpPr>
        <p:spPr>
          <a:xfrm>
            <a:off x="9667309" y="5679069"/>
            <a:ext cx="1554630"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Closing Year</a:t>
            </a:r>
            <a:endParaRPr lang="en-US" sz="2100" dirty="0"/>
          </a:p>
        </p:txBody>
      </p:sp>
      <p:sp>
        <p:nvSpPr>
          <p:cNvPr id="35" name="Text 32"/>
          <p:cNvSpPr/>
          <p:nvPr/>
        </p:nvSpPr>
        <p:spPr>
          <a:xfrm>
            <a:off x="14410944" y="5588355"/>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{{loan_2_new_closing_year}}</a:t>
            </a:r>
            <a:endParaRPr lang="en-US" sz="2700" dirty="0"/>
          </a:p>
        </p:txBody>
      </p:sp>
      <p:sp>
        <p:nvSpPr>
          <p:cNvPr id="36" name="Text 33"/>
          <p:cNvSpPr/>
          <p:nvPr/>
        </p:nvSpPr>
        <p:spPr>
          <a:xfrm>
            <a:off x="9667309" y="6429021"/>
            <a:ext cx="1528203"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alpha val="90000"/>
                  </a:srgbClr>
                </a:solidFill>
                <a:latin typeface="Barlow" pitchFamily="34" charset="0"/>
                <a:ea typeface="Barlow" pitchFamily="34" charset="-122"/>
                <a:cs typeface="Barlow" pitchFamily="34" charset="-120"/>
              </a:rPr>
              <a:t>Years Saved</a:t>
            </a:r>
            <a:endParaRPr lang="en-US" sz="2100" dirty="0"/>
          </a:p>
        </p:txBody>
      </p:sp>
      <p:sp>
        <p:nvSpPr>
          <p:cNvPr id="37" name="Text 34"/>
          <p:cNvSpPr/>
          <p:nvPr/>
        </p:nvSpPr>
        <p:spPr>
          <a:xfrm>
            <a:off x="14410944" y="6338307"/>
            <a:ext cx="2743200"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{{loan_2_years_saved}}</a:t>
            </a:r>
            <a:endParaRPr lang="en-US" sz="2700" dirty="0"/>
          </a:p>
        </p:txBody>
      </p:sp>
      <p:sp>
        <p:nvSpPr>
          <p:cNvPr id="38" name="Shape 35"/>
          <p:cNvSpPr/>
          <p:nvPr/>
        </p:nvSpPr>
        <p:spPr>
          <a:xfrm>
            <a:off x="914372" y="7478756"/>
            <a:ext cx="16459187" cy="9525"/>
          </a:xfrm>
          <a:prstGeom prst="rect">
            <a:avLst/>
          </a:prstGeom>
          <a:solidFill>
            <a:srgbClr val="1D1F20">
              <a:alpha val="18000"/>
            </a:srgbClr>
          </a:solidFill>
          <a:ln/>
        </p:spPr>
        <p:txBody>
          <a:bodyPr/>
          <a:lstStyle/>
          <a:p>
            <a:endParaRPr lang="en-US"/>
          </a:p>
        </p:txBody>
      </p:sp>
      <p:sp>
        <p:nvSpPr>
          <p:cNvPr id="39" name="Text 36"/>
          <p:cNvSpPr/>
          <p:nvPr/>
        </p:nvSpPr>
        <p:spPr>
          <a:xfrm>
            <a:off x="914372" y="7716427"/>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40" name="Text 37"/>
          <p:cNvSpPr/>
          <p:nvPr/>
        </p:nvSpPr>
        <p:spPr>
          <a:xfrm>
            <a:off x="3276487" y="7678327"/>
            <a:ext cx="13317184" cy="1133688"/>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{{loan_2_comment}}</a:t>
            </a:r>
            <a:endParaRPr lang="en-US" sz="2100" dirty="0"/>
          </a:p>
        </p:txBody>
      </p:sp>
      <p:sp>
        <p:nvSpPr>
          <p:cNvPr id="41" name="Text 38"/>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2" name="Text 39"/>
          <p:cNvSpPr/>
          <p:nvPr/>
        </p:nvSpPr>
        <p:spPr>
          <a:xfrm>
            <a:off x="16747843" y="9475462"/>
            <a:ext cx="701916"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257284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A45"/>
        </a:solidFill>
        <a:effectLst/>
      </p:bgPr>
    </p:bg>
    <p:spTree>
      <p:nvGrpSpPr>
        <p:cNvPr id="1" name="">
          <a:extLst>
            <a:ext uri="{FF2B5EF4-FFF2-40B4-BE49-F238E27FC236}">
              <a16:creationId xmlns:a16="http://schemas.microsoft.com/office/drawing/2014/main" id="{01016155-2BBB-3118-D86B-F00F462AABDC}"/>
            </a:ext>
          </a:extLst>
        </p:cNvPr>
        <p:cNvGrpSpPr/>
        <p:nvPr/>
      </p:nvGrpSpPr>
      <p:grpSpPr>
        <a:xfrm>
          <a:off x="0" y="0"/>
          <a:ext cx="0" cy="0"/>
          <a:chOff x="0" y="0"/>
          <a:chExt cx="0" cy="0"/>
        </a:xfrm>
      </p:grpSpPr>
      <p:sp>
        <p:nvSpPr>
          <p:cNvPr id="18" name="Google Shape;192;p7">
            <a:extLst>
              <a:ext uri="{FF2B5EF4-FFF2-40B4-BE49-F238E27FC236}">
                <a16:creationId xmlns:a16="http://schemas.microsoft.com/office/drawing/2014/main" id="{6624E782-4E2D-FDF3-9B9D-576E3822319E}"/>
              </a:ext>
            </a:extLst>
          </p:cNvPr>
          <p:cNvSpPr/>
          <p:nvPr/>
        </p:nvSpPr>
        <p:spPr>
          <a:xfrm>
            <a:off x="914371" y="2854845"/>
            <a:ext cx="8919191" cy="2106102"/>
          </a:xfrm>
          <a:prstGeom prst="rect">
            <a:avLst/>
          </a:prstGeom>
          <a:noFill/>
          <a:ln>
            <a:noFill/>
          </a:ln>
        </p:spPr>
        <p:txBody>
          <a:bodyPr spcFirstLastPara="1" wrap="square" lIns="25400" tIns="25400" rIns="25400" bIns="25400" anchor="t" anchorCtr="0">
            <a:noAutofit/>
          </a:bodyPr>
          <a:lstStyle/>
          <a:p>
            <a:pPr marL="0" marR="0" lvl="0" indent="0" algn="l" rtl="0">
              <a:spcBef>
                <a:spcPts val="0"/>
              </a:spcBef>
              <a:spcAft>
                <a:spcPts val="0"/>
              </a:spcAft>
              <a:buClr>
                <a:srgbClr val="F2F2F3"/>
              </a:buClr>
              <a:buSzPts val="8850"/>
              <a:buFont typeface="Barlow Condensed"/>
              <a:buNone/>
            </a:pPr>
            <a:r>
              <a:rPr lang="en-US" sz="7200" b="1" i="0" u="none" strike="noStrike" cap="none" dirty="0">
                <a:solidFill>
                  <a:srgbClr val="F2F2F3"/>
                </a:solidFill>
                <a:latin typeface="Barlow Condensed"/>
                <a:ea typeface="Barlow Condensed"/>
                <a:cs typeface="Barlow Condensed"/>
                <a:sym typeface="Barlow Condensed"/>
              </a:rPr>
              <a:t>Goals </a:t>
            </a:r>
            <a:r>
              <a:rPr lang="en-US" sz="7200" b="1" dirty="0">
                <a:solidFill>
                  <a:srgbClr val="F2F2F3"/>
                </a:solidFill>
                <a:latin typeface="Barlow Condensed"/>
                <a:ea typeface="Barlow Condensed"/>
                <a:cs typeface="Barlow Condensed"/>
                <a:sym typeface="Barlow Condensed"/>
              </a:rPr>
              <a:t>Mapping  &amp; Cashflow Allocation</a:t>
            </a:r>
            <a:endParaRPr sz="7200" b="0" i="0" u="none" strike="noStrike" cap="none" dirty="0">
              <a:solidFill>
                <a:schemeClr val="dk1"/>
              </a:solidFill>
              <a:latin typeface="Calibri"/>
              <a:ea typeface="Calibri"/>
              <a:cs typeface="Calibri"/>
              <a:sym typeface="Calibri"/>
            </a:endParaRPr>
          </a:p>
        </p:txBody>
      </p:sp>
      <p:sp>
        <p:nvSpPr>
          <p:cNvPr id="20" name="Google Shape;193;p7">
            <a:extLst>
              <a:ext uri="{FF2B5EF4-FFF2-40B4-BE49-F238E27FC236}">
                <a16:creationId xmlns:a16="http://schemas.microsoft.com/office/drawing/2014/main" id="{2F0104CD-FA72-90AD-4BDC-D6A657AD1474}"/>
              </a:ext>
            </a:extLst>
          </p:cNvPr>
          <p:cNvSpPr/>
          <p:nvPr/>
        </p:nvSpPr>
        <p:spPr>
          <a:xfrm>
            <a:off x="914372" y="5303847"/>
            <a:ext cx="7300428" cy="9525"/>
          </a:xfrm>
          <a:prstGeom prst="rect">
            <a:avLst/>
          </a:prstGeom>
          <a:solidFill>
            <a:srgbClr val="F2F2F3">
              <a:alpha val="2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4;p7">
            <a:extLst>
              <a:ext uri="{FF2B5EF4-FFF2-40B4-BE49-F238E27FC236}">
                <a16:creationId xmlns:a16="http://schemas.microsoft.com/office/drawing/2014/main" id="{861B0C5A-5A61-737B-19B1-0EC8E7658BCD}"/>
              </a:ext>
            </a:extLst>
          </p:cNvPr>
          <p:cNvSpPr/>
          <p:nvPr/>
        </p:nvSpPr>
        <p:spPr>
          <a:xfrm>
            <a:off x="914372" y="5637151"/>
            <a:ext cx="8435816" cy="1446865"/>
          </a:xfrm>
          <a:prstGeom prst="rect">
            <a:avLst/>
          </a:prstGeom>
          <a:noFill/>
          <a:ln>
            <a:noFill/>
          </a:ln>
        </p:spPr>
        <p:txBody>
          <a:bodyPr spcFirstLastPara="1" wrap="square" lIns="25400" tIns="25400" rIns="25400" bIns="25400" anchor="t" anchorCtr="0">
            <a:noAutofit/>
          </a:bodyPr>
          <a:lstStyle/>
          <a:p>
            <a:pPr marL="0" marR="0" lvl="0" indent="0" algn="l" rtl="0">
              <a:lnSpc>
                <a:spcPct val="121800"/>
              </a:lnSpc>
              <a:spcBef>
                <a:spcPts val="0"/>
              </a:spcBef>
              <a:spcAft>
                <a:spcPts val="0"/>
              </a:spcAft>
              <a:buClr>
                <a:srgbClr val="F2F2F3"/>
              </a:buClr>
              <a:buSzPts val="2550"/>
              <a:buFont typeface="Barlow"/>
              <a:buNone/>
            </a:pPr>
            <a:r>
              <a:rPr lang="en-US" sz="2550" b="0" i="0" u="none" strike="noStrike" cap="none" dirty="0">
                <a:solidFill>
                  <a:srgbClr val="F2F2F3"/>
                </a:solidFill>
                <a:latin typeface="Barlow"/>
                <a:ea typeface="Barlow"/>
                <a:cs typeface="Barlow"/>
                <a:sym typeface="Barlow"/>
              </a:rPr>
              <a:t>{{goals_section_intro}}</a:t>
            </a:r>
            <a:endParaRPr sz="2550" b="0" i="0" u="none" strike="noStrike" cap="none" dirty="0">
              <a:solidFill>
                <a:schemeClr val="dk1"/>
              </a:solidFill>
              <a:latin typeface="Calibri"/>
              <a:ea typeface="Calibri"/>
              <a:cs typeface="Calibri"/>
              <a:sym typeface="Calibri"/>
            </a:endParaRPr>
          </a:p>
        </p:txBody>
      </p:sp>
      <p:sp>
        <p:nvSpPr>
          <p:cNvPr id="24" name="Google Shape;195;p7">
            <a:extLst>
              <a:ext uri="{FF2B5EF4-FFF2-40B4-BE49-F238E27FC236}">
                <a16:creationId xmlns:a16="http://schemas.microsoft.com/office/drawing/2014/main" id="{F6DD0DAF-731D-682B-8931-A6FB59DB95D9}"/>
              </a:ext>
            </a:extLst>
          </p:cNvPr>
          <p:cNvSpPr/>
          <p:nvPr/>
        </p:nvSpPr>
        <p:spPr>
          <a:xfrm>
            <a:off x="914372" y="7749623"/>
            <a:ext cx="3299711"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MONTHLY COMMITMENT</a:t>
            </a:r>
            <a:endParaRPr sz="1800" b="0" i="0" u="none" strike="noStrike" cap="none">
              <a:solidFill>
                <a:schemeClr val="dk1"/>
              </a:solidFill>
              <a:latin typeface="Calibri"/>
              <a:ea typeface="Calibri"/>
              <a:cs typeface="Calibri"/>
              <a:sym typeface="Calibri"/>
            </a:endParaRPr>
          </a:p>
        </p:txBody>
      </p:sp>
      <p:sp>
        <p:nvSpPr>
          <p:cNvPr id="26" name="Google Shape;196;p7">
            <a:extLst>
              <a:ext uri="{FF2B5EF4-FFF2-40B4-BE49-F238E27FC236}">
                <a16:creationId xmlns:a16="http://schemas.microsoft.com/office/drawing/2014/main" id="{E6D003B8-F450-25A5-731E-A40FAFEF5B77}"/>
              </a:ext>
            </a:extLst>
          </p:cNvPr>
          <p:cNvSpPr/>
          <p:nvPr/>
        </p:nvSpPr>
        <p:spPr>
          <a:xfrm>
            <a:off x="914372" y="8180161"/>
            <a:ext cx="3299711" cy="571472"/>
          </a:xfrm>
          <a:prstGeom prst="rect">
            <a:avLst/>
          </a:prstGeom>
          <a:noFill/>
          <a:ln>
            <a:noFill/>
          </a:ln>
        </p:spPr>
        <p:txBody>
          <a:bodyPr spcFirstLastPara="1" wrap="non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dirty="0">
                <a:solidFill>
                  <a:srgbClr val="94BCE3"/>
                </a:solidFill>
                <a:latin typeface="Barlow Condensed"/>
                <a:ea typeface="Barlow Condensed"/>
                <a:cs typeface="Barlow Condensed"/>
                <a:sym typeface="Barlow Condensed"/>
              </a:rPr>
              <a:t>{{monthly_savings_short}}</a:t>
            </a:r>
            <a:r>
              <a:rPr lang="en-US" sz="4200" dirty="0">
                <a:solidFill>
                  <a:srgbClr val="94BCE3"/>
                </a:solidFill>
                <a:latin typeface="Barlow Condensed"/>
                <a:ea typeface="Barlow Condensed"/>
                <a:cs typeface="Barlow Condensed"/>
                <a:sym typeface="Barlow Condensed"/>
              </a:rPr>
              <a:t/>
            </a:r>
            <a:r>
              <a:rPr lang="en-US" sz="4200" b="0" i="0" u="none" strike="noStrike" cap="none" dirty="0">
                <a:solidFill>
                  <a:srgbClr val="94BCE3"/>
                </a:solidFill>
                <a:latin typeface="Barlow Condensed"/>
                <a:ea typeface="Barlow Condensed"/>
                <a:cs typeface="Barlow Condensed"/>
                <a:sym typeface="Barlow Condensed"/>
              </a:rPr>
              <a:t/>
            </a:r>
            <a:endParaRPr sz="4200" b="0" i="0" u="none" strike="noStrike" cap="none" dirty="0">
              <a:solidFill>
                <a:schemeClr val="dk1"/>
              </a:solidFill>
              <a:latin typeface="Calibri"/>
              <a:ea typeface="Calibri"/>
              <a:cs typeface="Calibri"/>
              <a:sym typeface="Calibri"/>
            </a:endParaRPr>
          </a:p>
        </p:txBody>
      </p:sp>
      <p:sp>
        <p:nvSpPr>
          <p:cNvPr id="28" name="Google Shape;197;p7">
            <a:extLst>
              <a:ext uri="{FF2B5EF4-FFF2-40B4-BE49-F238E27FC236}">
                <a16:creationId xmlns:a16="http://schemas.microsoft.com/office/drawing/2014/main" id="{A878944C-5476-F84F-502E-83D0EB7311E9}"/>
              </a:ext>
            </a:extLst>
          </p:cNvPr>
          <p:cNvSpPr/>
          <p:nvPr/>
        </p:nvSpPr>
        <p:spPr>
          <a:xfrm>
            <a:off x="4447481" y="7749623"/>
            <a:ext cx="3277571"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NEW SAVING REQUIRED</a:t>
            </a:r>
            <a:endParaRPr sz="1800" b="0" i="0" u="none" strike="noStrike" cap="none">
              <a:solidFill>
                <a:schemeClr val="dk1"/>
              </a:solidFill>
              <a:latin typeface="Calibri"/>
              <a:ea typeface="Calibri"/>
              <a:cs typeface="Calibri"/>
              <a:sym typeface="Calibri"/>
            </a:endParaRPr>
          </a:p>
        </p:txBody>
      </p:sp>
      <p:sp>
        <p:nvSpPr>
          <p:cNvPr id="30" name="Google Shape;198;p7">
            <a:extLst>
              <a:ext uri="{FF2B5EF4-FFF2-40B4-BE49-F238E27FC236}">
                <a16:creationId xmlns:a16="http://schemas.microsoft.com/office/drawing/2014/main" id="{94FD9B48-2934-6997-BF43-C6EC82F8FADB}"/>
              </a:ext>
            </a:extLst>
          </p:cNvPr>
          <p:cNvSpPr/>
          <p:nvPr/>
        </p:nvSpPr>
        <p:spPr>
          <a:xfrm>
            <a:off x="4447481" y="8180161"/>
            <a:ext cx="3277571" cy="571472"/>
          </a:xfrm>
          <a:prstGeom prst="rect">
            <a:avLst/>
          </a:prstGeom>
          <a:noFill/>
          <a:ln>
            <a:noFill/>
          </a:ln>
        </p:spPr>
        <p:txBody>
          <a:bodyPr spcFirstLastPara="1" wrap="squar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a:solidFill>
                  <a:srgbClr val="94BCE3"/>
                </a:solidFill>
                <a:latin typeface="Barlow Condensed"/>
                <a:ea typeface="Barlow Condensed"/>
                <a:cs typeface="Barlow Condensed"/>
                <a:sym typeface="Barlow Condensed"/>
              </a:rPr>
              <a:t>{{new_saving_required}}</a:t>
            </a:r>
            <a:endParaRPr sz="4200" b="0" i="0" u="none" strike="noStrike" cap="none">
              <a:solidFill>
                <a:schemeClr val="dk1"/>
              </a:solidFill>
              <a:latin typeface="Calibri"/>
              <a:ea typeface="Calibri"/>
              <a:cs typeface="Calibri"/>
              <a:sym typeface="Calibri"/>
            </a:endParaRPr>
          </a:p>
        </p:txBody>
      </p:sp>
      <p:sp>
        <p:nvSpPr>
          <p:cNvPr id="32" name="Google Shape;199;p7">
            <a:extLst>
              <a:ext uri="{FF2B5EF4-FFF2-40B4-BE49-F238E27FC236}">
                <a16:creationId xmlns:a16="http://schemas.microsoft.com/office/drawing/2014/main" id="{ABBB3CA8-EB27-7F39-F58A-2CCD7463430B}"/>
              </a:ext>
            </a:extLst>
          </p:cNvPr>
          <p:cNvSpPr/>
          <p:nvPr/>
        </p:nvSpPr>
        <p:spPr>
          <a:xfrm>
            <a:off x="914372" y="9323090"/>
            <a:ext cx="944510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ARMSTRONG CAPITAL · GOAL BASED PLANNING</a:t>
            </a:r>
            <a:endParaRPr sz="1800" b="0" i="0" u="none" strike="noStrike" cap="none">
              <a:solidFill>
                <a:schemeClr val="dk1"/>
              </a:solidFill>
              <a:latin typeface="Calibri"/>
              <a:ea typeface="Calibri"/>
              <a:cs typeface="Calibri"/>
              <a:sym typeface="Calibri"/>
            </a:endParaRPr>
          </a:p>
        </p:txBody>
      </p:sp>
      <p:sp>
        <p:nvSpPr>
          <p:cNvPr id="34" name="Google Shape;200;p7">
            <a:extLst>
              <a:ext uri="{FF2B5EF4-FFF2-40B4-BE49-F238E27FC236}">
                <a16:creationId xmlns:a16="http://schemas.microsoft.com/office/drawing/2014/main" id="{87739A6F-ADFA-A728-46D4-BB662AF5246E}"/>
              </a:ext>
            </a:extLst>
          </p:cNvPr>
          <p:cNvSpPr/>
          <p:nvPr/>
        </p:nvSpPr>
        <p:spPr>
          <a:xfrm>
            <a:off x="10110391" y="0"/>
            <a:ext cx="8177539" cy="10287001"/>
          </a:xfrm>
          <a:prstGeom prst="rect">
            <a:avLst/>
          </a:prstGeom>
          <a:solidFill>
            <a:srgbClr val="20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 name="Google Shape;201;p7" descr="preencoded.png">
            <a:extLst>
              <a:ext uri="{FF2B5EF4-FFF2-40B4-BE49-F238E27FC236}">
                <a16:creationId xmlns:a16="http://schemas.microsoft.com/office/drawing/2014/main" id="{70F57832-A7A9-0B4A-548D-FC092C507373}"/>
              </a:ext>
            </a:extLst>
          </p:cNvPr>
          <p:cNvPicPr preferRelativeResize="0"/>
          <p:nvPr/>
        </p:nvPicPr>
        <p:blipFill rotWithShape="1">
          <a:blip r:embed="rId3">
            <a:alphaModFix amt="90000"/>
          </a:blip>
          <a:srcRect l="27642" r="27642"/>
          <a:stretch/>
        </p:blipFill>
        <p:spPr>
          <a:xfrm>
            <a:off x="10110391" y="0"/>
            <a:ext cx="8177539" cy="10287001"/>
          </a:xfrm>
          <a:prstGeom prst="rect">
            <a:avLst/>
          </a:prstGeom>
          <a:noFill/>
          <a:ln>
            <a:noFill/>
          </a:ln>
        </p:spPr>
      </p:pic>
      <p:sp>
        <p:nvSpPr>
          <p:cNvPr id="38" name="Google Shape;202;p7">
            <a:extLst>
              <a:ext uri="{FF2B5EF4-FFF2-40B4-BE49-F238E27FC236}">
                <a16:creationId xmlns:a16="http://schemas.microsoft.com/office/drawing/2014/main" id="{8816B2D0-7C59-9A7A-AF3F-87FB8370A31A}"/>
              </a:ext>
            </a:extLst>
          </p:cNvPr>
          <p:cNvSpPr/>
          <p:nvPr/>
        </p:nvSpPr>
        <p:spPr>
          <a:xfrm>
            <a:off x="10110390" y="0"/>
            <a:ext cx="8177539" cy="10287001"/>
          </a:xfrm>
          <a:prstGeom prst="rect">
            <a:avLst/>
          </a:prstGeom>
          <a:solidFill>
            <a:srgbClr val="141A45">
              <a:alpha val="5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203;p7">
            <a:extLst>
              <a:ext uri="{FF2B5EF4-FFF2-40B4-BE49-F238E27FC236}">
                <a16:creationId xmlns:a16="http://schemas.microsoft.com/office/drawing/2014/main" id="{829ABD31-F0E1-62BC-44E8-090046ED2837}"/>
              </a:ext>
            </a:extLst>
          </p:cNvPr>
          <p:cNvSpPr/>
          <p:nvPr/>
        </p:nvSpPr>
        <p:spPr>
          <a:xfrm>
            <a:off x="10110461" y="0"/>
            <a:ext cx="8177539" cy="10287001"/>
          </a:xfrm>
          <a:prstGeom prst="rect">
            <a:avLst/>
          </a:prstGeom>
          <a:gradFill>
            <a:gsLst>
              <a:gs pos="0">
                <a:srgbClr val="141A45"/>
              </a:gs>
              <a:gs pos="30000">
                <a:srgbClr val="141A45">
                  <a:alpha val="0"/>
                </a:srgbClr>
              </a:gs>
              <a:gs pos="100000">
                <a:srgbClr val="141A45">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7290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488529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WHEN THE MONEY IS NEEDED</a:t>
            </a:r>
            <a:endParaRPr lang="en-US" sz="2100" b="1" dirty="0">
              <a:solidFill>
                <a:srgbClr val="2A3480"/>
              </a:solidFill>
              <a:latin typeface="Barlow"/>
            </a:endParaRPr>
          </a:p>
        </p:txBody>
      </p:sp>
      <p:sp>
        <p:nvSpPr>
          <p:cNvPr id="3" name="Text 1"/>
          <p:cNvSpPr/>
          <p:nvPr/>
        </p:nvSpPr>
        <p:spPr>
          <a:xfrm>
            <a:off x="914372" y="1088501"/>
            <a:ext cx="4885291"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Goals Road-Map</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143763"/>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5728607"/>
            <a:ext cx="16459187" cy="18993"/>
          </a:xfrm>
          <a:prstGeom prst="rect">
            <a:avLst/>
          </a:prstGeom>
          <a:solidFill>
            <a:srgbClr val="1D1F20">
              <a:alpha val="25000"/>
            </a:srgbClr>
          </a:solidFill>
          <a:ln/>
        </p:spPr>
        <p:txBody>
          <a:bodyPr/>
          <a:lstStyle/>
          <a:p>
            <a:endParaRPr lang="en-US"/>
          </a:p>
        </p:txBody>
      </p:sp>
      <p:sp>
        <p:nvSpPr>
          <p:cNvPr id="7" name="Shape 4"/>
          <p:cNvSpPr/>
          <p:nvPr/>
        </p:nvSpPr>
        <p:spPr>
          <a:xfrm>
            <a:off x="1104872" y="2726744"/>
            <a:ext cx="2910795" cy="2468563"/>
          </a:xfrm>
          <a:prstGeom prst="rect">
            <a:avLst/>
          </a:prstGeom>
          <a:solidFill>
            <a:srgbClr val="F2F2F3"/>
          </a:solidFill>
          <a:ln w="9071">
            <a:solidFill>
              <a:srgbClr val="1F1F1F">
                <a:alpha val="16000"/>
              </a:srgbClr>
            </a:solidFill>
            <a:prstDash val="solid"/>
          </a:ln>
        </p:spPr>
        <p:txBody>
          <a:bodyPr/>
          <a:lstStyle/>
          <a:p>
            <a:endParaRPr lang="en-US"/>
          </a:p>
        </p:txBody>
      </p:sp>
      <p:sp>
        <p:nvSpPr>
          <p:cNvPr id="8" name="Text 5"/>
          <p:cNvSpPr/>
          <p:nvPr/>
        </p:nvSpPr>
        <p:spPr>
          <a:xfrm>
            <a:off x="1361565" y="2964373"/>
            <a:ext cx="2637149"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26306F"/>
                </a:solidFill>
                <a:latin typeface="Barlow Condensed" pitchFamily="34" charset="0"/>
                <a:ea typeface="Barlow Condensed" pitchFamily="34" charset="-122"/>
                <a:cs typeface="Barlow Condensed" pitchFamily="34" charset="-120"/>
              </a:rPr>
              <a:t>{{roadmap_1_year}}</a:t>
            </a:r>
            <a:endParaRPr lang="en-US" sz="4200" dirty="0"/>
          </a:p>
        </p:txBody>
      </p:sp>
      <p:sp>
        <p:nvSpPr>
          <p:cNvPr id="9" name="Text 6"/>
          <p:cNvSpPr/>
          <p:nvPr/>
        </p:nvSpPr>
        <p:spPr>
          <a:xfrm>
            <a:off x="1361565" y="3611988"/>
            <a:ext cx="2473609" cy="92384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{{roadmap_1_label}}</a:t>
            </a:r>
            <a:endParaRPr lang="en-US" sz="2250" dirty="0"/>
          </a:p>
        </p:txBody>
      </p:sp>
      <p:sp>
        <p:nvSpPr>
          <p:cNvPr id="10" name="Text 7"/>
          <p:cNvSpPr/>
          <p:nvPr/>
        </p:nvSpPr>
        <p:spPr>
          <a:xfrm>
            <a:off x="1361565" y="4573914"/>
            <a:ext cx="26371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{{roadmap_1_amount}}</a:t>
            </a:r>
            <a:endParaRPr lang="en-US" sz="2100" dirty="0"/>
          </a:p>
        </p:txBody>
      </p:sp>
      <p:sp>
        <p:nvSpPr>
          <p:cNvPr id="11" name="Shape 8"/>
          <p:cNvSpPr/>
          <p:nvPr/>
        </p:nvSpPr>
        <p:spPr>
          <a:xfrm>
            <a:off x="2455523" y="5623861"/>
            <a:ext cx="209493" cy="209493"/>
          </a:xfrm>
          <a:prstGeom prst="rect">
            <a:avLst/>
          </a:prstGeom>
          <a:solidFill>
            <a:srgbClr val="26306F"/>
          </a:solidFill>
          <a:ln/>
        </p:spPr>
        <p:txBody>
          <a:bodyPr/>
          <a:lstStyle/>
          <a:p>
            <a:endParaRPr lang="en-US"/>
          </a:p>
        </p:txBody>
      </p:sp>
      <p:sp>
        <p:nvSpPr>
          <p:cNvPr id="12" name="Text 9"/>
          <p:cNvSpPr/>
          <p:nvPr/>
        </p:nvSpPr>
        <p:spPr>
          <a:xfrm>
            <a:off x="2196987" y="6109607"/>
            <a:ext cx="802694"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{{roadmap_1_horizon}}</a:t>
            </a:r>
            <a:endParaRPr lang="en-US" sz="2100" dirty="0"/>
          </a:p>
        </p:txBody>
      </p:sp>
      <p:sp>
        <p:nvSpPr>
          <p:cNvPr id="13" name="Shape 10"/>
          <p:cNvSpPr/>
          <p:nvPr/>
        </p:nvSpPr>
        <p:spPr>
          <a:xfrm>
            <a:off x="4396667" y="6261979"/>
            <a:ext cx="2910866" cy="2468563"/>
          </a:xfrm>
          <a:prstGeom prst="rect">
            <a:avLst/>
          </a:prstGeom>
          <a:solidFill>
            <a:srgbClr val="F2F2F3"/>
          </a:solidFill>
          <a:ln w="9071">
            <a:solidFill>
              <a:srgbClr val="1F1F1F">
                <a:alpha val="16000"/>
              </a:srgbClr>
            </a:solidFill>
            <a:prstDash val="solid"/>
          </a:ln>
        </p:spPr>
        <p:txBody>
          <a:bodyPr/>
          <a:lstStyle/>
          <a:p>
            <a:endParaRPr lang="en-US"/>
          </a:p>
        </p:txBody>
      </p:sp>
      <p:sp>
        <p:nvSpPr>
          <p:cNvPr id="14" name="Text 11"/>
          <p:cNvSpPr/>
          <p:nvPr/>
        </p:nvSpPr>
        <p:spPr>
          <a:xfrm>
            <a:off x="4653360" y="6499608"/>
            <a:ext cx="2637227"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26306F"/>
                </a:solidFill>
                <a:latin typeface="Barlow Condensed" pitchFamily="34" charset="0"/>
                <a:ea typeface="Barlow Condensed" pitchFamily="34" charset="-122"/>
                <a:cs typeface="Barlow Condensed" pitchFamily="34" charset="-120"/>
              </a:rPr>
              <a:t>{{roadmap_2_year}}</a:t>
            </a:r>
            <a:endParaRPr lang="en-US" sz="4200" dirty="0"/>
          </a:p>
        </p:txBody>
      </p:sp>
      <p:sp>
        <p:nvSpPr>
          <p:cNvPr id="15" name="Text 12"/>
          <p:cNvSpPr/>
          <p:nvPr/>
        </p:nvSpPr>
        <p:spPr>
          <a:xfrm>
            <a:off x="4653360" y="7147223"/>
            <a:ext cx="2473680" cy="92384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{{roadmap_2_label}}</a:t>
            </a:r>
            <a:endParaRPr lang="en-US" sz="2250" dirty="0"/>
          </a:p>
        </p:txBody>
      </p:sp>
      <p:sp>
        <p:nvSpPr>
          <p:cNvPr id="16" name="Text 13"/>
          <p:cNvSpPr/>
          <p:nvPr/>
        </p:nvSpPr>
        <p:spPr>
          <a:xfrm>
            <a:off x="4653360" y="8109149"/>
            <a:ext cx="2637227"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{{roadmap_2_amount}}</a:t>
            </a:r>
            <a:endParaRPr lang="en-US" sz="2100" dirty="0"/>
          </a:p>
        </p:txBody>
      </p:sp>
      <p:sp>
        <p:nvSpPr>
          <p:cNvPr id="17" name="Shape 14"/>
          <p:cNvSpPr/>
          <p:nvPr/>
        </p:nvSpPr>
        <p:spPr>
          <a:xfrm>
            <a:off x="5747317" y="5623861"/>
            <a:ext cx="209493" cy="209493"/>
          </a:xfrm>
          <a:prstGeom prst="rect">
            <a:avLst/>
          </a:prstGeom>
          <a:solidFill>
            <a:srgbClr val="26306F"/>
          </a:solidFill>
          <a:ln/>
        </p:spPr>
        <p:txBody>
          <a:bodyPr/>
          <a:lstStyle/>
          <a:p>
            <a:endParaRPr lang="en-US"/>
          </a:p>
        </p:txBody>
      </p:sp>
      <p:sp>
        <p:nvSpPr>
          <p:cNvPr id="18" name="Text 15"/>
          <p:cNvSpPr/>
          <p:nvPr/>
        </p:nvSpPr>
        <p:spPr>
          <a:xfrm>
            <a:off x="5488923" y="4993325"/>
            <a:ext cx="802481"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{{roadmap_2_horizon}}</a:t>
            </a:r>
            <a:endParaRPr lang="en-US" sz="2100" dirty="0"/>
          </a:p>
        </p:txBody>
      </p:sp>
      <p:sp>
        <p:nvSpPr>
          <p:cNvPr id="19" name="Shape 16"/>
          <p:cNvSpPr/>
          <p:nvPr/>
        </p:nvSpPr>
        <p:spPr>
          <a:xfrm>
            <a:off x="7688532" y="2726744"/>
            <a:ext cx="2910795" cy="2468563"/>
          </a:xfrm>
          <a:prstGeom prst="rect">
            <a:avLst/>
          </a:prstGeom>
          <a:solidFill>
            <a:srgbClr val="F2F2F3"/>
          </a:solidFill>
          <a:ln w="9071">
            <a:solidFill>
              <a:srgbClr val="1F1F1F">
                <a:alpha val="16000"/>
              </a:srgbClr>
            </a:solidFill>
            <a:prstDash val="solid"/>
          </a:ln>
        </p:spPr>
        <p:txBody>
          <a:bodyPr/>
          <a:lstStyle/>
          <a:p>
            <a:endParaRPr lang="en-US"/>
          </a:p>
        </p:txBody>
      </p:sp>
      <p:sp>
        <p:nvSpPr>
          <p:cNvPr id="20" name="Text 17"/>
          <p:cNvSpPr/>
          <p:nvPr/>
        </p:nvSpPr>
        <p:spPr>
          <a:xfrm>
            <a:off x="7945225" y="2964373"/>
            <a:ext cx="2637149"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26306F"/>
                </a:solidFill>
                <a:latin typeface="Barlow Condensed" pitchFamily="34" charset="0"/>
                <a:ea typeface="Barlow Condensed" pitchFamily="34" charset="-122"/>
                <a:cs typeface="Barlow Condensed" pitchFamily="34" charset="-120"/>
              </a:rPr>
              <a:t>{{roadmap_3_year}}</a:t>
            </a:r>
            <a:endParaRPr lang="en-US" sz="4200" dirty="0"/>
          </a:p>
        </p:txBody>
      </p:sp>
      <p:sp>
        <p:nvSpPr>
          <p:cNvPr id="21" name="Text 18"/>
          <p:cNvSpPr/>
          <p:nvPr/>
        </p:nvSpPr>
        <p:spPr>
          <a:xfrm>
            <a:off x="7945225" y="3611988"/>
            <a:ext cx="2473609" cy="92384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{{roadmap_3_label}}</a:t>
            </a:r>
            <a:endParaRPr lang="en-US" sz="2250" dirty="0"/>
          </a:p>
        </p:txBody>
      </p:sp>
      <p:sp>
        <p:nvSpPr>
          <p:cNvPr id="22" name="Text 19"/>
          <p:cNvSpPr/>
          <p:nvPr/>
        </p:nvSpPr>
        <p:spPr>
          <a:xfrm>
            <a:off x="7945225" y="4573914"/>
            <a:ext cx="263714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{{roadmap_3_amount}}</a:t>
            </a:r>
            <a:endParaRPr lang="en-US" sz="2100" dirty="0"/>
          </a:p>
        </p:txBody>
      </p:sp>
      <p:sp>
        <p:nvSpPr>
          <p:cNvPr id="23" name="Shape 20"/>
          <p:cNvSpPr/>
          <p:nvPr/>
        </p:nvSpPr>
        <p:spPr>
          <a:xfrm>
            <a:off x="9039183" y="5623861"/>
            <a:ext cx="209493" cy="209493"/>
          </a:xfrm>
          <a:prstGeom prst="rect">
            <a:avLst/>
          </a:prstGeom>
          <a:solidFill>
            <a:srgbClr val="26306F"/>
          </a:solidFill>
          <a:ln/>
        </p:spPr>
        <p:txBody>
          <a:bodyPr/>
          <a:lstStyle/>
          <a:p>
            <a:endParaRPr lang="en-US"/>
          </a:p>
        </p:txBody>
      </p:sp>
      <p:sp>
        <p:nvSpPr>
          <p:cNvPr id="24" name="Text 21"/>
          <p:cNvSpPr/>
          <p:nvPr/>
        </p:nvSpPr>
        <p:spPr>
          <a:xfrm>
            <a:off x="8779939" y="6109607"/>
            <a:ext cx="804111"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{{roadmap_3_horizon}}</a:t>
            </a:r>
            <a:endParaRPr lang="en-US" sz="2100" dirty="0"/>
          </a:p>
        </p:txBody>
      </p:sp>
      <p:sp>
        <p:nvSpPr>
          <p:cNvPr id="25" name="Shape 22"/>
          <p:cNvSpPr/>
          <p:nvPr/>
        </p:nvSpPr>
        <p:spPr>
          <a:xfrm>
            <a:off x="10980327" y="6261979"/>
            <a:ext cx="2910866" cy="3295197"/>
          </a:xfrm>
          <a:prstGeom prst="rect">
            <a:avLst/>
          </a:prstGeom>
          <a:solidFill>
            <a:srgbClr val="141A45"/>
          </a:solidFill>
          <a:ln w="9071">
            <a:solidFill>
              <a:srgbClr val="141A45"/>
            </a:solidFill>
            <a:prstDash val="solid"/>
          </a:ln>
        </p:spPr>
        <p:txBody>
          <a:bodyPr/>
          <a:lstStyle/>
          <a:p>
            <a:endParaRPr lang="en-US"/>
          </a:p>
        </p:txBody>
      </p:sp>
      <p:sp>
        <p:nvSpPr>
          <p:cNvPr id="26" name="Text 23"/>
          <p:cNvSpPr/>
          <p:nvPr/>
        </p:nvSpPr>
        <p:spPr>
          <a:xfrm>
            <a:off x="11237020" y="6499608"/>
            <a:ext cx="2637227"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94BCE3"/>
                </a:solidFill>
                <a:latin typeface="Barlow Condensed" pitchFamily="34" charset="0"/>
                <a:ea typeface="Barlow Condensed" pitchFamily="34" charset="-122"/>
                <a:cs typeface="Barlow Condensed" pitchFamily="34" charset="-120"/>
              </a:rPr>
              <a:t>{{roadmap_4_year}}</a:t>
            </a:r>
            <a:endParaRPr lang="en-US" sz="4200" dirty="0"/>
          </a:p>
        </p:txBody>
      </p:sp>
      <p:sp>
        <p:nvSpPr>
          <p:cNvPr id="27" name="Text 24"/>
          <p:cNvSpPr/>
          <p:nvPr/>
        </p:nvSpPr>
        <p:spPr>
          <a:xfrm>
            <a:off x="11237020" y="7147223"/>
            <a:ext cx="2473680" cy="136671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F2F2F3"/>
                </a:solidFill>
                <a:latin typeface="Barlow" pitchFamily="34" charset="0"/>
                <a:ea typeface="Barlow" pitchFamily="34" charset="-122"/>
                <a:cs typeface="Barlow" pitchFamily="34" charset="-120"/>
              </a:rPr>
              <a:t>{{roadmap_4_label}}</a:t>
            </a:r>
            <a:endParaRPr lang="en-US" sz="2250" dirty="0"/>
          </a:p>
        </p:txBody>
      </p:sp>
      <p:sp>
        <p:nvSpPr>
          <p:cNvPr id="28" name="Text 25"/>
          <p:cNvSpPr/>
          <p:nvPr/>
        </p:nvSpPr>
        <p:spPr>
          <a:xfrm>
            <a:off x="11237020" y="8552019"/>
            <a:ext cx="2473680" cy="805628"/>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{{roadmap_4_amount}}</a:t>
            </a:r>
            <a:endParaRPr lang="en-US" sz="2100" dirty="0"/>
          </a:p>
        </p:txBody>
      </p:sp>
      <p:sp>
        <p:nvSpPr>
          <p:cNvPr id="29" name="Shape 26"/>
          <p:cNvSpPr/>
          <p:nvPr/>
        </p:nvSpPr>
        <p:spPr>
          <a:xfrm>
            <a:off x="12292921" y="5585803"/>
            <a:ext cx="285679" cy="285679"/>
          </a:xfrm>
          <a:prstGeom prst="rect">
            <a:avLst/>
          </a:prstGeom>
          <a:solidFill>
            <a:srgbClr val="141A45"/>
          </a:solidFill>
          <a:ln/>
        </p:spPr>
        <p:txBody>
          <a:bodyPr/>
          <a:lstStyle/>
          <a:p>
            <a:endParaRPr lang="en-US"/>
          </a:p>
        </p:txBody>
      </p:sp>
      <p:sp>
        <p:nvSpPr>
          <p:cNvPr id="30" name="Text 27"/>
          <p:cNvSpPr/>
          <p:nvPr/>
        </p:nvSpPr>
        <p:spPr>
          <a:xfrm>
            <a:off x="12010713" y="4993325"/>
            <a:ext cx="926150"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{{roadmap_4_horizon}}</a:t>
            </a:r>
            <a:endParaRPr lang="en-US" sz="2100" dirty="0"/>
          </a:p>
        </p:txBody>
      </p:sp>
      <p:sp>
        <p:nvSpPr>
          <p:cNvPr id="31" name="Shape 28"/>
          <p:cNvSpPr/>
          <p:nvPr/>
        </p:nvSpPr>
        <p:spPr>
          <a:xfrm>
            <a:off x="14272193" y="2283874"/>
            <a:ext cx="2910866" cy="2911433"/>
          </a:xfrm>
          <a:prstGeom prst="rect">
            <a:avLst/>
          </a:prstGeom>
          <a:solidFill>
            <a:srgbClr val="F2F2F3"/>
          </a:solidFill>
          <a:ln w="9071">
            <a:solidFill>
              <a:srgbClr val="1F1F1F">
                <a:alpha val="16000"/>
              </a:srgbClr>
            </a:solidFill>
            <a:prstDash val="solid"/>
          </a:ln>
        </p:spPr>
        <p:txBody>
          <a:bodyPr/>
          <a:lstStyle/>
          <a:p>
            <a:endParaRPr lang="en-US"/>
          </a:p>
        </p:txBody>
      </p:sp>
      <p:sp>
        <p:nvSpPr>
          <p:cNvPr id="32" name="Text 29"/>
          <p:cNvSpPr/>
          <p:nvPr/>
        </p:nvSpPr>
        <p:spPr>
          <a:xfrm>
            <a:off x="14528886" y="2521503"/>
            <a:ext cx="2637227"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26306F"/>
                </a:solidFill>
                <a:latin typeface="Barlow Condensed" pitchFamily="34" charset="0"/>
                <a:ea typeface="Barlow Condensed" pitchFamily="34" charset="-122"/>
                <a:cs typeface="Barlow Condensed" pitchFamily="34" charset="-120"/>
              </a:rPr>
              <a:t>{{roadmap_5_year}}</a:t>
            </a:r>
            <a:endParaRPr lang="en-US" sz="4200" dirty="0"/>
          </a:p>
        </p:txBody>
      </p:sp>
      <p:sp>
        <p:nvSpPr>
          <p:cNvPr id="33" name="Text 30"/>
          <p:cNvSpPr/>
          <p:nvPr/>
        </p:nvSpPr>
        <p:spPr>
          <a:xfrm>
            <a:off x="14528886" y="3169118"/>
            <a:ext cx="2473680" cy="136671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{{roadmap_5_label}}</a:t>
            </a:r>
            <a:endParaRPr lang="en-US" sz="2250" dirty="0"/>
          </a:p>
        </p:txBody>
      </p:sp>
      <p:sp>
        <p:nvSpPr>
          <p:cNvPr id="34" name="Text 31"/>
          <p:cNvSpPr/>
          <p:nvPr/>
        </p:nvSpPr>
        <p:spPr>
          <a:xfrm>
            <a:off x="14528886" y="4573914"/>
            <a:ext cx="2637227"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{{roadmap_5_amount}}</a:t>
            </a:r>
            <a:endParaRPr lang="en-US" sz="2100" dirty="0"/>
          </a:p>
        </p:txBody>
      </p:sp>
      <p:sp>
        <p:nvSpPr>
          <p:cNvPr id="35" name="Shape 32"/>
          <p:cNvSpPr/>
          <p:nvPr/>
        </p:nvSpPr>
        <p:spPr>
          <a:xfrm>
            <a:off x="15622844" y="5623861"/>
            <a:ext cx="209493" cy="209493"/>
          </a:xfrm>
          <a:prstGeom prst="rect">
            <a:avLst/>
          </a:prstGeom>
          <a:solidFill>
            <a:srgbClr val="26306F"/>
          </a:solidFill>
          <a:ln/>
        </p:spPr>
        <p:txBody>
          <a:bodyPr/>
          <a:lstStyle/>
          <a:p>
            <a:endParaRPr lang="en-US"/>
          </a:p>
        </p:txBody>
      </p:sp>
      <p:sp>
        <p:nvSpPr>
          <p:cNvPr id="36" name="Text 33"/>
          <p:cNvSpPr/>
          <p:nvPr/>
        </p:nvSpPr>
        <p:spPr>
          <a:xfrm>
            <a:off x="13932610" y="6109607"/>
            <a:ext cx="2294561" cy="392453"/>
          </a:xfrm>
          <a:prstGeom prst="rect">
            <a:avLst/>
          </a:prstGeom>
          <a:noFill/>
          <a:ln/>
        </p:spPr>
        <p:txBody>
          <a:bodyPr wrap="none" lIns="25400" tIns="25400" rIns="25400" bIns="25400" rtlCol="0" anchor="t">
            <a:normAutofit fontScale="85000" lnSpcReduction="10000"/>
          </a:bodyPr>
          <a:lstStyle/>
          <a:p>
            <a:pPr marL="0" indent="0" algn="r">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{{roadmap_5_horizon}}</a:t>
            </a:r>
            <a:endParaRPr lang="en-US" sz="2100" dirty="0"/>
          </a:p>
        </p:txBody>
      </p:sp>
      <p:sp>
        <p:nvSpPr>
          <p:cNvPr id="37" name="Text 34"/>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8" name="Text 35"/>
          <p:cNvSpPr/>
          <p:nvPr/>
        </p:nvSpPr>
        <p:spPr>
          <a:xfrm>
            <a:off x="16713116" y="9475462"/>
            <a:ext cx="736643"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1547083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4">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6090437"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GOAL MAPPING</a:t>
            </a:r>
            <a:endParaRPr lang="en-US" sz="2100" b="1" dirty="0">
              <a:solidFill>
                <a:srgbClr val="2A3480"/>
              </a:solidFill>
              <a:latin typeface="Barlow"/>
            </a:endParaRPr>
          </a:p>
        </p:txBody>
      </p:sp>
      <p:sp>
        <p:nvSpPr>
          <p:cNvPr id="3" name="Text 1"/>
          <p:cNvSpPr/>
          <p:nvPr/>
        </p:nvSpPr>
        <p:spPr>
          <a:xfrm>
            <a:off x="914372" y="1088501"/>
            <a:ext cx="6090437"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Investment Allocation</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845877"/>
            <a:ext cx="3690371" cy="9525"/>
          </a:xfrm>
          <a:prstGeom prst="rect">
            <a:avLst/>
          </a:prstGeom>
          <a:solidFill>
            <a:srgbClr val="1F1F1F">
              <a:alpha val="16000"/>
            </a:srgbClr>
          </a:solidFill>
          <a:ln/>
        </p:spPr>
        <p:txBody>
          <a:bodyPr/>
          <a:lstStyle/>
          <a:p>
            <a:endParaRPr lang="en-US"/>
          </a:p>
        </p:txBody>
      </p:sp>
      <p:sp>
        <p:nvSpPr>
          <p:cNvPr id="7" name="Text 4"/>
          <p:cNvSpPr/>
          <p:nvPr/>
        </p:nvSpPr>
        <p:spPr>
          <a:xfrm>
            <a:off x="914372" y="2381817"/>
            <a:ext cx="3801082"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FINANCIAL ASSET</a:t>
            </a:r>
            <a:endParaRPr lang="en-US" sz="2100" dirty="0"/>
          </a:p>
        </p:txBody>
      </p:sp>
      <p:sp>
        <p:nvSpPr>
          <p:cNvPr id="8" name="Shape 5"/>
          <p:cNvSpPr/>
          <p:nvPr/>
        </p:nvSpPr>
        <p:spPr>
          <a:xfrm>
            <a:off x="4604742" y="2845877"/>
            <a:ext cx="2350492" cy="9525"/>
          </a:xfrm>
          <a:prstGeom prst="rect">
            <a:avLst/>
          </a:prstGeom>
          <a:solidFill>
            <a:srgbClr val="1F1F1F">
              <a:alpha val="16000"/>
            </a:srgbClr>
          </a:solidFill>
          <a:ln/>
        </p:spPr>
        <p:txBody>
          <a:bodyPr/>
          <a:lstStyle/>
          <a:p>
            <a:endParaRPr lang="en-US"/>
          </a:p>
        </p:txBody>
      </p:sp>
      <p:sp>
        <p:nvSpPr>
          <p:cNvPr id="9" name="Text 6"/>
          <p:cNvSpPr/>
          <p:nvPr/>
        </p:nvSpPr>
        <p:spPr>
          <a:xfrm>
            <a:off x="4604742" y="2381817"/>
            <a:ext cx="2426692"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CURRENT VALUE</a:t>
            </a:r>
            <a:endParaRPr lang="en-US" sz="2100" dirty="0"/>
          </a:p>
        </p:txBody>
      </p:sp>
      <p:sp>
        <p:nvSpPr>
          <p:cNvPr id="10" name="Shape 7"/>
          <p:cNvSpPr/>
          <p:nvPr/>
        </p:nvSpPr>
        <p:spPr>
          <a:xfrm>
            <a:off x="6955235" y="2845877"/>
            <a:ext cx="2696270" cy="9525"/>
          </a:xfrm>
          <a:prstGeom prst="rect">
            <a:avLst/>
          </a:prstGeom>
          <a:solidFill>
            <a:srgbClr val="1F1F1F">
              <a:alpha val="16000"/>
            </a:srgbClr>
          </a:solidFill>
          <a:ln/>
        </p:spPr>
        <p:txBody>
          <a:bodyPr/>
          <a:lstStyle/>
          <a:p>
            <a:endParaRPr lang="en-US"/>
          </a:p>
        </p:txBody>
      </p:sp>
      <p:sp>
        <p:nvSpPr>
          <p:cNvPr id="11" name="Text 8"/>
          <p:cNvSpPr/>
          <p:nvPr/>
        </p:nvSpPr>
        <p:spPr>
          <a:xfrm>
            <a:off x="6955235" y="2381817"/>
            <a:ext cx="2777158"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VALUE ALLOCATED</a:t>
            </a:r>
            <a:endParaRPr lang="en-US" sz="2100" dirty="0"/>
          </a:p>
        </p:txBody>
      </p:sp>
      <p:sp>
        <p:nvSpPr>
          <p:cNvPr id="12" name="Shape 9"/>
          <p:cNvSpPr/>
          <p:nvPr/>
        </p:nvSpPr>
        <p:spPr>
          <a:xfrm>
            <a:off x="9651504" y="2845877"/>
            <a:ext cx="2692372" cy="9525"/>
          </a:xfrm>
          <a:prstGeom prst="rect">
            <a:avLst/>
          </a:prstGeom>
          <a:solidFill>
            <a:srgbClr val="1F1F1F">
              <a:alpha val="16000"/>
            </a:srgbClr>
          </a:solidFill>
          <a:ln/>
        </p:spPr>
        <p:txBody>
          <a:bodyPr/>
          <a:lstStyle/>
          <a:p>
            <a:endParaRPr lang="en-US"/>
          </a:p>
        </p:txBody>
      </p:sp>
      <p:sp>
        <p:nvSpPr>
          <p:cNvPr id="13" name="Text 10"/>
          <p:cNvSpPr/>
          <p:nvPr/>
        </p:nvSpPr>
        <p:spPr>
          <a:xfrm>
            <a:off x="9651504" y="2381817"/>
            <a:ext cx="2773143"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MONTHLY SAVINGS</a:t>
            </a:r>
            <a:endParaRPr lang="en-US" sz="2100" dirty="0"/>
          </a:p>
        </p:txBody>
      </p:sp>
      <p:sp>
        <p:nvSpPr>
          <p:cNvPr id="14" name="Shape 11"/>
          <p:cNvSpPr/>
          <p:nvPr/>
        </p:nvSpPr>
        <p:spPr>
          <a:xfrm>
            <a:off x="12343877" y="2845877"/>
            <a:ext cx="5029683" cy="9525"/>
          </a:xfrm>
          <a:prstGeom prst="rect">
            <a:avLst/>
          </a:prstGeom>
          <a:solidFill>
            <a:srgbClr val="1F1F1F">
              <a:alpha val="16000"/>
            </a:srgbClr>
          </a:solidFill>
          <a:ln/>
        </p:spPr>
        <p:txBody>
          <a:bodyPr/>
          <a:lstStyle/>
          <a:p>
            <a:endParaRPr lang="en-US"/>
          </a:p>
        </p:txBody>
      </p:sp>
      <p:sp>
        <p:nvSpPr>
          <p:cNvPr id="15" name="Text 12"/>
          <p:cNvSpPr/>
          <p:nvPr/>
        </p:nvSpPr>
        <p:spPr>
          <a:xfrm>
            <a:off x="12343877" y="2381817"/>
            <a:ext cx="5180573"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GOALS</a:t>
            </a:r>
            <a:endParaRPr lang="en-US" sz="2100" dirty="0"/>
          </a:p>
        </p:txBody>
      </p:sp>
      <p:sp>
        <p:nvSpPr>
          <p:cNvPr id="16" name="Shape 13"/>
          <p:cNvSpPr/>
          <p:nvPr/>
        </p:nvSpPr>
        <p:spPr>
          <a:xfrm>
            <a:off x="914372" y="3391085"/>
            <a:ext cx="3690371" cy="9525"/>
          </a:xfrm>
          <a:prstGeom prst="rect">
            <a:avLst/>
          </a:prstGeom>
          <a:solidFill>
            <a:srgbClr val="1A1A26">
              <a:alpha val="8000"/>
            </a:srgbClr>
          </a:solidFill>
          <a:ln/>
        </p:spPr>
        <p:txBody>
          <a:bodyPr/>
          <a:lstStyle/>
          <a:p>
            <a:endParaRPr lang="en-US"/>
          </a:p>
        </p:txBody>
      </p:sp>
      <p:sp>
        <p:nvSpPr>
          <p:cNvPr id="17" name="Text 14"/>
          <p:cNvSpPr/>
          <p:nvPr/>
        </p:nvSpPr>
        <p:spPr>
          <a:xfrm>
            <a:off x="914372" y="2931149"/>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{{ia_1_asset}}</a:t>
            </a:r>
            <a:endParaRPr lang="en-US" sz="2100" dirty="0"/>
          </a:p>
        </p:txBody>
      </p:sp>
      <p:sp>
        <p:nvSpPr>
          <p:cNvPr id="18" name="Shape 15"/>
          <p:cNvSpPr/>
          <p:nvPr/>
        </p:nvSpPr>
        <p:spPr>
          <a:xfrm>
            <a:off x="4604742" y="3391085"/>
            <a:ext cx="2350492" cy="9525"/>
          </a:xfrm>
          <a:prstGeom prst="rect">
            <a:avLst/>
          </a:prstGeom>
          <a:solidFill>
            <a:srgbClr val="1A1A26">
              <a:alpha val="8000"/>
            </a:srgbClr>
          </a:solidFill>
          <a:ln/>
        </p:spPr>
        <p:txBody>
          <a:bodyPr/>
          <a:lstStyle/>
          <a:p>
            <a:endParaRPr lang="en-US"/>
          </a:p>
        </p:txBody>
      </p:sp>
      <p:sp>
        <p:nvSpPr>
          <p:cNvPr id="19" name="Text 16"/>
          <p:cNvSpPr/>
          <p:nvPr/>
        </p:nvSpPr>
        <p:spPr>
          <a:xfrm>
            <a:off x="4604742" y="2931149"/>
            <a:ext cx="2274292"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{{ia_1_current}}</a:t>
            </a:r>
            <a:endParaRPr lang="en-US" sz="2100" dirty="0"/>
          </a:p>
        </p:txBody>
      </p:sp>
      <p:sp>
        <p:nvSpPr>
          <p:cNvPr id="20" name="Shape 17"/>
          <p:cNvSpPr/>
          <p:nvPr/>
        </p:nvSpPr>
        <p:spPr>
          <a:xfrm>
            <a:off x="6955235" y="3391085"/>
            <a:ext cx="2696270" cy="9525"/>
          </a:xfrm>
          <a:prstGeom prst="rect">
            <a:avLst/>
          </a:prstGeom>
          <a:solidFill>
            <a:srgbClr val="1A1A26">
              <a:alpha val="8000"/>
            </a:srgbClr>
          </a:solidFill>
          <a:ln/>
        </p:spPr>
        <p:txBody>
          <a:bodyPr/>
          <a:lstStyle/>
          <a:p>
            <a:endParaRPr lang="en-US"/>
          </a:p>
        </p:txBody>
      </p:sp>
      <p:sp>
        <p:nvSpPr>
          <p:cNvPr id="21" name="Text 18"/>
          <p:cNvSpPr/>
          <p:nvPr/>
        </p:nvSpPr>
        <p:spPr>
          <a:xfrm>
            <a:off x="6955235" y="2931149"/>
            <a:ext cx="2624758"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{{ia_1_allocated}}</a:t>
            </a:r>
            <a:endParaRPr lang="en-US" sz="2100" dirty="0"/>
          </a:p>
        </p:txBody>
      </p:sp>
      <p:sp>
        <p:nvSpPr>
          <p:cNvPr id="22" name="Shape 19"/>
          <p:cNvSpPr/>
          <p:nvPr/>
        </p:nvSpPr>
        <p:spPr>
          <a:xfrm>
            <a:off x="9651504" y="3391085"/>
            <a:ext cx="2692372" cy="9525"/>
          </a:xfrm>
          <a:prstGeom prst="rect">
            <a:avLst/>
          </a:prstGeom>
          <a:solidFill>
            <a:srgbClr val="1A1A26">
              <a:alpha val="8000"/>
            </a:srgbClr>
          </a:solidFill>
          <a:ln/>
        </p:spPr>
        <p:txBody>
          <a:bodyPr/>
          <a:lstStyle/>
          <a:p>
            <a:endParaRPr lang="en-US"/>
          </a:p>
        </p:txBody>
      </p:sp>
      <p:sp>
        <p:nvSpPr>
          <p:cNvPr id="23" name="Text 20"/>
          <p:cNvSpPr/>
          <p:nvPr/>
        </p:nvSpPr>
        <p:spPr>
          <a:xfrm>
            <a:off x="9651504" y="2931149"/>
            <a:ext cx="2620743"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{{ia_1_monthly}}</a:t>
            </a:r>
            <a:endParaRPr lang="en-US" sz="2100" dirty="0"/>
          </a:p>
        </p:txBody>
      </p:sp>
      <p:sp>
        <p:nvSpPr>
          <p:cNvPr id="24" name="Shape 21"/>
          <p:cNvSpPr/>
          <p:nvPr/>
        </p:nvSpPr>
        <p:spPr>
          <a:xfrm>
            <a:off x="12343877" y="3391085"/>
            <a:ext cx="5029683" cy="9525"/>
          </a:xfrm>
          <a:prstGeom prst="rect">
            <a:avLst/>
          </a:prstGeom>
          <a:solidFill>
            <a:srgbClr val="1A1A26">
              <a:alpha val="8000"/>
            </a:srgbClr>
          </a:solidFill>
          <a:ln/>
        </p:spPr>
        <p:txBody>
          <a:bodyPr/>
          <a:lstStyle/>
          <a:p>
            <a:endParaRPr lang="en-US"/>
          </a:p>
        </p:txBody>
      </p:sp>
      <p:sp>
        <p:nvSpPr>
          <p:cNvPr id="25" name="Text 22"/>
          <p:cNvSpPr/>
          <p:nvPr/>
        </p:nvSpPr>
        <p:spPr>
          <a:xfrm>
            <a:off x="12343877" y="2931149"/>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{{ia_1_goals}}</a:t>
            </a:r>
            <a:endParaRPr lang="en-US" sz="2100" dirty="0"/>
          </a:p>
        </p:txBody>
      </p:sp>
      <p:sp>
        <p:nvSpPr>
          <p:cNvPr id="26" name="Shape 23"/>
          <p:cNvSpPr/>
          <p:nvPr/>
        </p:nvSpPr>
        <p:spPr>
          <a:xfrm>
            <a:off x="914372" y="3936291"/>
            <a:ext cx="3690371" cy="9525"/>
          </a:xfrm>
          <a:prstGeom prst="rect">
            <a:avLst/>
          </a:prstGeom>
          <a:solidFill>
            <a:srgbClr val="1A1A26">
              <a:alpha val="8000"/>
            </a:srgbClr>
          </a:solidFill>
          <a:ln/>
        </p:spPr>
        <p:txBody>
          <a:bodyPr/>
          <a:lstStyle/>
          <a:p>
            <a:endParaRPr lang="en-US"/>
          </a:p>
        </p:txBody>
      </p:sp>
      <p:sp>
        <p:nvSpPr>
          <p:cNvPr id="27" name="Text 24"/>
          <p:cNvSpPr/>
          <p:nvPr/>
        </p:nvSpPr>
        <p:spPr>
          <a:xfrm>
            <a:off x="914372" y="3476356"/>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{{ia_2_asset}}</a:t>
            </a:r>
            <a:endParaRPr lang="en-US" sz="2100" dirty="0"/>
          </a:p>
        </p:txBody>
      </p:sp>
      <p:sp>
        <p:nvSpPr>
          <p:cNvPr id="28" name="Shape 25"/>
          <p:cNvSpPr/>
          <p:nvPr/>
        </p:nvSpPr>
        <p:spPr>
          <a:xfrm>
            <a:off x="4604742" y="3936291"/>
            <a:ext cx="2350492" cy="9525"/>
          </a:xfrm>
          <a:prstGeom prst="rect">
            <a:avLst/>
          </a:prstGeom>
          <a:solidFill>
            <a:srgbClr val="1A1A26">
              <a:alpha val="8000"/>
            </a:srgbClr>
          </a:solidFill>
          <a:ln/>
        </p:spPr>
        <p:txBody>
          <a:bodyPr/>
          <a:lstStyle/>
          <a:p>
            <a:endParaRPr lang="en-US"/>
          </a:p>
        </p:txBody>
      </p:sp>
      <p:sp>
        <p:nvSpPr>
          <p:cNvPr id="29" name="Text 26"/>
          <p:cNvSpPr/>
          <p:nvPr/>
        </p:nvSpPr>
        <p:spPr>
          <a:xfrm>
            <a:off x="4604742" y="3476356"/>
            <a:ext cx="2274292"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{{ia_2_current}}</a:t>
            </a:r>
            <a:endParaRPr lang="en-US" sz="2100" dirty="0"/>
          </a:p>
        </p:txBody>
      </p:sp>
      <p:sp>
        <p:nvSpPr>
          <p:cNvPr id="30" name="Shape 27"/>
          <p:cNvSpPr/>
          <p:nvPr/>
        </p:nvSpPr>
        <p:spPr>
          <a:xfrm>
            <a:off x="6955235" y="3936291"/>
            <a:ext cx="2696270" cy="9525"/>
          </a:xfrm>
          <a:prstGeom prst="rect">
            <a:avLst/>
          </a:prstGeom>
          <a:solidFill>
            <a:srgbClr val="1A1A26">
              <a:alpha val="8000"/>
            </a:srgbClr>
          </a:solidFill>
          <a:ln/>
        </p:spPr>
        <p:txBody>
          <a:bodyPr/>
          <a:lstStyle/>
          <a:p>
            <a:endParaRPr lang="en-US"/>
          </a:p>
        </p:txBody>
      </p:sp>
      <p:sp>
        <p:nvSpPr>
          <p:cNvPr id="31" name="Text 28"/>
          <p:cNvSpPr/>
          <p:nvPr/>
        </p:nvSpPr>
        <p:spPr>
          <a:xfrm>
            <a:off x="6955235" y="3476356"/>
            <a:ext cx="2624758"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{{ia_2_allocated}}</a:t>
            </a:r>
            <a:endParaRPr lang="en-US" sz="2100" dirty="0"/>
          </a:p>
        </p:txBody>
      </p:sp>
      <p:sp>
        <p:nvSpPr>
          <p:cNvPr id="32" name="Shape 29"/>
          <p:cNvSpPr/>
          <p:nvPr/>
        </p:nvSpPr>
        <p:spPr>
          <a:xfrm>
            <a:off x="9651504" y="3936291"/>
            <a:ext cx="2692372" cy="9525"/>
          </a:xfrm>
          <a:prstGeom prst="rect">
            <a:avLst/>
          </a:prstGeom>
          <a:solidFill>
            <a:srgbClr val="1A1A26">
              <a:alpha val="8000"/>
            </a:srgbClr>
          </a:solidFill>
          <a:ln/>
        </p:spPr>
        <p:txBody>
          <a:bodyPr/>
          <a:lstStyle/>
          <a:p>
            <a:endParaRPr lang="en-US"/>
          </a:p>
        </p:txBody>
      </p:sp>
      <p:sp>
        <p:nvSpPr>
          <p:cNvPr id="33" name="Text 30"/>
          <p:cNvSpPr/>
          <p:nvPr/>
        </p:nvSpPr>
        <p:spPr>
          <a:xfrm>
            <a:off x="9651504" y="3476356"/>
            <a:ext cx="2620743"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{{ia_2_monthly}}</a:t>
            </a:r>
            <a:endParaRPr lang="en-US" sz="2100" dirty="0"/>
          </a:p>
        </p:txBody>
      </p:sp>
      <p:sp>
        <p:nvSpPr>
          <p:cNvPr id="34" name="Shape 31"/>
          <p:cNvSpPr/>
          <p:nvPr/>
        </p:nvSpPr>
        <p:spPr>
          <a:xfrm>
            <a:off x="12343877" y="3936291"/>
            <a:ext cx="5029683" cy="9525"/>
          </a:xfrm>
          <a:prstGeom prst="rect">
            <a:avLst/>
          </a:prstGeom>
          <a:solidFill>
            <a:srgbClr val="1A1A26">
              <a:alpha val="8000"/>
            </a:srgbClr>
          </a:solidFill>
          <a:ln/>
        </p:spPr>
        <p:txBody>
          <a:bodyPr/>
          <a:lstStyle/>
          <a:p>
            <a:endParaRPr lang="en-US"/>
          </a:p>
        </p:txBody>
      </p:sp>
      <p:sp>
        <p:nvSpPr>
          <p:cNvPr id="35" name="Text 32"/>
          <p:cNvSpPr/>
          <p:nvPr/>
        </p:nvSpPr>
        <p:spPr>
          <a:xfrm>
            <a:off x="12343877" y="3476356"/>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{{ia_2_goals}}</a:t>
            </a:r>
            <a:endParaRPr lang="en-US" sz="2100" dirty="0"/>
          </a:p>
        </p:txBody>
      </p:sp>
      <p:sp>
        <p:nvSpPr>
          <p:cNvPr id="36" name="Shape 33"/>
          <p:cNvSpPr/>
          <p:nvPr/>
        </p:nvSpPr>
        <p:spPr>
          <a:xfrm>
            <a:off x="914372" y="4481499"/>
            <a:ext cx="3690371" cy="9525"/>
          </a:xfrm>
          <a:prstGeom prst="rect">
            <a:avLst/>
          </a:prstGeom>
          <a:solidFill>
            <a:srgbClr val="1A1A26">
              <a:alpha val="8000"/>
            </a:srgbClr>
          </a:solidFill>
          <a:ln/>
        </p:spPr>
        <p:txBody>
          <a:bodyPr/>
          <a:lstStyle/>
          <a:p>
            <a:endParaRPr lang="en-US"/>
          </a:p>
        </p:txBody>
      </p:sp>
      <p:sp>
        <p:nvSpPr>
          <p:cNvPr id="37" name="Text 34"/>
          <p:cNvSpPr/>
          <p:nvPr/>
        </p:nvSpPr>
        <p:spPr>
          <a:xfrm>
            <a:off x="914372" y="4021563"/>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{{ia_3_asset}}</a:t>
            </a:r>
            <a:endParaRPr lang="en-US" sz="2100" dirty="0"/>
          </a:p>
        </p:txBody>
      </p:sp>
      <p:sp>
        <p:nvSpPr>
          <p:cNvPr id="38" name="Shape 35"/>
          <p:cNvSpPr/>
          <p:nvPr/>
        </p:nvSpPr>
        <p:spPr>
          <a:xfrm>
            <a:off x="4604742" y="4481499"/>
            <a:ext cx="2350492" cy="9525"/>
          </a:xfrm>
          <a:prstGeom prst="rect">
            <a:avLst/>
          </a:prstGeom>
          <a:solidFill>
            <a:srgbClr val="1A1A26">
              <a:alpha val="8000"/>
            </a:srgbClr>
          </a:solidFill>
          <a:ln/>
        </p:spPr>
        <p:txBody>
          <a:bodyPr/>
          <a:lstStyle/>
          <a:p>
            <a:endParaRPr lang="en-US"/>
          </a:p>
        </p:txBody>
      </p:sp>
      <p:sp>
        <p:nvSpPr>
          <p:cNvPr id="39" name="Text 36"/>
          <p:cNvSpPr/>
          <p:nvPr/>
        </p:nvSpPr>
        <p:spPr>
          <a:xfrm>
            <a:off x="4604742" y="4021563"/>
            <a:ext cx="227429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{{ia_3_current}}</a:t>
            </a:r>
            <a:endParaRPr lang="en-US" sz="2100" dirty="0"/>
          </a:p>
        </p:txBody>
      </p:sp>
      <p:sp>
        <p:nvSpPr>
          <p:cNvPr id="40" name="Shape 37"/>
          <p:cNvSpPr/>
          <p:nvPr/>
        </p:nvSpPr>
        <p:spPr>
          <a:xfrm>
            <a:off x="6955235" y="4481499"/>
            <a:ext cx="2696270" cy="9525"/>
          </a:xfrm>
          <a:prstGeom prst="rect">
            <a:avLst/>
          </a:prstGeom>
          <a:solidFill>
            <a:srgbClr val="1A1A26">
              <a:alpha val="8000"/>
            </a:srgbClr>
          </a:solidFill>
          <a:ln/>
        </p:spPr>
        <p:txBody>
          <a:bodyPr/>
          <a:lstStyle/>
          <a:p>
            <a:endParaRPr lang="en-US"/>
          </a:p>
        </p:txBody>
      </p:sp>
      <p:sp>
        <p:nvSpPr>
          <p:cNvPr id="41" name="Text 38"/>
          <p:cNvSpPr/>
          <p:nvPr/>
        </p:nvSpPr>
        <p:spPr>
          <a:xfrm>
            <a:off x="6955235" y="4021563"/>
            <a:ext cx="2624758"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{{ia_3_allocated}}</a:t>
            </a:r>
            <a:endParaRPr lang="en-US" sz="2100" dirty="0"/>
          </a:p>
        </p:txBody>
      </p:sp>
      <p:sp>
        <p:nvSpPr>
          <p:cNvPr id="42" name="Shape 39"/>
          <p:cNvSpPr/>
          <p:nvPr/>
        </p:nvSpPr>
        <p:spPr>
          <a:xfrm>
            <a:off x="9651504" y="4481499"/>
            <a:ext cx="2692372" cy="9525"/>
          </a:xfrm>
          <a:prstGeom prst="rect">
            <a:avLst/>
          </a:prstGeom>
          <a:solidFill>
            <a:srgbClr val="1A1A26">
              <a:alpha val="8000"/>
            </a:srgbClr>
          </a:solidFill>
          <a:ln/>
        </p:spPr>
        <p:txBody>
          <a:bodyPr/>
          <a:lstStyle/>
          <a:p>
            <a:endParaRPr lang="en-US"/>
          </a:p>
        </p:txBody>
      </p:sp>
      <p:sp>
        <p:nvSpPr>
          <p:cNvPr id="43" name="Text 40"/>
          <p:cNvSpPr/>
          <p:nvPr/>
        </p:nvSpPr>
        <p:spPr>
          <a:xfrm>
            <a:off x="9651504" y="4021563"/>
            <a:ext cx="2620743"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{{ia_3_monthly}}</a:t>
            </a:r>
            <a:endParaRPr lang="en-US" sz="2100" dirty="0"/>
          </a:p>
        </p:txBody>
      </p:sp>
      <p:sp>
        <p:nvSpPr>
          <p:cNvPr id="44" name="Shape 41"/>
          <p:cNvSpPr/>
          <p:nvPr/>
        </p:nvSpPr>
        <p:spPr>
          <a:xfrm>
            <a:off x="12343877" y="4481499"/>
            <a:ext cx="5029683" cy="9525"/>
          </a:xfrm>
          <a:prstGeom prst="rect">
            <a:avLst/>
          </a:prstGeom>
          <a:solidFill>
            <a:srgbClr val="1A1A26">
              <a:alpha val="8000"/>
            </a:srgbClr>
          </a:solidFill>
          <a:ln/>
        </p:spPr>
        <p:txBody>
          <a:bodyPr/>
          <a:lstStyle/>
          <a:p>
            <a:endParaRPr lang="en-US"/>
          </a:p>
        </p:txBody>
      </p:sp>
      <p:sp>
        <p:nvSpPr>
          <p:cNvPr id="45" name="Text 42"/>
          <p:cNvSpPr/>
          <p:nvPr/>
        </p:nvSpPr>
        <p:spPr>
          <a:xfrm>
            <a:off x="12343877" y="4021563"/>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{{ia_3_goals}}</a:t>
            </a:r>
            <a:endParaRPr lang="en-US" sz="2100" dirty="0"/>
          </a:p>
        </p:txBody>
      </p:sp>
      <p:sp>
        <p:nvSpPr>
          <p:cNvPr id="46" name="Shape 43"/>
          <p:cNvSpPr/>
          <p:nvPr/>
        </p:nvSpPr>
        <p:spPr>
          <a:xfrm>
            <a:off x="914372" y="5026706"/>
            <a:ext cx="3690371" cy="9525"/>
          </a:xfrm>
          <a:prstGeom prst="rect">
            <a:avLst/>
          </a:prstGeom>
          <a:solidFill>
            <a:srgbClr val="1A1A26">
              <a:alpha val="8000"/>
            </a:srgbClr>
          </a:solidFill>
          <a:ln/>
        </p:spPr>
        <p:txBody>
          <a:bodyPr/>
          <a:lstStyle/>
          <a:p>
            <a:endParaRPr lang="en-US"/>
          </a:p>
        </p:txBody>
      </p:sp>
      <p:sp>
        <p:nvSpPr>
          <p:cNvPr id="47" name="Text 44"/>
          <p:cNvSpPr/>
          <p:nvPr/>
        </p:nvSpPr>
        <p:spPr>
          <a:xfrm>
            <a:off x="914372" y="4566770"/>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{{ia_4_asset}}</a:t>
            </a:r>
            <a:endParaRPr lang="en-US" sz="2100" dirty="0"/>
          </a:p>
        </p:txBody>
      </p:sp>
      <p:sp>
        <p:nvSpPr>
          <p:cNvPr id="48" name="Shape 45"/>
          <p:cNvSpPr/>
          <p:nvPr/>
        </p:nvSpPr>
        <p:spPr>
          <a:xfrm>
            <a:off x="4604742" y="5026706"/>
            <a:ext cx="2350492" cy="9525"/>
          </a:xfrm>
          <a:prstGeom prst="rect">
            <a:avLst/>
          </a:prstGeom>
          <a:solidFill>
            <a:srgbClr val="1A1A26">
              <a:alpha val="8000"/>
            </a:srgbClr>
          </a:solidFill>
          <a:ln/>
        </p:spPr>
        <p:txBody>
          <a:bodyPr/>
          <a:lstStyle/>
          <a:p>
            <a:endParaRPr lang="en-US"/>
          </a:p>
        </p:txBody>
      </p:sp>
      <p:sp>
        <p:nvSpPr>
          <p:cNvPr id="49" name="Text 46"/>
          <p:cNvSpPr/>
          <p:nvPr/>
        </p:nvSpPr>
        <p:spPr>
          <a:xfrm>
            <a:off x="4604742" y="4566770"/>
            <a:ext cx="2274292"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{{ia_4_current}}</a:t>
            </a:r>
            <a:endParaRPr lang="en-US" sz="2100" dirty="0"/>
          </a:p>
        </p:txBody>
      </p:sp>
      <p:sp>
        <p:nvSpPr>
          <p:cNvPr id="50" name="Shape 47"/>
          <p:cNvSpPr/>
          <p:nvPr/>
        </p:nvSpPr>
        <p:spPr>
          <a:xfrm>
            <a:off x="6955235" y="5026706"/>
            <a:ext cx="2696270" cy="9525"/>
          </a:xfrm>
          <a:prstGeom prst="rect">
            <a:avLst/>
          </a:prstGeom>
          <a:solidFill>
            <a:srgbClr val="1A1A26">
              <a:alpha val="8000"/>
            </a:srgbClr>
          </a:solidFill>
          <a:ln/>
        </p:spPr>
        <p:txBody>
          <a:bodyPr/>
          <a:lstStyle/>
          <a:p>
            <a:endParaRPr lang="en-US"/>
          </a:p>
        </p:txBody>
      </p:sp>
      <p:sp>
        <p:nvSpPr>
          <p:cNvPr id="51" name="Text 48"/>
          <p:cNvSpPr/>
          <p:nvPr/>
        </p:nvSpPr>
        <p:spPr>
          <a:xfrm>
            <a:off x="6955235" y="4566770"/>
            <a:ext cx="2624758"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{{ia_4_allocated}}</a:t>
            </a:r>
            <a:endParaRPr lang="en-US" sz="2100" dirty="0"/>
          </a:p>
        </p:txBody>
      </p:sp>
      <p:sp>
        <p:nvSpPr>
          <p:cNvPr id="52" name="Shape 49"/>
          <p:cNvSpPr/>
          <p:nvPr/>
        </p:nvSpPr>
        <p:spPr>
          <a:xfrm>
            <a:off x="9651504" y="5026706"/>
            <a:ext cx="2692372" cy="9525"/>
          </a:xfrm>
          <a:prstGeom prst="rect">
            <a:avLst/>
          </a:prstGeom>
          <a:solidFill>
            <a:srgbClr val="1A1A26">
              <a:alpha val="8000"/>
            </a:srgbClr>
          </a:solidFill>
          <a:ln/>
        </p:spPr>
        <p:txBody>
          <a:bodyPr/>
          <a:lstStyle/>
          <a:p>
            <a:endParaRPr lang="en-US"/>
          </a:p>
        </p:txBody>
      </p:sp>
      <p:sp>
        <p:nvSpPr>
          <p:cNvPr id="53" name="Text 50"/>
          <p:cNvSpPr/>
          <p:nvPr/>
        </p:nvSpPr>
        <p:spPr>
          <a:xfrm>
            <a:off x="9651504" y="4566770"/>
            <a:ext cx="262074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{{ia_4_monthly}}</a:t>
            </a:r>
            <a:endParaRPr lang="en-US" sz="2100" dirty="0"/>
          </a:p>
        </p:txBody>
      </p:sp>
      <p:sp>
        <p:nvSpPr>
          <p:cNvPr id="54" name="Shape 51"/>
          <p:cNvSpPr/>
          <p:nvPr/>
        </p:nvSpPr>
        <p:spPr>
          <a:xfrm>
            <a:off x="12343877" y="5026706"/>
            <a:ext cx="5029683" cy="9525"/>
          </a:xfrm>
          <a:prstGeom prst="rect">
            <a:avLst/>
          </a:prstGeom>
          <a:solidFill>
            <a:srgbClr val="1A1A26">
              <a:alpha val="8000"/>
            </a:srgbClr>
          </a:solidFill>
          <a:ln/>
        </p:spPr>
        <p:txBody>
          <a:bodyPr/>
          <a:lstStyle/>
          <a:p>
            <a:endParaRPr lang="en-US"/>
          </a:p>
        </p:txBody>
      </p:sp>
      <p:sp>
        <p:nvSpPr>
          <p:cNvPr id="55" name="Text 52"/>
          <p:cNvSpPr/>
          <p:nvPr/>
        </p:nvSpPr>
        <p:spPr>
          <a:xfrm>
            <a:off x="12343877" y="4566770"/>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{{ia_4_goals}}</a:t>
            </a:r>
            <a:endParaRPr lang="en-US" sz="2100" dirty="0"/>
          </a:p>
        </p:txBody>
      </p:sp>
      <p:sp>
        <p:nvSpPr>
          <p:cNvPr id="56" name="Shape 53"/>
          <p:cNvSpPr/>
          <p:nvPr/>
        </p:nvSpPr>
        <p:spPr>
          <a:xfrm>
            <a:off x="914372" y="5571913"/>
            <a:ext cx="3690371" cy="9525"/>
          </a:xfrm>
          <a:prstGeom prst="rect">
            <a:avLst/>
          </a:prstGeom>
          <a:solidFill>
            <a:srgbClr val="1A1A26">
              <a:alpha val="8000"/>
            </a:srgbClr>
          </a:solidFill>
          <a:ln/>
        </p:spPr>
        <p:txBody>
          <a:bodyPr/>
          <a:lstStyle/>
          <a:p>
            <a:endParaRPr lang="en-US"/>
          </a:p>
        </p:txBody>
      </p:sp>
      <p:sp>
        <p:nvSpPr>
          <p:cNvPr id="57" name="Text 54"/>
          <p:cNvSpPr/>
          <p:nvPr/>
        </p:nvSpPr>
        <p:spPr>
          <a:xfrm>
            <a:off x="914372" y="5111977"/>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{{ia_5_asset}}</a:t>
            </a:r>
            <a:endParaRPr lang="en-US" sz="2100" dirty="0"/>
          </a:p>
        </p:txBody>
      </p:sp>
      <p:sp>
        <p:nvSpPr>
          <p:cNvPr id="58" name="Shape 55"/>
          <p:cNvSpPr/>
          <p:nvPr/>
        </p:nvSpPr>
        <p:spPr>
          <a:xfrm>
            <a:off x="4604742" y="5571913"/>
            <a:ext cx="2350492" cy="9525"/>
          </a:xfrm>
          <a:prstGeom prst="rect">
            <a:avLst/>
          </a:prstGeom>
          <a:solidFill>
            <a:srgbClr val="1A1A26">
              <a:alpha val="8000"/>
            </a:srgbClr>
          </a:solidFill>
          <a:ln/>
        </p:spPr>
        <p:txBody>
          <a:bodyPr/>
          <a:lstStyle/>
          <a:p>
            <a:endParaRPr lang="en-US"/>
          </a:p>
        </p:txBody>
      </p:sp>
      <p:sp>
        <p:nvSpPr>
          <p:cNvPr id="59" name="Text 56"/>
          <p:cNvSpPr/>
          <p:nvPr/>
        </p:nvSpPr>
        <p:spPr>
          <a:xfrm>
            <a:off x="4604742" y="5111977"/>
            <a:ext cx="2274292"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{{ia_5_current}}</a:t>
            </a:r>
            <a:endParaRPr lang="en-US" sz="2100" dirty="0"/>
          </a:p>
        </p:txBody>
      </p:sp>
      <p:sp>
        <p:nvSpPr>
          <p:cNvPr id="60" name="Shape 57"/>
          <p:cNvSpPr/>
          <p:nvPr/>
        </p:nvSpPr>
        <p:spPr>
          <a:xfrm>
            <a:off x="6955235" y="5571913"/>
            <a:ext cx="2696270" cy="9525"/>
          </a:xfrm>
          <a:prstGeom prst="rect">
            <a:avLst/>
          </a:prstGeom>
          <a:solidFill>
            <a:srgbClr val="1A1A26">
              <a:alpha val="8000"/>
            </a:srgbClr>
          </a:solidFill>
          <a:ln/>
        </p:spPr>
        <p:txBody>
          <a:bodyPr/>
          <a:lstStyle/>
          <a:p>
            <a:endParaRPr lang="en-US"/>
          </a:p>
        </p:txBody>
      </p:sp>
      <p:sp>
        <p:nvSpPr>
          <p:cNvPr id="61" name="Text 58"/>
          <p:cNvSpPr/>
          <p:nvPr/>
        </p:nvSpPr>
        <p:spPr>
          <a:xfrm>
            <a:off x="6955235" y="5111977"/>
            <a:ext cx="2624758"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{{ia_5_allocated}}</a:t>
            </a:r>
            <a:endParaRPr lang="en-US" sz="2100" dirty="0"/>
          </a:p>
        </p:txBody>
      </p:sp>
      <p:sp>
        <p:nvSpPr>
          <p:cNvPr id="62" name="Shape 59"/>
          <p:cNvSpPr/>
          <p:nvPr/>
        </p:nvSpPr>
        <p:spPr>
          <a:xfrm>
            <a:off x="9651504" y="5571913"/>
            <a:ext cx="2692372" cy="9525"/>
          </a:xfrm>
          <a:prstGeom prst="rect">
            <a:avLst/>
          </a:prstGeom>
          <a:solidFill>
            <a:srgbClr val="1A1A26">
              <a:alpha val="8000"/>
            </a:srgbClr>
          </a:solidFill>
          <a:ln/>
        </p:spPr>
        <p:txBody>
          <a:bodyPr/>
          <a:lstStyle/>
          <a:p>
            <a:endParaRPr lang="en-US"/>
          </a:p>
        </p:txBody>
      </p:sp>
      <p:sp>
        <p:nvSpPr>
          <p:cNvPr id="63" name="Text 60"/>
          <p:cNvSpPr/>
          <p:nvPr/>
        </p:nvSpPr>
        <p:spPr>
          <a:xfrm>
            <a:off x="9651504" y="5111977"/>
            <a:ext cx="262074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{{ia_5_monthly}}</a:t>
            </a:r>
            <a:endParaRPr lang="en-US" sz="2100" dirty="0"/>
          </a:p>
        </p:txBody>
      </p:sp>
      <p:sp>
        <p:nvSpPr>
          <p:cNvPr id="64" name="Shape 61"/>
          <p:cNvSpPr/>
          <p:nvPr/>
        </p:nvSpPr>
        <p:spPr>
          <a:xfrm>
            <a:off x="12343877" y="5571913"/>
            <a:ext cx="5029683" cy="9525"/>
          </a:xfrm>
          <a:prstGeom prst="rect">
            <a:avLst/>
          </a:prstGeom>
          <a:solidFill>
            <a:srgbClr val="1A1A26">
              <a:alpha val="8000"/>
            </a:srgbClr>
          </a:solidFill>
          <a:ln/>
        </p:spPr>
        <p:txBody>
          <a:bodyPr/>
          <a:lstStyle/>
          <a:p>
            <a:endParaRPr lang="en-US"/>
          </a:p>
        </p:txBody>
      </p:sp>
      <p:sp>
        <p:nvSpPr>
          <p:cNvPr id="65" name="Text 62"/>
          <p:cNvSpPr/>
          <p:nvPr/>
        </p:nvSpPr>
        <p:spPr>
          <a:xfrm>
            <a:off x="12343877" y="5111977"/>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{{ia_5_goals}}</a:t>
            </a:r>
            <a:endParaRPr lang="en-US" sz="2100" dirty="0"/>
          </a:p>
        </p:txBody>
      </p:sp>
      <p:sp>
        <p:nvSpPr>
          <p:cNvPr id="66" name="Shape 63"/>
          <p:cNvSpPr/>
          <p:nvPr/>
        </p:nvSpPr>
        <p:spPr>
          <a:xfrm>
            <a:off x="914372" y="6117120"/>
            <a:ext cx="3690371" cy="9525"/>
          </a:xfrm>
          <a:prstGeom prst="rect">
            <a:avLst/>
          </a:prstGeom>
          <a:solidFill>
            <a:srgbClr val="1A1A26">
              <a:alpha val="8000"/>
            </a:srgbClr>
          </a:solidFill>
          <a:ln/>
        </p:spPr>
        <p:txBody>
          <a:bodyPr/>
          <a:lstStyle/>
          <a:p>
            <a:endParaRPr lang="en-US"/>
          </a:p>
        </p:txBody>
      </p:sp>
      <p:sp>
        <p:nvSpPr>
          <p:cNvPr id="67" name="Text 64"/>
          <p:cNvSpPr/>
          <p:nvPr/>
        </p:nvSpPr>
        <p:spPr>
          <a:xfrm>
            <a:off x="914372" y="5657184"/>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{{ia_6_asset}}</a:t>
            </a:r>
            <a:endParaRPr lang="en-US" sz="2100" dirty="0"/>
          </a:p>
        </p:txBody>
      </p:sp>
      <p:sp>
        <p:nvSpPr>
          <p:cNvPr id="68" name="Shape 65"/>
          <p:cNvSpPr/>
          <p:nvPr/>
        </p:nvSpPr>
        <p:spPr>
          <a:xfrm>
            <a:off x="4604742" y="6117120"/>
            <a:ext cx="2350492" cy="9525"/>
          </a:xfrm>
          <a:prstGeom prst="rect">
            <a:avLst/>
          </a:prstGeom>
          <a:solidFill>
            <a:srgbClr val="1A1A26">
              <a:alpha val="8000"/>
            </a:srgbClr>
          </a:solidFill>
          <a:ln/>
        </p:spPr>
        <p:txBody>
          <a:bodyPr/>
          <a:lstStyle/>
          <a:p>
            <a:endParaRPr lang="en-US"/>
          </a:p>
        </p:txBody>
      </p:sp>
      <p:sp>
        <p:nvSpPr>
          <p:cNvPr id="69" name="Text 66"/>
          <p:cNvSpPr/>
          <p:nvPr/>
        </p:nvSpPr>
        <p:spPr>
          <a:xfrm>
            <a:off x="4604742" y="5657184"/>
            <a:ext cx="2274292"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{{ia_6_current}}</a:t>
            </a:r>
            <a:endParaRPr lang="en-US" sz="2100" dirty="0"/>
          </a:p>
        </p:txBody>
      </p:sp>
      <p:sp>
        <p:nvSpPr>
          <p:cNvPr id="70" name="Shape 67"/>
          <p:cNvSpPr/>
          <p:nvPr/>
        </p:nvSpPr>
        <p:spPr>
          <a:xfrm>
            <a:off x="6955235" y="6117120"/>
            <a:ext cx="2696270" cy="9525"/>
          </a:xfrm>
          <a:prstGeom prst="rect">
            <a:avLst/>
          </a:prstGeom>
          <a:solidFill>
            <a:srgbClr val="1A1A26">
              <a:alpha val="8000"/>
            </a:srgbClr>
          </a:solidFill>
          <a:ln/>
        </p:spPr>
        <p:txBody>
          <a:bodyPr/>
          <a:lstStyle/>
          <a:p>
            <a:endParaRPr lang="en-US"/>
          </a:p>
        </p:txBody>
      </p:sp>
      <p:sp>
        <p:nvSpPr>
          <p:cNvPr id="71" name="Text 68"/>
          <p:cNvSpPr/>
          <p:nvPr/>
        </p:nvSpPr>
        <p:spPr>
          <a:xfrm>
            <a:off x="6955235" y="5657184"/>
            <a:ext cx="2624758"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{{ia_6_allocated}}</a:t>
            </a:r>
            <a:endParaRPr lang="en-US" sz="2100" dirty="0"/>
          </a:p>
        </p:txBody>
      </p:sp>
      <p:sp>
        <p:nvSpPr>
          <p:cNvPr id="72" name="Shape 69"/>
          <p:cNvSpPr/>
          <p:nvPr/>
        </p:nvSpPr>
        <p:spPr>
          <a:xfrm>
            <a:off x="9651504" y="6117120"/>
            <a:ext cx="2692372" cy="9525"/>
          </a:xfrm>
          <a:prstGeom prst="rect">
            <a:avLst/>
          </a:prstGeom>
          <a:solidFill>
            <a:srgbClr val="1A1A26">
              <a:alpha val="8000"/>
            </a:srgbClr>
          </a:solidFill>
          <a:ln/>
        </p:spPr>
        <p:txBody>
          <a:bodyPr/>
          <a:lstStyle/>
          <a:p>
            <a:endParaRPr lang="en-US"/>
          </a:p>
        </p:txBody>
      </p:sp>
      <p:sp>
        <p:nvSpPr>
          <p:cNvPr id="73" name="Text 70"/>
          <p:cNvSpPr/>
          <p:nvPr/>
        </p:nvSpPr>
        <p:spPr>
          <a:xfrm>
            <a:off x="9651504" y="5657184"/>
            <a:ext cx="2620743"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{{ia_6_monthly}}</a:t>
            </a:r>
            <a:endParaRPr lang="en-US" sz="2100" dirty="0"/>
          </a:p>
        </p:txBody>
      </p:sp>
      <p:sp>
        <p:nvSpPr>
          <p:cNvPr id="74" name="Shape 71"/>
          <p:cNvSpPr/>
          <p:nvPr/>
        </p:nvSpPr>
        <p:spPr>
          <a:xfrm>
            <a:off x="12343877" y="6117120"/>
            <a:ext cx="5029683" cy="9525"/>
          </a:xfrm>
          <a:prstGeom prst="rect">
            <a:avLst/>
          </a:prstGeom>
          <a:solidFill>
            <a:srgbClr val="1A1A26">
              <a:alpha val="8000"/>
            </a:srgbClr>
          </a:solidFill>
          <a:ln/>
        </p:spPr>
        <p:txBody>
          <a:bodyPr/>
          <a:lstStyle/>
          <a:p>
            <a:endParaRPr lang="en-US"/>
          </a:p>
        </p:txBody>
      </p:sp>
      <p:sp>
        <p:nvSpPr>
          <p:cNvPr id="75" name="Text 72"/>
          <p:cNvSpPr/>
          <p:nvPr/>
        </p:nvSpPr>
        <p:spPr>
          <a:xfrm>
            <a:off x="12343877" y="5657184"/>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{{ia_6_goals}}</a:t>
            </a:r>
            <a:endParaRPr lang="en-US" sz="2100" dirty="0"/>
          </a:p>
        </p:txBody>
      </p:sp>
      <p:sp>
        <p:nvSpPr>
          <p:cNvPr id="76" name="Shape 73"/>
          <p:cNvSpPr/>
          <p:nvPr/>
        </p:nvSpPr>
        <p:spPr>
          <a:xfrm>
            <a:off x="914372" y="6662327"/>
            <a:ext cx="3690371" cy="9525"/>
          </a:xfrm>
          <a:prstGeom prst="rect">
            <a:avLst/>
          </a:prstGeom>
          <a:solidFill>
            <a:srgbClr val="1A1A26">
              <a:alpha val="8000"/>
            </a:srgbClr>
          </a:solidFill>
          <a:ln/>
        </p:spPr>
        <p:txBody>
          <a:bodyPr/>
          <a:lstStyle/>
          <a:p>
            <a:endParaRPr lang="en-US"/>
          </a:p>
        </p:txBody>
      </p:sp>
      <p:sp>
        <p:nvSpPr>
          <p:cNvPr id="77" name="Text 74"/>
          <p:cNvSpPr/>
          <p:nvPr/>
        </p:nvSpPr>
        <p:spPr>
          <a:xfrm>
            <a:off x="914372" y="6202391"/>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{{ia_7_asset}}</a:t>
            </a:r>
            <a:endParaRPr lang="en-US" sz="2100" dirty="0"/>
          </a:p>
        </p:txBody>
      </p:sp>
      <p:sp>
        <p:nvSpPr>
          <p:cNvPr id="78" name="Shape 75"/>
          <p:cNvSpPr/>
          <p:nvPr/>
        </p:nvSpPr>
        <p:spPr>
          <a:xfrm>
            <a:off x="4604742" y="6662327"/>
            <a:ext cx="2350492" cy="9525"/>
          </a:xfrm>
          <a:prstGeom prst="rect">
            <a:avLst/>
          </a:prstGeom>
          <a:solidFill>
            <a:srgbClr val="1A1A26">
              <a:alpha val="8000"/>
            </a:srgbClr>
          </a:solidFill>
          <a:ln/>
        </p:spPr>
        <p:txBody>
          <a:bodyPr/>
          <a:lstStyle/>
          <a:p>
            <a:endParaRPr lang="en-US"/>
          </a:p>
        </p:txBody>
      </p:sp>
      <p:sp>
        <p:nvSpPr>
          <p:cNvPr id="79" name="Text 76"/>
          <p:cNvSpPr/>
          <p:nvPr/>
        </p:nvSpPr>
        <p:spPr>
          <a:xfrm>
            <a:off x="4604742" y="6202391"/>
            <a:ext cx="2274292"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{{ia_7_current}}</a:t>
            </a:r>
            <a:endParaRPr lang="en-US" sz="2100" dirty="0"/>
          </a:p>
        </p:txBody>
      </p:sp>
      <p:sp>
        <p:nvSpPr>
          <p:cNvPr id="80" name="Shape 77"/>
          <p:cNvSpPr/>
          <p:nvPr/>
        </p:nvSpPr>
        <p:spPr>
          <a:xfrm>
            <a:off x="6955235" y="6662327"/>
            <a:ext cx="2696270" cy="9525"/>
          </a:xfrm>
          <a:prstGeom prst="rect">
            <a:avLst/>
          </a:prstGeom>
          <a:solidFill>
            <a:srgbClr val="1A1A26">
              <a:alpha val="8000"/>
            </a:srgbClr>
          </a:solidFill>
          <a:ln/>
        </p:spPr>
        <p:txBody>
          <a:bodyPr/>
          <a:lstStyle/>
          <a:p>
            <a:endParaRPr lang="en-US"/>
          </a:p>
        </p:txBody>
      </p:sp>
      <p:sp>
        <p:nvSpPr>
          <p:cNvPr id="81" name="Text 78"/>
          <p:cNvSpPr/>
          <p:nvPr/>
        </p:nvSpPr>
        <p:spPr>
          <a:xfrm>
            <a:off x="6955235" y="6202391"/>
            <a:ext cx="2624758"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{{ia_7_allocated}}</a:t>
            </a:r>
            <a:endParaRPr lang="en-US" sz="2100" dirty="0"/>
          </a:p>
        </p:txBody>
      </p:sp>
      <p:sp>
        <p:nvSpPr>
          <p:cNvPr id="82" name="Shape 79"/>
          <p:cNvSpPr/>
          <p:nvPr/>
        </p:nvSpPr>
        <p:spPr>
          <a:xfrm>
            <a:off x="9651504" y="6662327"/>
            <a:ext cx="2692372" cy="9525"/>
          </a:xfrm>
          <a:prstGeom prst="rect">
            <a:avLst/>
          </a:prstGeom>
          <a:solidFill>
            <a:srgbClr val="1A1A26">
              <a:alpha val="8000"/>
            </a:srgbClr>
          </a:solidFill>
          <a:ln/>
        </p:spPr>
        <p:txBody>
          <a:bodyPr/>
          <a:lstStyle/>
          <a:p>
            <a:endParaRPr lang="en-US"/>
          </a:p>
        </p:txBody>
      </p:sp>
      <p:sp>
        <p:nvSpPr>
          <p:cNvPr id="83" name="Text 80"/>
          <p:cNvSpPr/>
          <p:nvPr/>
        </p:nvSpPr>
        <p:spPr>
          <a:xfrm>
            <a:off x="9651504" y="6202391"/>
            <a:ext cx="2620743"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{{ia_7_monthly}}</a:t>
            </a:r>
            <a:endParaRPr lang="en-US" sz="2100" dirty="0"/>
          </a:p>
        </p:txBody>
      </p:sp>
      <p:sp>
        <p:nvSpPr>
          <p:cNvPr id="84" name="Shape 81"/>
          <p:cNvSpPr/>
          <p:nvPr/>
        </p:nvSpPr>
        <p:spPr>
          <a:xfrm>
            <a:off x="12343877" y="6662327"/>
            <a:ext cx="5029683" cy="9525"/>
          </a:xfrm>
          <a:prstGeom prst="rect">
            <a:avLst/>
          </a:prstGeom>
          <a:solidFill>
            <a:srgbClr val="1A1A26">
              <a:alpha val="8000"/>
            </a:srgbClr>
          </a:solidFill>
          <a:ln/>
        </p:spPr>
        <p:txBody>
          <a:bodyPr/>
          <a:lstStyle/>
          <a:p>
            <a:endParaRPr lang="en-US"/>
          </a:p>
        </p:txBody>
      </p:sp>
      <p:sp>
        <p:nvSpPr>
          <p:cNvPr id="85" name="Text 82"/>
          <p:cNvSpPr/>
          <p:nvPr/>
        </p:nvSpPr>
        <p:spPr>
          <a:xfrm>
            <a:off x="12343877" y="6202391"/>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{{ia_7_goals}}</a:t>
            </a:r>
            <a:endParaRPr lang="en-US" sz="2100" dirty="0"/>
          </a:p>
        </p:txBody>
      </p:sp>
      <p:sp>
        <p:nvSpPr>
          <p:cNvPr id="86" name="Shape 83"/>
          <p:cNvSpPr/>
          <p:nvPr/>
        </p:nvSpPr>
        <p:spPr>
          <a:xfrm>
            <a:off x="914372" y="7207534"/>
            <a:ext cx="3690371" cy="9525"/>
          </a:xfrm>
          <a:prstGeom prst="rect">
            <a:avLst/>
          </a:prstGeom>
          <a:solidFill>
            <a:srgbClr val="1A1A26">
              <a:alpha val="8000"/>
            </a:srgbClr>
          </a:solidFill>
          <a:ln/>
        </p:spPr>
        <p:txBody>
          <a:bodyPr/>
          <a:lstStyle/>
          <a:p>
            <a:endParaRPr lang="en-US"/>
          </a:p>
        </p:txBody>
      </p:sp>
      <p:sp>
        <p:nvSpPr>
          <p:cNvPr id="87" name="Text 84"/>
          <p:cNvSpPr/>
          <p:nvPr/>
        </p:nvSpPr>
        <p:spPr>
          <a:xfrm>
            <a:off x="914372" y="6747599"/>
            <a:ext cx="3648682"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{{ia_8_asset}}</a:t>
            </a:r>
            <a:endParaRPr lang="en-US" sz="2100" dirty="0"/>
          </a:p>
        </p:txBody>
      </p:sp>
      <p:sp>
        <p:nvSpPr>
          <p:cNvPr id="88" name="Shape 85"/>
          <p:cNvSpPr/>
          <p:nvPr/>
        </p:nvSpPr>
        <p:spPr>
          <a:xfrm>
            <a:off x="4604742" y="7207534"/>
            <a:ext cx="2350492" cy="9525"/>
          </a:xfrm>
          <a:prstGeom prst="rect">
            <a:avLst/>
          </a:prstGeom>
          <a:solidFill>
            <a:srgbClr val="1A1A26">
              <a:alpha val="8000"/>
            </a:srgbClr>
          </a:solidFill>
          <a:ln/>
        </p:spPr>
        <p:txBody>
          <a:bodyPr/>
          <a:lstStyle/>
          <a:p>
            <a:endParaRPr lang="en-US"/>
          </a:p>
        </p:txBody>
      </p:sp>
      <p:sp>
        <p:nvSpPr>
          <p:cNvPr id="89" name="Text 86"/>
          <p:cNvSpPr/>
          <p:nvPr/>
        </p:nvSpPr>
        <p:spPr>
          <a:xfrm>
            <a:off x="4604742" y="6747599"/>
            <a:ext cx="2274292"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{{ia_8_current}}</a:t>
            </a:r>
            <a:endParaRPr lang="en-US" sz="2100" dirty="0"/>
          </a:p>
        </p:txBody>
      </p:sp>
      <p:sp>
        <p:nvSpPr>
          <p:cNvPr id="90" name="Shape 87"/>
          <p:cNvSpPr/>
          <p:nvPr/>
        </p:nvSpPr>
        <p:spPr>
          <a:xfrm>
            <a:off x="6955235" y="7207534"/>
            <a:ext cx="2696270" cy="9525"/>
          </a:xfrm>
          <a:prstGeom prst="rect">
            <a:avLst/>
          </a:prstGeom>
          <a:solidFill>
            <a:srgbClr val="1A1A26">
              <a:alpha val="8000"/>
            </a:srgbClr>
          </a:solidFill>
          <a:ln/>
        </p:spPr>
        <p:txBody>
          <a:bodyPr/>
          <a:lstStyle/>
          <a:p>
            <a:endParaRPr lang="en-US"/>
          </a:p>
        </p:txBody>
      </p:sp>
      <p:sp>
        <p:nvSpPr>
          <p:cNvPr id="91" name="Text 88"/>
          <p:cNvSpPr/>
          <p:nvPr/>
        </p:nvSpPr>
        <p:spPr>
          <a:xfrm>
            <a:off x="6955235" y="6747599"/>
            <a:ext cx="2624758"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{{ia_8_allocated}}</a:t>
            </a:r>
            <a:endParaRPr lang="en-US" sz="2100" dirty="0"/>
          </a:p>
        </p:txBody>
      </p:sp>
      <p:sp>
        <p:nvSpPr>
          <p:cNvPr id="92" name="Shape 89"/>
          <p:cNvSpPr/>
          <p:nvPr/>
        </p:nvSpPr>
        <p:spPr>
          <a:xfrm>
            <a:off x="9651504" y="7207534"/>
            <a:ext cx="2692372" cy="9525"/>
          </a:xfrm>
          <a:prstGeom prst="rect">
            <a:avLst/>
          </a:prstGeom>
          <a:solidFill>
            <a:srgbClr val="1A1A26">
              <a:alpha val="8000"/>
            </a:srgbClr>
          </a:solidFill>
          <a:ln/>
        </p:spPr>
        <p:txBody>
          <a:bodyPr/>
          <a:lstStyle/>
          <a:p>
            <a:endParaRPr lang="en-US"/>
          </a:p>
        </p:txBody>
      </p:sp>
      <p:sp>
        <p:nvSpPr>
          <p:cNvPr id="93" name="Text 90"/>
          <p:cNvSpPr/>
          <p:nvPr/>
        </p:nvSpPr>
        <p:spPr>
          <a:xfrm>
            <a:off x="9651504" y="6747599"/>
            <a:ext cx="2620743" cy="42183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{{ia_8_monthly}}</a:t>
            </a:r>
            <a:endParaRPr lang="en-US" sz="2100" dirty="0"/>
          </a:p>
        </p:txBody>
      </p:sp>
      <p:sp>
        <p:nvSpPr>
          <p:cNvPr id="94" name="Shape 91"/>
          <p:cNvSpPr/>
          <p:nvPr/>
        </p:nvSpPr>
        <p:spPr>
          <a:xfrm>
            <a:off x="12343877" y="7207534"/>
            <a:ext cx="5029683" cy="9525"/>
          </a:xfrm>
          <a:prstGeom prst="rect">
            <a:avLst/>
          </a:prstGeom>
          <a:solidFill>
            <a:srgbClr val="1A1A26">
              <a:alpha val="8000"/>
            </a:srgbClr>
          </a:solidFill>
          <a:ln/>
        </p:spPr>
        <p:txBody>
          <a:bodyPr/>
          <a:lstStyle/>
          <a:p>
            <a:endParaRPr lang="en-US"/>
          </a:p>
        </p:txBody>
      </p:sp>
      <p:sp>
        <p:nvSpPr>
          <p:cNvPr id="95" name="Text 92"/>
          <p:cNvSpPr/>
          <p:nvPr/>
        </p:nvSpPr>
        <p:spPr>
          <a:xfrm>
            <a:off x="12343877" y="6747599"/>
            <a:ext cx="5180573" cy="42183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{{ia_8_goals}}</a:t>
            </a:r>
            <a:endParaRPr lang="en-US" sz="2100" dirty="0"/>
          </a:p>
        </p:txBody>
      </p:sp>
      <p:sp>
        <p:nvSpPr>
          <p:cNvPr id="96" name="Text 93"/>
          <p:cNvSpPr/>
          <p:nvPr/>
        </p:nvSpPr>
        <p:spPr>
          <a:xfrm>
            <a:off x="914372" y="7388055"/>
            <a:ext cx="3648682" cy="633115"/>
          </a:xfrm>
          <a:prstGeom prst="rect">
            <a:avLst/>
          </a:prstGeom>
          <a:noFill/>
          <a:ln/>
        </p:spPr>
        <p:txBody>
          <a:bodyPr wrap="square" lIns="25400" tIns="25400" rIns="25400" bIns="25400" rtlCol="0" anchor="ctr">
            <a:normAutofit/>
          </a:bodyPr>
          <a:lstStyle/>
          <a:p>
            <a:pPr marL="0" indent="0" algn="l">
              <a:lnSpc>
                <a:spcPct val="128911"/>
              </a:lnSpc>
              <a:buNone/>
            </a:pPr>
            <a:r>
              <a:rPr lang="en-US" sz="3000" dirty="0">
                <a:solidFill>
                  <a:srgbClr val="1D1F20"/>
                </a:solidFill>
                <a:latin typeface="Barlow Condensed" pitchFamily="34" charset="0"/>
                <a:ea typeface="Barlow Condensed" pitchFamily="34" charset="-122"/>
                <a:cs typeface="Barlow Condensed" pitchFamily="34" charset="-120"/>
              </a:rPr>
              <a:t>Total</a:t>
            </a:r>
            <a:endParaRPr lang="en-US" sz="3000" dirty="0"/>
          </a:p>
        </p:txBody>
      </p:sp>
      <p:sp>
        <p:nvSpPr>
          <p:cNvPr id="97" name="Text 94"/>
          <p:cNvSpPr/>
          <p:nvPr/>
        </p:nvSpPr>
        <p:spPr>
          <a:xfrm>
            <a:off x="4604742" y="7388055"/>
            <a:ext cx="2274292" cy="633115"/>
          </a:xfrm>
          <a:prstGeom prst="rect">
            <a:avLst/>
          </a:prstGeom>
          <a:noFill/>
          <a:ln/>
        </p:spPr>
        <p:txBody>
          <a:bodyPr wrap="none" lIns="25400" tIns="25400" rIns="25400" bIns="25400" rtlCol="0" anchor="ctr">
            <a:normAutofit/>
          </a:bodyPr>
          <a:lstStyle/>
          <a:p>
            <a:pPr marL="0" indent="0" algn="l">
              <a:lnSpc>
                <a:spcPct val="128911"/>
              </a:lnSpc>
              <a:buNone/>
            </a:pPr>
            <a:r>
              <a:rPr lang="en-US" sz="3000" dirty="0">
                <a:solidFill>
                  <a:srgbClr val="1D1F20"/>
                </a:solidFill>
                <a:latin typeface="Barlow Condensed" pitchFamily="34" charset="0"/>
                <a:ea typeface="Barlow Condensed" pitchFamily="34" charset="-122"/>
                <a:cs typeface="Barlow Condensed" pitchFamily="34" charset="-120"/>
              </a:rPr>
              <a:t>{{ia_total_current}}</a:t>
            </a:r>
            <a:endParaRPr lang="en-US" sz="3000" dirty="0"/>
          </a:p>
        </p:txBody>
      </p:sp>
      <p:sp>
        <p:nvSpPr>
          <p:cNvPr id="98" name="Text 95"/>
          <p:cNvSpPr/>
          <p:nvPr/>
        </p:nvSpPr>
        <p:spPr>
          <a:xfrm>
            <a:off x="6955235" y="7388055"/>
            <a:ext cx="2624758" cy="633115"/>
          </a:xfrm>
          <a:prstGeom prst="rect">
            <a:avLst/>
          </a:prstGeom>
          <a:noFill/>
          <a:ln/>
        </p:spPr>
        <p:txBody>
          <a:bodyPr wrap="none" lIns="25400" tIns="25400" rIns="25400" bIns="25400" rtlCol="0" anchor="ctr">
            <a:normAutofit/>
          </a:bodyPr>
          <a:lstStyle/>
          <a:p>
            <a:pPr marL="0" indent="0" algn="l">
              <a:lnSpc>
                <a:spcPct val="128911"/>
              </a:lnSpc>
              <a:buNone/>
            </a:pPr>
            <a:r>
              <a:rPr lang="en-US" sz="3000" dirty="0">
                <a:solidFill>
                  <a:srgbClr val="1D1F20"/>
                </a:solidFill>
                <a:latin typeface="Barlow Condensed" pitchFamily="34" charset="0"/>
                <a:ea typeface="Barlow Condensed" pitchFamily="34" charset="-122"/>
                <a:cs typeface="Barlow Condensed" pitchFamily="34" charset="-120"/>
              </a:rPr>
              <a:t>{{ia_total_allocated}}</a:t>
            </a:r>
            <a:endParaRPr lang="en-US" sz="3000" dirty="0"/>
          </a:p>
        </p:txBody>
      </p:sp>
      <p:sp>
        <p:nvSpPr>
          <p:cNvPr id="99" name="Text 96"/>
          <p:cNvSpPr/>
          <p:nvPr/>
        </p:nvSpPr>
        <p:spPr>
          <a:xfrm>
            <a:off x="9651504" y="7388055"/>
            <a:ext cx="2620743" cy="633115"/>
          </a:xfrm>
          <a:prstGeom prst="rect">
            <a:avLst/>
          </a:prstGeom>
          <a:noFill/>
          <a:ln/>
        </p:spPr>
        <p:txBody>
          <a:bodyPr wrap="none" lIns="25400" tIns="25400" rIns="25400" bIns="25400" rtlCol="0" anchor="ctr">
            <a:normAutofit/>
          </a:bodyPr>
          <a:lstStyle/>
          <a:p>
            <a:pPr marL="0" indent="0" algn="l">
              <a:lnSpc>
                <a:spcPct val="128911"/>
              </a:lnSpc>
              <a:buNone/>
            </a:pPr>
            <a:r>
              <a:rPr lang="en-US" sz="3000" dirty="0">
                <a:solidFill>
                  <a:srgbClr val="1D1F20"/>
                </a:solidFill>
                <a:latin typeface="Barlow Condensed" pitchFamily="34" charset="0"/>
                <a:ea typeface="Barlow Condensed" pitchFamily="34" charset="-122"/>
                <a:cs typeface="Barlow Condensed" pitchFamily="34" charset="-120"/>
              </a:rPr>
              <a:t>{{ia_total_monthly}}</a:t>
            </a:r>
            <a:endParaRPr lang="en-US" sz="3000" dirty="0"/>
          </a:p>
        </p:txBody>
      </p:sp>
      <p:sp>
        <p:nvSpPr>
          <p:cNvPr id="100" name="Shape 97"/>
          <p:cNvSpPr/>
          <p:nvPr/>
        </p:nvSpPr>
        <p:spPr>
          <a:xfrm>
            <a:off x="914372" y="8097313"/>
            <a:ext cx="16459187" cy="9525"/>
          </a:xfrm>
          <a:prstGeom prst="rect">
            <a:avLst/>
          </a:prstGeom>
          <a:solidFill>
            <a:srgbClr val="1D1F20">
              <a:alpha val="18000"/>
            </a:srgbClr>
          </a:solidFill>
          <a:ln/>
        </p:spPr>
        <p:txBody>
          <a:bodyPr/>
          <a:lstStyle/>
          <a:p>
            <a:endParaRPr lang="en-US"/>
          </a:p>
        </p:txBody>
      </p:sp>
      <p:sp>
        <p:nvSpPr>
          <p:cNvPr id="101" name="Text 98"/>
          <p:cNvSpPr/>
          <p:nvPr/>
        </p:nvSpPr>
        <p:spPr>
          <a:xfrm>
            <a:off x="914372" y="8315921"/>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102" name="Text 99"/>
          <p:cNvSpPr/>
          <p:nvPr/>
        </p:nvSpPr>
        <p:spPr>
          <a:xfrm>
            <a:off x="3276487" y="8277821"/>
            <a:ext cx="13244441"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{{investment_allocation_comment}}</a:t>
            </a:r>
            <a:endParaRPr lang="en-US" sz="2100" dirty="0"/>
          </a:p>
        </p:txBody>
      </p:sp>
      <p:sp>
        <p:nvSpPr>
          <p:cNvPr id="103" name="Text 100"/>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104" name="Text 101"/>
          <p:cNvSpPr/>
          <p:nvPr/>
        </p:nvSpPr>
        <p:spPr>
          <a:xfrm>
            <a:off x="16701919" y="9475462"/>
            <a:ext cx="747840"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2843690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5">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977861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GOAL MAPPING</a:t>
            </a:r>
            <a:endParaRPr lang="en-US" sz="2100" b="1" dirty="0">
              <a:solidFill>
                <a:srgbClr val="2A3480"/>
              </a:solidFill>
              <a:latin typeface="Barlow"/>
            </a:endParaRPr>
          </a:p>
        </p:txBody>
      </p:sp>
      <p:sp>
        <p:nvSpPr>
          <p:cNvPr id="3" name="Text 1"/>
          <p:cNvSpPr/>
          <p:nvPr/>
        </p:nvSpPr>
        <p:spPr>
          <a:xfrm>
            <a:off x="914372" y="1088501"/>
            <a:ext cx="9778611"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SIP Allocation — {{monthly_savings}} a Month</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419945"/>
            <a:ext cx="5630735" cy="914372"/>
          </a:xfrm>
          <a:prstGeom prst="rect">
            <a:avLst/>
          </a:prstGeom>
          <a:solidFill>
            <a:srgbClr val="26306F"/>
          </a:solidFill>
          <a:ln/>
        </p:spPr>
        <p:txBody>
          <a:bodyPr/>
          <a:lstStyle/>
          <a:p>
            <a:endParaRPr lang="en-US"/>
          </a:p>
        </p:txBody>
      </p:sp>
      <p:sp>
        <p:nvSpPr>
          <p:cNvPr id="7" name="Text 4"/>
          <p:cNvSpPr/>
          <p:nvPr/>
        </p:nvSpPr>
        <p:spPr>
          <a:xfrm>
            <a:off x="1181072" y="2419945"/>
            <a:ext cx="5532957" cy="952472"/>
          </a:xfrm>
          <a:prstGeom prst="rect">
            <a:avLst/>
          </a:prstGeom>
          <a:noFill/>
          <a:ln/>
        </p:spPr>
        <p:txBody>
          <a:bodyPr wrap="none" lIns="25400" tIns="25400" rIns="25400" bIns="25400" rtlCol="0" anchor="ctr">
            <a:normAutofit/>
          </a:bodyPr>
          <a:lstStyle/>
          <a:p>
            <a:pPr marL="0" indent="0" algn="l">
              <a:lnSpc>
                <a:spcPct val="128972"/>
              </a:lnSpc>
              <a:buNone/>
            </a:pPr>
            <a:r>
              <a:rPr lang="en-US" sz="3150" dirty="0">
                <a:solidFill>
                  <a:srgbClr val="F2F2F3"/>
                </a:solidFill>
                <a:latin typeface="Barlow Condensed" pitchFamily="34" charset="0"/>
                <a:ea typeface="Barlow Condensed" pitchFamily="34" charset="-122"/>
                <a:cs typeface="Barlow Condensed" pitchFamily="34" charset="-120"/>
              </a:rPr>
              <a:t>{{sip_bar_1_pct}}</a:t>
            </a:r>
            <a:endParaRPr lang="en-US" sz="3150" dirty="0"/>
          </a:p>
        </p:txBody>
      </p:sp>
      <p:sp>
        <p:nvSpPr>
          <p:cNvPr id="8" name="Shape 5"/>
          <p:cNvSpPr/>
          <p:nvPr/>
        </p:nvSpPr>
        <p:spPr>
          <a:xfrm>
            <a:off x="6573668" y="2419945"/>
            <a:ext cx="4411620" cy="914372"/>
          </a:xfrm>
          <a:prstGeom prst="rect">
            <a:avLst/>
          </a:prstGeom>
          <a:solidFill>
            <a:srgbClr val="2F7D3A"/>
          </a:solidFill>
          <a:ln/>
        </p:spPr>
        <p:txBody>
          <a:bodyPr/>
          <a:lstStyle/>
          <a:p>
            <a:endParaRPr lang="en-US"/>
          </a:p>
        </p:txBody>
      </p:sp>
      <p:sp>
        <p:nvSpPr>
          <p:cNvPr id="9" name="Text 6"/>
          <p:cNvSpPr/>
          <p:nvPr/>
        </p:nvSpPr>
        <p:spPr>
          <a:xfrm>
            <a:off x="6840368" y="2419945"/>
            <a:ext cx="4277269" cy="952472"/>
          </a:xfrm>
          <a:prstGeom prst="rect">
            <a:avLst/>
          </a:prstGeom>
          <a:noFill/>
          <a:ln/>
        </p:spPr>
        <p:txBody>
          <a:bodyPr wrap="none" lIns="25400" tIns="25400" rIns="25400" bIns="25400" rtlCol="0" anchor="ctr">
            <a:normAutofit/>
          </a:bodyPr>
          <a:lstStyle/>
          <a:p>
            <a:pPr marL="0" indent="0" algn="l">
              <a:lnSpc>
                <a:spcPct val="128972"/>
              </a:lnSpc>
              <a:buNone/>
            </a:pPr>
            <a:r>
              <a:rPr lang="en-US" sz="3150" dirty="0">
                <a:solidFill>
                  <a:srgbClr val="F2F2F3"/>
                </a:solidFill>
                <a:latin typeface="Barlow Condensed" pitchFamily="34" charset="0"/>
                <a:ea typeface="Barlow Condensed" pitchFamily="34" charset="-122"/>
                <a:cs typeface="Barlow Condensed" pitchFamily="34" charset="-120"/>
              </a:rPr>
              <a:t>{{sip_bar_2_pct}}</a:t>
            </a:r>
            <a:endParaRPr lang="en-US" sz="3150" dirty="0"/>
          </a:p>
        </p:txBody>
      </p:sp>
      <p:sp>
        <p:nvSpPr>
          <p:cNvPr id="10" name="Shape 7"/>
          <p:cNvSpPr/>
          <p:nvPr/>
        </p:nvSpPr>
        <p:spPr>
          <a:xfrm>
            <a:off x="11013849" y="2419945"/>
            <a:ext cx="2666788" cy="914372"/>
          </a:xfrm>
          <a:prstGeom prst="rect">
            <a:avLst/>
          </a:prstGeom>
          <a:solidFill>
            <a:srgbClr val="5980A6"/>
          </a:solidFill>
          <a:ln/>
        </p:spPr>
        <p:txBody>
          <a:bodyPr/>
          <a:lstStyle/>
          <a:p>
            <a:endParaRPr lang="en-US"/>
          </a:p>
        </p:txBody>
      </p:sp>
      <p:sp>
        <p:nvSpPr>
          <p:cNvPr id="11" name="Text 8"/>
          <p:cNvSpPr/>
          <p:nvPr/>
        </p:nvSpPr>
        <p:spPr>
          <a:xfrm>
            <a:off x="11242449" y="2419945"/>
            <a:ext cx="2518191" cy="952472"/>
          </a:xfrm>
          <a:prstGeom prst="rect">
            <a:avLst/>
          </a:prstGeom>
          <a:noFill/>
          <a:ln/>
        </p:spPr>
        <p:txBody>
          <a:bodyPr wrap="none" lIns="25400" tIns="25400" rIns="25400" bIns="25400" rtlCol="0" anchor="ctr">
            <a:normAutofit/>
          </a:bodyPr>
          <a:lstStyle/>
          <a:p>
            <a:pPr marL="0" indent="0" algn="l">
              <a:lnSpc>
                <a:spcPct val="128972"/>
              </a:lnSpc>
              <a:buNone/>
            </a:pPr>
            <a:r>
              <a:rPr lang="en-US" sz="3150" dirty="0">
                <a:solidFill>
                  <a:srgbClr val="F2F2F3"/>
                </a:solidFill>
                <a:latin typeface="Barlow Condensed" pitchFamily="34" charset="0"/>
                <a:ea typeface="Barlow Condensed" pitchFamily="34" charset="-122"/>
                <a:cs typeface="Barlow Condensed" pitchFamily="34" charset="-120"/>
              </a:rPr>
              <a:t>{{sip_bar_3_pct}}</a:t>
            </a:r>
            <a:endParaRPr lang="en-US" sz="3150" dirty="0"/>
          </a:p>
        </p:txBody>
      </p:sp>
      <p:sp>
        <p:nvSpPr>
          <p:cNvPr id="12" name="Shape 9"/>
          <p:cNvSpPr/>
          <p:nvPr/>
        </p:nvSpPr>
        <p:spPr>
          <a:xfrm>
            <a:off x="13709197" y="2419945"/>
            <a:ext cx="2318459" cy="914372"/>
          </a:xfrm>
          <a:prstGeom prst="rect">
            <a:avLst/>
          </a:prstGeom>
          <a:solidFill>
            <a:srgbClr val="141A45"/>
          </a:solidFill>
          <a:ln/>
        </p:spPr>
        <p:txBody>
          <a:bodyPr/>
          <a:lstStyle/>
          <a:p>
            <a:endParaRPr lang="en-US"/>
          </a:p>
        </p:txBody>
      </p:sp>
      <p:sp>
        <p:nvSpPr>
          <p:cNvPr id="13" name="Text 10"/>
          <p:cNvSpPr/>
          <p:nvPr/>
        </p:nvSpPr>
        <p:spPr>
          <a:xfrm>
            <a:off x="13937797" y="2419945"/>
            <a:ext cx="2166059" cy="952472"/>
          </a:xfrm>
          <a:prstGeom prst="rect">
            <a:avLst/>
          </a:prstGeom>
          <a:noFill/>
          <a:ln/>
        </p:spPr>
        <p:txBody>
          <a:bodyPr wrap="none" lIns="25400" tIns="25400" rIns="25400" bIns="25400" rtlCol="0" anchor="ctr">
            <a:normAutofit/>
          </a:bodyPr>
          <a:lstStyle/>
          <a:p>
            <a:pPr marL="0" indent="0" algn="l">
              <a:lnSpc>
                <a:spcPct val="128972"/>
              </a:lnSpc>
              <a:buNone/>
            </a:pPr>
            <a:r>
              <a:rPr lang="en-US" sz="3150" dirty="0">
                <a:solidFill>
                  <a:srgbClr val="F2F2F3"/>
                </a:solidFill>
                <a:latin typeface="Barlow Condensed" pitchFamily="34" charset="0"/>
                <a:ea typeface="Barlow Condensed" pitchFamily="34" charset="-122"/>
                <a:cs typeface="Barlow Condensed" pitchFamily="34" charset="-120"/>
              </a:rPr>
              <a:t>{{sip_bar_4_pct}}</a:t>
            </a:r>
            <a:endParaRPr lang="en-US" sz="3150" dirty="0"/>
          </a:p>
        </p:txBody>
      </p:sp>
      <p:sp>
        <p:nvSpPr>
          <p:cNvPr id="14" name="Shape 11"/>
          <p:cNvSpPr/>
          <p:nvPr/>
        </p:nvSpPr>
        <p:spPr>
          <a:xfrm>
            <a:off x="16056216" y="2419945"/>
            <a:ext cx="870786" cy="914372"/>
          </a:xfrm>
          <a:prstGeom prst="rect">
            <a:avLst/>
          </a:prstGeom>
          <a:solidFill>
            <a:srgbClr val="94BCE3"/>
          </a:solidFill>
          <a:ln/>
        </p:spPr>
        <p:txBody>
          <a:bodyPr/>
          <a:lstStyle/>
          <a:p>
            <a:endParaRPr lang="en-US"/>
          </a:p>
        </p:txBody>
      </p:sp>
      <p:sp>
        <p:nvSpPr>
          <p:cNvPr id="15" name="Shape 12"/>
          <p:cNvSpPr/>
          <p:nvPr/>
        </p:nvSpPr>
        <p:spPr>
          <a:xfrm>
            <a:off x="16955564" y="2419945"/>
            <a:ext cx="417994" cy="914372"/>
          </a:xfrm>
          <a:prstGeom prst="rect">
            <a:avLst/>
          </a:prstGeom>
          <a:solidFill>
            <a:srgbClr val="B7B7BA"/>
          </a:solidFill>
          <a:ln/>
        </p:spPr>
        <p:txBody>
          <a:bodyPr/>
          <a:lstStyle/>
          <a:p>
            <a:endParaRPr lang="en-US"/>
          </a:p>
        </p:txBody>
      </p:sp>
      <p:sp>
        <p:nvSpPr>
          <p:cNvPr id="16" name="Shape 13"/>
          <p:cNvSpPr/>
          <p:nvPr/>
        </p:nvSpPr>
        <p:spPr>
          <a:xfrm>
            <a:off x="914372" y="4542873"/>
            <a:ext cx="7886687" cy="9525"/>
          </a:xfrm>
          <a:prstGeom prst="rect">
            <a:avLst/>
          </a:prstGeom>
          <a:solidFill>
            <a:srgbClr val="1D1F20">
              <a:alpha val="12000"/>
            </a:srgbClr>
          </a:solidFill>
          <a:ln/>
        </p:spPr>
        <p:txBody>
          <a:bodyPr/>
          <a:lstStyle/>
          <a:p>
            <a:endParaRPr lang="en-US"/>
          </a:p>
        </p:txBody>
      </p:sp>
      <p:sp>
        <p:nvSpPr>
          <p:cNvPr id="17" name="Shape 14"/>
          <p:cNvSpPr/>
          <p:nvPr/>
        </p:nvSpPr>
        <p:spPr>
          <a:xfrm>
            <a:off x="914372" y="4079946"/>
            <a:ext cx="171436" cy="171436"/>
          </a:xfrm>
          <a:prstGeom prst="rect">
            <a:avLst/>
          </a:prstGeom>
          <a:solidFill>
            <a:srgbClr val="26306F"/>
          </a:solidFill>
          <a:ln/>
        </p:spPr>
        <p:txBody>
          <a:bodyPr/>
          <a:lstStyle/>
          <a:p>
            <a:endParaRPr lang="en-US"/>
          </a:p>
        </p:txBody>
      </p:sp>
      <p:sp>
        <p:nvSpPr>
          <p:cNvPr id="18" name="Text 15"/>
          <p:cNvSpPr/>
          <p:nvPr/>
        </p:nvSpPr>
        <p:spPr>
          <a:xfrm>
            <a:off x="1257243" y="3929346"/>
            <a:ext cx="7031463"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{{sip_1_label}}</a:t>
            </a:r>
            <a:endParaRPr lang="en-US" sz="2175" dirty="0"/>
          </a:p>
        </p:txBody>
      </p:sp>
      <p:sp>
        <p:nvSpPr>
          <p:cNvPr id="19" name="Text 16"/>
          <p:cNvSpPr/>
          <p:nvPr/>
        </p:nvSpPr>
        <p:spPr>
          <a:xfrm>
            <a:off x="7820919" y="3829560"/>
            <a:ext cx="1056340" cy="599040"/>
          </a:xfrm>
          <a:prstGeom prst="rect">
            <a:avLst/>
          </a:prstGeom>
          <a:noFill/>
          <a:ln/>
        </p:spPr>
        <p:txBody>
          <a:bodyPr wrap="non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{{sip_1_amount}}</a:t>
            </a:r>
            <a:endParaRPr lang="en-US" sz="2850" dirty="0"/>
          </a:p>
        </p:txBody>
      </p:sp>
      <p:sp>
        <p:nvSpPr>
          <p:cNvPr id="20" name="Shape 17"/>
          <p:cNvSpPr/>
          <p:nvPr/>
        </p:nvSpPr>
        <p:spPr>
          <a:xfrm>
            <a:off x="9486801" y="4542873"/>
            <a:ext cx="7886757" cy="9525"/>
          </a:xfrm>
          <a:prstGeom prst="rect">
            <a:avLst/>
          </a:prstGeom>
          <a:solidFill>
            <a:srgbClr val="1D1F20">
              <a:alpha val="12000"/>
            </a:srgbClr>
          </a:solidFill>
          <a:ln/>
        </p:spPr>
        <p:txBody>
          <a:bodyPr/>
          <a:lstStyle/>
          <a:p>
            <a:endParaRPr lang="en-US"/>
          </a:p>
        </p:txBody>
      </p:sp>
      <p:sp>
        <p:nvSpPr>
          <p:cNvPr id="21" name="Shape 18"/>
          <p:cNvSpPr/>
          <p:nvPr/>
        </p:nvSpPr>
        <p:spPr>
          <a:xfrm>
            <a:off x="9486801" y="4079946"/>
            <a:ext cx="171436" cy="171436"/>
          </a:xfrm>
          <a:prstGeom prst="rect">
            <a:avLst/>
          </a:prstGeom>
          <a:solidFill>
            <a:srgbClr val="141A45"/>
          </a:solidFill>
          <a:ln/>
        </p:spPr>
        <p:txBody>
          <a:bodyPr/>
          <a:lstStyle/>
          <a:p>
            <a:endParaRPr lang="en-US"/>
          </a:p>
        </p:txBody>
      </p:sp>
      <p:sp>
        <p:nvSpPr>
          <p:cNvPr id="22" name="Text 19"/>
          <p:cNvSpPr/>
          <p:nvPr/>
        </p:nvSpPr>
        <p:spPr>
          <a:xfrm>
            <a:off x="9829673" y="3929346"/>
            <a:ext cx="6962315"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{{sip_2_label}}</a:t>
            </a:r>
            <a:endParaRPr lang="en-US" sz="2175" dirty="0"/>
          </a:p>
        </p:txBody>
      </p:sp>
      <p:sp>
        <p:nvSpPr>
          <p:cNvPr id="23" name="Text 20"/>
          <p:cNvSpPr/>
          <p:nvPr/>
        </p:nvSpPr>
        <p:spPr>
          <a:xfrm>
            <a:off x="14958886" y="3829560"/>
            <a:ext cx="2490873" cy="599040"/>
          </a:xfrm>
          <a:prstGeom prst="rect">
            <a:avLst/>
          </a:prstGeom>
          <a:noFill/>
          <a:ln/>
        </p:spPr>
        <p:txBody>
          <a:bodyPr wrap="none" lIns="25400" tIns="25400" rIns="25400" bIns="25400" rtlCol="0" anchor="t">
            <a:normAutofit/>
          </a:bodyPr>
          <a:lstStyle/>
          <a:p>
            <a:pPr marL="0" indent="0" algn="r">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{{sip_2_amount}}</a:t>
            </a:r>
            <a:endParaRPr lang="en-US" sz="2850" dirty="0"/>
          </a:p>
        </p:txBody>
      </p:sp>
      <p:sp>
        <p:nvSpPr>
          <p:cNvPr id="24" name="Shape 21"/>
          <p:cNvSpPr/>
          <p:nvPr/>
        </p:nvSpPr>
        <p:spPr>
          <a:xfrm>
            <a:off x="914372" y="5417628"/>
            <a:ext cx="7886687" cy="9525"/>
          </a:xfrm>
          <a:prstGeom prst="rect">
            <a:avLst/>
          </a:prstGeom>
          <a:solidFill>
            <a:srgbClr val="1D1F20">
              <a:alpha val="12000"/>
            </a:srgbClr>
          </a:solidFill>
          <a:ln/>
        </p:spPr>
        <p:txBody>
          <a:bodyPr/>
          <a:lstStyle/>
          <a:p>
            <a:endParaRPr lang="en-US"/>
          </a:p>
        </p:txBody>
      </p:sp>
      <p:sp>
        <p:nvSpPr>
          <p:cNvPr id="25" name="Shape 22"/>
          <p:cNvSpPr/>
          <p:nvPr/>
        </p:nvSpPr>
        <p:spPr>
          <a:xfrm>
            <a:off x="914372" y="4954701"/>
            <a:ext cx="171436" cy="171436"/>
          </a:xfrm>
          <a:prstGeom prst="rect">
            <a:avLst/>
          </a:prstGeom>
          <a:solidFill>
            <a:srgbClr val="2F7D3A"/>
          </a:solidFill>
          <a:ln/>
        </p:spPr>
        <p:txBody>
          <a:bodyPr/>
          <a:lstStyle/>
          <a:p>
            <a:endParaRPr lang="en-US"/>
          </a:p>
        </p:txBody>
      </p:sp>
      <p:sp>
        <p:nvSpPr>
          <p:cNvPr id="26" name="Text 23"/>
          <p:cNvSpPr/>
          <p:nvPr/>
        </p:nvSpPr>
        <p:spPr>
          <a:xfrm>
            <a:off x="1257243" y="4804101"/>
            <a:ext cx="6978140"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{{sip_3_label}}</a:t>
            </a:r>
            <a:endParaRPr lang="en-US" sz="2175" dirty="0"/>
          </a:p>
        </p:txBody>
      </p:sp>
      <p:sp>
        <p:nvSpPr>
          <p:cNvPr id="27" name="Text 24"/>
          <p:cNvSpPr/>
          <p:nvPr/>
        </p:nvSpPr>
        <p:spPr>
          <a:xfrm>
            <a:off x="7772443" y="4704315"/>
            <a:ext cx="1104815" cy="599040"/>
          </a:xfrm>
          <a:prstGeom prst="rect">
            <a:avLst/>
          </a:prstGeom>
          <a:noFill/>
          <a:ln/>
        </p:spPr>
        <p:txBody>
          <a:bodyPr wrap="non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{{sip_3_amount}}</a:t>
            </a:r>
            <a:endParaRPr lang="en-US" sz="2850" dirty="0"/>
          </a:p>
        </p:txBody>
      </p:sp>
      <p:sp>
        <p:nvSpPr>
          <p:cNvPr id="28" name="Shape 25"/>
          <p:cNvSpPr/>
          <p:nvPr/>
        </p:nvSpPr>
        <p:spPr>
          <a:xfrm>
            <a:off x="9486801" y="5417628"/>
            <a:ext cx="7886757" cy="9525"/>
          </a:xfrm>
          <a:prstGeom prst="rect">
            <a:avLst/>
          </a:prstGeom>
          <a:solidFill>
            <a:srgbClr val="1D1F20">
              <a:alpha val="12000"/>
            </a:srgbClr>
          </a:solidFill>
          <a:ln/>
        </p:spPr>
        <p:txBody>
          <a:bodyPr/>
          <a:lstStyle/>
          <a:p>
            <a:endParaRPr lang="en-US"/>
          </a:p>
        </p:txBody>
      </p:sp>
      <p:sp>
        <p:nvSpPr>
          <p:cNvPr id="29" name="Shape 26"/>
          <p:cNvSpPr/>
          <p:nvPr/>
        </p:nvSpPr>
        <p:spPr>
          <a:xfrm>
            <a:off x="9486801" y="4954701"/>
            <a:ext cx="171436" cy="171436"/>
          </a:xfrm>
          <a:prstGeom prst="rect">
            <a:avLst/>
          </a:prstGeom>
          <a:solidFill>
            <a:srgbClr val="94BCE3"/>
          </a:solidFill>
          <a:ln/>
        </p:spPr>
        <p:txBody>
          <a:bodyPr/>
          <a:lstStyle/>
          <a:p>
            <a:endParaRPr lang="en-US"/>
          </a:p>
        </p:txBody>
      </p:sp>
      <p:sp>
        <p:nvSpPr>
          <p:cNvPr id="30" name="Text 27"/>
          <p:cNvSpPr/>
          <p:nvPr/>
        </p:nvSpPr>
        <p:spPr>
          <a:xfrm>
            <a:off x="9829673" y="4804101"/>
            <a:ext cx="7039103"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{{sip_4_label}}</a:t>
            </a:r>
            <a:endParaRPr lang="en-US" sz="2175" dirty="0"/>
          </a:p>
        </p:txBody>
      </p:sp>
      <p:sp>
        <p:nvSpPr>
          <p:cNvPr id="31" name="Text 28"/>
          <p:cNvSpPr/>
          <p:nvPr/>
        </p:nvSpPr>
        <p:spPr>
          <a:xfrm>
            <a:off x="15028693" y="4704315"/>
            <a:ext cx="2421065" cy="599040"/>
          </a:xfrm>
          <a:prstGeom prst="rect">
            <a:avLst/>
          </a:prstGeom>
          <a:noFill/>
          <a:ln/>
        </p:spPr>
        <p:txBody>
          <a:bodyPr wrap="none" lIns="25400" tIns="25400" rIns="25400" bIns="25400" rtlCol="0" anchor="t">
            <a:normAutofit/>
          </a:bodyPr>
          <a:lstStyle/>
          <a:p>
            <a:pPr marL="0" indent="0" algn="r">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{{sip_4_amount}}</a:t>
            </a:r>
            <a:endParaRPr lang="en-US" sz="2850" dirty="0"/>
          </a:p>
        </p:txBody>
      </p:sp>
      <p:sp>
        <p:nvSpPr>
          <p:cNvPr id="32" name="Shape 29"/>
          <p:cNvSpPr/>
          <p:nvPr/>
        </p:nvSpPr>
        <p:spPr>
          <a:xfrm>
            <a:off x="914372" y="6292383"/>
            <a:ext cx="7886687" cy="9525"/>
          </a:xfrm>
          <a:prstGeom prst="rect">
            <a:avLst/>
          </a:prstGeom>
          <a:solidFill>
            <a:srgbClr val="1D1F20">
              <a:alpha val="12000"/>
            </a:srgbClr>
          </a:solidFill>
          <a:ln/>
        </p:spPr>
        <p:txBody>
          <a:bodyPr/>
          <a:lstStyle/>
          <a:p>
            <a:endParaRPr lang="en-US"/>
          </a:p>
        </p:txBody>
      </p:sp>
      <p:sp>
        <p:nvSpPr>
          <p:cNvPr id="33" name="Shape 30"/>
          <p:cNvSpPr/>
          <p:nvPr/>
        </p:nvSpPr>
        <p:spPr>
          <a:xfrm>
            <a:off x="914372" y="5829456"/>
            <a:ext cx="171436" cy="171436"/>
          </a:xfrm>
          <a:prstGeom prst="rect">
            <a:avLst/>
          </a:prstGeom>
          <a:solidFill>
            <a:srgbClr val="5980A6"/>
          </a:solidFill>
          <a:ln/>
        </p:spPr>
        <p:txBody>
          <a:bodyPr/>
          <a:lstStyle/>
          <a:p>
            <a:endParaRPr lang="en-US"/>
          </a:p>
        </p:txBody>
      </p:sp>
      <p:sp>
        <p:nvSpPr>
          <p:cNvPr id="34" name="Text 31"/>
          <p:cNvSpPr/>
          <p:nvPr/>
        </p:nvSpPr>
        <p:spPr>
          <a:xfrm>
            <a:off x="1257243" y="5678856"/>
            <a:ext cx="6976113"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{{sip_5_label}}</a:t>
            </a:r>
            <a:endParaRPr lang="en-US" sz="2175" dirty="0"/>
          </a:p>
        </p:txBody>
      </p:sp>
      <p:sp>
        <p:nvSpPr>
          <p:cNvPr id="35" name="Text 32"/>
          <p:cNvSpPr/>
          <p:nvPr/>
        </p:nvSpPr>
        <p:spPr>
          <a:xfrm>
            <a:off x="7770600" y="5579071"/>
            <a:ext cx="1106658" cy="599040"/>
          </a:xfrm>
          <a:prstGeom prst="rect">
            <a:avLst/>
          </a:prstGeom>
          <a:noFill/>
          <a:ln/>
        </p:spPr>
        <p:txBody>
          <a:bodyPr wrap="none" lIns="25400" tIns="25400" rIns="25400" bIns="25400" rtlCol="0" anchor="t">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{{sip_5_amount}}</a:t>
            </a:r>
            <a:endParaRPr lang="en-US" sz="2850" dirty="0"/>
          </a:p>
        </p:txBody>
      </p:sp>
      <p:sp>
        <p:nvSpPr>
          <p:cNvPr id="36" name="Shape 33"/>
          <p:cNvSpPr/>
          <p:nvPr/>
        </p:nvSpPr>
        <p:spPr>
          <a:xfrm>
            <a:off x="9486801" y="6292383"/>
            <a:ext cx="7886757" cy="9525"/>
          </a:xfrm>
          <a:prstGeom prst="rect">
            <a:avLst/>
          </a:prstGeom>
          <a:solidFill>
            <a:srgbClr val="1D1F20">
              <a:alpha val="12000"/>
            </a:srgbClr>
          </a:solidFill>
          <a:ln/>
        </p:spPr>
        <p:txBody>
          <a:bodyPr/>
          <a:lstStyle/>
          <a:p>
            <a:endParaRPr lang="en-US"/>
          </a:p>
        </p:txBody>
      </p:sp>
      <p:sp>
        <p:nvSpPr>
          <p:cNvPr id="37" name="Shape 34"/>
          <p:cNvSpPr/>
          <p:nvPr/>
        </p:nvSpPr>
        <p:spPr>
          <a:xfrm>
            <a:off x="9486801" y="5829456"/>
            <a:ext cx="171436" cy="171436"/>
          </a:xfrm>
          <a:prstGeom prst="rect">
            <a:avLst/>
          </a:prstGeom>
          <a:solidFill>
            <a:srgbClr val="B7B7BA"/>
          </a:solidFill>
          <a:ln/>
        </p:spPr>
        <p:txBody>
          <a:bodyPr/>
          <a:lstStyle/>
          <a:p>
            <a:endParaRPr lang="en-US"/>
          </a:p>
        </p:txBody>
      </p:sp>
      <p:sp>
        <p:nvSpPr>
          <p:cNvPr id="38" name="Text 35"/>
          <p:cNvSpPr/>
          <p:nvPr/>
        </p:nvSpPr>
        <p:spPr>
          <a:xfrm>
            <a:off x="9829673" y="5678856"/>
            <a:ext cx="7138265" cy="466229"/>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solidFill>
                <a:latin typeface="Barlow" pitchFamily="34" charset="0"/>
                <a:ea typeface="Barlow" pitchFamily="34" charset="-122"/>
                <a:cs typeface="Barlow" pitchFamily="34" charset="-120"/>
              </a:rPr>
              <a:t>{{sip_6_label}}</a:t>
            </a:r>
            <a:endParaRPr lang="en-US" sz="2175" dirty="0"/>
          </a:p>
        </p:txBody>
      </p:sp>
      <p:sp>
        <p:nvSpPr>
          <p:cNvPr id="39" name="Text 36"/>
          <p:cNvSpPr/>
          <p:nvPr/>
        </p:nvSpPr>
        <p:spPr>
          <a:xfrm>
            <a:off x="15118841" y="5579071"/>
            <a:ext cx="2330918" cy="599040"/>
          </a:xfrm>
          <a:prstGeom prst="rect">
            <a:avLst/>
          </a:prstGeom>
          <a:noFill/>
          <a:ln/>
        </p:spPr>
        <p:txBody>
          <a:bodyPr wrap="none" lIns="25400" tIns="25400" rIns="25400" bIns="25400" rtlCol="0" anchor="t">
            <a:normAutofit/>
          </a:bodyPr>
          <a:lstStyle/>
          <a:p>
            <a:pPr marL="0" indent="0" algn="r">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{{sip_6_amount}}</a:t>
            </a:r>
            <a:endParaRPr lang="en-US" sz="2850" dirty="0"/>
          </a:p>
        </p:txBody>
      </p:sp>
      <p:sp>
        <p:nvSpPr>
          <p:cNvPr id="40" name="Shape 37"/>
          <p:cNvSpPr/>
          <p:nvPr/>
        </p:nvSpPr>
        <p:spPr>
          <a:xfrm>
            <a:off x="914372" y="7337794"/>
            <a:ext cx="16459187" cy="9525"/>
          </a:xfrm>
          <a:prstGeom prst="rect">
            <a:avLst/>
          </a:prstGeom>
          <a:solidFill>
            <a:srgbClr val="1D1F20">
              <a:alpha val="18000"/>
            </a:srgbClr>
          </a:solidFill>
          <a:ln/>
        </p:spPr>
        <p:txBody>
          <a:bodyPr/>
          <a:lstStyle/>
          <a:p>
            <a:endParaRPr lang="en-US"/>
          </a:p>
        </p:txBody>
      </p:sp>
      <p:sp>
        <p:nvSpPr>
          <p:cNvPr id="41" name="Text 38"/>
          <p:cNvSpPr/>
          <p:nvPr/>
        </p:nvSpPr>
        <p:spPr>
          <a:xfrm>
            <a:off x="914372" y="7575466"/>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42" name="Text 39"/>
          <p:cNvSpPr/>
          <p:nvPr/>
        </p:nvSpPr>
        <p:spPr>
          <a:xfrm>
            <a:off x="3276487" y="7537366"/>
            <a:ext cx="13244441"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{{sip_comment}}</a:t>
            </a:r>
            <a:endParaRPr lang="en-US" sz="2100" dirty="0"/>
          </a:p>
        </p:txBody>
      </p:sp>
      <p:sp>
        <p:nvSpPr>
          <p:cNvPr id="43" name="Text 40"/>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4" name="Text 41"/>
          <p:cNvSpPr/>
          <p:nvPr/>
        </p:nvSpPr>
        <p:spPr>
          <a:xfrm>
            <a:off x="16710352" y="9475462"/>
            <a:ext cx="739407"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11562092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4859097"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PLAN OF ACTION</a:t>
            </a:r>
            <a:endParaRPr lang="en-US" sz="2100" b="1" dirty="0">
              <a:solidFill>
                <a:srgbClr val="2A3480"/>
              </a:solidFill>
              <a:latin typeface="Barlow"/>
            </a:endParaRPr>
          </a:p>
        </p:txBody>
      </p:sp>
      <p:sp>
        <p:nvSpPr>
          <p:cNvPr id="3" name="Text 1"/>
          <p:cNvSpPr/>
          <p:nvPr/>
        </p:nvSpPr>
        <p:spPr>
          <a:xfrm>
            <a:off x="914372" y="1088501"/>
            <a:ext cx="4859097"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Freed Cash Flows</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419945"/>
            <a:ext cx="3943378" cy="2671536"/>
          </a:xfrm>
          <a:prstGeom prst="rect">
            <a:avLst/>
          </a:prstGeom>
          <a:ln w="9071">
            <a:solidFill>
              <a:srgbClr val="1F1F1F">
                <a:alpha val="16000"/>
              </a:srgbClr>
            </a:solidFill>
            <a:prstDash val="solid"/>
          </a:ln>
        </p:spPr>
        <p:txBody>
          <a:bodyPr/>
          <a:lstStyle/>
          <a:p>
            <a:endParaRPr lang="en-US"/>
          </a:p>
        </p:txBody>
      </p:sp>
      <p:sp>
        <p:nvSpPr>
          <p:cNvPr id="7" name="Text 4"/>
          <p:cNvSpPr/>
          <p:nvPr/>
        </p:nvSpPr>
        <p:spPr>
          <a:xfrm>
            <a:off x="1190129" y="2676639"/>
            <a:ext cx="3731051"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2A3480"/>
                </a:solidFill>
                <a:latin typeface="Barlow Condensed" pitchFamily="34" charset="0"/>
                <a:ea typeface="Barlow Condensed" pitchFamily="34" charset="-122"/>
                <a:cs typeface="Barlow Condensed" pitchFamily="34" charset="-120"/>
              </a:rPr>
              <a:t>{{freed_1_year}}</a:t>
            </a:r>
            <a:endParaRPr lang="en-US" sz="4200" dirty="0"/>
          </a:p>
        </p:txBody>
      </p:sp>
      <p:sp>
        <p:nvSpPr>
          <p:cNvPr id="8" name="Text 5"/>
          <p:cNvSpPr/>
          <p:nvPr/>
        </p:nvSpPr>
        <p:spPr>
          <a:xfrm>
            <a:off x="1190129" y="3343318"/>
            <a:ext cx="3731051"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{{freed_1_event}}</a:t>
            </a:r>
            <a:endParaRPr lang="en-US" sz="2100" dirty="0"/>
          </a:p>
        </p:txBody>
      </p:sp>
      <p:sp>
        <p:nvSpPr>
          <p:cNvPr id="9" name="Text 6"/>
          <p:cNvSpPr/>
          <p:nvPr/>
        </p:nvSpPr>
        <p:spPr>
          <a:xfrm>
            <a:off x="1190129" y="3985192"/>
            <a:ext cx="373105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REDIRECTED</a:t>
            </a:r>
            <a:endParaRPr lang="en-US" sz="2100" dirty="0"/>
          </a:p>
        </p:txBody>
      </p:sp>
      <p:sp>
        <p:nvSpPr>
          <p:cNvPr id="10" name="Text 7"/>
          <p:cNvSpPr/>
          <p:nvPr/>
        </p:nvSpPr>
        <p:spPr>
          <a:xfrm>
            <a:off x="1190129" y="4396667"/>
            <a:ext cx="3731051"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{{freed_1_amount}}</a:t>
            </a:r>
            <a:endParaRPr lang="en-US" sz="3450" dirty="0"/>
          </a:p>
        </p:txBody>
      </p:sp>
      <p:sp>
        <p:nvSpPr>
          <p:cNvPr id="11" name="Shape 8"/>
          <p:cNvSpPr/>
          <p:nvPr/>
        </p:nvSpPr>
        <p:spPr>
          <a:xfrm>
            <a:off x="5086308" y="2419945"/>
            <a:ext cx="3943378" cy="2671536"/>
          </a:xfrm>
          <a:prstGeom prst="rect">
            <a:avLst/>
          </a:prstGeom>
          <a:ln w="9071">
            <a:solidFill>
              <a:srgbClr val="1F1F1F">
                <a:alpha val="16000"/>
              </a:srgbClr>
            </a:solidFill>
            <a:prstDash val="solid"/>
          </a:ln>
        </p:spPr>
        <p:txBody>
          <a:bodyPr/>
          <a:lstStyle/>
          <a:p>
            <a:endParaRPr lang="en-US"/>
          </a:p>
        </p:txBody>
      </p:sp>
      <p:sp>
        <p:nvSpPr>
          <p:cNvPr id="12" name="Text 9"/>
          <p:cNvSpPr/>
          <p:nvPr/>
        </p:nvSpPr>
        <p:spPr>
          <a:xfrm>
            <a:off x="5362065" y="2676639"/>
            <a:ext cx="3731051"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2A3480"/>
                </a:solidFill>
                <a:latin typeface="Barlow Condensed" pitchFamily="34" charset="0"/>
                <a:ea typeface="Barlow Condensed" pitchFamily="34" charset="-122"/>
                <a:cs typeface="Barlow Condensed" pitchFamily="34" charset="-120"/>
              </a:rPr>
              <a:t>{{freed_2_year}}</a:t>
            </a:r>
            <a:endParaRPr lang="en-US" sz="4200" dirty="0"/>
          </a:p>
        </p:txBody>
      </p:sp>
      <p:sp>
        <p:nvSpPr>
          <p:cNvPr id="13" name="Text 10"/>
          <p:cNvSpPr/>
          <p:nvPr/>
        </p:nvSpPr>
        <p:spPr>
          <a:xfrm>
            <a:off x="5362065" y="3343318"/>
            <a:ext cx="3731051"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{{freed_2_event}}</a:t>
            </a:r>
            <a:endParaRPr lang="en-US" sz="2100" dirty="0"/>
          </a:p>
        </p:txBody>
      </p:sp>
      <p:sp>
        <p:nvSpPr>
          <p:cNvPr id="14" name="Text 11"/>
          <p:cNvSpPr/>
          <p:nvPr/>
        </p:nvSpPr>
        <p:spPr>
          <a:xfrm>
            <a:off x="5362065" y="3985192"/>
            <a:ext cx="373105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REDIRECTED</a:t>
            </a:r>
            <a:endParaRPr lang="en-US" sz="2100" dirty="0"/>
          </a:p>
        </p:txBody>
      </p:sp>
      <p:sp>
        <p:nvSpPr>
          <p:cNvPr id="15" name="Text 12"/>
          <p:cNvSpPr/>
          <p:nvPr/>
        </p:nvSpPr>
        <p:spPr>
          <a:xfrm>
            <a:off x="5362065" y="4396667"/>
            <a:ext cx="3731051"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{{freed_2_amount}}</a:t>
            </a:r>
            <a:endParaRPr lang="en-US" sz="3450" dirty="0"/>
          </a:p>
        </p:txBody>
      </p:sp>
      <p:sp>
        <p:nvSpPr>
          <p:cNvPr id="16" name="Shape 13"/>
          <p:cNvSpPr/>
          <p:nvPr/>
        </p:nvSpPr>
        <p:spPr>
          <a:xfrm>
            <a:off x="9258244" y="2419945"/>
            <a:ext cx="3943378" cy="2671536"/>
          </a:xfrm>
          <a:prstGeom prst="rect">
            <a:avLst/>
          </a:prstGeom>
          <a:ln w="9071">
            <a:solidFill>
              <a:srgbClr val="1F1F1F">
                <a:alpha val="16000"/>
              </a:srgbClr>
            </a:solidFill>
            <a:prstDash val="solid"/>
          </a:ln>
        </p:spPr>
        <p:txBody>
          <a:bodyPr/>
          <a:lstStyle/>
          <a:p>
            <a:endParaRPr lang="en-US"/>
          </a:p>
        </p:txBody>
      </p:sp>
      <p:sp>
        <p:nvSpPr>
          <p:cNvPr id="17" name="Text 14"/>
          <p:cNvSpPr/>
          <p:nvPr/>
        </p:nvSpPr>
        <p:spPr>
          <a:xfrm>
            <a:off x="9534001" y="2676639"/>
            <a:ext cx="3731051"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2A3480"/>
                </a:solidFill>
                <a:latin typeface="Barlow Condensed" pitchFamily="34" charset="0"/>
                <a:ea typeface="Barlow Condensed" pitchFamily="34" charset="-122"/>
                <a:cs typeface="Barlow Condensed" pitchFamily="34" charset="-120"/>
              </a:rPr>
              <a:t>{{freed_3_year}}</a:t>
            </a:r>
            <a:endParaRPr lang="en-US" sz="4200" dirty="0"/>
          </a:p>
        </p:txBody>
      </p:sp>
      <p:sp>
        <p:nvSpPr>
          <p:cNvPr id="18" name="Text 15"/>
          <p:cNvSpPr/>
          <p:nvPr/>
        </p:nvSpPr>
        <p:spPr>
          <a:xfrm>
            <a:off x="9534001" y="3343318"/>
            <a:ext cx="3731051"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1D1F20"/>
                </a:solidFill>
                <a:latin typeface="Barlow" pitchFamily="34" charset="0"/>
                <a:ea typeface="Barlow" pitchFamily="34" charset="-122"/>
                <a:cs typeface="Barlow" pitchFamily="34" charset="-120"/>
              </a:rPr>
              <a:t>{{freed_3_event}}</a:t>
            </a:r>
            <a:endParaRPr lang="en-US" sz="2100" dirty="0"/>
          </a:p>
        </p:txBody>
      </p:sp>
      <p:sp>
        <p:nvSpPr>
          <p:cNvPr id="19" name="Text 16"/>
          <p:cNvSpPr/>
          <p:nvPr/>
        </p:nvSpPr>
        <p:spPr>
          <a:xfrm>
            <a:off x="9534001" y="3985192"/>
            <a:ext cx="373105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1D1F20">
                    <a:alpha val="90000"/>
                  </a:srgbClr>
                </a:solidFill>
                <a:latin typeface="Barlow" pitchFamily="34" charset="0"/>
                <a:ea typeface="Barlow" pitchFamily="34" charset="-122"/>
                <a:cs typeface="Barlow" pitchFamily="34" charset="-120"/>
              </a:rPr>
              <a:t>REDIRECTED</a:t>
            </a:r>
            <a:endParaRPr lang="en-US" sz="2100" dirty="0"/>
          </a:p>
        </p:txBody>
      </p:sp>
      <p:sp>
        <p:nvSpPr>
          <p:cNvPr id="20" name="Text 17"/>
          <p:cNvSpPr/>
          <p:nvPr/>
        </p:nvSpPr>
        <p:spPr>
          <a:xfrm>
            <a:off x="9534001" y="4396667"/>
            <a:ext cx="3731051"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{{freed_3_amount}}</a:t>
            </a:r>
            <a:endParaRPr lang="en-US" sz="3450" dirty="0"/>
          </a:p>
        </p:txBody>
      </p:sp>
      <p:sp>
        <p:nvSpPr>
          <p:cNvPr id="21" name="Shape 18"/>
          <p:cNvSpPr/>
          <p:nvPr/>
        </p:nvSpPr>
        <p:spPr>
          <a:xfrm>
            <a:off x="13430180" y="2419945"/>
            <a:ext cx="3943378" cy="2671536"/>
          </a:xfrm>
          <a:prstGeom prst="rect">
            <a:avLst/>
          </a:prstGeom>
          <a:solidFill>
            <a:srgbClr val="141A45"/>
          </a:solidFill>
          <a:ln w="9071">
            <a:solidFill>
              <a:srgbClr val="141A45"/>
            </a:solidFill>
            <a:prstDash val="solid"/>
          </a:ln>
        </p:spPr>
        <p:txBody>
          <a:bodyPr/>
          <a:lstStyle/>
          <a:p>
            <a:endParaRPr lang="en-US"/>
          </a:p>
        </p:txBody>
      </p:sp>
      <p:sp>
        <p:nvSpPr>
          <p:cNvPr id="22" name="Text 19"/>
          <p:cNvSpPr/>
          <p:nvPr/>
        </p:nvSpPr>
        <p:spPr>
          <a:xfrm>
            <a:off x="13705938" y="2676639"/>
            <a:ext cx="3731051" cy="571472"/>
          </a:xfrm>
          <a:prstGeom prst="rect">
            <a:avLst/>
          </a:prstGeom>
          <a:noFill/>
          <a:ln/>
        </p:spPr>
        <p:txBody>
          <a:bodyPr wrap="none" lIns="25400" tIns="25400" rIns="25400" bIns="25400" rtlCol="0" anchor="t">
            <a:normAutofit lnSpcReduction="10000"/>
          </a:bodyPr>
          <a:lstStyle/>
          <a:p>
            <a:pPr marL="0" indent="0" algn="l">
              <a:lnSpc>
                <a:spcPct val="82817"/>
              </a:lnSpc>
              <a:buNone/>
            </a:pPr>
            <a:r>
              <a:rPr lang="en-US" sz="4200" dirty="0">
                <a:solidFill>
                  <a:srgbClr val="94BCE3"/>
                </a:solidFill>
                <a:latin typeface="Barlow Condensed" pitchFamily="34" charset="0"/>
                <a:ea typeface="Barlow Condensed" pitchFamily="34" charset="-122"/>
                <a:cs typeface="Barlow Condensed" pitchFamily="34" charset="-120"/>
              </a:rPr>
              <a:t>{{freed_4_year}}</a:t>
            </a:r>
            <a:endParaRPr lang="en-US" sz="4200" dirty="0"/>
          </a:p>
        </p:txBody>
      </p:sp>
      <p:sp>
        <p:nvSpPr>
          <p:cNvPr id="23" name="Text 20"/>
          <p:cNvSpPr/>
          <p:nvPr/>
        </p:nvSpPr>
        <p:spPr>
          <a:xfrm>
            <a:off x="13705938" y="3343318"/>
            <a:ext cx="3731051"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F2F2F3"/>
                </a:solidFill>
                <a:latin typeface="Barlow" pitchFamily="34" charset="0"/>
                <a:ea typeface="Barlow" pitchFamily="34" charset="-122"/>
                <a:cs typeface="Barlow" pitchFamily="34" charset="-120"/>
              </a:rPr>
              <a:t>{{freed_4_event}}</a:t>
            </a:r>
            <a:endParaRPr lang="en-US" sz="2100" dirty="0"/>
          </a:p>
        </p:txBody>
      </p:sp>
      <p:sp>
        <p:nvSpPr>
          <p:cNvPr id="24" name="Text 21"/>
          <p:cNvSpPr/>
          <p:nvPr/>
        </p:nvSpPr>
        <p:spPr>
          <a:xfrm>
            <a:off x="13705938" y="3985192"/>
            <a:ext cx="373105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16" dirty="0">
                <a:solidFill>
                  <a:srgbClr val="F2F2F3">
                    <a:alpha val="90000"/>
                  </a:srgbClr>
                </a:solidFill>
                <a:latin typeface="Barlow" pitchFamily="34" charset="0"/>
                <a:ea typeface="Barlow" pitchFamily="34" charset="-122"/>
                <a:cs typeface="Barlow" pitchFamily="34" charset="-120"/>
              </a:rPr>
              <a:t>REDIRECTED</a:t>
            </a:r>
            <a:endParaRPr lang="en-US" sz="2100" dirty="0"/>
          </a:p>
        </p:txBody>
      </p:sp>
      <p:sp>
        <p:nvSpPr>
          <p:cNvPr id="25" name="Text 22"/>
          <p:cNvSpPr/>
          <p:nvPr/>
        </p:nvSpPr>
        <p:spPr>
          <a:xfrm>
            <a:off x="13705938" y="4396667"/>
            <a:ext cx="3731051"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F2F2F3"/>
                </a:solidFill>
                <a:latin typeface="Barlow Condensed" pitchFamily="34" charset="0"/>
                <a:ea typeface="Barlow Condensed" pitchFamily="34" charset="-122"/>
                <a:cs typeface="Barlow Condensed" pitchFamily="34" charset="-120"/>
              </a:rPr>
              <a:t>{{freed_4_amount}}</a:t>
            </a:r>
            <a:endParaRPr lang="en-US" sz="3450" dirty="0"/>
          </a:p>
        </p:txBody>
      </p:sp>
      <p:sp>
        <p:nvSpPr>
          <p:cNvPr id="26" name="Shape 23"/>
          <p:cNvSpPr/>
          <p:nvPr/>
        </p:nvSpPr>
        <p:spPr>
          <a:xfrm>
            <a:off x="914372" y="5396225"/>
            <a:ext cx="5467308" cy="1516346"/>
          </a:xfrm>
          <a:prstGeom prst="rect">
            <a:avLst/>
          </a:prstGeom>
          <a:solidFill>
            <a:srgbClr val="E7E7EA"/>
          </a:solidFill>
          <a:ln/>
        </p:spPr>
        <p:txBody>
          <a:bodyPr/>
          <a:lstStyle/>
          <a:p>
            <a:endParaRPr lang="en-US"/>
          </a:p>
        </p:txBody>
      </p:sp>
      <p:sp>
        <p:nvSpPr>
          <p:cNvPr id="27" name="Text 24"/>
          <p:cNvSpPr/>
          <p:nvPr/>
        </p:nvSpPr>
        <p:spPr>
          <a:xfrm>
            <a:off x="1219115" y="5662911"/>
            <a:ext cx="5343603"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1D1F20">
                    <a:alpha val="90000"/>
                  </a:srgbClr>
                </a:solidFill>
                <a:latin typeface="Barlow" pitchFamily="34" charset="0"/>
                <a:ea typeface="Barlow" pitchFamily="34" charset="-122"/>
                <a:cs typeface="Barlow" pitchFamily="34" charset="-120"/>
              </a:rPr>
              <a:t>RETIREMENT SIP TODAY</a:t>
            </a:r>
            <a:endParaRPr lang="en-US" sz="2100" dirty="0"/>
          </a:p>
        </p:txBody>
      </p:sp>
      <p:sp>
        <p:nvSpPr>
          <p:cNvPr id="28" name="Text 25"/>
          <p:cNvSpPr/>
          <p:nvPr/>
        </p:nvSpPr>
        <p:spPr>
          <a:xfrm>
            <a:off x="1219115" y="6093449"/>
            <a:ext cx="5343603" cy="590536"/>
          </a:xfrm>
          <a:prstGeom prst="rect">
            <a:avLst/>
          </a:prstGeom>
          <a:noFill/>
          <a:ln/>
        </p:spPr>
        <p:txBody>
          <a:bodyPr wrap="none" lIns="25400" tIns="25400" rIns="25400" bIns="25400" rtlCol="0" anchor="t">
            <a:normAutofit lnSpcReduction="10000"/>
          </a:bodyPr>
          <a:lstStyle/>
          <a:p>
            <a:pPr marL="0" indent="0" algn="l">
              <a:lnSpc>
                <a:spcPct val="83425"/>
              </a:lnSpc>
              <a:buNone/>
            </a:pPr>
            <a:r>
              <a:rPr lang="en-US" sz="4350" dirty="0">
                <a:solidFill>
                  <a:srgbClr val="1D1F20"/>
                </a:solidFill>
                <a:latin typeface="Barlow Condensed" pitchFamily="34" charset="0"/>
                <a:ea typeface="Barlow Condensed" pitchFamily="34" charset="-122"/>
                <a:cs typeface="Barlow Condensed" pitchFamily="34" charset="-120"/>
              </a:rPr>
              <a:t>{{retirement_sip_today}}</a:t>
            </a:r>
            <a:endParaRPr lang="en-US" sz="4350" dirty="0"/>
          </a:p>
        </p:txBody>
      </p:sp>
      <p:sp>
        <p:nvSpPr>
          <p:cNvPr id="29" name="Shape 26"/>
          <p:cNvSpPr/>
          <p:nvPr/>
        </p:nvSpPr>
        <p:spPr>
          <a:xfrm>
            <a:off x="6410240" y="5396225"/>
            <a:ext cx="5467378" cy="1516346"/>
          </a:xfrm>
          <a:prstGeom prst="rect">
            <a:avLst/>
          </a:prstGeom>
          <a:solidFill>
            <a:srgbClr val="26306F"/>
          </a:solidFill>
          <a:ln/>
        </p:spPr>
        <p:txBody>
          <a:bodyPr/>
          <a:lstStyle/>
          <a:p>
            <a:endParaRPr lang="en-US"/>
          </a:p>
        </p:txBody>
      </p:sp>
      <p:sp>
        <p:nvSpPr>
          <p:cNvPr id="30" name="Text 27"/>
          <p:cNvSpPr/>
          <p:nvPr/>
        </p:nvSpPr>
        <p:spPr>
          <a:xfrm>
            <a:off x="6714984" y="5662911"/>
            <a:ext cx="534368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RETIREMENT SIP FROM {{retirement_sip_final_year}}</a:t>
            </a:r>
            <a:endParaRPr lang="en-US" sz="2100" dirty="0"/>
          </a:p>
        </p:txBody>
      </p:sp>
      <p:sp>
        <p:nvSpPr>
          <p:cNvPr id="31" name="Text 28"/>
          <p:cNvSpPr/>
          <p:nvPr/>
        </p:nvSpPr>
        <p:spPr>
          <a:xfrm>
            <a:off x="6714984" y="6093449"/>
            <a:ext cx="5343681" cy="590536"/>
          </a:xfrm>
          <a:prstGeom prst="rect">
            <a:avLst/>
          </a:prstGeom>
          <a:noFill/>
          <a:ln/>
        </p:spPr>
        <p:txBody>
          <a:bodyPr wrap="none" lIns="25400" tIns="25400" rIns="25400" bIns="25400" rtlCol="0" anchor="t">
            <a:normAutofit lnSpcReduction="10000"/>
          </a:bodyPr>
          <a:lstStyle/>
          <a:p>
            <a:pPr marL="0" indent="0" algn="l">
              <a:lnSpc>
                <a:spcPct val="83425"/>
              </a:lnSpc>
              <a:buNone/>
            </a:pPr>
            <a:r>
              <a:rPr lang="en-US" sz="4350" dirty="0">
                <a:solidFill>
                  <a:srgbClr val="F2F2F3"/>
                </a:solidFill>
                <a:latin typeface="Barlow Condensed" pitchFamily="34" charset="0"/>
                <a:ea typeface="Barlow Condensed" pitchFamily="34" charset="-122"/>
                <a:cs typeface="Barlow Condensed" pitchFamily="34" charset="-120"/>
              </a:rPr>
              <a:t>{{retirement_sip_final}}</a:t>
            </a:r>
            <a:endParaRPr lang="en-US" sz="4350" dirty="0"/>
          </a:p>
        </p:txBody>
      </p:sp>
      <p:sp>
        <p:nvSpPr>
          <p:cNvPr id="32" name="Shape 29"/>
          <p:cNvSpPr/>
          <p:nvPr/>
        </p:nvSpPr>
        <p:spPr>
          <a:xfrm>
            <a:off x="11906180" y="5396225"/>
            <a:ext cx="5467378" cy="1516346"/>
          </a:xfrm>
          <a:prstGeom prst="rect">
            <a:avLst/>
          </a:prstGeom>
          <a:solidFill>
            <a:srgbClr val="141A45"/>
          </a:solidFill>
          <a:ln/>
        </p:spPr>
        <p:txBody>
          <a:bodyPr/>
          <a:lstStyle/>
          <a:p>
            <a:endParaRPr lang="en-US"/>
          </a:p>
        </p:txBody>
      </p:sp>
      <p:sp>
        <p:nvSpPr>
          <p:cNvPr id="33" name="Text 30"/>
          <p:cNvSpPr/>
          <p:nvPr/>
        </p:nvSpPr>
        <p:spPr>
          <a:xfrm>
            <a:off x="12210923" y="5662911"/>
            <a:ext cx="534368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NEW SAVING REQUIRED</a:t>
            </a:r>
            <a:endParaRPr lang="en-US" sz="2100" dirty="0"/>
          </a:p>
        </p:txBody>
      </p:sp>
      <p:sp>
        <p:nvSpPr>
          <p:cNvPr id="34" name="Text 31"/>
          <p:cNvSpPr/>
          <p:nvPr/>
        </p:nvSpPr>
        <p:spPr>
          <a:xfrm>
            <a:off x="12210923" y="6093449"/>
            <a:ext cx="5343681" cy="590536"/>
          </a:xfrm>
          <a:prstGeom prst="rect">
            <a:avLst/>
          </a:prstGeom>
          <a:noFill/>
          <a:ln/>
        </p:spPr>
        <p:txBody>
          <a:bodyPr wrap="square" lIns="25400" tIns="25400" rIns="25400" bIns="25400" rtlCol="0" anchor="t">
            <a:normAutofit lnSpcReduction="10000"/>
          </a:bodyPr>
          <a:lstStyle/>
          <a:p>
            <a:pPr marL="0" indent="0" algn="l">
              <a:lnSpc>
                <a:spcPct val="83425"/>
              </a:lnSpc>
              <a:buNone/>
            </a:pPr>
            <a:r>
              <a:rPr lang="en-US" sz="4350" dirty="0">
                <a:solidFill>
                  <a:srgbClr val="94BCE3"/>
                </a:solidFill>
                <a:latin typeface="Barlow Condensed" pitchFamily="34" charset="0"/>
                <a:ea typeface="Barlow Condensed" pitchFamily="34" charset="-122"/>
                <a:cs typeface="Barlow Condensed" pitchFamily="34" charset="-120"/>
              </a:rPr>
              <a:t>{{new_saving_required}}</a:t>
            </a:r>
            <a:endParaRPr lang="en-US" sz="4350" dirty="0"/>
          </a:p>
        </p:txBody>
      </p:sp>
      <p:sp>
        <p:nvSpPr>
          <p:cNvPr id="35" name="Shape 32"/>
          <p:cNvSpPr/>
          <p:nvPr/>
        </p:nvSpPr>
        <p:spPr>
          <a:xfrm>
            <a:off x="914372" y="7460754"/>
            <a:ext cx="16459187" cy="9525"/>
          </a:xfrm>
          <a:prstGeom prst="rect">
            <a:avLst/>
          </a:prstGeom>
          <a:solidFill>
            <a:srgbClr val="1D1F20">
              <a:alpha val="18000"/>
            </a:srgbClr>
          </a:solidFill>
          <a:ln/>
        </p:spPr>
        <p:txBody>
          <a:bodyPr/>
          <a:lstStyle/>
          <a:p>
            <a:endParaRPr lang="en-US"/>
          </a:p>
        </p:txBody>
      </p:sp>
      <p:sp>
        <p:nvSpPr>
          <p:cNvPr id="36" name="Text 33"/>
          <p:cNvSpPr/>
          <p:nvPr/>
        </p:nvSpPr>
        <p:spPr>
          <a:xfrm>
            <a:off x="914372" y="7698426"/>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37" name="Text 34"/>
          <p:cNvSpPr/>
          <p:nvPr/>
        </p:nvSpPr>
        <p:spPr>
          <a:xfrm>
            <a:off x="3276487" y="7660326"/>
            <a:ext cx="13244441" cy="1133688"/>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{{freed_cashflow_comment}}</a:t>
            </a:r>
            <a:endParaRPr lang="en-US" sz="2100" dirty="0"/>
          </a:p>
        </p:txBody>
      </p:sp>
      <p:sp>
        <p:nvSpPr>
          <p:cNvPr id="38" name="Text 35"/>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9" name="Text 36"/>
          <p:cNvSpPr/>
          <p:nvPr/>
        </p:nvSpPr>
        <p:spPr>
          <a:xfrm>
            <a:off x="16752662" y="9475462"/>
            <a:ext cx="697097"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2193498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Google Shape;574;p16">
            <a:extLst>
              <a:ext uri="{FF2B5EF4-FFF2-40B4-BE49-F238E27FC236}">
                <a16:creationId xmlns:a16="http://schemas.microsoft.com/office/drawing/2014/main" id="{C16AFD0E-ADC8-EB53-ECE3-4A8954E417D4}"/>
              </a:ext>
            </a:extLst>
          </p:cNvPr>
          <p:cNvSpPr/>
          <p:nvPr/>
        </p:nvSpPr>
        <p:spPr>
          <a:xfrm>
            <a:off x="8177538" y="0"/>
            <a:ext cx="10186662" cy="10287001"/>
          </a:xfrm>
          <a:prstGeom prst="rect">
            <a:avLst/>
          </a:prstGeom>
          <a:gradFill>
            <a:gsLst>
              <a:gs pos="100000">
                <a:srgbClr val="141A45"/>
              </a:gs>
              <a:gs pos="100000">
                <a:srgbClr val="141A45">
                  <a:alpha val="0"/>
                </a:srgbClr>
              </a:gs>
              <a:gs pos="100000">
                <a:srgbClr val="141A45">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pic>
        <p:nvPicPr>
          <p:cNvPr id="5" name="Google Shape;366;p11" descr="preencoded.png">
            <a:extLst>
              <a:ext uri="{FF2B5EF4-FFF2-40B4-BE49-F238E27FC236}">
                <a16:creationId xmlns:a16="http://schemas.microsoft.com/office/drawing/2014/main" id="{8D0C4FB0-FC7F-0714-6D1F-AEA6ACD3E07A}"/>
              </a:ext>
            </a:extLst>
          </p:cNvPr>
          <p:cNvPicPr preferRelativeResize="0"/>
          <p:nvPr/>
        </p:nvPicPr>
        <p:blipFill rotWithShape="1">
          <a:blip r:embed="rId2">
            <a:alphaModFix amt="90000"/>
          </a:blip>
          <a:srcRect l="23540" r="23540"/>
          <a:stretch/>
        </p:blipFill>
        <p:spPr>
          <a:xfrm>
            <a:off x="0" y="0"/>
            <a:ext cx="8177539" cy="10287001"/>
          </a:xfrm>
          <a:prstGeom prst="rect">
            <a:avLst/>
          </a:prstGeom>
          <a:noFill/>
          <a:ln>
            <a:noFill/>
          </a:ln>
        </p:spPr>
      </p:pic>
      <p:sp>
        <p:nvSpPr>
          <p:cNvPr id="7" name="Google Shape;367;p11">
            <a:extLst>
              <a:ext uri="{FF2B5EF4-FFF2-40B4-BE49-F238E27FC236}">
                <a16:creationId xmlns:a16="http://schemas.microsoft.com/office/drawing/2014/main" id="{D1752E2B-ED34-EEF1-5709-0C659DE5A8DC}"/>
              </a:ext>
            </a:extLst>
          </p:cNvPr>
          <p:cNvSpPr/>
          <p:nvPr/>
        </p:nvSpPr>
        <p:spPr>
          <a:xfrm>
            <a:off x="-1" y="0"/>
            <a:ext cx="8177539" cy="10287001"/>
          </a:xfrm>
          <a:prstGeom prst="rect">
            <a:avLst/>
          </a:prstGeom>
          <a:solidFill>
            <a:srgbClr val="141A45">
              <a:alpha val="5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68;p11">
            <a:extLst>
              <a:ext uri="{FF2B5EF4-FFF2-40B4-BE49-F238E27FC236}">
                <a16:creationId xmlns:a16="http://schemas.microsoft.com/office/drawing/2014/main" id="{887A07D9-67F5-2F28-3E5E-36338E54AA45}"/>
              </a:ext>
            </a:extLst>
          </p:cNvPr>
          <p:cNvSpPr/>
          <p:nvPr/>
        </p:nvSpPr>
        <p:spPr>
          <a:xfrm>
            <a:off x="0" y="-1333"/>
            <a:ext cx="8177539" cy="10287001"/>
          </a:xfrm>
          <a:prstGeom prst="rect">
            <a:avLst/>
          </a:prstGeom>
          <a:gradFill>
            <a:gsLst>
              <a:gs pos="0">
                <a:srgbClr val="141A45"/>
              </a:gs>
              <a:gs pos="30000">
                <a:srgbClr val="141A45">
                  <a:alpha val="0"/>
                </a:srgbClr>
              </a:gs>
              <a:gs pos="100000">
                <a:srgbClr val="141A45">
                  <a:alpha val="0"/>
                </a:srgbClr>
              </a:gs>
            </a:gsLst>
            <a:lin ang="108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574;p16">
            <a:extLst>
              <a:ext uri="{FF2B5EF4-FFF2-40B4-BE49-F238E27FC236}">
                <a16:creationId xmlns:a16="http://schemas.microsoft.com/office/drawing/2014/main" id="{812F8288-A28B-D0D7-35AF-C126E79ED598}"/>
              </a:ext>
            </a:extLst>
          </p:cNvPr>
          <p:cNvSpPr/>
          <p:nvPr/>
        </p:nvSpPr>
        <p:spPr>
          <a:xfrm flipH="1">
            <a:off x="39362" y="0"/>
            <a:ext cx="8177538" cy="10287001"/>
          </a:xfrm>
          <a:prstGeom prst="rect">
            <a:avLst/>
          </a:prstGeom>
          <a:gradFill>
            <a:gsLst>
              <a:gs pos="13000">
                <a:srgbClr val="141A45"/>
              </a:gs>
              <a:gs pos="0">
                <a:srgbClr val="141A45"/>
              </a:gs>
              <a:gs pos="60000">
                <a:srgbClr val="141A45">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3" name="Google Shape;370;p11">
            <a:extLst>
              <a:ext uri="{FF2B5EF4-FFF2-40B4-BE49-F238E27FC236}">
                <a16:creationId xmlns:a16="http://schemas.microsoft.com/office/drawing/2014/main" id="{0D418878-1F1A-1067-4783-694A332EBDD7}"/>
              </a:ext>
            </a:extLst>
          </p:cNvPr>
          <p:cNvSpPr/>
          <p:nvPr/>
        </p:nvSpPr>
        <p:spPr>
          <a:xfrm>
            <a:off x="8787097" y="3025180"/>
            <a:ext cx="8844056" cy="2106102"/>
          </a:xfrm>
          <a:prstGeom prst="rect">
            <a:avLst/>
          </a:prstGeom>
          <a:noFill/>
          <a:ln>
            <a:noFill/>
          </a:ln>
        </p:spPr>
        <p:txBody>
          <a:bodyPr spcFirstLastPara="1" wrap="square" lIns="25400" tIns="25400" rIns="25400" bIns="25400" anchor="t" anchorCtr="0">
            <a:noAutofit/>
          </a:bodyPr>
          <a:lstStyle/>
          <a:p>
            <a:pPr marL="0" marR="0" lvl="0" indent="0" algn="l" rtl="0">
              <a:lnSpc>
                <a:spcPct val="76502"/>
              </a:lnSpc>
              <a:spcBef>
                <a:spcPts val="0"/>
              </a:spcBef>
              <a:spcAft>
                <a:spcPts val="0"/>
              </a:spcAft>
              <a:buClr>
                <a:srgbClr val="F2F2F3"/>
              </a:buClr>
              <a:buSzPts val="8850"/>
              <a:buFont typeface="Barlow Condensed"/>
              <a:buNone/>
            </a:pPr>
            <a:r>
              <a:rPr lang="en-US" sz="8850" b="1" i="0" u="none" strike="noStrike" cap="none">
                <a:solidFill>
                  <a:srgbClr val="F2F2F3"/>
                </a:solidFill>
                <a:latin typeface="Barlow Condensed"/>
                <a:ea typeface="Barlow Condensed"/>
                <a:cs typeface="Barlow Condensed"/>
                <a:sym typeface="Barlow Condensed"/>
              </a:rPr>
              <a:t>Protection Plan</a:t>
            </a:r>
            <a:endParaRPr sz="8850" b="0" i="0" u="none" strike="noStrike" cap="none">
              <a:solidFill>
                <a:schemeClr val="dk1"/>
              </a:solidFill>
              <a:latin typeface="Calibri"/>
              <a:ea typeface="Calibri"/>
              <a:cs typeface="Calibri"/>
              <a:sym typeface="Calibri"/>
            </a:endParaRPr>
          </a:p>
        </p:txBody>
      </p:sp>
      <p:sp>
        <p:nvSpPr>
          <p:cNvPr id="15" name="Google Shape;371;p11">
            <a:extLst>
              <a:ext uri="{FF2B5EF4-FFF2-40B4-BE49-F238E27FC236}">
                <a16:creationId xmlns:a16="http://schemas.microsoft.com/office/drawing/2014/main" id="{1B334FC3-0E9E-9BE5-BEDF-E1614226877F}"/>
              </a:ext>
            </a:extLst>
          </p:cNvPr>
          <p:cNvSpPr/>
          <p:nvPr/>
        </p:nvSpPr>
        <p:spPr>
          <a:xfrm>
            <a:off x="8885071" y="4973438"/>
            <a:ext cx="7238930" cy="9525"/>
          </a:xfrm>
          <a:prstGeom prst="rect">
            <a:avLst/>
          </a:prstGeom>
          <a:solidFill>
            <a:srgbClr val="F2F2F3">
              <a:alpha val="2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72;p11">
            <a:extLst>
              <a:ext uri="{FF2B5EF4-FFF2-40B4-BE49-F238E27FC236}">
                <a16:creationId xmlns:a16="http://schemas.microsoft.com/office/drawing/2014/main" id="{29AE91D8-1497-FEAA-A252-6CE67ACAEA80}"/>
              </a:ext>
            </a:extLst>
          </p:cNvPr>
          <p:cNvSpPr/>
          <p:nvPr/>
        </p:nvSpPr>
        <p:spPr>
          <a:xfrm>
            <a:off x="8885071" y="5065874"/>
            <a:ext cx="8728017" cy="1446865"/>
          </a:xfrm>
          <a:prstGeom prst="rect">
            <a:avLst/>
          </a:prstGeom>
          <a:noFill/>
          <a:ln>
            <a:noFill/>
          </a:ln>
        </p:spPr>
        <p:txBody>
          <a:bodyPr spcFirstLastPara="1" wrap="square" lIns="25400" tIns="25400" rIns="25400" bIns="25400" anchor="t" anchorCtr="0">
            <a:noAutofit/>
          </a:bodyPr>
          <a:lstStyle/>
          <a:p>
            <a:pPr marL="0" marR="0" lvl="0" indent="0" algn="l" rtl="0">
              <a:lnSpc>
                <a:spcPct val="121800"/>
              </a:lnSpc>
              <a:spcBef>
                <a:spcPts val="0"/>
              </a:spcBef>
              <a:spcAft>
                <a:spcPts val="0"/>
              </a:spcAft>
              <a:buClr>
                <a:srgbClr val="F2F2F3"/>
              </a:buClr>
              <a:buSzPts val="2550"/>
              <a:buFont typeface="Barlow"/>
              <a:buNone/>
            </a:pPr>
            <a:r>
              <a:rPr lang="en-US" sz="2550" b="0" i="0" u="none" strike="noStrike" cap="none" dirty="0">
                <a:solidFill>
                  <a:srgbClr val="F2F2F3"/>
                </a:solidFill>
                <a:latin typeface="Barlow"/>
                <a:ea typeface="Barlow"/>
                <a:cs typeface="Barlow"/>
                <a:sym typeface="Barlow"/>
              </a:rPr>
              <a:t>{{protection_intro}}</a:t>
            </a:r>
            <a:r>
              <a:rPr lang="en-US" sz="2550" dirty="0">
                <a:solidFill>
                  <a:srgbClr val="F2F2F3"/>
                </a:solidFill>
                <a:latin typeface="Barlow"/>
                <a:ea typeface="Barlow"/>
                <a:cs typeface="Barlow"/>
                <a:sym typeface="Barlow"/>
              </a:rPr>
              <a:t/>
            </a:r>
            <a:r>
              <a:rPr lang="en-US" sz="2550" b="0" i="0" u="none" strike="noStrike" cap="none" dirty="0">
                <a:solidFill>
                  <a:srgbClr val="F2F2F3"/>
                </a:solidFill>
                <a:latin typeface="Barlow"/>
                <a:ea typeface="Barlow"/>
                <a:cs typeface="Barlow"/>
                <a:sym typeface="Barlow"/>
              </a:rPr>
              <a:t/>
            </a:r>
            <a:endParaRPr sz="2550" b="0" i="0" u="none" strike="noStrike" cap="none" dirty="0">
              <a:solidFill>
                <a:schemeClr val="dk1"/>
              </a:solidFill>
              <a:latin typeface="Calibri"/>
              <a:ea typeface="Calibri"/>
              <a:cs typeface="Calibri"/>
              <a:sym typeface="Calibri"/>
            </a:endParaRPr>
          </a:p>
        </p:txBody>
      </p:sp>
      <p:sp>
        <p:nvSpPr>
          <p:cNvPr id="19" name="Google Shape;373;p11">
            <a:extLst>
              <a:ext uri="{FF2B5EF4-FFF2-40B4-BE49-F238E27FC236}">
                <a16:creationId xmlns:a16="http://schemas.microsoft.com/office/drawing/2014/main" id="{51EEF845-DE38-A033-75E3-6E93B15BC3F9}"/>
              </a:ext>
            </a:extLst>
          </p:cNvPr>
          <p:cNvSpPr/>
          <p:nvPr/>
        </p:nvSpPr>
        <p:spPr>
          <a:xfrm>
            <a:off x="8852415" y="6410677"/>
            <a:ext cx="3162896"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dirty="0">
                <a:solidFill>
                  <a:srgbClr val="F2F2F3"/>
                </a:solidFill>
                <a:latin typeface="Barlow"/>
                <a:ea typeface="Barlow"/>
                <a:cs typeface="Barlow"/>
                <a:sym typeface="Barlow"/>
              </a:rPr>
              <a:t>COVER RECOMMENDED</a:t>
            </a:r>
            <a:endParaRPr sz="1800" b="0" i="0" u="none" strike="noStrike" cap="none" dirty="0">
              <a:solidFill>
                <a:schemeClr val="dk1"/>
              </a:solidFill>
              <a:latin typeface="Calibri"/>
              <a:ea typeface="Calibri"/>
              <a:cs typeface="Calibri"/>
              <a:sym typeface="Calibri"/>
            </a:endParaRPr>
          </a:p>
        </p:txBody>
      </p:sp>
      <p:sp>
        <p:nvSpPr>
          <p:cNvPr id="21" name="Google Shape;374;p11">
            <a:extLst>
              <a:ext uri="{FF2B5EF4-FFF2-40B4-BE49-F238E27FC236}">
                <a16:creationId xmlns:a16="http://schemas.microsoft.com/office/drawing/2014/main" id="{4155A82C-80FB-2052-F662-71CB8BE8E7AD}"/>
              </a:ext>
            </a:extLst>
          </p:cNvPr>
          <p:cNvSpPr/>
          <p:nvPr/>
        </p:nvSpPr>
        <p:spPr>
          <a:xfrm>
            <a:off x="11669740" y="6359749"/>
            <a:ext cx="3162896" cy="571472"/>
          </a:xfrm>
          <a:prstGeom prst="rect">
            <a:avLst/>
          </a:prstGeom>
          <a:noFill/>
          <a:ln>
            <a:noFill/>
          </a:ln>
        </p:spPr>
        <p:txBody>
          <a:bodyPr spcFirstLastPara="1" wrap="non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dirty="0">
                <a:solidFill>
                  <a:srgbClr val="94BCE3"/>
                </a:solidFill>
                <a:latin typeface="Barlow Condensed"/>
                <a:ea typeface="Barlow Condensed"/>
                <a:cs typeface="Barlow Condensed"/>
                <a:sym typeface="Barlow Condensed"/>
              </a:rPr>
              <a:t>{{cover_recommended}}</a:t>
            </a:r>
            <a:endParaRPr sz="4200" b="0" i="0" u="none" strike="noStrike" cap="none" dirty="0">
              <a:solidFill>
                <a:schemeClr val="dk1"/>
              </a:solidFill>
              <a:latin typeface="Calibri"/>
              <a:ea typeface="Calibri"/>
              <a:cs typeface="Calibri"/>
              <a:sym typeface="Calibri"/>
            </a:endParaRPr>
          </a:p>
        </p:txBody>
      </p:sp>
      <p:sp>
        <p:nvSpPr>
          <p:cNvPr id="27" name="Google Shape;377;p11">
            <a:extLst>
              <a:ext uri="{FF2B5EF4-FFF2-40B4-BE49-F238E27FC236}">
                <a16:creationId xmlns:a16="http://schemas.microsoft.com/office/drawing/2014/main" id="{A89BE6BD-9548-8552-F375-22A2EDB559E6}"/>
              </a:ext>
            </a:extLst>
          </p:cNvPr>
          <p:cNvSpPr/>
          <p:nvPr/>
        </p:nvSpPr>
        <p:spPr>
          <a:xfrm>
            <a:off x="8787097" y="9323090"/>
            <a:ext cx="944510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ARMSTRONG CAPITAL · GOAL BASED PLANNING</a:t>
            </a:r>
            <a:endParaRPr sz="1800" b="0" i="0" u="none" strike="noStrike" cap="none">
              <a:solidFill>
                <a:schemeClr val="dk1"/>
              </a:solidFill>
              <a:latin typeface="Calibri"/>
              <a:ea typeface="Calibri"/>
              <a:cs typeface="Calibri"/>
              <a:sym typeface="Calibri"/>
            </a:endParaRPr>
          </a:p>
        </p:txBody>
      </p:sp>
      <p:sp>
        <p:nvSpPr>
          <p:cNvPr id="107" name="Text 107"/>
          <p:cNvSpPr txBox="1"/>
          <p:nvPr/>
        </p:nvSpPr>
        <p:spPr>
          <a:xfrm>
            <a:off x="9840685" y="7950198"/>
            <a:ext cx="4191000" cy="635000"/>
          </a:xfrm>
          <a:prstGeom prst="rect">
            <a:avLst/>
          </a:prstGeom>
          <a:noFill/>
        </p:spPr>
        <p:txBody>
          <a:bodyPr wrap="none" lIns="0" tIns="0" rIns="0" bIns="0" anchor="t">
            <a:normAutofit/>
          </a:bodyPr>
          <a:lstStyle/>
          <a:p>
            <a:pPr marL="0" indent="0" algn="l">
              <a:buNone/>
            </a:pPr>
            <a:r>
              <a:rPr lang="en-US" sz="3800" b="1" kern="0" spc="-40" dirty="0">
                <a:solidFill>
                  <a:srgbClr val="FFFFFF"/>
                </a:solidFill>
                <a:latin typeface="Barlow Condensed"/>
                <a:cs typeface="Barlow Condensed"/>
              </a:rPr>
              <a:t>{{life_cover_current}}</a:t>
            </a:r>
          </a:p>
        </p:txBody>
      </p:sp>
      <p:sp>
        <p:nvSpPr>
          <p:cNvPr id="108" name="Text 108"/>
          <p:cNvSpPr txBox="1"/>
          <p:nvPr/>
        </p:nvSpPr>
        <p:spPr>
          <a:xfrm>
            <a:off x="9840685" y="8661398"/>
            <a:ext cx="4191000" cy="406400"/>
          </a:xfrm>
          <a:prstGeom prst="rect">
            <a:avLst/>
          </a:prstGeom>
          <a:noFill/>
        </p:spPr>
        <p:txBody>
          <a:bodyPr wrap="square" lIns="0" tIns="0" rIns="0" bIns="0" anchor="t">
            <a:normAutofit/>
          </a:bodyPr>
          <a:lstStyle/>
          <a:p>
            <a:pPr marL="0" indent="0" algn="l">
              <a:buNone/>
            </a:pPr>
            <a:r>
              <a:rPr lang="en-US" sz="1800" b="0" kern="0" dirty="0">
                <a:solidFill>
                  <a:srgbClr val="B9C0DF"/>
                </a:solidFill>
                <a:latin typeface="Barlow"/>
                <a:cs typeface="Barlow"/>
              </a:rPr>
              <a:t>life cover on the earning member</a:t>
            </a:r>
          </a:p>
        </p:txBody>
      </p:sp>
      <p:sp>
        <p:nvSpPr>
          <p:cNvPr id="111" name="Text 111"/>
          <p:cNvSpPr txBox="1"/>
          <p:nvPr/>
        </p:nvSpPr>
        <p:spPr>
          <a:xfrm>
            <a:off x="13592631" y="7950198"/>
            <a:ext cx="2561771" cy="635000"/>
          </a:xfrm>
          <a:prstGeom prst="rect">
            <a:avLst/>
          </a:prstGeom>
          <a:noFill/>
        </p:spPr>
        <p:txBody>
          <a:bodyPr wrap="none" lIns="0" tIns="0" rIns="0" bIns="0" anchor="t">
            <a:normAutofit/>
          </a:bodyPr>
          <a:lstStyle/>
          <a:p>
            <a:pPr marL="0" indent="0" algn="r">
              <a:buNone/>
            </a:pPr>
            <a:r>
              <a:rPr lang="en-US" sz="3800" b="1" kern="0" spc="-40" dirty="0">
                <a:solidFill>
                  <a:srgbClr val="FFFFFF"/>
                </a:solidFill>
                <a:latin typeface="Barlow Condensed"/>
                <a:cs typeface="Barlow Condensed"/>
              </a:rPr>
              <a:t>{{annual_premium_total}}</a:t>
            </a:r>
          </a:p>
        </p:txBody>
      </p:sp>
      <p:sp>
        <p:nvSpPr>
          <p:cNvPr id="112" name="Text 112"/>
          <p:cNvSpPr txBox="1"/>
          <p:nvPr/>
        </p:nvSpPr>
        <p:spPr>
          <a:xfrm>
            <a:off x="14964231" y="8661398"/>
            <a:ext cx="4191000" cy="406400"/>
          </a:xfrm>
          <a:prstGeom prst="rect">
            <a:avLst/>
          </a:prstGeom>
          <a:noFill/>
        </p:spPr>
        <p:txBody>
          <a:bodyPr wrap="square" lIns="0" tIns="0" rIns="0" bIns="0" anchor="t">
            <a:normAutofit/>
          </a:bodyPr>
          <a:lstStyle/>
          <a:p>
            <a:pPr marL="0" indent="0" algn="l">
              <a:buNone/>
            </a:pPr>
            <a:r>
              <a:rPr lang="en-US" sz="1800" b="0" kern="0" dirty="0">
                <a:solidFill>
                  <a:srgbClr val="B9C0DF"/>
                </a:solidFill>
                <a:latin typeface="Barlow"/>
                <a:cs typeface="Barlow"/>
              </a:rPr>
              <a:t>paid in premiums every year</a:t>
            </a:r>
          </a:p>
        </p:txBody>
      </p:sp>
      <p:sp>
        <p:nvSpPr>
          <p:cNvPr id="113" name="Text 113"/>
          <p:cNvSpPr txBox="1"/>
          <p:nvPr/>
        </p:nvSpPr>
        <p:spPr>
          <a:xfrm>
            <a:off x="14478000" y="9474200"/>
            <a:ext cx="2895600" cy="393700"/>
          </a:xfrm>
          <a:prstGeom prst="rect">
            <a:avLst/>
          </a:prstGeom>
          <a:noFill/>
        </p:spPr>
        <p:txBody>
          <a:bodyPr wrap="none" lIns="0" tIns="0" rIns="0" bIns="0" anchor="t">
            <a:normAutofit/>
          </a:bodyPr>
          <a:lstStyle/>
          <a:p>
            <a:pPr marL="0" indent="0" algn="r">
              <a:buNone/>
            </a:pPr>
            <a:r>
              <a:rPr lang="en-US" sz="1600" b="0" kern="0" dirty="0">
                <a:solidFill>
                  <a:srgbClr val="B9C0DF"/>
                </a:solidFill>
                <a:latin typeface="Barlow"/>
                <a:cs typeface="Barlow"/>
              </a:rPr>
              <a:t>{{page_no}} / {{page_total}}</a:t>
            </a:r>
          </a:p>
        </p:txBody>
      </p:sp>
    </p:spTree>
    <p:extLst>
      <p:ext uri="{BB962C8B-B14F-4D97-AF65-F5344CB8AC3E}">
        <p14:creationId xmlns:p14="http://schemas.microsoft.com/office/powerpoint/2010/main" val="1594901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5139900"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PROTECTION</a:t>
            </a:r>
            <a:endParaRPr lang="en-US" sz="2100" b="1" dirty="0">
              <a:solidFill>
                <a:srgbClr val="2A3480"/>
              </a:solidFill>
              <a:latin typeface="Barlow"/>
            </a:endParaRPr>
          </a:p>
        </p:txBody>
      </p:sp>
      <p:sp>
        <p:nvSpPr>
          <p:cNvPr id="3" name="Text 1"/>
          <p:cNvSpPr/>
          <p:nvPr/>
        </p:nvSpPr>
        <p:spPr>
          <a:xfrm>
            <a:off x="914372" y="1088501"/>
            <a:ext cx="5139900"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Insurance Policies</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3238358"/>
            <a:ext cx="1958082" cy="9525"/>
          </a:xfrm>
          <a:prstGeom prst="rect">
            <a:avLst/>
          </a:prstGeom>
          <a:solidFill>
            <a:srgbClr val="1F1F1F">
              <a:alpha val="16000"/>
            </a:srgbClr>
          </a:solidFill>
          <a:ln/>
        </p:spPr>
        <p:txBody>
          <a:bodyPr/>
          <a:lstStyle/>
          <a:p>
            <a:endParaRPr lang="en-US"/>
          </a:p>
        </p:txBody>
      </p:sp>
      <p:sp>
        <p:nvSpPr>
          <p:cNvPr id="7" name="Text 4"/>
          <p:cNvSpPr/>
          <p:nvPr/>
        </p:nvSpPr>
        <p:spPr>
          <a:xfrm>
            <a:off x="914372" y="2419945"/>
            <a:ext cx="2034282" cy="742213"/>
          </a:xfrm>
          <a:prstGeom prst="rect">
            <a:avLst/>
          </a:prstGeom>
          <a:noFill/>
          <a:ln/>
        </p:spPr>
        <p:txBody>
          <a:bodyPr wrap="square" lIns="25400" tIns="25400" rIns="25400" bIns="25400" rtlCol="0" anchor="ctr">
            <a:normAutofit/>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POLICY NAME</a:t>
            </a:r>
            <a:endParaRPr lang="en-US" sz="2100" dirty="0"/>
          </a:p>
        </p:txBody>
      </p:sp>
      <p:sp>
        <p:nvSpPr>
          <p:cNvPr id="8" name="Shape 5"/>
          <p:cNvSpPr/>
          <p:nvPr/>
        </p:nvSpPr>
        <p:spPr>
          <a:xfrm>
            <a:off x="2872454" y="3238358"/>
            <a:ext cx="1155119" cy="9525"/>
          </a:xfrm>
          <a:prstGeom prst="rect">
            <a:avLst/>
          </a:prstGeom>
          <a:solidFill>
            <a:srgbClr val="1F1F1F">
              <a:alpha val="16000"/>
            </a:srgbClr>
          </a:solidFill>
          <a:ln/>
        </p:spPr>
        <p:txBody>
          <a:bodyPr/>
          <a:lstStyle/>
          <a:p>
            <a:endParaRPr lang="en-US"/>
          </a:p>
        </p:txBody>
      </p:sp>
      <p:sp>
        <p:nvSpPr>
          <p:cNvPr id="9" name="Text 6"/>
          <p:cNvSpPr/>
          <p:nvPr/>
        </p:nvSpPr>
        <p:spPr>
          <a:xfrm>
            <a:off x="2872454" y="2419945"/>
            <a:ext cx="1231319" cy="742213"/>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START DATE</a:t>
            </a:r>
            <a:endParaRPr lang="en-US" sz="2100" dirty="0"/>
          </a:p>
        </p:txBody>
      </p:sp>
      <p:sp>
        <p:nvSpPr>
          <p:cNvPr id="10" name="Shape 7"/>
          <p:cNvSpPr/>
          <p:nvPr/>
        </p:nvSpPr>
        <p:spPr>
          <a:xfrm>
            <a:off x="4027573" y="3238358"/>
            <a:ext cx="1580130" cy="9525"/>
          </a:xfrm>
          <a:prstGeom prst="rect">
            <a:avLst/>
          </a:prstGeom>
          <a:solidFill>
            <a:srgbClr val="1F1F1F">
              <a:alpha val="16000"/>
            </a:srgbClr>
          </a:solidFill>
          <a:ln/>
        </p:spPr>
        <p:txBody>
          <a:bodyPr/>
          <a:lstStyle/>
          <a:p>
            <a:endParaRPr lang="en-US"/>
          </a:p>
        </p:txBody>
      </p:sp>
      <p:sp>
        <p:nvSpPr>
          <p:cNvPr id="11" name="Text 8"/>
          <p:cNvSpPr/>
          <p:nvPr/>
        </p:nvSpPr>
        <p:spPr>
          <a:xfrm>
            <a:off x="4027573" y="2419945"/>
            <a:ext cx="1656330" cy="742213"/>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PREMIUM / YEAR</a:t>
            </a:r>
            <a:endParaRPr lang="en-US" sz="2100" dirty="0"/>
          </a:p>
        </p:txBody>
      </p:sp>
      <p:sp>
        <p:nvSpPr>
          <p:cNvPr id="12" name="Shape 9"/>
          <p:cNvSpPr/>
          <p:nvPr/>
        </p:nvSpPr>
        <p:spPr>
          <a:xfrm>
            <a:off x="5607702" y="3238358"/>
            <a:ext cx="1932711" cy="9525"/>
          </a:xfrm>
          <a:prstGeom prst="rect">
            <a:avLst/>
          </a:prstGeom>
          <a:solidFill>
            <a:srgbClr val="1F1F1F">
              <a:alpha val="16000"/>
            </a:srgbClr>
          </a:solidFill>
          <a:ln/>
        </p:spPr>
        <p:txBody>
          <a:bodyPr/>
          <a:lstStyle/>
          <a:p>
            <a:endParaRPr lang="en-US"/>
          </a:p>
        </p:txBody>
      </p:sp>
      <p:sp>
        <p:nvSpPr>
          <p:cNvPr id="13" name="Text 10"/>
          <p:cNvSpPr/>
          <p:nvPr/>
        </p:nvSpPr>
        <p:spPr>
          <a:xfrm>
            <a:off x="5607702" y="2419945"/>
            <a:ext cx="2008911" cy="742213"/>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MATURITY DETAILS</a:t>
            </a:r>
            <a:endParaRPr lang="en-US" sz="2100" dirty="0"/>
          </a:p>
        </p:txBody>
      </p:sp>
      <p:sp>
        <p:nvSpPr>
          <p:cNvPr id="14" name="Shape 11"/>
          <p:cNvSpPr/>
          <p:nvPr/>
        </p:nvSpPr>
        <p:spPr>
          <a:xfrm>
            <a:off x="7540413" y="3238358"/>
            <a:ext cx="1551002" cy="9525"/>
          </a:xfrm>
          <a:prstGeom prst="rect">
            <a:avLst/>
          </a:prstGeom>
          <a:solidFill>
            <a:srgbClr val="1F1F1F">
              <a:alpha val="16000"/>
            </a:srgbClr>
          </a:solidFill>
          <a:ln/>
        </p:spPr>
        <p:txBody>
          <a:bodyPr/>
          <a:lstStyle/>
          <a:p>
            <a:endParaRPr lang="en-US"/>
          </a:p>
        </p:txBody>
      </p:sp>
      <p:sp>
        <p:nvSpPr>
          <p:cNvPr id="15" name="Text 12"/>
          <p:cNvSpPr/>
          <p:nvPr/>
        </p:nvSpPr>
        <p:spPr>
          <a:xfrm>
            <a:off x="7540413" y="2419945"/>
            <a:ext cx="1627202" cy="742213"/>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ANNUAL PAYOUT</a:t>
            </a:r>
            <a:endParaRPr lang="en-US" sz="2100" dirty="0"/>
          </a:p>
        </p:txBody>
      </p:sp>
      <p:sp>
        <p:nvSpPr>
          <p:cNvPr id="16" name="Shape 13"/>
          <p:cNvSpPr/>
          <p:nvPr/>
        </p:nvSpPr>
        <p:spPr>
          <a:xfrm>
            <a:off x="9091415" y="3238358"/>
            <a:ext cx="3748343" cy="9525"/>
          </a:xfrm>
          <a:prstGeom prst="rect">
            <a:avLst/>
          </a:prstGeom>
          <a:solidFill>
            <a:srgbClr val="1F1F1F">
              <a:alpha val="16000"/>
            </a:srgbClr>
          </a:solidFill>
          <a:ln/>
        </p:spPr>
        <p:txBody>
          <a:bodyPr/>
          <a:lstStyle/>
          <a:p>
            <a:endParaRPr lang="en-US"/>
          </a:p>
        </p:txBody>
      </p:sp>
      <p:sp>
        <p:nvSpPr>
          <p:cNvPr id="17" name="Text 14"/>
          <p:cNvSpPr/>
          <p:nvPr/>
        </p:nvSpPr>
        <p:spPr>
          <a:xfrm>
            <a:off x="9091415" y="2419945"/>
            <a:ext cx="3860793" cy="742213"/>
          </a:xfrm>
          <a:prstGeom prst="rect">
            <a:avLst/>
          </a:prstGeom>
          <a:noFill/>
          <a:ln/>
        </p:spPr>
        <p:txBody>
          <a:bodyPr wrap="square" lIns="25400" tIns="25400" rIns="25400" bIns="25400" rtlCol="0" anchor="ctr">
            <a:normAutofit/>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REMARKS</a:t>
            </a:r>
            <a:endParaRPr lang="en-US" sz="2100" dirty="0"/>
          </a:p>
        </p:txBody>
      </p:sp>
      <p:sp>
        <p:nvSpPr>
          <p:cNvPr id="18" name="Shape 15"/>
          <p:cNvSpPr/>
          <p:nvPr/>
        </p:nvSpPr>
        <p:spPr>
          <a:xfrm>
            <a:off x="914372" y="4300566"/>
            <a:ext cx="1958082" cy="9525"/>
          </a:xfrm>
          <a:prstGeom prst="rect">
            <a:avLst/>
          </a:prstGeom>
          <a:solidFill>
            <a:srgbClr val="1A1A26">
              <a:alpha val="8000"/>
            </a:srgbClr>
          </a:solidFill>
          <a:ln/>
        </p:spPr>
        <p:txBody>
          <a:bodyPr/>
          <a:lstStyle/>
          <a:p>
            <a:endParaRPr lang="en-US"/>
          </a:p>
        </p:txBody>
      </p:sp>
      <p:sp>
        <p:nvSpPr>
          <p:cNvPr id="19" name="Text 16"/>
          <p:cNvSpPr/>
          <p:nvPr/>
        </p:nvSpPr>
        <p:spPr>
          <a:xfrm>
            <a:off x="914372" y="3390305"/>
            <a:ext cx="1919982"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{{policy_1_name}}</a:t>
            </a:r>
            <a:endParaRPr lang="en-US" sz="2100" dirty="0"/>
          </a:p>
        </p:txBody>
      </p:sp>
      <p:sp>
        <p:nvSpPr>
          <p:cNvPr id="20" name="Shape 17"/>
          <p:cNvSpPr/>
          <p:nvPr/>
        </p:nvSpPr>
        <p:spPr>
          <a:xfrm>
            <a:off x="2872454" y="4300566"/>
            <a:ext cx="1155119" cy="9525"/>
          </a:xfrm>
          <a:prstGeom prst="rect">
            <a:avLst/>
          </a:prstGeom>
          <a:solidFill>
            <a:srgbClr val="1A1A26">
              <a:alpha val="8000"/>
            </a:srgbClr>
          </a:solidFill>
          <a:ln/>
        </p:spPr>
        <p:txBody>
          <a:bodyPr/>
          <a:lstStyle/>
          <a:p>
            <a:endParaRPr lang="en-US"/>
          </a:p>
        </p:txBody>
      </p:sp>
      <p:sp>
        <p:nvSpPr>
          <p:cNvPr id="21" name="Text 18"/>
          <p:cNvSpPr/>
          <p:nvPr/>
        </p:nvSpPr>
        <p:spPr>
          <a:xfrm>
            <a:off x="2872454" y="3390305"/>
            <a:ext cx="1117019" cy="805486"/>
          </a:xfrm>
          <a:prstGeom prst="rect">
            <a:avLst/>
          </a:prstGeom>
          <a:noFill/>
          <a:ln/>
        </p:spPr>
        <p:txBody>
          <a:bodyPr wrap="non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{{policy_1_start}}</a:t>
            </a:r>
            <a:endParaRPr lang="en-US" sz="2100" dirty="0"/>
          </a:p>
        </p:txBody>
      </p:sp>
      <p:sp>
        <p:nvSpPr>
          <p:cNvPr id="22" name="Shape 19"/>
          <p:cNvSpPr/>
          <p:nvPr/>
        </p:nvSpPr>
        <p:spPr>
          <a:xfrm>
            <a:off x="4027573" y="4300566"/>
            <a:ext cx="1580130" cy="9525"/>
          </a:xfrm>
          <a:prstGeom prst="rect">
            <a:avLst/>
          </a:prstGeom>
          <a:solidFill>
            <a:srgbClr val="1A1A26">
              <a:alpha val="8000"/>
            </a:srgbClr>
          </a:solidFill>
          <a:ln/>
        </p:spPr>
        <p:txBody>
          <a:bodyPr/>
          <a:lstStyle/>
          <a:p>
            <a:endParaRPr lang="en-US"/>
          </a:p>
        </p:txBody>
      </p:sp>
      <p:sp>
        <p:nvSpPr>
          <p:cNvPr id="23" name="Text 20"/>
          <p:cNvSpPr/>
          <p:nvPr/>
        </p:nvSpPr>
        <p:spPr>
          <a:xfrm>
            <a:off x="4027573" y="3390305"/>
            <a:ext cx="1542030" cy="805486"/>
          </a:xfrm>
          <a:prstGeom prst="rect">
            <a:avLst/>
          </a:prstGeom>
          <a:noFill/>
          <a:ln/>
        </p:spPr>
        <p:txBody>
          <a:bodyPr wrap="non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{{policy_1_premium}}</a:t>
            </a:r>
            <a:endParaRPr lang="en-US" sz="2100" dirty="0"/>
          </a:p>
        </p:txBody>
      </p:sp>
      <p:sp>
        <p:nvSpPr>
          <p:cNvPr id="24" name="Shape 21"/>
          <p:cNvSpPr/>
          <p:nvPr/>
        </p:nvSpPr>
        <p:spPr>
          <a:xfrm>
            <a:off x="5607702" y="4300566"/>
            <a:ext cx="1932711" cy="9525"/>
          </a:xfrm>
          <a:prstGeom prst="rect">
            <a:avLst/>
          </a:prstGeom>
          <a:solidFill>
            <a:srgbClr val="1A1A26">
              <a:alpha val="8000"/>
            </a:srgbClr>
          </a:solidFill>
          <a:ln/>
        </p:spPr>
        <p:txBody>
          <a:bodyPr/>
          <a:lstStyle/>
          <a:p>
            <a:endParaRPr lang="en-US"/>
          </a:p>
        </p:txBody>
      </p:sp>
      <p:sp>
        <p:nvSpPr>
          <p:cNvPr id="25" name="Text 22"/>
          <p:cNvSpPr/>
          <p:nvPr/>
        </p:nvSpPr>
        <p:spPr>
          <a:xfrm>
            <a:off x="5607702" y="3390305"/>
            <a:ext cx="1894611"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{{policy_1_maturity}}</a:t>
            </a:r>
            <a:endParaRPr lang="en-US" sz="2100" dirty="0"/>
          </a:p>
        </p:txBody>
      </p:sp>
      <p:sp>
        <p:nvSpPr>
          <p:cNvPr id="26" name="Shape 23"/>
          <p:cNvSpPr/>
          <p:nvPr/>
        </p:nvSpPr>
        <p:spPr>
          <a:xfrm>
            <a:off x="7540413" y="4300566"/>
            <a:ext cx="1551002" cy="9525"/>
          </a:xfrm>
          <a:prstGeom prst="rect">
            <a:avLst/>
          </a:prstGeom>
          <a:solidFill>
            <a:srgbClr val="1A1A26">
              <a:alpha val="8000"/>
            </a:srgbClr>
          </a:solidFill>
          <a:ln/>
        </p:spPr>
        <p:txBody>
          <a:bodyPr/>
          <a:lstStyle/>
          <a:p>
            <a:endParaRPr lang="en-US"/>
          </a:p>
        </p:txBody>
      </p:sp>
      <p:sp>
        <p:nvSpPr>
          <p:cNvPr id="27" name="Text 24"/>
          <p:cNvSpPr/>
          <p:nvPr/>
        </p:nvSpPr>
        <p:spPr>
          <a:xfrm>
            <a:off x="7540413" y="3390305"/>
            <a:ext cx="1512902"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{{policy_1_payout}}</a:t>
            </a:r>
            <a:endParaRPr lang="en-US" sz="2100" dirty="0"/>
          </a:p>
        </p:txBody>
      </p:sp>
      <p:sp>
        <p:nvSpPr>
          <p:cNvPr id="28" name="Shape 25"/>
          <p:cNvSpPr/>
          <p:nvPr/>
        </p:nvSpPr>
        <p:spPr>
          <a:xfrm>
            <a:off x="9091415" y="4300566"/>
            <a:ext cx="3748343" cy="9525"/>
          </a:xfrm>
          <a:prstGeom prst="rect">
            <a:avLst/>
          </a:prstGeom>
          <a:solidFill>
            <a:srgbClr val="1A1A26">
              <a:alpha val="8000"/>
            </a:srgbClr>
          </a:solidFill>
          <a:ln/>
        </p:spPr>
        <p:txBody>
          <a:bodyPr/>
          <a:lstStyle/>
          <a:p>
            <a:endParaRPr lang="en-US"/>
          </a:p>
        </p:txBody>
      </p:sp>
      <p:sp>
        <p:nvSpPr>
          <p:cNvPr id="29" name="Text 26"/>
          <p:cNvSpPr/>
          <p:nvPr/>
        </p:nvSpPr>
        <p:spPr>
          <a:xfrm>
            <a:off x="9091415" y="3390305"/>
            <a:ext cx="3860793"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{{policy_1_remarks}}</a:t>
            </a:r>
            <a:endParaRPr lang="en-US" sz="2100" dirty="0"/>
          </a:p>
        </p:txBody>
      </p:sp>
      <p:sp>
        <p:nvSpPr>
          <p:cNvPr id="30" name="Shape 27"/>
          <p:cNvSpPr/>
          <p:nvPr/>
        </p:nvSpPr>
        <p:spPr>
          <a:xfrm>
            <a:off x="914372" y="5362774"/>
            <a:ext cx="1958082" cy="9525"/>
          </a:xfrm>
          <a:prstGeom prst="rect">
            <a:avLst/>
          </a:prstGeom>
          <a:solidFill>
            <a:srgbClr val="1A1A26">
              <a:alpha val="8000"/>
            </a:srgbClr>
          </a:solidFill>
          <a:ln/>
        </p:spPr>
        <p:txBody>
          <a:bodyPr/>
          <a:lstStyle/>
          <a:p>
            <a:endParaRPr lang="en-US"/>
          </a:p>
        </p:txBody>
      </p:sp>
      <p:sp>
        <p:nvSpPr>
          <p:cNvPr id="31" name="Text 28"/>
          <p:cNvSpPr/>
          <p:nvPr/>
        </p:nvSpPr>
        <p:spPr>
          <a:xfrm>
            <a:off x="914372" y="4452513"/>
            <a:ext cx="1919982"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{{policy_2_name}}</a:t>
            </a:r>
            <a:endParaRPr lang="en-US" sz="2100" dirty="0"/>
          </a:p>
        </p:txBody>
      </p:sp>
      <p:sp>
        <p:nvSpPr>
          <p:cNvPr id="32" name="Shape 29"/>
          <p:cNvSpPr/>
          <p:nvPr/>
        </p:nvSpPr>
        <p:spPr>
          <a:xfrm>
            <a:off x="2872454" y="5362774"/>
            <a:ext cx="1155119" cy="9525"/>
          </a:xfrm>
          <a:prstGeom prst="rect">
            <a:avLst/>
          </a:prstGeom>
          <a:solidFill>
            <a:srgbClr val="1A1A26">
              <a:alpha val="8000"/>
            </a:srgbClr>
          </a:solidFill>
          <a:ln/>
        </p:spPr>
        <p:txBody>
          <a:bodyPr/>
          <a:lstStyle/>
          <a:p>
            <a:endParaRPr lang="en-US"/>
          </a:p>
        </p:txBody>
      </p:sp>
      <p:sp>
        <p:nvSpPr>
          <p:cNvPr id="33" name="Text 30"/>
          <p:cNvSpPr/>
          <p:nvPr/>
        </p:nvSpPr>
        <p:spPr>
          <a:xfrm>
            <a:off x="2872454" y="4452513"/>
            <a:ext cx="1117019" cy="805486"/>
          </a:xfrm>
          <a:prstGeom prst="rect">
            <a:avLst/>
          </a:prstGeom>
          <a:noFill/>
          <a:ln/>
        </p:spPr>
        <p:txBody>
          <a:bodyPr wrap="non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{{policy_2_start}}</a:t>
            </a:r>
            <a:endParaRPr lang="en-US" sz="2100" dirty="0"/>
          </a:p>
        </p:txBody>
      </p:sp>
      <p:sp>
        <p:nvSpPr>
          <p:cNvPr id="34" name="Shape 31"/>
          <p:cNvSpPr/>
          <p:nvPr/>
        </p:nvSpPr>
        <p:spPr>
          <a:xfrm>
            <a:off x="4027573" y="5362774"/>
            <a:ext cx="1580130" cy="9525"/>
          </a:xfrm>
          <a:prstGeom prst="rect">
            <a:avLst/>
          </a:prstGeom>
          <a:solidFill>
            <a:srgbClr val="1A1A26">
              <a:alpha val="8000"/>
            </a:srgbClr>
          </a:solidFill>
          <a:ln/>
        </p:spPr>
        <p:txBody>
          <a:bodyPr/>
          <a:lstStyle/>
          <a:p>
            <a:endParaRPr lang="en-US"/>
          </a:p>
        </p:txBody>
      </p:sp>
      <p:sp>
        <p:nvSpPr>
          <p:cNvPr id="35" name="Text 32"/>
          <p:cNvSpPr/>
          <p:nvPr/>
        </p:nvSpPr>
        <p:spPr>
          <a:xfrm>
            <a:off x="4027573" y="4452513"/>
            <a:ext cx="1542030" cy="805486"/>
          </a:xfrm>
          <a:prstGeom prst="rect">
            <a:avLst/>
          </a:prstGeom>
          <a:noFill/>
          <a:ln/>
        </p:spPr>
        <p:txBody>
          <a:bodyPr wrap="non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{{policy_2_premium}}</a:t>
            </a:r>
            <a:endParaRPr lang="en-US" sz="2100" dirty="0"/>
          </a:p>
        </p:txBody>
      </p:sp>
      <p:sp>
        <p:nvSpPr>
          <p:cNvPr id="36" name="Shape 33"/>
          <p:cNvSpPr/>
          <p:nvPr/>
        </p:nvSpPr>
        <p:spPr>
          <a:xfrm>
            <a:off x="5607702" y="5362774"/>
            <a:ext cx="1932711" cy="9525"/>
          </a:xfrm>
          <a:prstGeom prst="rect">
            <a:avLst/>
          </a:prstGeom>
          <a:solidFill>
            <a:srgbClr val="1A1A26">
              <a:alpha val="8000"/>
            </a:srgbClr>
          </a:solidFill>
          <a:ln/>
        </p:spPr>
        <p:txBody>
          <a:bodyPr/>
          <a:lstStyle/>
          <a:p>
            <a:endParaRPr lang="en-US"/>
          </a:p>
        </p:txBody>
      </p:sp>
      <p:sp>
        <p:nvSpPr>
          <p:cNvPr id="37" name="Text 34"/>
          <p:cNvSpPr/>
          <p:nvPr/>
        </p:nvSpPr>
        <p:spPr>
          <a:xfrm>
            <a:off x="5607702" y="4452513"/>
            <a:ext cx="1894611"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{{policy_2_maturity}}</a:t>
            </a:r>
            <a:endParaRPr lang="en-US" sz="2100" dirty="0"/>
          </a:p>
        </p:txBody>
      </p:sp>
      <p:sp>
        <p:nvSpPr>
          <p:cNvPr id="38" name="Shape 35"/>
          <p:cNvSpPr/>
          <p:nvPr/>
        </p:nvSpPr>
        <p:spPr>
          <a:xfrm>
            <a:off x="7540413" y="5362774"/>
            <a:ext cx="1551002" cy="9525"/>
          </a:xfrm>
          <a:prstGeom prst="rect">
            <a:avLst/>
          </a:prstGeom>
          <a:solidFill>
            <a:srgbClr val="1A1A26">
              <a:alpha val="8000"/>
            </a:srgbClr>
          </a:solidFill>
          <a:ln/>
        </p:spPr>
        <p:txBody>
          <a:bodyPr/>
          <a:lstStyle/>
          <a:p>
            <a:endParaRPr lang="en-US"/>
          </a:p>
        </p:txBody>
      </p:sp>
      <p:sp>
        <p:nvSpPr>
          <p:cNvPr id="39" name="Text 36"/>
          <p:cNvSpPr/>
          <p:nvPr/>
        </p:nvSpPr>
        <p:spPr>
          <a:xfrm>
            <a:off x="7540413" y="4452513"/>
            <a:ext cx="1512902"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{{policy_2_payout}}</a:t>
            </a:r>
            <a:endParaRPr lang="en-US" sz="2100" dirty="0"/>
          </a:p>
        </p:txBody>
      </p:sp>
      <p:sp>
        <p:nvSpPr>
          <p:cNvPr id="40" name="Shape 37"/>
          <p:cNvSpPr/>
          <p:nvPr/>
        </p:nvSpPr>
        <p:spPr>
          <a:xfrm>
            <a:off x="9091415" y="5362774"/>
            <a:ext cx="3748343" cy="9525"/>
          </a:xfrm>
          <a:prstGeom prst="rect">
            <a:avLst/>
          </a:prstGeom>
          <a:solidFill>
            <a:srgbClr val="1A1A26">
              <a:alpha val="8000"/>
            </a:srgbClr>
          </a:solidFill>
          <a:ln/>
        </p:spPr>
        <p:txBody>
          <a:bodyPr/>
          <a:lstStyle/>
          <a:p>
            <a:endParaRPr lang="en-US"/>
          </a:p>
        </p:txBody>
      </p:sp>
      <p:sp>
        <p:nvSpPr>
          <p:cNvPr id="41" name="Text 38"/>
          <p:cNvSpPr/>
          <p:nvPr/>
        </p:nvSpPr>
        <p:spPr>
          <a:xfrm>
            <a:off x="9091415" y="4452513"/>
            <a:ext cx="3860793"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{{policy_2_remarks}}</a:t>
            </a:r>
            <a:endParaRPr lang="en-US" sz="2100" dirty="0"/>
          </a:p>
        </p:txBody>
      </p:sp>
      <p:sp>
        <p:nvSpPr>
          <p:cNvPr id="42" name="Shape 39"/>
          <p:cNvSpPr/>
          <p:nvPr/>
        </p:nvSpPr>
        <p:spPr>
          <a:xfrm>
            <a:off x="914372" y="6424982"/>
            <a:ext cx="1958082" cy="9525"/>
          </a:xfrm>
          <a:prstGeom prst="rect">
            <a:avLst/>
          </a:prstGeom>
          <a:solidFill>
            <a:srgbClr val="1A1A26">
              <a:alpha val="8000"/>
            </a:srgbClr>
          </a:solidFill>
          <a:ln/>
        </p:spPr>
        <p:txBody>
          <a:bodyPr/>
          <a:lstStyle/>
          <a:p>
            <a:endParaRPr lang="en-US"/>
          </a:p>
        </p:txBody>
      </p:sp>
      <p:sp>
        <p:nvSpPr>
          <p:cNvPr id="43" name="Text 40"/>
          <p:cNvSpPr/>
          <p:nvPr/>
        </p:nvSpPr>
        <p:spPr>
          <a:xfrm>
            <a:off x="914372" y="5514720"/>
            <a:ext cx="1919982"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{{policy_3_name}}</a:t>
            </a:r>
            <a:endParaRPr lang="en-US" sz="2100" dirty="0"/>
          </a:p>
        </p:txBody>
      </p:sp>
      <p:sp>
        <p:nvSpPr>
          <p:cNvPr id="44" name="Shape 41"/>
          <p:cNvSpPr/>
          <p:nvPr/>
        </p:nvSpPr>
        <p:spPr>
          <a:xfrm>
            <a:off x="2872454" y="6424982"/>
            <a:ext cx="1155119" cy="9525"/>
          </a:xfrm>
          <a:prstGeom prst="rect">
            <a:avLst/>
          </a:prstGeom>
          <a:solidFill>
            <a:srgbClr val="1A1A26">
              <a:alpha val="8000"/>
            </a:srgbClr>
          </a:solidFill>
          <a:ln/>
        </p:spPr>
        <p:txBody>
          <a:bodyPr/>
          <a:lstStyle/>
          <a:p>
            <a:endParaRPr lang="en-US"/>
          </a:p>
        </p:txBody>
      </p:sp>
      <p:sp>
        <p:nvSpPr>
          <p:cNvPr id="45" name="Text 42"/>
          <p:cNvSpPr/>
          <p:nvPr/>
        </p:nvSpPr>
        <p:spPr>
          <a:xfrm>
            <a:off x="2872454" y="5514720"/>
            <a:ext cx="1117019" cy="805486"/>
          </a:xfrm>
          <a:prstGeom prst="rect">
            <a:avLst/>
          </a:prstGeom>
          <a:noFill/>
          <a:ln/>
        </p:spPr>
        <p:txBody>
          <a:bodyPr wrap="non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{{policy_3_start}}</a:t>
            </a:r>
            <a:endParaRPr lang="en-US" sz="2100" dirty="0"/>
          </a:p>
        </p:txBody>
      </p:sp>
      <p:sp>
        <p:nvSpPr>
          <p:cNvPr id="46" name="Shape 43"/>
          <p:cNvSpPr/>
          <p:nvPr/>
        </p:nvSpPr>
        <p:spPr>
          <a:xfrm>
            <a:off x="4027573" y="6424982"/>
            <a:ext cx="1580130" cy="9525"/>
          </a:xfrm>
          <a:prstGeom prst="rect">
            <a:avLst/>
          </a:prstGeom>
          <a:solidFill>
            <a:srgbClr val="1A1A26">
              <a:alpha val="8000"/>
            </a:srgbClr>
          </a:solidFill>
          <a:ln/>
        </p:spPr>
        <p:txBody>
          <a:bodyPr/>
          <a:lstStyle/>
          <a:p>
            <a:endParaRPr lang="en-US"/>
          </a:p>
        </p:txBody>
      </p:sp>
      <p:sp>
        <p:nvSpPr>
          <p:cNvPr id="47" name="Text 44"/>
          <p:cNvSpPr/>
          <p:nvPr/>
        </p:nvSpPr>
        <p:spPr>
          <a:xfrm>
            <a:off x="4027573" y="5514720"/>
            <a:ext cx="1542030" cy="805486"/>
          </a:xfrm>
          <a:prstGeom prst="rect">
            <a:avLst/>
          </a:prstGeom>
          <a:noFill/>
          <a:ln/>
        </p:spPr>
        <p:txBody>
          <a:bodyPr wrap="non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{{policy_3_premium}}</a:t>
            </a:r>
            <a:endParaRPr lang="en-US" sz="2100" dirty="0"/>
          </a:p>
        </p:txBody>
      </p:sp>
      <p:sp>
        <p:nvSpPr>
          <p:cNvPr id="48" name="Shape 45"/>
          <p:cNvSpPr/>
          <p:nvPr/>
        </p:nvSpPr>
        <p:spPr>
          <a:xfrm>
            <a:off x="5607702" y="6424982"/>
            <a:ext cx="1932711" cy="9525"/>
          </a:xfrm>
          <a:prstGeom prst="rect">
            <a:avLst/>
          </a:prstGeom>
          <a:solidFill>
            <a:srgbClr val="1A1A26">
              <a:alpha val="8000"/>
            </a:srgbClr>
          </a:solidFill>
          <a:ln/>
        </p:spPr>
        <p:txBody>
          <a:bodyPr/>
          <a:lstStyle/>
          <a:p>
            <a:endParaRPr lang="en-US"/>
          </a:p>
        </p:txBody>
      </p:sp>
      <p:sp>
        <p:nvSpPr>
          <p:cNvPr id="49" name="Text 46"/>
          <p:cNvSpPr/>
          <p:nvPr/>
        </p:nvSpPr>
        <p:spPr>
          <a:xfrm>
            <a:off x="5607702" y="5514720"/>
            <a:ext cx="1894611"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{{policy_3_maturity}}</a:t>
            </a:r>
            <a:endParaRPr lang="en-US" sz="2100" dirty="0"/>
          </a:p>
        </p:txBody>
      </p:sp>
      <p:sp>
        <p:nvSpPr>
          <p:cNvPr id="50" name="Shape 47"/>
          <p:cNvSpPr/>
          <p:nvPr/>
        </p:nvSpPr>
        <p:spPr>
          <a:xfrm>
            <a:off x="7540413" y="6424982"/>
            <a:ext cx="1551002" cy="9525"/>
          </a:xfrm>
          <a:prstGeom prst="rect">
            <a:avLst/>
          </a:prstGeom>
          <a:solidFill>
            <a:srgbClr val="1A1A26">
              <a:alpha val="8000"/>
            </a:srgbClr>
          </a:solidFill>
          <a:ln/>
        </p:spPr>
        <p:txBody>
          <a:bodyPr/>
          <a:lstStyle/>
          <a:p>
            <a:endParaRPr lang="en-US"/>
          </a:p>
        </p:txBody>
      </p:sp>
      <p:sp>
        <p:nvSpPr>
          <p:cNvPr id="51" name="Text 48"/>
          <p:cNvSpPr/>
          <p:nvPr/>
        </p:nvSpPr>
        <p:spPr>
          <a:xfrm>
            <a:off x="7540413" y="5514720"/>
            <a:ext cx="1512902"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{{policy_3_payout}}</a:t>
            </a:r>
            <a:endParaRPr lang="en-US" sz="2100" dirty="0"/>
          </a:p>
        </p:txBody>
      </p:sp>
      <p:sp>
        <p:nvSpPr>
          <p:cNvPr id="52" name="Shape 49"/>
          <p:cNvSpPr/>
          <p:nvPr/>
        </p:nvSpPr>
        <p:spPr>
          <a:xfrm>
            <a:off x="9091415" y="6424982"/>
            <a:ext cx="3748343" cy="9525"/>
          </a:xfrm>
          <a:prstGeom prst="rect">
            <a:avLst/>
          </a:prstGeom>
          <a:solidFill>
            <a:srgbClr val="1A1A26">
              <a:alpha val="8000"/>
            </a:srgbClr>
          </a:solidFill>
          <a:ln/>
        </p:spPr>
        <p:txBody>
          <a:bodyPr/>
          <a:lstStyle/>
          <a:p>
            <a:endParaRPr lang="en-US"/>
          </a:p>
        </p:txBody>
      </p:sp>
      <p:sp>
        <p:nvSpPr>
          <p:cNvPr id="53" name="Text 50"/>
          <p:cNvSpPr/>
          <p:nvPr/>
        </p:nvSpPr>
        <p:spPr>
          <a:xfrm>
            <a:off x="9091415" y="5514720"/>
            <a:ext cx="3860793"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{{policy_3_remarks}}</a:t>
            </a:r>
            <a:endParaRPr lang="en-US" sz="2100" dirty="0"/>
          </a:p>
        </p:txBody>
      </p:sp>
      <p:sp>
        <p:nvSpPr>
          <p:cNvPr id="54" name="Shape 51"/>
          <p:cNvSpPr/>
          <p:nvPr/>
        </p:nvSpPr>
        <p:spPr>
          <a:xfrm>
            <a:off x="914372" y="7487189"/>
            <a:ext cx="1958082" cy="9525"/>
          </a:xfrm>
          <a:prstGeom prst="rect">
            <a:avLst/>
          </a:prstGeom>
          <a:solidFill>
            <a:srgbClr val="1A1A26">
              <a:alpha val="8000"/>
            </a:srgbClr>
          </a:solidFill>
          <a:ln/>
        </p:spPr>
        <p:txBody>
          <a:bodyPr/>
          <a:lstStyle/>
          <a:p>
            <a:endParaRPr lang="en-US"/>
          </a:p>
        </p:txBody>
      </p:sp>
      <p:sp>
        <p:nvSpPr>
          <p:cNvPr id="55" name="Text 52"/>
          <p:cNvSpPr/>
          <p:nvPr/>
        </p:nvSpPr>
        <p:spPr>
          <a:xfrm>
            <a:off x="914372" y="6576928"/>
            <a:ext cx="1919982"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{{policy_4_name}}</a:t>
            </a:r>
            <a:endParaRPr lang="en-US" sz="2100" dirty="0"/>
          </a:p>
        </p:txBody>
      </p:sp>
      <p:sp>
        <p:nvSpPr>
          <p:cNvPr id="56" name="Shape 53"/>
          <p:cNvSpPr/>
          <p:nvPr/>
        </p:nvSpPr>
        <p:spPr>
          <a:xfrm>
            <a:off x="2872454" y="7487189"/>
            <a:ext cx="1155119" cy="9525"/>
          </a:xfrm>
          <a:prstGeom prst="rect">
            <a:avLst/>
          </a:prstGeom>
          <a:solidFill>
            <a:srgbClr val="1A1A26">
              <a:alpha val="8000"/>
            </a:srgbClr>
          </a:solidFill>
          <a:ln/>
        </p:spPr>
        <p:txBody>
          <a:bodyPr/>
          <a:lstStyle/>
          <a:p>
            <a:endParaRPr lang="en-US"/>
          </a:p>
        </p:txBody>
      </p:sp>
      <p:sp>
        <p:nvSpPr>
          <p:cNvPr id="57" name="Text 54"/>
          <p:cNvSpPr/>
          <p:nvPr/>
        </p:nvSpPr>
        <p:spPr>
          <a:xfrm>
            <a:off x="2872454" y="6576928"/>
            <a:ext cx="1117019" cy="805486"/>
          </a:xfrm>
          <a:prstGeom prst="rect">
            <a:avLst/>
          </a:prstGeom>
          <a:noFill/>
          <a:ln/>
        </p:spPr>
        <p:txBody>
          <a:bodyPr wrap="non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{{policy_4_start}}</a:t>
            </a:r>
            <a:endParaRPr lang="en-US" sz="2100" dirty="0"/>
          </a:p>
        </p:txBody>
      </p:sp>
      <p:sp>
        <p:nvSpPr>
          <p:cNvPr id="58" name="Shape 55"/>
          <p:cNvSpPr/>
          <p:nvPr/>
        </p:nvSpPr>
        <p:spPr>
          <a:xfrm>
            <a:off x="4027573" y="7487189"/>
            <a:ext cx="1580130" cy="9525"/>
          </a:xfrm>
          <a:prstGeom prst="rect">
            <a:avLst/>
          </a:prstGeom>
          <a:solidFill>
            <a:srgbClr val="1A1A26">
              <a:alpha val="8000"/>
            </a:srgbClr>
          </a:solidFill>
          <a:ln/>
        </p:spPr>
        <p:txBody>
          <a:bodyPr/>
          <a:lstStyle/>
          <a:p>
            <a:endParaRPr lang="en-US"/>
          </a:p>
        </p:txBody>
      </p:sp>
      <p:sp>
        <p:nvSpPr>
          <p:cNvPr id="59" name="Text 56"/>
          <p:cNvSpPr/>
          <p:nvPr/>
        </p:nvSpPr>
        <p:spPr>
          <a:xfrm>
            <a:off x="4027573" y="6576928"/>
            <a:ext cx="1542030" cy="805486"/>
          </a:xfrm>
          <a:prstGeom prst="rect">
            <a:avLst/>
          </a:prstGeom>
          <a:noFill/>
          <a:ln/>
        </p:spPr>
        <p:txBody>
          <a:bodyPr wrap="non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{{policy_4_premium}}</a:t>
            </a:r>
            <a:endParaRPr lang="en-US" sz="2100" dirty="0"/>
          </a:p>
        </p:txBody>
      </p:sp>
      <p:sp>
        <p:nvSpPr>
          <p:cNvPr id="60" name="Shape 57"/>
          <p:cNvSpPr/>
          <p:nvPr/>
        </p:nvSpPr>
        <p:spPr>
          <a:xfrm>
            <a:off x="5607702" y="7487189"/>
            <a:ext cx="1932711" cy="9525"/>
          </a:xfrm>
          <a:prstGeom prst="rect">
            <a:avLst/>
          </a:prstGeom>
          <a:solidFill>
            <a:srgbClr val="1A1A26">
              <a:alpha val="8000"/>
            </a:srgbClr>
          </a:solidFill>
          <a:ln/>
        </p:spPr>
        <p:txBody>
          <a:bodyPr/>
          <a:lstStyle/>
          <a:p>
            <a:endParaRPr lang="en-US"/>
          </a:p>
        </p:txBody>
      </p:sp>
      <p:sp>
        <p:nvSpPr>
          <p:cNvPr id="61" name="Text 58"/>
          <p:cNvSpPr/>
          <p:nvPr/>
        </p:nvSpPr>
        <p:spPr>
          <a:xfrm>
            <a:off x="5607702" y="6576928"/>
            <a:ext cx="1894611"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{{policy_4_maturity}}</a:t>
            </a:r>
            <a:endParaRPr lang="en-US" sz="2100" dirty="0"/>
          </a:p>
        </p:txBody>
      </p:sp>
      <p:sp>
        <p:nvSpPr>
          <p:cNvPr id="62" name="Shape 59"/>
          <p:cNvSpPr/>
          <p:nvPr/>
        </p:nvSpPr>
        <p:spPr>
          <a:xfrm>
            <a:off x="7540413" y="7487189"/>
            <a:ext cx="1551002" cy="9525"/>
          </a:xfrm>
          <a:prstGeom prst="rect">
            <a:avLst/>
          </a:prstGeom>
          <a:solidFill>
            <a:srgbClr val="1A1A26">
              <a:alpha val="8000"/>
            </a:srgbClr>
          </a:solidFill>
          <a:ln/>
        </p:spPr>
        <p:txBody>
          <a:bodyPr/>
          <a:lstStyle/>
          <a:p>
            <a:endParaRPr lang="en-US"/>
          </a:p>
        </p:txBody>
      </p:sp>
      <p:sp>
        <p:nvSpPr>
          <p:cNvPr id="63" name="Text 60"/>
          <p:cNvSpPr/>
          <p:nvPr/>
        </p:nvSpPr>
        <p:spPr>
          <a:xfrm>
            <a:off x="7540413" y="6576928"/>
            <a:ext cx="1512902"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{{policy_4_payout}}</a:t>
            </a:r>
            <a:endParaRPr lang="en-US" sz="2100" dirty="0"/>
          </a:p>
        </p:txBody>
      </p:sp>
      <p:sp>
        <p:nvSpPr>
          <p:cNvPr id="64" name="Shape 61"/>
          <p:cNvSpPr/>
          <p:nvPr/>
        </p:nvSpPr>
        <p:spPr>
          <a:xfrm>
            <a:off x="9091415" y="7487189"/>
            <a:ext cx="3748343" cy="9525"/>
          </a:xfrm>
          <a:prstGeom prst="rect">
            <a:avLst/>
          </a:prstGeom>
          <a:solidFill>
            <a:srgbClr val="1A1A26">
              <a:alpha val="8000"/>
            </a:srgbClr>
          </a:solidFill>
          <a:ln/>
        </p:spPr>
        <p:txBody>
          <a:bodyPr/>
          <a:lstStyle/>
          <a:p>
            <a:endParaRPr lang="en-US"/>
          </a:p>
        </p:txBody>
      </p:sp>
      <p:sp>
        <p:nvSpPr>
          <p:cNvPr id="65" name="Text 62"/>
          <p:cNvSpPr/>
          <p:nvPr/>
        </p:nvSpPr>
        <p:spPr>
          <a:xfrm>
            <a:off x="9091415" y="6576928"/>
            <a:ext cx="3860793"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{{policy_4_remarks}}</a:t>
            </a:r>
            <a:endParaRPr lang="en-US" sz="2100" dirty="0"/>
          </a:p>
        </p:txBody>
      </p:sp>
      <p:sp>
        <p:nvSpPr>
          <p:cNvPr id="66" name="Shape 63"/>
          <p:cNvSpPr/>
          <p:nvPr/>
        </p:nvSpPr>
        <p:spPr>
          <a:xfrm>
            <a:off x="914372" y="8549397"/>
            <a:ext cx="1958082" cy="9525"/>
          </a:xfrm>
          <a:prstGeom prst="rect">
            <a:avLst/>
          </a:prstGeom>
          <a:solidFill>
            <a:srgbClr val="1A1A26">
              <a:alpha val="8000"/>
            </a:srgbClr>
          </a:solidFill>
          <a:ln/>
        </p:spPr>
        <p:txBody>
          <a:bodyPr/>
          <a:lstStyle/>
          <a:p>
            <a:endParaRPr lang="en-US"/>
          </a:p>
        </p:txBody>
      </p:sp>
      <p:sp>
        <p:nvSpPr>
          <p:cNvPr id="67" name="Text 64"/>
          <p:cNvSpPr/>
          <p:nvPr/>
        </p:nvSpPr>
        <p:spPr>
          <a:xfrm>
            <a:off x="914372" y="7639135"/>
            <a:ext cx="1919982" cy="805486"/>
          </a:xfrm>
          <a:prstGeom prst="rect">
            <a:avLst/>
          </a:prstGeom>
          <a:noFill/>
          <a:ln/>
        </p:spPr>
        <p:txBody>
          <a:bodyPr wrap="squar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{{policy_5_name}}</a:t>
            </a:r>
            <a:endParaRPr lang="en-US" sz="2100" dirty="0"/>
          </a:p>
        </p:txBody>
      </p:sp>
      <p:sp>
        <p:nvSpPr>
          <p:cNvPr id="68" name="Shape 65"/>
          <p:cNvSpPr/>
          <p:nvPr/>
        </p:nvSpPr>
        <p:spPr>
          <a:xfrm>
            <a:off x="2872454" y="8549397"/>
            <a:ext cx="1155119" cy="9525"/>
          </a:xfrm>
          <a:prstGeom prst="rect">
            <a:avLst/>
          </a:prstGeom>
          <a:solidFill>
            <a:srgbClr val="1A1A26">
              <a:alpha val="8000"/>
            </a:srgbClr>
          </a:solidFill>
          <a:ln/>
        </p:spPr>
        <p:txBody>
          <a:bodyPr/>
          <a:lstStyle/>
          <a:p>
            <a:endParaRPr lang="en-US"/>
          </a:p>
        </p:txBody>
      </p:sp>
      <p:sp>
        <p:nvSpPr>
          <p:cNvPr id="69" name="Text 66"/>
          <p:cNvSpPr/>
          <p:nvPr/>
        </p:nvSpPr>
        <p:spPr>
          <a:xfrm>
            <a:off x="2872454" y="7639135"/>
            <a:ext cx="1117019" cy="805486"/>
          </a:xfrm>
          <a:prstGeom prst="rect">
            <a:avLst/>
          </a:prstGeom>
          <a:noFill/>
          <a:ln/>
        </p:spPr>
        <p:txBody>
          <a:bodyPr wrap="none" lIns="25400" tIns="25400" rIns="25400" bIns="25400" rtlCol="0" anchor="ctr">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{{policy_5_start}}</a:t>
            </a:r>
            <a:endParaRPr lang="en-US" sz="2100" dirty="0"/>
          </a:p>
        </p:txBody>
      </p:sp>
      <p:sp>
        <p:nvSpPr>
          <p:cNvPr id="70" name="Shape 67"/>
          <p:cNvSpPr/>
          <p:nvPr/>
        </p:nvSpPr>
        <p:spPr>
          <a:xfrm>
            <a:off x="4027573" y="8549397"/>
            <a:ext cx="1580130" cy="9525"/>
          </a:xfrm>
          <a:prstGeom prst="rect">
            <a:avLst/>
          </a:prstGeom>
          <a:solidFill>
            <a:srgbClr val="1A1A26">
              <a:alpha val="8000"/>
            </a:srgbClr>
          </a:solidFill>
          <a:ln/>
        </p:spPr>
        <p:txBody>
          <a:bodyPr/>
          <a:lstStyle/>
          <a:p>
            <a:endParaRPr lang="en-US"/>
          </a:p>
        </p:txBody>
      </p:sp>
      <p:sp>
        <p:nvSpPr>
          <p:cNvPr id="71" name="Text 68"/>
          <p:cNvSpPr/>
          <p:nvPr/>
        </p:nvSpPr>
        <p:spPr>
          <a:xfrm>
            <a:off x="4027573" y="7639135"/>
            <a:ext cx="1542030" cy="805486"/>
          </a:xfrm>
          <a:prstGeom prst="rect">
            <a:avLst/>
          </a:prstGeom>
          <a:noFill/>
          <a:ln/>
        </p:spPr>
        <p:txBody>
          <a:bodyPr wrap="non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{{policy_5_premium}}</a:t>
            </a:r>
            <a:endParaRPr lang="en-US" sz="2100" dirty="0"/>
          </a:p>
        </p:txBody>
      </p:sp>
      <p:sp>
        <p:nvSpPr>
          <p:cNvPr id="72" name="Shape 69"/>
          <p:cNvSpPr/>
          <p:nvPr/>
        </p:nvSpPr>
        <p:spPr>
          <a:xfrm>
            <a:off x="5607702" y="8549397"/>
            <a:ext cx="1932711" cy="9525"/>
          </a:xfrm>
          <a:prstGeom prst="rect">
            <a:avLst/>
          </a:prstGeom>
          <a:solidFill>
            <a:srgbClr val="1A1A26">
              <a:alpha val="8000"/>
            </a:srgbClr>
          </a:solidFill>
          <a:ln/>
        </p:spPr>
        <p:txBody>
          <a:bodyPr/>
          <a:lstStyle/>
          <a:p>
            <a:endParaRPr lang="en-US"/>
          </a:p>
        </p:txBody>
      </p:sp>
      <p:sp>
        <p:nvSpPr>
          <p:cNvPr id="73" name="Text 70"/>
          <p:cNvSpPr/>
          <p:nvPr/>
        </p:nvSpPr>
        <p:spPr>
          <a:xfrm>
            <a:off x="5607702" y="7639135"/>
            <a:ext cx="1894611" cy="805486"/>
          </a:xfrm>
          <a:prstGeom prst="rect">
            <a:avLst/>
          </a:prstGeom>
          <a:noFill/>
          <a:ln/>
        </p:spPr>
        <p:txBody>
          <a:bodyPr wrap="non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{{policy_5_maturity}}</a:t>
            </a:r>
            <a:endParaRPr lang="en-US" sz="2100" dirty="0"/>
          </a:p>
        </p:txBody>
      </p:sp>
      <p:sp>
        <p:nvSpPr>
          <p:cNvPr id="74" name="Shape 71"/>
          <p:cNvSpPr/>
          <p:nvPr/>
        </p:nvSpPr>
        <p:spPr>
          <a:xfrm>
            <a:off x="7540413" y="8549397"/>
            <a:ext cx="1551002" cy="9525"/>
          </a:xfrm>
          <a:prstGeom prst="rect">
            <a:avLst/>
          </a:prstGeom>
          <a:solidFill>
            <a:srgbClr val="1A1A26">
              <a:alpha val="8000"/>
            </a:srgbClr>
          </a:solidFill>
          <a:ln/>
        </p:spPr>
        <p:txBody>
          <a:bodyPr/>
          <a:lstStyle/>
          <a:p>
            <a:endParaRPr lang="en-US"/>
          </a:p>
        </p:txBody>
      </p:sp>
      <p:sp>
        <p:nvSpPr>
          <p:cNvPr id="75" name="Text 72"/>
          <p:cNvSpPr/>
          <p:nvPr/>
        </p:nvSpPr>
        <p:spPr>
          <a:xfrm>
            <a:off x="7540413" y="7639135"/>
            <a:ext cx="1512902"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{{policy_5_payout}}</a:t>
            </a:r>
            <a:endParaRPr lang="en-US" sz="2100" dirty="0"/>
          </a:p>
        </p:txBody>
      </p:sp>
      <p:sp>
        <p:nvSpPr>
          <p:cNvPr id="76" name="Shape 73"/>
          <p:cNvSpPr/>
          <p:nvPr/>
        </p:nvSpPr>
        <p:spPr>
          <a:xfrm>
            <a:off x="9091415" y="8549397"/>
            <a:ext cx="3748343" cy="9525"/>
          </a:xfrm>
          <a:prstGeom prst="rect">
            <a:avLst/>
          </a:prstGeom>
          <a:solidFill>
            <a:srgbClr val="1A1A26">
              <a:alpha val="8000"/>
            </a:srgbClr>
          </a:solidFill>
          <a:ln/>
        </p:spPr>
        <p:txBody>
          <a:bodyPr/>
          <a:lstStyle/>
          <a:p>
            <a:endParaRPr lang="en-US"/>
          </a:p>
        </p:txBody>
      </p:sp>
      <p:sp>
        <p:nvSpPr>
          <p:cNvPr id="77" name="Text 74"/>
          <p:cNvSpPr/>
          <p:nvPr/>
        </p:nvSpPr>
        <p:spPr>
          <a:xfrm>
            <a:off x="9091415" y="7639135"/>
            <a:ext cx="3860793" cy="805486"/>
          </a:xfrm>
          <a:prstGeom prst="rect">
            <a:avLst/>
          </a:prstGeom>
          <a:noFill/>
          <a:ln/>
        </p:spPr>
        <p:txBody>
          <a:bodyPr wrap="square" lIns="25400" tIns="25400" rIns="25400" bIns="25400" rtlCol="0" anchor="ctr">
            <a:normAutofit/>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{{policy_5_remarks}}</a:t>
            </a:r>
            <a:endParaRPr lang="en-US" sz="2100" dirty="0"/>
          </a:p>
        </p:txBody>
      </p:sp>
      <p:sp>
        <p:nvSpPr>
          <p:cNvPr id="78" name="Shape 75"/>
          <p:cNvSpPr/>
          <p:nvPr/>
        </p:nvSpPr>
        <p:spPr>
          <a:xfrm>
            <a:off x="13373129" y="2419945"/>
            <a:ext cx="4000429" cy="6143058"/>
          </a:xfrm>
          <a:prstGeom prst="rect">
            <a:avLst/>
          </a:prstGeom>
          <a:solidFill>
            <a:srgbClr val="E7E7EA"/>
          </a:solidFill>
          <a:ln/>
        </p:spPr>
        <p:txBody>
          <a:bodyPr/>
          <a:lstStyle/>
          <a:p>
            <a:endParaRPr lang="en-US"/>
          </a:p>
        </p:txBody>
      </p:sp>
      <p:pic>
        <p:nvPicPr>
          <p:cNvPr id="79" name="Image 1" descr="preencoded.png"/>
          <p:cNvPicPr>
            <a:picLocks noChangeAspect="1"/>
          </p:cNvPicPr>
          <p:nvPr/>
        </p:nvPicPr>
        <p:blipFill>
          <a:blip r:embed="rId4"/>
          <a:srcRect l="28324" r="28324"/>
          <a:stretch/>
        </p:blipFill>
        <p:spPr>
          <a:xfrm>
            <a:off x="13373129" y="2419945"/>
            <a:ext cx="4000429" cy="6143058"/>
          </a:xfrm>
          <a:prstGeom prst="rect">
            <a:avLst/>
          </a:prstGeom>
        </p:spPr>
      </p:pic>
      <p:sp>
        <p:nvSpPr>
          <p:cNvPr id="80" name="Shape 76"/>
          <p:cNvSpPr/>
          <p:nvPr/>
        </p:nvSpPr>
        <p:spPr>
          <a:xfrm>
            <a:off x="13373129" y="2419945"/>
            <a:ext cx="4000429" cy="6143058"/>
          </a:xfrm>
          <a:prstGeom prst="rect">
            <a:avLst/>
          </a:prstGeom>
          <a:solidFill>
            <a:srgbClr val="26306F">
              <a:alpha val="30000"/>
            </a:srgbClr>
          </a:solidFill>
          <a:ln/>
        </p:spPr>
        <p:txBody>
          <a:bodyPr/>
          <a:lstStyle/>
          <a:p>
            <a:endParaRPr lang="en-US"/>
          </a:p>
        </p:txBody>
      </p:sp>
      <p:sp>
        <p:nvSpPr>
          <p:cNvPr id="81" name="Shape 77"/>
          <p:cNvSpPr/>
          <p:nvPr/>
        </p:nvSpPr>
        <p:spPr>
          <a:xfrm>
            <a:off x="914372" y="8374063"/>
            <a:ext cx="16459187" cy="9525"/>
          </a:xfrm>
          <a:prstGeom prst="rect">
            <a:avLst/>
          </a:prstGeom>
          <a:solidFill>
            <a:srgbClr val="1D1F20">
              <a:alpha val="18000"/>
            </a:srgbClr>
          </a:solidFill>
          <a:ln/>
        </p:spPr>
        <p:txBody>
          <a:bodyPr/>
          <a:lstStyle/>
          <a:p>
            <a:endParaRPr lang="en-US"/>
          </a:p>
        </p:txBody>
      </p:sp>
      <p:sp>
        <p:nvSpPr>
          <p:cNvPr id="82" name="Text 78"/>
          <p:cNvSpPr/>
          <p:nvPr/>
        </p:nvSpPr>
        <p:spPr>
          <a:xfrm>
            <a:off x="914372" y="8611734"/>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83" name="Text 79"/>
          <p:cNvSpPr/>
          <p:nvPr/>
        </p:nvSpPr>
        <p:spPr>
          <a:xfrm>
            <a:off x="3276487" y="8573634"/>
            <a:ext cx="14519984"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{{policies_comment}}</a:t>
            </a:r>
            <a:endParaRPr lang="en-US" sz="2100" dirty="0"/>
          </a:p>
        </p:txBody>
      </p:sp>
      <p:sp>
        <p:nvSpPr>
          <p:cNvPr id="84" name="Text 80"/>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85" name="Text 81"/>
          <p:cNvSpPr/>
          <p:nvPr/>
        </p:nvSpPr>
        <p:spPr>
          <a:xfrm>
            <a:off x="16702132" y="9475462"/>
            <a:ext cx="747627"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2062550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pic>
        <p:nvPicPr>
          <p:cNvPr id="148" name="Graphic 148" descr="Life insurance"/>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70000" y="2819400"/>
            <a:ext cx="533400" cy="533400"/>
          </a:xfrm>
          <a:prstGeom prst="rect">
            <a:avLst/>
          </a:prstGeom>
        </p:spPr>
      </p:pic>
      <p:pic>
        <p:nvPicPr>
          <p:cNvPr id="149" name="Graphic 149" descr="Medical insurance"/>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8000" y="2819400"/>
            <a:ext cx="533400" cy="533400"/>
          </a:xfrm>
          <a:prstGeom prst="rect">
            <a:avLst/>
          </a:prstGeom>
        </p:spPr>
      </p:pic>
      <p:pic>
        <p:nvPicPr>
          <p:cNvPr id="150" name="Graphic 150" descr="Critical illness cove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2446000" y="2819400"/>
            <a:ext cx="533400" cy="533400"/>
          </a:xfrm>
          <a:prstGeom prst="rect">
            <a:avLst/>
          </a:prstGeom>
        </p:spPr>
      </p:pic>
      <p:sp>
        <p:nvSpPr>
          <p:cNvPr id="301" name="Text 3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PROTECTION PLAN · HOW COVER IS CLASSIFIED</a:t>
            </a:r>
          </a:p>
        </p:txBody>
      </p:sp>
      <p:sp>
        <p:nvSpPr>
          <p:cNvPr id="302" name="Text 302"/>
          <p:cNvSpPr txBox="1"/>
          <p:nvPr/>
        </p:nvSpPr>
        <p:spPr>
          <a:xfrm>
            <a:off x="914400" y="1092200"/>
            <a:ext cx="15748000" cy="774700"/>
          </a:xfrm>
          <a:prstGeom prst="rect">
            <a:avLst/>
          </a:prstGeom>
          <a:noFill/>
        </p:spPr>
        <p:txBody>
          <a:bodyPr wrap="square" lIns="7200" tIns="0" rIns="0" bIns="0" anchor="t">
            <a:normAutofit fontScale="92500"/>
          </a:bodyPr>
          <a:lstStyle/>
          <a:p>
            <a:pPr marL="0" indent="0" algn="l">
              <a:lnSpc>
                <a:spcPct val="80000"/>
              </a:lnSpc>
              <a:buNone/>
            </a:pPr>
            <a:r>
              <a:rPr lang="en-US" sz="4000" b="1" kern="0" spc="-80" dirty="0">
                <a:solidFill>
                  <a:srgbClr val="1D1F20"/>
                </a:solidFill>
                <a:latin typeface="Barlow Condensed"/>
                <a:cs typeface="Barlow Condensed"/>
              </a:rPr>
              <a:t>Protection does three separate jobs — replace income, pay hospital bills, absorb a health shock</a:t>
            </a:r>
          </a:p>
        </p:txBody>
      </p:sp>
      <p:sp>
        <p:nvSpPr>
          <p:cNvPr id="303" name="Shape 3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304" name="Shape 304"/>
          <p:cNvSpPr/>
          <p:nvPr/>
        </p:nvSpPr>
        <p:spPr>
          <a:xfrm>
            <a:off x="914400" y="2413000"/>
            <a:ext cx="5283200" cy="4775200"/>
          </a:xfrm>
          <a:prstGeom prst="rect">
            <a:avLst/>
          </a:prstGeom>
          <a:noFill/>
          <a:ln w="9525">
            <a:solidFill>
              <a:srgbClr val="1D1F20">
                <a:alpha val="22000"/>
              </a:srgbClr>
            </a:solidFill>
          </a:ln>
        </p:spPr>
        <p:txBody>
          <a:bodyPr/>
          <a:lstStyle/>
          <a:p>
            <a:endParaRPr/>
          </a:p>
        </p:txBody>
      </p:sp>
      <p:sp>
        <p:nvSpPr>
          <p:cNvPr id="305" name="Shape 305"/>
          <p:cNvSpPr/>
          <p:nvPr/>
        </p:nvSpPr>
        <p:spPr>
          <a:xfrm>
            <a:off x="914400" y="2413000"/>
            <a:ext cx="5283200" cy="63500"/>
          </a:xfrm>
          <a:prstGeom prst="rect">
            <a:avLst/>
          </a:prstGeom>
          <a:solidFill>
            <a:srgbClr val="26306F"/>
          </a:solidFill>
          <a:ln>
            <a:noFill/>
          </a:ln>
        </p:spPr>
        <p:txBody>
          <a:bodyPr/>
          <a:lstStyle/>
          <a:p>
            <a:endParaRPr/>
          </a:p>
        </p:txBody>
      </p:sp>
      <p:sp>
        <p:nvSpPr>
          <p:cNvPr id="306" name="Text 306"/>
          <p:cNvSpPr txBox="1"/>
          <p:nvPr/>
        </p:nvSpPr>
        <p:spPr>
          <a:xfrm>
            <a:off x="2082800" y="2946400"/>
            <a:ext cx="3810000" cy="355600"/>
          </a:xfrm>
          <a:prstGeom prst="rect">
            <a:avLst/>
          </a:prstGeom>
          <a:noFill/>
        </p:spPr>
        <p:txBody>
          <a:bodyPr wrap="square" lIns="7200" tIns="0" rIns="0" bIns="0" anchor="t">
            <a:normAutofit/>
          </a:bodyPr>
          <a:lstStyle/>
          <a:p>
            <a:pPr marL="0" indent="0" algn="l">
              <a:buNone/>
            </a:pPr>
            <a:r>
              <a:rPr lang="en-US" sz="1700" b="1" kern="0" spc="250" dirty="0">
                <a:solidFill>
                  <a:srgbClr val="2A3480"/>
                </a:solidFill>
                <a:latin typeface="Barlow"/>
                <a:cs typeface="Barlow"/>
              </a:rPr>
              <a:t>LIFE INSURANCE</a:t>
            </a:r>
          </a:p>
        </p:txBody>
      </p:sp>
      <p:sp>
        <p:nvSpPr>
          <p:cNvPr id="307" name="Text 307"/>
          <p:cNvSpPr txBox="1"/>
          <p:nvPr/>
        </p:nvSpPr>
        <p:spPr>
          <a:xfrm>
            <a:off x="1270000" y="3657600"/>
            <a:ext cx="4572000" cy="711200"/>
          </a:xfrm>
          <a:prstGeom prst="rect">
            <a:avLst/>
          </a:prstGeom>
          <a:noFill/>
        </p:spPr>
        <p:txBody>
          <a:bodyPr wrap="square" lIns="7200" tIns="0" rIns="0" bIns="0" anchor="t">
            <a:normAutofit/>
          </a:bodyPr>
          <a:lstStyle/>
          <a:p>
            <a:pPr marL="0" indent="0" algn="l">
              <a:lnSpc>
                <a:spcPct val="94000"/>
              </a:lnSpc>
              <a:buNone/>
            </a:pPr>
            <a:r>
              <a:rPr lang="en-US" sz="2200" b="1" kern="0" spc="-20" dirty="0">
                <a:solidFill>
                  <a:srgbClr val="1D1F20"/>
                </a:solidFill>
                <a:latin typeface="Barlow Condensed"/>
                <a:cs typeface="Barlow Condensed"/>
              </a:rPr>
              <a:t>Replaces the income the family would lose</a:t>
            </a:r>
          </a:p>
        </p:txBody>
      </p:sp>
      <p:sp>
        <p:nvSpPr>
          <p:cNvPr id="308" name="Shape 308"/>
          <p:cNvSpPr/>
          <p:nvPr/>
        </p:nvSpPr>
        <p:spPr>
          <a:xfrm>
            <a:off x="1270000" y="4368800"/>
            <a:ext cx="4572000" cy="12700"/>
          </a:xfrm>
          <a:prstGeom prst="rect">
            <a:avLst/>
          </a:prstGeom>
          <a:solidFill>
            <a:srgbClr val="1D1F20">
              <a:alpha val="25000"/>
            </a:srgbClr>
          </a:solidFill>
          <a:ln>
            <a:noFill/>
          </a:ln>
        </p:spPr>
        <p:txBody>
          <a:bodyPr/>
          <a:lstStyle/>
          <a:p>
            <a:endParaRPr/>
          </a:p>
        </p:txBody>
      </p:sp>
      <p:sp>
        <p:nvSpPr>
          <p:cNvPr id="309" name="Text 309"/>
          <p:cNvSpPr txBox="1"/>
          <p:nvPr/>
        </p:nvSpPr>
        <p:spPr>
          <a:xfrm>
            <a:off x="1270000" y="46228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Plain cover — Term</a:t>
            </a:r>
          </a:p>
        </p:txBody>
      </p:sp>
      <p:sp>
        <p:nvSpPr>
          <p:cNvPr id="310" name="Text 310"/>
          <p:cNvSpPr txBox="1"/>
          <p:nvPr/>
        </p:nvSpPr>
        <p:spPr>
          <a:xfrm>
            <a:off x="1270000" y="49530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2F7D3A">
                    <a:alpha val="100000"/>
                  </a:srgbClr>
                </a:solidFill>
                <a:latin typeface="Barlow"/>
                <a:cs typeface="Barlow"/>
              </a:rPr>
              <a:t>{{cover_term_status}}</a:t>
            </a:r>
          </a:p>
        </p:txBody>
      </p:sp>
      <p:sp>
        <p:nvSpPr>
          <p:cNvPr id="311" name="Text 311"/>
          <p:cNvSpPr txBox="1"/>
          <p:nvPr/>
        </p:nvSpPr>
        <p:spPr>
          <a:xfrm>
            <a:off x="1270000" y="54864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Equity linked — ULIP</a:t>
            </a:r>
          </a:p>
        </p:txBody>
      </p:sp>
      <p:sp>
        <p:nvSpPr>
          <p:cNvPr id="312" name="Text 312"/>
          <p:cNvSpPr txBox="1"/>
          <p:nvPr/>
        </p:nvSpPr>
        <p:spPr>
          <a:xfrm>
            <a:off x="1270000" y="58166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1D1F20">
                    <a:alpha val="78000"/>
                  </a:srgbClr>
                </a:solidFill>
                <a:latin typeface="Barlow"/>
                <a:cs typeface="Barlow"/>
              </a:rPr>
              <a:t>{{cover_ulip_status}}</a:t>
            </a:r>
          </a:p>
        </p:txBody>
      </p:sp>
      <p:sp>
        <p:nvSpPr>
          <p:cNvPr id="313" name="Text 313"/>
          <p:cNvSpPr txBox="1"/>
          <p:nvPr/>
        </p:nvSpPr>
        <p:spPr>
          <a:xfrm>
            <a:off x="1270000" y="63500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Debt linked — Endowment</a:t>
            </a:r>
          </a:p>
        </p:txBody>
      </p:sp>
      <p:sp>
        <p:nvSpPr>
          <p:cNvPr id="314" name="Text 314"/>
          <p:cNvSpPr txBox="1"/>
          <p:nvPr/>
        </p:nvSpPr>
        <p:spPr>
          <a:xfrm>
            <a:off x="1270000" y="66802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8A6216">
                    <a:alpha val="100000"/>
                  </a:srgbClr>
                </a:solidFill>
                <a:latin typeface="Barlow"/>
                <a:cs typeface="Barlow"/>
              </a:rPr>
              <a:t>{{cover_endowment_status}}</a:t>
            </a:r>
          </a:p>
        </p:txBody>
      </p:sp>
      <p:sp>
        <p:nvSpPr>
          <p:cNvPr id="315" name="Shape 315"/>
          <p:cNvSpPr/>
          <p:nvPr/>
        </p:nvSpPr>
        <p:spPr>
          <a:xfrm>
            <a:off x="6502400" y="2413000"/>
            <a:ext cx="5283200" cy="4775200"/>
          </a:xfrm>
          <a:prstGeom prst="rect">
            <a:avLst/>
          </a:prstGeom>
          <a:noFill/>
          <a:ln w="9525">
            <a:solidFill>
              <a:srgbClr val="1D1F20">
                <a:alpha val="22000"/>
              </a:srgbClr>
            </a:solidFill>
          </a:ln>
        </p:spPr>
        <p:txBody>
          <a:bodyPr/>
          <a:lstStyle/>
          <a:p>
            <a:endParaRPr/>
          </a:p>
        </p:txBody>
      </p:sp>
      <p:sp>
        <p:nvSpPr>
          <p:cNvPr id="316" name="Shape 316"/>
          <p:cNvSpPr/>
          <p:nvPr/>
        </p:nvSpPr>
        <p:spPr>
          <a:xfrm>
            <a:off x="6502400" y="2413000"/>
            <a:ext cx="5283200" cy="63500"/>
          </a:xfrm>
          <a:prstGeom prst="rect">
            <a:avLst/>
          </a:prstGeom>
          <a:solidFill>
            <a:srgbClr val="26306F"/>
          </a:solidFill>
          <a:ln>
            <a:noFill/>
          </a:ln>
        </p:spPr>
        <p:txBody>
          <a:bodyPr/>
          <a:lstStyle/>
          <a:p>
            <a:endParaRPr/>
          </a:p>
        </p:txBody>
      </p:sp>
      <p:sp>
        <p:nvSpPr>
          <p:cNvPr id="317" name="Text 317"/>
          <p:cNvSpPr txBox="1"/>
          <p:nvPr/>
        </p:nvSpPr>
        <p:spPr>
          <a:xfrm>
            <a:off x="7670800" y="2946400"/>
            <a:ext cx="3810000" cy="355600"/>
          </a:xfrm>
          <a:prstGeom prst="rect">
            <a:avLst/>
          </a:prstGeom>
          <a:noFill/>
        </p:spPr>
        <p:txBody>
          <a:bodyPr wrap="square" lIns="7200" tIns="0" rIns="0" bIns="0" anchor="t">
            <a:normAutofit/>
          </a:bodyPr>
          <a:lstStyle/>
          <a:p>
            <a:pPr marL="0" indent="0" algn="l">
              <a:buNone/>
            </a:pPr>
            <a:r>
              <a:rPr lang="en-US" sz="1700" b="1" kern="0" spc="250" dirty="0">
                <a:solidFill>
                  <a:srgbClr val="2A3480"/>
                </a:solidFill>
                <a:latin typeface="Barlow"/>
                <a:cs typeface="Barlow"/>
              </a:rPr>
              <a:t>MEDICAL INSURANCE</a:t>
            </a:r>
          </a:p>
        </p:txBody>
      </p:sp>
      <p:sp>
        <p:nvSpPr>
          <p:cNvPr id="318" name="Text 318"/>
          <p:cNvSpPr txBox="1"/>
          <p:nvPr/>
        </p:nvSpPr>
        <p:spPr>
          <a:xfrm>
            <a:off x="6858000" y="3657600"/>
            <a:ext cx="4572000" cy="711200"/>
          </a:xfrm>
          <a:prstGeom prst="rect">
            <a:avLst/>
          </a:prstGeom>
          <a:noFill/>
        </p:spPr>
        <p:txBody>
          <a:bodyPr wrap="square" lIns="7200" tIns="0" rIns="0" bIns="0" anchor="t">
            <a:normAutofit/>
          </a:bodyPr>
          <a:lstStyle/>
          <a:p>
            <a:pPr marL="0" indent="0" algn="l">
              <a:lnSpc>
                <a:spcPct val="94000"/>
              </a:lnSpc>
              <a:buNone/>
            </a:pPr>
            <a:r>
              <a:rPr lang="en-US" sz="2200" b="1" kern="0" spc="-20" dirty="0">
                <a:solidFill>
                  <a:srgbClr val="1D1F20"/>
                </a:solidFill>
                <a:latin typeface="Barlow Condensed"/>
                <a:cs typeface="Barlow Condensed"/>
              </a:rPr>
              <a:t>Keeps a hospital bill away from your savings</a:t>
            </a:r>
          </a:p>
        </p:txBody>
      </p:sp>
      <p:sp>
        <p:nvSpPr>
          <p:cNvPr id="319" name="Shape 319"/>
          <p:cNvSpPr/>
          <p:nvPr/>
        </p:nvSpPr>
        <p:spPr>
          <a:xfrm>
            <a:off x="6858000" y="4368800"/>
            <a:ext cx="4572000" cy="12700"/>
          </a:xfrm>
          <a:prstGeom prst="rect">
            <a:avLst/>
          </a:prstGeom>
          <a:solidFill>
            <a:srgbClr val="1D1F20">
              <a:alpha val="25000"/>
            </a:srgbClr>
          </a:solidFill>
          <a:ln>
            <a:noFill/>
          </a:ln>
        </p:spPr>
        <p:txBody>
          <a:bodyPr/>
          <a:lstStyle/>
          <a:p>
            <a:endParaRPr/>
          </a:p>
        </p:txBody>
      </p:sp>
      <p:sp>
        <p:nvSpPr>
          <p:cNvPr id="320" name="Text 320"/>
          <p:cNvSpPr txBox="1"/>
          <p:nvPr/>
        </p:nvSpPr>
        <p:spPr>
          <a:xfrm>
            <a:off x="6858000" y="46228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Family floater</a:t>
            </a:r>
          </a:p>
        </p:txBody>
      </p:sp>
      <p:sp>
        <p:nvSpPr>
          <p:cNvPr id="321" name="Text 321"/>
          <p:cNvSpPr txBox="1"/>
          <p:nvPr/>
        </p:nvSpPr>
        <p:spPr>
          <a:xfrm>
            <a:off x="6858000" y="49530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2F7D3A">
                    <a:alpha val="100000"/>
                  </a:srgbClr>
                </a:solidFill>
                <a:latin typeface="Barlow"/>
                <a:cs typeface="Barlow"/>
              </a:rPr>
              <a:t>{{cover_floater_status}}</a:t>
            </a:r>
          </a:p>
        </p:txBody>
      </p:sp>
      <p:sp>
        <p:nvSpPr>
          <p:cNvPr id="322" name="Text 322"/>
          <p:cNvSpPr txBox="1"/>
          <p:nvPr/>
        </p:nvSpPr>
        <p:spPr>
          <a:xfrm>
            <a:off x="6858000" y="58420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Super top-up</a:t>
            </a:r>
          </a:p>
        </p:txBody>
      </p:sp>
      <p:sp>
        <p:nvSpPr>
          <p:cNvPr id="323" name="Text 323"/>
          <p:cNvSpPr txBox="1"/>
          <p:nvPr/>
        </p:nvSpPr>
        <p:spPr>
          <a:xfrm>
            <a:off x="6858000" y="61722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8A6216">
                    <a:alpha val="100000"/>
                  </a:srgbClr>
                </a:solidFill>
                <a:latin typeface="Barlow"/>
                <a:cs typeface="Barlow"/>
              </a:rPr>
              <a:t>{{cover_topup_status}}</a:t>
            </a:r>
          </a:p>
        </p:txBody>
      </p:sp>
      <p:sp>
        <p:nvSpPr>
          <p:cNvPr id="324" name="Shape 324"/>
          <p:cNvSpPr/>
          <p:nvPr/>
        </p:nvSpPr>
        <p:spPr>
          <a:xfrm>
            <a:off x="12090400" y="2413000"/>
            <a:ext cx="5283200" cy="4775200"/>
          </a:xfrm>
          <a:prstGeom prst="rect">
            <a:avLst/>
          </a:prstGeom>
          <a:noFill/>
          <a:ln w="9525">
            <a:solidFill>
              <a:srgbClr val="1D1F20">
                <a:alpha val="22000"/>
              </a:srgbClr>
            </a:solidFill>
          </a:ln>
        </p:spPr>
        <p:txBody>
          <a:bodyPr/>
          <a:lstStyle/>
          <a:p>
            <a:endParaRPr/>
          </a:p>
        </p:txBody>
      </p:sp>
      <p:sp>
        <p:nvSpPr>
          <p:cNvPr id="325" name="Shape 325"/>
          <p:cNvSpPr/>
          <p:nvPr/>
        </p:nvSpPr>
        <p:spPr>
          <a:xfrm>
            <a:off x="12090400" y="2413000"/>
            <a:ext cx="5283200" cy="63500"/>
          </a:xfrm>
          <a:prstGeom prst="rect">
            <a:avLst/>
          </a:prstGeom>
          <a:solidFill>
            <a:srgbClr val="26306F"/>
          </a:solidFill>
          <a:ln>
            <a:noFill/>
          </a:ln>
        </p:spPr>
        <p:txBody>
          <a:bodyPr/>
          <a:lstStyle/>
          <a:p>
            <a:endParaRPr/>
          </a:p>
        </p:txBody>
      </p:sp>
      <p:sp>
        <p:nvSpPr>
          <p:cNvPr id="326" name="Text 326"/>
          <p:cNvSpPr txBox="1"/>
          <p:nvPr/>
        </p:nvSpPr>
        <p:spPr>
          <a:xfrm>
            <a:off x="13258800" y="2946400"/>
            <a:ext cx="3810000" cy="355600"/>
          </a:xfrm>
          <a:prstGeom prst="rect">
            <a:avLst/>
          </a:prstGeom>
          <a:noFill/>
        </p:spPr>
        <p:txBody>
          <a:bodyPr wrap="square" lIns="7200" tIns="0" rIns="0" bIns="0" anchor="t">
            <a:normAutofit/>
          </a:bodyPr>
          <a:lstStyle/>
          <a:p>
            <a:pPr marL="0" indent="0" algn="l">
              <a:buNone/>
            </a:pPr>
            <a:r>
              <a:rPr lang="en-US" sz="1700" b="1" kern="0" spc="250" dirty="0">
                <a:solidFill>
                  <a:srgbClr val="2A3480"/>
                </a:solidFill>
                <a:latin typeface="Barlow"/>
                <a:cs typeface="Barlow"/>
              </a:rPr>
              <a:t>CRITICAL ILLNESS &amp; RIDERS</a:t>
            </a:r>
          </a:p>
        </p:txBody>
      </p:sp>
      <p:sp>
        <p:nvSpPr>
          <p:cNvPr id="327" name="Text 327"/>
          <p:cNvSpPr txBox="1"/>
          <p:nvPr/>
        </p:nvSpPr>
        <p:spPr>
          <a:xfrm>
            <a:off x="12446000" y="3657600"/>
            <a:ext cx="4572000" cy="711200"/>
          </a:xfrm>
          <a:prstGeom prst="rect">
            <a:avLst/>
          </a:prstGeom>
          <a:noFill/>
        </p:spPr>
        <p:txBody>
          <a:bodyPr wrap="square" lIns="7200" tIns="0" rIns="0" bIns="0" anchor="t">
            <a:normAutofit/>
          </a:bodyPr>
          <a:lstStyle/>
          <a:p>
            <a:pPr marL="0" indent="0" algn="l">
              <a:lnSpc>
                <a:spcPct val="94000"/>
              </a:lnSpc>
              <a:buNone/>
            </a:pPr>
            <a:r>
              <a:rPr lang="en-US" sz="2200" b="1" kern="0" spc="-20" dirty="0">
                <a:solidFill>
                  <a:srgbClr val="1D1F20"/>
                </a:solidFill>
                <a:latin typeface="Barlow Condensed"/>
                <a:cs typeface="Barlow Condensed"/>
              </a:rPr>
              <a:t>Replaces income when illness stops it</a:t>
            </a:r>
          </a:p>
        </p:txBody>
      </p:sp>
      <p:sp>
        <p:nvSpPr>
          <p:cNvPr id="328" name="Shape 328"/>
          <p:cNvSpPr/>
          <p:nvPr/>
        </p:nvSpPr>
        <p:spPr>
          <a:xfrm>
            <a:off x="12446000" y="4368800"/>
            <a:ext cx="4572000" cy="12700"/>
          </a:xfrm>
          <a:prstGeom prst="rect">
            <a:avLst/>
          </a:prstGeom>
          <a:solidFill>
            <a:srgbClr val="1D1F20">
              <a:alpha val="25000"/>
            </a:srgbClr>
          </a:solidFill>
          <a:ln>
            <a:noFill/>
          </a:ln>
        </p:spPr>
        <p:txBody>
          <a:bodyPr/>
          <a:lstStyle/>
          <a:p>
            <a:endParaRPr/>
          </a:p>
        </p:txBody>
      </p:sp>
      <p:sp>
        <p:nvSpPr>
          <p:cNvPr id="329" name="Text 329"/>
          <p:cNvSpPr txBox="1"/>
          <p:nvPr/>
        </p:nvSpPr>
        <p:spPr>
          <a:xfrm>
            <a:off x="12446000" y="46228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Personal accident</a:t>
            </a:r>
          </a:p>
        </p:txBody>
      </p:sp>
      <p:sp>
        <p:nvSpPr>
          <p:cNvPr id="330" name="Text 330"/>
          <p:cNvSpPr txBox="1"/>
          <p:nvPr/>
        </p:nvSpPr>
        <p:spPr>
          <a:xfrm>
            <a:off x="12446000" y="49530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2F7D3A">
                    <a:alpha val="100000"/>
                  </a:srgbClr>
                </a:solidFill>
                <a:latin typeface="Barlow"/>
                <a:cs typeface="Barlow"/>
              </a:rPr>
              <a:t>{{cover_pa_status}}</a:t>
            </a:r>
          </a:p>
        </p:txBody>
      </p:sp>
      <p:sp>
        <p:nvSpPr>
          <p:cNvPr id="331" name="Text 331"/>
          <p:cNvSpPr txBox="1"/>
          <p:nvPr/>
        </p:nvSpPr>
        <p:spPr>
          <a:xfrm>
            <a:off x="12446000" y="54864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Critical illness</a:t>
            </a:r>
          </a:p>
        </p:txBody>
      </p:sp>
      <p:sp>
        <p:nvSpPr>
          <p:cNvPr id="332" name="Text 332"/>
          <p:cNvSpPr txBox="1"/>
          <p:nvPr/>
        </p:nvSpPr>
        <p:spPr>
          <a:xfrm>
            <a:off x="12446000" y="58166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8A6216">
                    <a:alpha val="100000"/>
                  </a:srgbClr>
                </a:solidFill>
                <a:latin typeface="Barlow"/>
                <a:cs typeface="Barlow"/>
              </a:rPr>
              <a:t>{{cover_ci_status}}</a:t>
            </a:r>
          </a:p>
        </p:txBody>
      </p:sp>
      <p:sp>
        <p:nvSpPr>
          <p:cNvPr id="333" name="Text 333"/>
          <p:cNvSpPr txBox="1"/>
          <p:nvPr/>
        </p:nvSpPr>
        <p:spPr>
          <a:xfrm>
            <a:off x="12446000" y="6350000"/>
            <a:ext cx="4572000" cy="3302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Waiver of premium</a:t>
            </a:r>
          </a:p>
        </p:txBody>
      </p:sp>
      <p:sp>
        <p:nvSpPr>
          <p:cNvPr id="334" name="Text 334"/>
          <p:cNvSpPr txBox="1"/>
          <p:nvPr/>
        </p:nvSpPr>
        <p:spPr>
          <a:xfrm>
            <a:off x="12446000" y="6680200"/>
            <a:ext cx="4572000" cy="558800"/>
          </a:xfrm>
          <a:prstGeom prst="rect">
            <a:avLst/>
          </a:prstGeom>
          <a:noFill/>
        </p:spPr>
        <p:txBody>
          <a:bodyPr wrap="square" lIns="7200" tIns="0" rIns="0" bIns="0" anchor="t">
            <a:normAutofit/>
          </a:bodyPr>
          <a:lstStyle/>
          <a:p>
            <a:pPr marL="0" indent="0" algn="l">
              <a:lnSpc>
                <a:spcPct val="120000"/>
              </a:lnSpc>
              <a:buNone/>
            </a:pPr>
            <a:r>
              <a:rPr lang="en-US" sz="1600" b="0" kern="0" dirty="0">
                <a:solidFill>
                  <a:srgbClr val="1D1F20">
                    <a:alpha val="78000"/>
                  </a:srgbClr>
                </a:solidFill>
                <a:latin typeface="Barlow"/>
                <a:cs typeface="Barlow"/>
              </a:rPr>
              <a:t>{{cover_waiver_status}}</a:t>
            </a:r>
          </a:p>
        </p:txBody>
      </p:sp>
      <p:sp>
        <p:nvSpPr>
          <p:cNvPr id="335" name="Shape 335"/>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336" name="Text 336"/>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337" name="Text 337"/>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{{cover_classification_comment}}</a:t>
            </a:r>
          </a:p>
        </p:txBody>
      </p:sp>
      <p:sp>
        <p:nvSpPr>
          <p:cNvPr id="338" name="Text 338"/>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339" name="Text 339"/>
          <p:cNvSpPr txBox="1"/>
          <p:nvPr/>
        </p:nvSpPr>
        <p:spPr>
          <a:xfrm>
            <a:off x="14833600" y="9474200"/>
            <a:ext cx="2540000" cy="393700"/>
          </a:xfrm>
          <a:prstGeom prst="rect">
            <a:avLst/>
          </a:prstGeom>
          <a:noFill/>
        </p:spPr>
        <p:txBody>
          <a:bodyPr wrap="none" lIns="7200" tIns="0" rIns="0" bIns="0" anchor="t">
            <a:normAutofit/>
          </a:bodyPr>
          <a:lstStyle/>
          <a:p>
            <a:pPr marL="0" indent="0" algn="r">
              <a:buNone/>
            </a:pPr>
            <a:r>
              <a:rPr lang="en-US" sz="1600" b="0" kern="0" dirty="0">
                <a:solidFill>
                  <a:srgbClr val="2A3480"/>
                </a:solidFill>
                <a:latin typeface="Barlow"/>
                <a:cs typeface="Barlow"/>
              </a:rPr>
              <a:t>{{page_no}} / {{page_total}}</a:t>
            </a:r>
          </a:p>
        </p:txBody>
      </p:sp>
    </p:spTree>
    <p:extLst>
      <p:ext uri="{BB962C8B-B14F-4D97-AF65-F5344CB8AC3E}">
        <p14:creationId xmlns:p14="http://schemas.microsoft.com/office/powerpoint/2010/main" val="10422016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PROTECTION PLAN · THE COVER GAP</a:t>
            </a:r>
          </a:p>
        </p:txBody>
      </p:sp>
      <p:sp>
        <p:nvSpPr>
          <p:cNvPr id="102" name="Text 102"/>
          <p:cNvSpPr txBox="1"/>
          <p:nvPr/>
        </p:nvSpPr>
        <p:spPr>
          <a:xfrm>
            <a:off x="914400" y="1092200"/>
            <a:ext cx="15748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{{cover_gap_headline}}</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914400" y="2489200"/>
            <a:ext cx="8890000" cy="381000"/>
          </a:xfrm>
          <a:prstGeom prst="rect">
            <a:avLst/>
          </a:prstGeom>
          <a:noFill/>
        </p:spPr>
        <p:txBody>
          <a:bodyPr wrap="square" lIns="7200" tIns="0" rIns="0" bIns="0" anchor="t">
            <a:normAutofit/>
          </a:bodyPr>
          <a:lstStyle/>
          <a:p>
            <a:pPr marL="0" indent="0" algn="l">
              <a:buNone/>
            </a:pPr>
            <a:r>
              <a:rPr lang="en-US" sz="1800" b="0" kern="0" dirty="0">
                <a:solidFill>
                  <a:srgbClr val="1D1F20">
                    <a:alpha val="80000"/>
                  </a:srgbClr>
                </a:solidFill>
                <a:latin typeface="Barlow"/>
                <a:cs typeface="Barlow"/>
              </a:rPr>
              <a:t>Life cover in force against the recommended level, ₹ crore</a:t>
            </a:r>
          </a:p>
        </p:txBody>
      </p:sp>
      <p:sp>
        <p:nvSpPr>
          <p:cNvPr id="105" name="Shape 105"/>
          <p:cNvSpPr/>
          <p:nvPr/>
        </p:nvSpPr>
        <p:spPr>
          <a:xfrm>
            <a:off x="10363200" y="2489200"/>
            <a:ext cx="7010400" cy="4622800"/>
          </a:xfrm>
          <a:prstGeom prst="rect">
            <a:avLst/>
          </a:prstGeom>
          <a:noFill/>
          <a:ln w="9525">
            <a:solidFill>
              <a:srgbClr val="1D1F20">
                <a:alpha val="22000"/>
              </a:srgbClr>
            </a:solidFill>
          </a:ln>
        </p:spPr>
        <p:txBody>
          <a:bodyPr/>
          <a:lstStyle/>
          <a:p>
            <a:endParaRPr/>
          </a:p>
        </p:txBody>
      </p:sp>
      <p:sp>
        <p:nvSpPr>
          <p:cNvPr id="106" name="Shape 106"/>
          <p:cNvSpPr/>
          <p:nvPr/>
        </p:nvSpPr>
        <p:spPr>
          <a:xfrm>
            <a:off x="10363200" y="2489200"/>
            <a:ext cx="7010400" cy="63500"/>
          </a:xfrm>
          <a:prstGeom prst="rect">
            <a:avLst/>
          </a:prstGeom>
          <a:solidFill>
            <a:srgbClr val="26306F"/>
          </a:solidFill>
          <a:ln>
            <a:noFill/>
          </a:ln>
        </p:spPr>
        <p:txBody>
          <a:bodyPr/>
          <a:lstStyle/>
          <a:p>
            <a:endParaRPr/>
          </a:p>
        </p:txBody>
      </p:sp>
      <p:sp>
        <p:nvSpPr>
          <p:cNvPr id="107" name="Text 107"/>
          <p:cNvSpPr txBox="1"/>
          <p:nvPr/>
        </p:nvSpPr>
        <p:spPr>
          <a:xfrm>
            <a:off x="10769600" y="2844800"/>
            <a:ext cx="6096000" cy="406400"/>
          </a:xfrm>
          <a:prstGeom prst="rect">
            <a:avLst/>
          </a:prstGeom>
          <a:noFill/>
        </p:spPr>
        <p:txBody>
          <a:bodyPr wrap="square" lIns="7200" tIns="0" rIns="0" bIns="0" anchor="t">
            <a:normAutofit/>
          </a:bodyPr>
          <a:lstStyle/>
          <a:p>
            <a:pPr marL="0" indent="0" algn="l">
              <a:buNone/>
            </a:pPr>
            <a:r>
              <a:rPr lang="en-US" sz="1700" b="1" kern="0" spc="300" dirty="0">
                <a:solidFill>
                  <a:srgbClr val="2A3480"/>
                </a:solidFill>
                <a:latin typeface="Barlow"/>
                <a:cs typeface="Barlow"/>
              </a:rPr>
              <a:t>WHAT THE GAP MEANS</a:t>
            </a:r>
          </a:p>
        </p:txBody>
      </p:sp>
      <p:sp>
        <p:nvSpPr>
          <p:cNvPr id="108" name="Text 108"/>
          <p:cNvSpPr txBox="1"/>
          <p:nvPr/>
        </p:nvSpPr>
        <p:spPr>
          <a:xfrm>
            <a:off x="10769600" y="3327400"/>
            <a:ext cx="3810000" cy="533400"/>
          </a:xfrm>
          <a:prstGeom prst="rect">
            <a:avLst/>
          </a:prstGeom>
          <a:noFill/>
        </p:spPr>
        <p:txBody>
          <a:bodyPr wrap="none" lIns="7200" tIns="0" rIns="0" bIns="0" anchor="t">
            <a:normAutofit/>
          </a:bodyPr>
          <a:lstStyle/>
          <a:p>
            <a:pPr marL="0" indent="0" algn="l">
              <a:buNone/>
            </a:pPr>
            <a:r>
              <a:rPr lang="en-US" sz="3000" b="1" kern="0" spc="-40" dirty="0">
                <a:solidFill>
                  <a:srgbClr val="2F7D3A"/>
                </a:solidFill>
                <a:latin typeface="Barlow Condensed"/>
                <a:cs typeface="Barlow Condensed"/>
              </a:rPr>
              <a:t>{{cover_gap}}</a:t>
            </a:r>
          </a:p>
        </p:txBody>
      </p:sp>
      <p:sp>
        <p:nvSpPr>
          <p:cNvPr id="109" name="Text 109"/>
          <p:cNvSpPr txBox="1"/>
          <p:nvPr/>
        </p:nvSpPr>
        <p:spPr>
          <a:xfrm>
            <a:off x="10769600" y="38608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short of the recommended cover</a:t>
            </a:r>
          </a:p>
        </p:txBody>
      </p:sp>
      <p:sp>
        <p:nvSpPr>
          <p:cNvPr id="110" name="Text 110"/>
          <p:cNvSpPr txBox="1"/>
          <p:nvPr/>
        </p:nvSpPr>
        <p:spPr>
          <a:xfrm>
            <a:off x="10769600" y="4216400"/>
            <a:ext cx="6096000" cy="558800"/>
          </a:xfrm>
          <a:prstGeom prst="rect">
            <a:avLst/>
          </a:prstGeom>
          <a:noFill/>
        </p:spPr>
        <p:txBody>
          <a:bodyPr wrap="square" lIns="7200" tIns="0" rIns="0" bIns="0" anchor="t">
            <a:normAutofit/>
          </a:bodyPr>
          <a:lstStyle/>
          <a:p>
            <a:pPr marL="0" indent="0" algn="l">
              <a:lnSpc>
                <a:spcPct val="118000"/>
              </a:lnSpc>
              <a:buNone/>
            </a:pPr>
            <a:r>
              <a:rPr lang="en-US" sz="1600" b="0" kern="0" dirty="0">
                <a:solidFill>
                  <a:srgbClr val="1D1F20">
                    <a:alpha val="80000"/>
                  </a:srgbClr>
                </a:solidFill>
                <a:latin typeface="Barlow"/>
                <a:cs typeface="Barlow"/>
              </a:rPr>
              <a:t>{{cover_gap_note}}</a:t>
            </a:r>
          </a:p>
        </p:txBody>
      </p:sp>
      <p:sp>
        <p:nvSpPr>
          <p:cNvPr id="112" name="Text 112"/>
          <p:cNvSpPr txBox="1"/>
          <p:nvPr/>
        </p:nvSpPr>
        <p:spPr>
          <a:xfrm>
            <a:off x="10769600" y="4546600"/>
            <a:ext cx="3810000" cy="533400"/>
          </a:xfrm>
          <a:prstGeom prst="rect">
            <a:avLst/>
          </a:prstGeom>
          <a:noFill/>
        </p:spPr>
        <p:txBody>
          <a:bodyPr wrap="none" lIns="7200" tIns="0" rIns="0" bIns="0" anchor="t">
            <a:normAutofit/>
          </a:bodyPr>
          <a:lstStyle/>
          <a:p>
            <a:pPr marL="0" indent="0" algn="l">
              <a:buNone/>
            </a:pPr>
            <a:r>
              <a:rPr lang="en-US" sz="3000" b="1" kern="0" spc="-40" dirty="0">
                <a:solidFill>
                  <a:srgbClr val="1D1F20"/>
                </a:solidFill>
                <a:latin typeface="Barlow Condensed"/>
                <a:cs typeface="Barlow Condensed"/>
              </a:rPr>
              <a:t>{{total_liabilities}}</a:t>
            </a:r>
          </a:p>
        </p:txBody>
      </p:sp>
      <p:sp>
        <p:nvSpPr>
          <p:cNvPr id="113" name="Text 113"/>
          <p:cNvSpPr txBox="1"/>
          <p:nvPr/>
        </p:nvSpPr>
        <p:spPr>
          <a:xfrm>
            <a:off x="10769600" y="50800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of debt the payout clears first</a:t>
            </a:r>
          </a:p>
        </p:txBody>
      </p:sp>
      <p:sp>
        <p:nvSpPr>
          <p:cNvPr id="114" name="Text 114"/>
          <p:cNvSpPr txBox="1"/>
          <p:nvPr/>
        </p:nvSpPr>
        <p:spPr>
          <a:xfrm>
            <a:off x="10769600" y="5435600"/>
            <a:ext cx="6096000" cy="558800"/>
          </a:xfrm>
          <a:prstGeom prst="rect">
            <a:avLst/>
          </a:prstGeom>
          <a:noFill/>
        </p:spPr>
        <p:txBody>
          <a:bodyPr wrap="square" lIns="7200" tIns="0" rIns="0" bIns="0" anchor="t">
            <a:normAutofit/>
          </a:bodyPr>
          <a:lstStyle/>
          <a:p>
            <a:pPr marL="0" indent="0" algn="l">
              <a:lnSpc>
                <a:spcPct val="118000"/>
              </a:lnSpc>
              <a:buNone/>
            </a:pPr>
            <a:r>
              <a:rPr lang="en-US" sz="1600" b="0" kern="0" dirty="0">
                <a:solidFill>
                  <a:srgbClr val="1D1F20">
                    <a:alpha val="80000"/>
                  </a:srgbClr>
                </a:solidFill>
                <a:latin typeface="Barlow"/>
                <a:cs typeface="Barlow"/>
              </a:rPr>
              <a:t>{{cover_debt_note}}</a:t>
            </a:r>
          </a:p>
        </p:txBody>
      </p:sp>
      <p:sp>
        <p:nvSpPr>
          <p:cNvPr id="116" name="Text 116"/>
          <p:cNvSpPr txBox="1"/>
          <p:nvPr/>
        </p:nvSpPr>
        <p:spPr>
          <a:xfrm>
            <a:off x="10769600" y="5765800"/>
            <a:ext cx="3810000" cy="533400"/>
          </a:xfrm>
          <a:prstGeom prst="rect">
            <a:avLst/>
          </a:prstGeom>
          <a:noFill/>
        </p:spPr>
        <p:txBody>
          <a:bodyPr wrap="none" lIns="7200" tIns="0" rIns="0" bIns="0" anchor="t">
            <a:normAutofit/>
          </a:bodyPr>
          <a:lstStyle/>
          <a:p>
            <a:pPr marL="0" indent="0" algn="l">
              <a:buNone/>
            </a:pPr>
            <a:r>
              <a:rPr lang="en-US" sz="3000" b="1" kern="0" spc="-40" dirty="0">
                <a:solidFill>
                  <a:srgbClr val="1D1F20"/>
                </a:solidFill>
                <a:latin typeface="Barlow Condensed"/>
                <a:cs typeface="Barlow Condensed"/>
              </a:rPr>
              <a:t>{{retirement_year}}</a:t>
            </a:r>
          </a:p>
        </p:txBody>
      </p:sp>
      <p:sp>
        <p:nvSpPr>
          <p:cNvPr id="117" name="Text 117"/>
          <p:cNvSpPr txBox="1"/>
          <p:nvPr/>
        </p:nvSpPr>
        <p:spPr>
          <a:xfrm>
            <a:off x="10769600" y="62992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the year cover must reach</a:t>
            </a:r>
          </a:p>
        </p:txBody>
      </p:sp>
      <p:sp>
        <p:nvSpPr>
          <p:cNvPr id="118" name="Text 118"/>
          <p:cNvSpPr txBox="1"/>
          <p:nvPr/>
        </p:nvSpPr>
        <p:spPr>
          <a:xfrm>
            <a:off x="10769600" y="6654800"/>
            <a:ext cx="6096000" cy="558800"/>
          </a:xfrm>
          <a:prstGeom prst="rect">
            <a:avLst/>
          </a:prstGeom>
          <a:noFill/>
        </p:spPr>
        <p:txBody>
          <a:bodyPr wrap="square" lIns="7200" tIns="0" rIns="0" bIns="0" anchor="t">
            <a:normAutofit/>
          </a:bodyPr>
          <a:lstStyle/>
          <a:p>
            <a:pPr marL="0" indent="0" algn="l">
              <a:lnSpc>
                <a:spcPct val="118000"/>
              </a:lnSpc>
              <a:buNone/>
            </a:pPr>
            <a:r>
              <a:rPr lang="en-US" sz="1600" b="0" kern="0" dirty="0">
                <a:solidFill>
                  <a:srgbClr val="1D1F20">
                    <a:alpha val="80000"/>
                  </a:srgbClr>
                </a:solidFill>
                <a:latin typeface="Barlow"/>
                <a:cs typeface="Barlow"/>
              </a:rPr>
              <a:t>Retirement year, when the earned income stops by design.</a:t>
            </a:r>
          </a:p>
        </p:txBody>
      </p:sp>
      <p:sp>
        <p:nvSpPr>
          <p:cNvPr id="119" name="Shape 119"/>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20" name="Text 120"/>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21" name="Text 121"/>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{{cover_gap_comment}}</a:t>
            </a:r>
          </a:p>
        </p:txBody>
      </p:sp>
      <p:sp>
        <p:nvSpPr>
          <p:cNvPr id="122" name="Text 122"/>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3" name="Text 123"/>
          <p:cNvSpPr txBox="1"/>
          <p:nvPr/>
        </p:nvSpPr>
        <p:spPr>
          <a:xfrm>
            <a:off x="14833600" y="9474200"/>
            <a:ext cx="2540000" cy="393700"/>
          </a:xfrm>
          <a:prstGeom prst="rect">
            <a:avLst/>
          </a:prstGeom>
          <a:noFill/>
        </p:spPr>
        <p:txBody>
          <a:bodyPr wrap="none" lIns="7200" tIns="0" rIns="0" bIns="0" anchor="t">
            <a:normAutofit/>
          </a:bodyPr>
          <a:lstStyle/>
          <a:p>
            <a:pPr marL="0" indent="0" algn="r">
              <a:buNone/>
            </a:pPr>
            <a:r>
              <a:rPr lang="en-US" sz="1600" b="0" kern="0" dirty="0">
                <a:solidFill>
                  <a:srgbClr val="2A3480"/>
                </a:solidFill>
                <a:latin typeface="Barlow"/>
                <a:cs typeface="Barlow"/>
              </a:rPr>
              <a:t>{{page_no}} / {{page_total}}</a:t>
            </a:r>
          </a:p>
        </p:txBody>
      </p:sp>
      <p:graphicFrame>
        <p:nvGraphicFramePr>
          <p:cNvPr id="124" name="Chart"/>
          <p:cNvGraphicFramePr/>
          <p:nvPr/>
        </p:nvGraphicFramePr>
        <p:xfrm>
          <a:off x="914400" y="2921000"/>
          <a:ext cx="8763000" cy="447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228469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PROTECTION PLAN · WHAT WE ARE SUGGESTING</a:t>
            </a:r>
          </a:p>
        </p:txBody>
      </p:sp>
      <p:sp>
        <p:nvSpPr>
          <p:cNvPr id="102" name="Text 102"/>
          <p:cNvSpPr txBox="1"/>
          <p:nvPr/>
        </p:nvSpPr>
        <p:spPr>
          <a:xfrm>
            <a:off x="914400" y="1092200"/>
            <a:ext cx="15748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{{cover_suggestion_headline}}</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Shape 104"/>
          <p:cNvSpPr/>
          <p:nvPr/>
        </p:nvSpPr>
        <p:spPr>
          <a:xfrm>
            <a:off x="914400" y="2489200"/>
            <a:ext cx="7721600" cy="4622800"/>
          </a:xfrm>
          <a:prstGeom prst="rect">
            <a:avLst/>
          </a:prstGeom>
          <a:noFill/>
          <a:ln w="9525">
            <a:solidFill>
              <a:srgbClr val="1D1F20">
                <a:alpha val="22000"/>
              </a:srgbClr>
            </a:solidFill>
          </a:ln>
        </p:spPr>
        <p:txBody>
          <a:bodyPr/>
          <a:lstStyle/>
          <a:p>
            <a:endParaRPr/>
          </a:p>
        </p:txBody>
      </p:sp>
      <p:sp>
        <p:nvSpPr>
          <p:cNvPr id="105" name="Shape 105"/>
          <p:cNvSpPr/>
          <p:nvPr/>
        </p:nvSpPr>
        <p:spPr>
          <a:xfrm>
            <a:off x="914400" y="2489200"/>
            <a:ext cx="7721600" cy="63500"/>
          </a:xfrm>
          <a:prstGeom prst="rect">
            <a:avLst/>
          </a:prstGeom>
          <a:solidFill>
            <a:srgbClr val="26306F"/>
          </a:solidFill>
          <a:ln>
            <a:noFill/>
          </a:ln>
        </p:spPr>
        <p:txBody>
          <a:bodyPr/>
          <a:lstStyle/>
          <a:p>
            <a:endParaRPr/>
          </a:p>
        </p:txBody>
      </p:sp>
      <p:sp>
        <p:nvSpPr>
          <p:cNvPr id="106" name="Text 106"/>
          <p:cNvSpPr txBox="1"/>
          <p:nvPr/>
        </p:nvSpPr>
        <p:spPr>
          <a:xfrm>
            <a:off x="1270000" y="2844800"/>
            <a:ext cx="5080000" cy="406400"/>
          </a:xfrm>
          <a:prstGeom prst="rect">
            <a:avLst/>
          </a:prstGeom>
          <a:noFill/>
        </p:spPr>
        <p:txBody>
          <a:bodyPr wrap="square" lIns="7200" tIns="0" rIns="0" bIns="0" anchor="t">
            <a:normAutofit/>
          </a:bodyPr>
          <a:lstStyle/>
          <a:p>
            <a:pPr marL="0" indent="0" algn="l">
              <a:buNone/>
            </a:pPr>
            <a:r>
              <a:rPr lang="en-US" sz="1700" b="1" kern="0" spc="300" dirty="0">
                <a:solidFill>
                  <a:srgbClr val="26306F"/>
                </a:solidFill>
                <a:latin typeface="Barlow"/>
                <a:cs typeface="Barlow"/>
              </a:rPr>
              <a:t>TODAY</a:t>
            </a:r>
          </a:p>
        </p:txBody>
      </p:sp>
      <p:sp>
        <p:nvSpPr>
          <p:cNvPr id="107" name="Text 107"/>
          <p:cNvSpPr txBox="1"/>
          <p:nvPr/>
        </p:nvSpPr>
        <p:spPr>
          <a:xfrm>
            <a:off x="1270000" y="3251200"/>
            <a:ext cx="6858000" cy="4064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Condensed"/>
                <a:cs typeface="Barlow Condensed"/>
              </a:rPr>
              <a:t>{{cover_today_summary}}</a:t>
            </a:r>
          </a:p>
        </p:txBody>
      </p:sp>
      <p:sp>
        <p:nvSpPr>
          <p:cNvPr id="108" name="Shape 108"/>
          <p:cNvSpPr/>
          <p:nvPr/>
        </p:nvSpPr>
        <p:spPr>
          <a:xfrm>
            <a:off x="1270000" y="3835400"/>
            <a:ext cx="7010400" cy="12700"/>
          </a:xfrm>
          <a:prstGeom prst="rect">
            <a:avLst/>
          </a:prstGeom>
          <a:solidFill>
            <a:srgbClr val="1D1F20">
              <a:alpha val="25000"/>
            </a:srgbClr>
          </a:solidFill>
          <a:ln>
            <a:noFill/>
          </a:ln>
        </p:spPr>
        <p:txBody>
          <a:bodyPr/>
          <a:lstStyle/>
          <a:p>
            <a:endParaRPr/>
          </a:p>
        </p:txBody>
      </p:sp>
      <p:sp>
        <p:nvSpPr>
          <p:cNvPr id="109" name="Text 109"/>
          <p:cNvSpPr txBox="1"/>
          <p:nvPr/>
        </p:nvSpPr>
        <p:spPr>
          <a:xfrm>
            <a:off x="1270000" y="40132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{{cover_today_1_label}}</a:t>
            </a:r>
          </a:p>
        </p:txBody>
      </p:sp>
      <p:sp>
        <p:nvSpPr>
          <p:cNvPr id="110" name="Text 110"/>
          <p:cNvSpPr txBox="1"/>
          <p:nvPr/>
        </p:nvSpPr>
        <p:spPr>
          <a:xfrm>
            <a:off x="4470400" y="4013200"/>
            <a:ext cx="2413000" cy="355600"/>
          </a:xfrm>
          <a:prstGeom prst="rect">
            <a:avLst/>
          </a:prstGeom>
          <a:noFill/>
        </p:spPr>
        <p:txBody>
          <a:bodyPr wrap="none" lIns="7200" tIns="0" rIns="0" bIns="0" anchor="t">
            <a:normAutofit/>
          </a:bodyPr>
          <a:lstStyle/>
          <a:p>
            <a:pPr marL="0" indent="0" algn="l">
              <a:buNone/>
            </a:pPr>
            <a:r>
              <a:rPr lang="en-US" sz="1800" b="1" kern="0" dirty="0">
                <a:solidFill>
                  <a:srgbClr val="1D1F20"/>
                </a:solidFill>
                <a:latin typeface="Barlow"/>
                <a:cs typeface="Barlow"/>
              </a:rPr>
              <a:t>{{cover_today_1_cover}}</a:t>
            </a:r>
          </a:p>
        </p:txBody>
      </p:sp>
      <p:sp>
        <p:nvSpPr>
          <p:cNvPr id="111" name="Text 111"/>
          <p:cNvSpPr txBox="1"/>
          <p:nvPr/>
        </p:nvSpPr>
        <p:spPr>
          <a:xfrm>
            <a:off x="5511800" y="4013200"/>
            <a:ext cx="2768600" cy="355600"/>
          </a:xfrm>
          <a:prstGeom prst="rect">
            <a:avLst/>
          </a:prstGeom>
          <a:noFill/>
        </p:spPr>
        <p:txBody>
          <a:bodyPr wrap="none" lIns="7200" tIns="0" rIns="0" bIns="0" anchor="t">
            <a:normAutofit/>
          </a:bodyPr>
          <a:lstStyle/>
          <a:p>
            <a:pPr marL="0" indent="0" algn="r">
              <a:buNone/>
            </a:pPr>
            <a:r>
              <a:rPr lang="en-US" sz="1800" b="0" kern="0" dirty="0">
                <a:solidFill>
                  <a:srgbClr val="1D1F20">
                    <a:alpha val="70000"/>
                  </a:srgbClr>
                </a:solidFill>
                <a:latin typeface="Barlow"/>
                <a:cs typeface="Barlow"/>
              </a:rPr>
              <a:t>{{cover_today_1_premium}}</a:t>
            </a:r>
          </a:p>
        </p:txBody>
      </p:sp>
      <p:sp>
        <p:nvSpPr>
          <p:cNvPr id="112" name="Shape 112"/>
          <p:cNvSpPr/>
          <p:nvPr/>
        </p:nvSpPr>
        <p:spPr>
          <a:xfrm>
            <a:off x="1270000" y="4470400"/>
            <a:ext cx="7010400" cy="12700"/>
          </a:xfrm>
          <a:prstGeom prst="rect">
            <a:avLst/>
          </a:prstGeom>
          <a:solidFill>
            <a:srgbClr val="1D1F20">
              <a:alpha val="25000"/>
            </a:srgbClr>
          </a:solidFill>
          <a:ln>
            <a:noFill/>
          </a:ln>
        </p:spPr>
        <p:txBody>
          <a:bodyPr/>
          <a:lstStyle/>
          <a:p>
            <a:endParaRPr/>
          </a:p>
        </p:txBody>
      </p:sp>
      <p:sp>
        <p:nvSpPr>
          <p:cNvPr id="113" name="Text 113"/>
          <p:cNvSpPr txBox="1"/>
          <p:nvPr/>
        </p:nvSpPr>
        <p:spPr>
          <a:xfrm>
            <a:off x="1270000" y="45720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{{cover_today_2_label}}</a:t>
            </a:r>
          </a:p>
        </p:txBody>
      </p:sp>
      <p:sp>
        <p:nvSpPr>
          <p:cNvPr id="114" name="Text 114"/>
          <p:cNvSpPr txBox="1"/>
          <p:nvPr/>
        </p:nvSpPr>
        <p:spPr>
          <a:xfrm>
            <a:off x="4470400" y="4572000"/>
            <a:ext cx="2413000" cy="355600"/>
          </a:xfrm>
          <a:prstGeom prst="rect">
            <a:avLst/>
          </a:prstGeom>
          <a:noFill/>
        </p:spPr>
        <p:txBody>
          <a:bodyPr wrap="none" lIns="7200" tIns="0" rIns="0" bIns="0" anchor="t">
            <a:normAutofit/>
          </a:bodyPr>
          <a:lstStyle/>
          <a:p>
            <a:pPr marL="0" indent="0" algn="l">
              <a:buNone/>
            </a:pPr>
            <a:r>
              <a:rPr lang="en-US" sz="1800" b="1" kern="0" dirty="0">
                <a:solidFill>
                  <a:srgbClr val="1D1F20"/>
                </a:solidFill>
                <a:latin typeface="Barlow"/>
                <a:cs typeface="Barlow"/>
              </a:rPr>
              <a:t>{{cover_today_2_cover}}</a:t>
            </a:r>
          </a:p>
        </p:txBody>
      </p:sp>
      <p:sp>
        <p:nvSpPr>
          <p:cNvPr id="115" name="Text 115"/>
          <p:cNvSpPr txBox="1"/>
          <p:nvPr/>
        </p:nvSpPr>
        <p:spPr>
          <a:xfrm>
            <a:off x="5511800" y="4572000"/>
            <a:ext cx="2768600" cy="355600"/>
          </a:xfrm>
          <a:prstGeom prst="rect">
            <a:avLst/>
          </a:prstGeom>
          <a:noFill/>
        </p:spPr>
        <p:txBody>
          <a:bodyPr wrap="none" lIns="7200" tIns="0" rIns="0" bIns="0" anchor="t">
            <a:normAutofit/>
          </a:bodyPr>
          <a:lstStyle/>
          <a:p>
            <a:pPr marL="0" indent="0" algn="r">
              <a:buNone/>
            </a:pPr>
            <a:r>
              <a:rPr lang="en-US" sz="1800" b="0" kern="0" dirty="0">
                <a:solidFill>
                  <a:srgbClr val="1D1F20">
                    <a:alpha val="70000"/>
                  </a:srgbClr>
                </a:solidFill>
                <a:latin typeface="Barlow"/>
                <a:cs typeface="Barlow"/>
              </a:rPr>
              <a:t>{{cover_today_2_premium}}</a:t>
            </a:r>
          </a:p>
        </p:txBody>
      </p:sp>
      <p:sp>
        <p:nvSpPr>
          <p:cNvPr id="116" name="Shape 116"/>
          <p:cNvSpPr/>
          <p:nvPr/>
        </p:nvSpPr>
        <p:spPr>
          <a:xfrm>
            <a:off x="1270000" y="5029200"/>
            <a:ext cx="7010400" cy="12700"/>
          </a:xfrm>
          <a:prstGeom prst="rect">
            <a:avLst/>
          </a:prstGeom>
          <a:solidFill>
            <a:srgbClr val="1D1F20">
              <a:alpha val="25000"/>
            </a:srgbClr>
          </a:solidFill>
          <a:ln>
            <a:noFill/>
          </a:ln>
        </p:spPr>
        <p:txBody>
          <a:bodyPr/>
          <a:lstStyle/>
          <a:p>
            <a:endParaRPr/>
          </a:p>
        </p:txBody>
      </p:sp>
      <p:sp>
        <p:nvSpPr>
          <p:cNvPr id="117" name="Text 117"/>
          <p:cNvSpPr txBox="1"/>
          <p:nvPr/>
        </p:nvSpPr>
        <p:spPr>
          <a:xfrm>
            <a:off x="1270000" y="51308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{{cover_today_3_label}}</a:t>
            </a:r>
          </a:p>
        </p:txBody>
      </p:sp>
      <p:sp>
        <p:nvSpPr>
          <p:cNvPr id="118" name="Text 118"/>
          <p:cNvSpPr txBox="1"/>
          <p:nvPr/>
        </p:nvSpPr>
        <p:spPr>
          <a:xfrm>
            <a:off x="4470400" y="5130800"/>
            <a:ext cx="24130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{{cover_today_3_cover}}</a:t>
            </a:r>
          </a:p>
        </p:txBody>
      </p:sp>
      <p:sp>
        <p:nvSpPr>
          <p:cNvPr id="119" name="Text 119"/>
          <p:cNvSpPr txBox="1"/>
          <p:nvPr/>
        </p:nvSpPr>
        <p:spPr>
          <a:xfrm>
            <a:off x="5511800" y="5130800"/>
            <a:ext cx="2768600" cy="355600"/>
          </a:xfrm>
          <a:prstGeom prst="rect">
            <a:avLst/>
          </a:prstGeom>
          <a:noFill/>
        </p:spPr>
        <p:txBody>
          <a:bodyPr wrap="none" lIns="7200" tIns="0" rIns="0" bIns="0" anchor="t">
            <a:normAutofit/>
          </a:bodyPr>
          <a:lstStyle/>
          <a:p>
            <a:pPr marL="0" indent="0" algn="r">
              <a:buNone/>
            </a:pPr>
            <a:r>
              <a:rPr lang="en-US" sz="1800" b="0" kern="0" dirty="0">
                <a:solidFill>
                  <a:srgbClr val="1D1F20">
                    <a:alpha val="70000"/>
                  </a:srgbClr>
                </a:solidFill>
                <a:latin typeface="Barlow"/>
                <a:cs typeface="Barlow"/>
              </a:rPr>
              <a:t>{{cover_today_3_premium}}</a:t>
            </a:r>
          </a:p>
        </p:txBody>
      </p:sp>
      <p:sp>
        <p:nvSpPr>
          <p:cNvPr id="120" name="Shape 120"/>
          <p:cNvSpPr/>
          <p:nvPr/>
        </p:nvSpPr>
        <p:spPr>
          <a:xfrm>
            <a:off x="1270000" y="5588000"/>
            <a:ext cx="7010400" cy="12700"/>
          </a:xfrm>
          <a:prstGeom prst="rect">
            <a:avLst/>
          </a:prstGeom>
          <a:solidFill>
            <a:srgbClr val="1D1F20">
              <a:alpha val="25000"/>
            </a:srgbClr>
          </a:solidFill>
          <a:ln>
            <a:noFill/>
          </a:ln>
        </p:spPr>
        <p:txBody>
          <a:bodyPr/>
          <a:lstStyle/>
          <a:p>
            <a:endParaRPr/>
          </a:p>
        </p:txBody>
      </p:sp>
      <p:sp>
        <p:nvSpPr>
          <p:cNvPr id="121" name="Text 121"/>
          <p:cNvSpPr txBox="1"/>
          <p:nvPr/>
        </p:nvSpPr>
        <p:spPr>
          <a:xfrm>
            <a:off x="1270000" y="56896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{{cover_today_4_label}}</a:t>
            </a:r>
          </a:p>
        </p:txBody>
      </p:sp>
      <p:sp>
        <p:nvSpPr>
          <p:cNvPr id="122" name="Text 122"/>
          <p:cNvSpPr txBox="1"/>
          <p:nvPr/>
        </p:nvSpPr>
        <p:spPr>
          <a:xfrm>
            <a:off x="4470400" y="5689600"/>
            <a:ext cx="2413000" cy="355600"/>
          </a:xfrm>
          <a:prstGeom prst="rect">
            <a:avLst/>
          </a:prstGeom>
          <a:noFill/>
        </p:spPr>
        <p:txBody>
          <a:bodyPr wrap="none" lIns="7200" tIns="0" rIns="0" bIns="0" anchor="t">
            <a:normAutofit/>
          </a:bodyPr>
          <a:lstStyle/>
          <a:p>
            <a:pPr marL="0" indent="0" algn="l">
              <a:buNone/>
            </a:pPr>
            <a:r>
              <a:rPr lang="en-US" sz="1800" b="1" kern="0" dirty="0">
                <a:solidFill>
                  <a:srgbClr val="1D1F20"/>
                </a:solidFill>
                <a:latin typeface="Barlow"/>
                <a:cs typeface="Barlow"/>
              </a:rPr>
              <a:t>{{cover_today_4_cover}}</a:t>
            </a:r>
          </a:p>
        </p:txBody>
      </p:sp>
      <p:sp>
        <p:nvSpPr>
          <p:cNvPr id="123" name="Text 123"/>
          <p:cNvSpPr txBox="1"/>
          <p:nvPr/>
        </p:nvSpPr>
        <p:spPr>
          <a:xfrm>
            <a:off x="5511800" y="5689600"/>
            <a:ext cx="2768600" cy="355600"/>
          </a:xfrm>
          <a:prstGeom prst="rect">
            <a:avLst/>
          </a:prstGeom>
          <a:noFill/>
        </p:spPr>
        <p:txBody>
          <a:bodyPr wrap="none" lIns="7200" tIns="0" rIns="0" bIns="0" anchor="t">
            <a:normAutofit/>
          </a:bodyPr>
          <a:lstStyle/>
          <a:p>
            <a:pPr marL="0" indent="0" algn="r">
              <a:buNone/>
            </a:pPr>
            <a:r>
              <a:rPr lang="en-US" sz="1800" b="0" kern="0" dirty="0">
                <a:solidFill>
                  <a:srgbClr val="1D1F20">
                    <a:alpha val="70000"/>
                  </a:srgbClr>
                </a:solidFill>
                <a:latin typeface="Barlow"/>
                <a:cs typeface="Barlow"/>
              </a:rPr>
              <a:t>{{cover_today_4_premium}}</a:t>
            </a:r>
          </a:p>
        </p:txBody>
      </p:sp>
      <p:sp>
        <p:nvSpPr>
          <p:cNvPr id="124" name="Shape 124"/>
          <p:cNvSpPr/>
          <p:nvPr/>
        </p:nvSpPr>
        <p:spPr>
          <a:xfrm>
            <a:off x="1270000" y="6146800"/>
            <a:ext cx="7010400" cy="12700"/>
          </a:xfrm>
          <a:prstGeom prst="rect">
            <a:avLst/>
          </a:prstGeom>
          <a:solidFill>
            <a:srgbClr val="1D1F20">
              <a:alpha val="25000"/>
            </a:srgbClr>
          </a:solidFill>
          <a:ln>
            <a:noFill/>
          </a:ln>
        </p:spPr>
        <p:txBody>
          <a:bodyPr/>
          <a:lstStyle/>
          <a:p>
            <a:endParaRPr/>
          </a:p>
        </p:txBody>
      </p:sp>
      <p:sp>
        <p:nvSpPr>
          <p:cNvPr id="125" name="Text 125"/>
          <p:cNvSpPr txBox="1"/>
          <p:nvPr/>
        </p:nvSpPr>
        <p:spPr>
          <a:xfrm>
            <a:off x="1270000" y="6375400"/>
            <a:ext cx="3810000" cy="4318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Total premium</a:t>
            </a:r>
          </a:p>
        </p:txBody>
      </p:sp>
      <p:sp>
        <p:nvSpPr>
          <p:cNvPr id="126" name="Text 126"/>
          <p:cNvSpPr txBox="1"/>
          <p:nvPr/>
        </p:nvSpPr>
        <p:spPr>
          <a:xfrm>
            <a:off x="5740400" y="6350000"/>
            <a:ext cx="2540000" cy="457200"/>
          </a:xfrm>
          <a:prstGeom prst="rect">
            <a:avLst/>
          </a:prstGeom>
          <a:noFill/>
        </p:spPr>
        <p:txBody>
          <a:bodyPr wrap="square" lIns="7200" tIns="0" rIns="0" bIns="0" anchor="t">
            <a:normAutofit/>
          </a:bodyPr>
          <a:lstStyle/>
          <a:p>
            <a:pPr marL="0" indent="0" algn="r">
              <a:buNone/>
            </a:pPr>
            <a:r>
              <a:rPr lang="en-US" sz="2200" b="1" kern="0" dirty="0">
                <a:solidFill>
                  <a:srgbClr val="26306F"/>
                </a:solidFill>
                <a:latin typeface="Barlow Condensed"/>
                <a:cs typeface="Barlow Condensed"/>
              </a:rPr>
              <a:t>{{cover_today_total}}</a:t>
            </a:r>
          </a:p>
        </p:txBody>
      </p:sp>
      <p:sp>
        <p:nvSpPr>
          <p:cNvPr id="127" name="Shape 127"/>
          <p:cNvSpPr/>
          <p:nvPr/>
        </p:nvSpPr>
        <p:spPr>
          <a:xfrm>
            <a:off x="9652000" y="2489200"/>
            <a:ext cx="7721600" cy="4622800"/>
          </a:xfrm>
          <a:prstGeom prst="rect">
            <a:avLst/>
          </a:prstGeom>
          <a:noFill/>
          <a:ln w="9525">
            <a:solidFill>
              <a:srgbClr val="1D1F20">
                <a:alpha val="22000"/>
              </a:srgbClr>
            </a:solidFill>
          </a:ln>
        </p:spPr>
        <p:txBody>
          <a:bodyPr/>
          <a:lstStyle/>
          <a:p>
            <a:endParaRPr/>
          </a:p>
        </p:txBody>
      </p:sp>
      <p:sp>
        <p:nvSpPr>
          <p:cNvPr id="128" name="Shape 128"/>
          <p:cNvSpPr/>
          <p:nvPr/>
        </p:nvSpPr>
        <p:spPr>
          <a:xfrm>
            <a:off x="9652000" y="2489200"/>
            <a:ext cx="7721600" cy="63500"/>
          </a:xfrm>
          <a:prstGeom prst="rect">
            <a:avLst/>
          </a:prstGeom>
          <a:solidFill>
            <a:srgbClr val="2F7D3A"/>
          </a:solidFill>
          <a:ln>
            <a:noFill/>
          </a:ln>
        </p:spPr>
        <p:txBody>
          <a:bodyPr/>
          <a:lstStyle/>
          <a:p>
            <a:endParaRPr/>
          </a:p>
        </p:txBody>
      </p:sp>
      <p:sp>
        <p:nvSpPr>
          <p:cNvPr id="129" name="Text 129"/>
          <p:cNvSpPr txBox="1"/>
          <p:nvPr/>
        </p:nvSpPr>
        <p:spPr>
          <a:xfrm>
            <a:off x="10007600" y="2844800"/>
            <a:ext cx="5080000" cy="406400"/>
          </a:xfrm>
          <a:prstGeom prst="rect">
            <a:avLst/>
          </a:prstGeom>
          <a:noFill/>
        </p:spPr>
        <p:txBody>
          <a:bodyPr wrap="square" lIns="7200" tIns="0" rIns="0" bIns="0" anchor="t">
            <a:normAutofit/>
          </a:bodyPr>
          <a:lstStyle/>
          <a:p>
            <a:pPr marL="0" indent="0" algn="l">
              <a:buNone/>
            </a:pPr>
            <a:r>
              <a:rPr lang="en-US" sz="1700" b="1" kern="0" spc="300" dirty="0">
                <a:solidFill>
                  <a:srgbClr val="2F7D3A"/>
                </a:solidFill>
                <a:latin typeface="Barlow"/>
                <a:cs typeface="Barlow"/>
              </a:rPr>
              <a:t>RECOMMENDED</a:t>
            </a:r>
          </a:p>
        </p:txBody>
      </p:sp>
      <p:sp>
        <p:nvSpPr>
          <p:cNvPr id="130" name="Text 130"/>
          <p:cNvSpPr txBox="1"/>
          <p:nvPr/>
        </p:nvSpPr>
        <p:spPr>
          <a:xfrm>
            <a:off x="10007600" y="3251200"/>
            <a:ext cx="6858000" cy="4064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Condensed"/>
                <a:cs typeface="Barlow Condensed"/>
              </a:rPr>
              <a:t>{{cover_rec_summary}}</a:t>
            </a:r>
          </a:p>
        </p:txBody>
      </p:sp>
      <p:sp>
        <p:nvSpPr>
          <p:cNvPr id="131" name="Shape 131"/>
          <p:cNvSpPr/>
          <p:nvPr/>
        </p:nvSpPr>
        <p:spPr>
          <a:xfrm>
            <a:off x="10007600" y="3835400"/>
            <a:ext cx="7010400" cy="12700"/>
          </a:xfrm>
          <a:prstGeom prst="rect">
            <a:avLst/>
          </a:prstGeom>
          <a:solidFill>
            <a:srgbClr val="1D1F20">
              <a:alpha val="25000"/>
            </a:srgbClr>
          </a:solidFill>
          <a:ln>
            <a:noFill/>
          </a:ln>
        </p:spPr>
        <p:txBody>
          <a:bodyPr/>
          <a:lstStyle/>
          <a:p>
            <a:endParaRPr/>
          </a:p>
        </p:txBody>
      </p:sp>
      <p:sp>
        <p:nvSpPr>
          <p:cNvPr id="132" name="Text 132"/>
          <p:cNvSpPr txBox="1"/>
          <p:nvPr/>
        </p:nvSpPr>
        <p:spPr>
          <a:xfrm>
            <a:off x="10007600" y="40132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{{cover_rec_1_label}}</a:t>
            </a:r>
          </a:p>
        </p:txBody>
      </p:sp>
      <p:sp>
        <p:nvSpPr>
          <p:cNvPr id="133" name="Text 133"/>
          <p:cNvSpPr txBox="1"/>
          <p:nvPr/>
        </p:nvSpPr>
        <p:spPr>
          <a:xfrm>
            <a:off x="13208000" y="4013200"/>
            <a:ext cx="2413000" cy="355600"/>
          </a:xfrm>
          <a:prstGeom prst="rect">
            <a:avLst/>
          </a:prstGeom>
          <a:noFill/>
        </p:spPr>
        <p:txBody>
          <a:bodyPr wrap="none" lIns="7200" tIns="0" rIns="0" bIns="0" anchor="t">
            <a:normAutofit/>
          </a:bodyPr>
          <a:lstStyle/>
          <a:p>
            <a:pPr marL="0" indent="0" algn="l">
              <a:buNone/>
            </a:pPr>
            <a:r>
              <a:rPr lang="en-US" sz="1800" b="1" kern="0" dirty="0">
                <a:solidFill>
                  <a:srgbClr val="1D1F20"/>
                </a:solidFill>
                <a:latin typeface="Barlow"/>
                <a:cs typeface="Barlow"/>
              </a:rPr>
              <a:t>{{cover_rec_1_cover}}</a:t>
            </a:r>
          </a:p>
        </p:txBody>
      </p:sp>
      <p:sp>
        <p:nvSpPr>
          <p:cNvPr id="134" name="Text 134"/>
          <p:cNvSpPr txBox="1"/>
          <p:nvPr/>
        </p:nvSpPr>
        <p:spPr>
          <a:xfrm>
            <a:off x="14249400" y="4013200"/>
            <a:ext cx="2768600" cy="355600"/>
          </a:xfrm>
          <a:prstGeom prst="rect">
            <a:avLst/>
          </a:prstGeom>
          <a:noFill/>
        </p:spPr>
        <p:txBody>
          <a:bodyPr wrap="none" lIns="7200" tIns="0" rIns="0" bIns="0" anchor="t">
            <a:normAutofit/>
          </a:bodyPr>
          <a:lstStyle/>
          <a:p>
            <a:pPr marL="0" indent="0" algn="r">
              <a:buNone/>
            </a:pPr>
            <a:r>
              <a:rPr lang="en-US" sz="1800" b="0" kern="0" dirty="0">
                <a:solidFill>
                  <a:srgbClr val="1D1F20">
                    <a:alpha val="70000"/>
                  </a:srgbClr>
                </a:solidFill>
                <a:latin typeface="Barlow"/>
                <a:cs typeface="Barlow"/>
              </a:rPr>
              <a:t>{{cover_rec_1_premium}}</a:t>
            </a:r>
          </a:p>
        </p:txBody>
      </p:sp>
      <p:sp>
        <p:nvSpPr>
          <p:cNvPr id="135" name="Shape 135"/>
          <p:cNvSpPr/>
          <p:nvPr/>
        </p:nvSpPr>
        <p:spPr>
          <a:xfrm>
            <a:off x="10007600" y="4470400"/>
            <a:ext cx="7010400" cy="12700"/>
          </a:xfrm>
          <a:prstGeom prst="rect">
            <a:avLst/>
          </a:prstGeom>
          <a:solidFill>
            <a:srgbClr val="1D1F20">
              <a:alpha val="25000"/>
            </a:srgbClr>
          </a:solidFill>
          <a:ln>
            <a:noFill/>
          </a:ln>
        </p:spPr>
        <p:txBody>
          <a:bodyPr/>
          <a:lstStyle/>
          <a:p>
            <a:endParaRPr/>
          </a:p>
        </p:txBody>
      </p:sp>
      <p:sp>
        <p:nvSpPr>
          <p:cNvPr id="136" name="Text 136"/>
          <p:cNvSpPr txBox="1"/>
          <p:nvPr/>
        </p:nvSpPr>
        <p:spPr>
          <a:xfrm>
            <a:off x="10007600" y="45720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{{cover_rec_2_label}}</a:t>
            </a:r>
          </a:p>
        </p:txBody>
      </p:sp>
      <p:sp>
        <p:nvSpPr>
          <p:cNvPr id="137" name="Text 137"/>
          <p:cNvSpPr txBox="1"/>
          <p:nvPr/>
        </p:nvSpPr>
        <p:spPr>
          <a:xfrm>
            <a:off x="13208000" y="4572000"/>
            <a:ext cx="2413000" cy="355600"/>
          </a:xfrm>
          <a:prstGeom prst="rect">
            <a:avLst/>
          </a:prstGeom>
          <a:noFill/>
        </p:spPr>
        <p:txBody>
          <a:bodyPr wrap="none" lIns="7200" tIns="0" rIns="0" bIns="0" anchor="t">
            <a:normAutofit/>
          </a:bodyPr>
          <a:lstStyle/>
          <a:p>
            <a:pPr marL="0" indent="0" algn="l">
              <a:buNone/>
            </a:pPr>
            <a:r>
              <a:rPr lang="en-US" sz="1800" b="1" kern="0" dirty="0">
                <a:solidFill>
                  <a:srgbClr val="1D1F20"/>
                </a:solidFill>
                <a:latin typeface="Barlow"/>
                <a:cs typeface="Barlow"/>
              </a:rPr>
              <a:t>{{cover_rec_2_cover}}</a:t>
            </a:r>
          </a:p>
        </p:txBody>
      </p:sp>
      <p:sp>
        <p:nvSpPr>
          <p:cNvPr id="138" name="Text 138"/>
          <p:cNvSpPr txBox="1"/>
          <p:nvPr/>
        </p:nvSpPr>
        <p:spPr>
          <a:xfrm>
            <a:off x="14249400" y="4572000"/>
            <a:ext cx="2768600" cy="355600"/>
          </a:xfrm>
          <a:prstGeom prst="rect">
            <a:avLst/>
          </a:prstGeom>
          <a:noFill/>
        </p:spPr>
        <p:txBody>
          <a:bodyPr wrap="none" lIns="7200" tIns="0" rIns="0" bIns="0" anchor="t">
            <a:normAutofit/>
          </a:bodyPr>
          <a:lstStyle/>
          <a:p>
            <a:pPr marL="0" indent="0" algn="r">
              <a:buNone/>
            </a:pPr>
            <a:r>
              <a:rPr lang="en-US" sz="1800" b="0" kern="0" dirty="0">
                <a:solidFill>
                  <a:srgbClr val="1D1F20">
                    <a:alpha val="70000"/>
                  </a:srgbClr>
                </a:solidFill>
                <a:latin typeface="Barlow"/>
                <a:cs typeface="Barlow"/>
              </a:rPr>
              <a:t>{{cover_rec_2_premium}}</a:t>
            </a:r>
          </a:p>
        </p:txBody>
      </p:sp>
      <p:sp>
        <p:nvSpPr>
          <p:cNvPr id="139" name="Shape 139"/>
          <p:cNvSpPr/>
          <p:nvPr/>
        </p:nvSpPr>
        <p:spPr>
          <a:xfrm>
            <a:off x="10007600" y="5029200"/>
            <a:ext cx="7010400" cy="12700"/>
          </a:xfrm>
          <a:prstGeom prst="rect">
            <a:avLst/>
          </a:prstGeom>
          <a:solidFill>
            <a:srgbClr val="1D1F20">
              <a:alpha val="25000"/>
            </a:srgbClr>
          </a:solidFill>
          <a:ln>
            <a:noFill/>
          </a:ln>
        </p:spPr>
        <p:txBody>
          <a:bodyPr/>
          <a:lstStyle/>
          <a:p>
            <a:endParaRPr/>
          </a:p>
        </p:txBody>
      </p:sp>
      <p:sp>
        <p:nvSpPr>
          <p:cNvPr id="140" name="Text 140"/>
          <p:cNvSpPr txBox="1"/>
          <p:nvPr/>
        </p:nvSpPr>
        <p:spPr>
          <a:xfrm>
            <a:off x="10007600" y="51308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{{cover_rec_3_label}}</a:t>
            </a:r>
          </a:p>
        </p:txBody>
      </p:sp>
      <p:sp>
        <p:nvSpPr>
          <p:cNvPr id="141" name="Text 141"/>
          <p:cNvSpPr txBox="1"/>
          <p:nvPr/>
        </p:nvSpPr>
        <p:spPr>
          <a:xfrm>
            <a:off x="13208000" y="5130800"/>
            <a:ext cx="2413000" cy="355600"/>
          </a:xfrm>
          <a:prstGeom prst="rect">
            <a:avLst/>
          </a:prstGeom>
          <a:noFill/>
        </p:spPr>
        <p:txBody>
          <a:bodyPr wrap="square" lIns="7200" tIns="0" rIns="0" bIns="0" anchor="t">
            <a:normAutofit fontScale="77500" lnSpcReduction="20000"/>
          </a:bodyPr>
          <a:lstStyle/>
          <a:p>
            <a:pPr marL="0" indent="0" algn="l">
              <a:buNone/>
            </a:pPr>
            <a:r>
              <a:rPr lang="en-US" sz="1800" b="1" kern="0" dirty="0">
                <a:solidFill>
                  <a:srgbClr val="1D1F20"/>
                </a:solidFill>
                <a:latin typeface="Barlow"/>
                <a:cs typeface="Barlow"/>
              </a:rPr>
              <a:t>{{cover_rec_3_cover}}</a:t>
            </a:r>
          </a:p>
        </p:txBody>
      </p:sp>
      <p:sp>
        <p:nvSpPr>
          <p:cNvPr id="142" name="Text 142"/>
          <p:cNvSpPr txBox="1"/>
          <p:nvPr/>
        </p:nvSpPr>
        <p:spPr>
          <a:xfrm>
            <a:off x="14249400" y="5130800"/>
            <a:ext cx="2768600" cy="355600"/>
          </a:xfrm>
          <a:prstGeom prst="rect">
            <a:avLst/>
          </a:prstGeom>
          <a:noFill/>
        </p:spPr>
        <p:txBody>
          <a:bodyPr wrap="none" lIns="7200" tIns="0" rIns="0" bIns="0" anchor="t">
            <a:normAutofit/>
          </a:bodyPr>
          <a:lstStyle/>
          <a:p>
            <a:pPr marL="0" indent="0" algn="r">
              <a:buNone/>
            </a:pPr>
            <a:r>
              <a:rPr lang="en-US" sz="1800" b="0" kern="0" dirty="0">
                <a:solidFill>
                  <a:srgbClr val="1D1F20">
                    <a:alpha val="70000"/>
                  </a:srgbClr>
                </a:solidFill>
                <a:latin typeface="Barlow"/>
                <a:cs typeface="Barlow"/>
              </a:rPr>
              <a:t>{{cover_rec_3_premium}}</a:t>
            </a:r>
          </a:p>
        </p:txBody>
      </p:sp>
      <p:sp>
        <p:nvSpPr>
          <p:cNvPr id="143" name="Shape 143"/>
          <p:cNvSpPr/>
          <p:nvPr/>
        </p:nvSpPr>
        <p:spPr>
          <a:xfrm>
            <a:off x="10007600" y="5588000"/>
            <a:ext cx="7010400" cy="12700"/>
          </a:xfrm>
          <a:prstGeom prst="rect">
            <a:avLst/>
          </a:prstGeom>
          <a:solidFill>
            <a:srgbClr val="1D1F20">
              <a:alpha val="25000"/>
            </a:srgbClr>
          </a:solidFill>
          <a:ln>
            <a:noFill/>
          </a:ln>
        </p:spPr>
        <p:txBody>
          <a:bodyPr/>
          <a:lstStyle/>
          <a:p>
            <a:endParaRPr/>
          </a:p>
        </p:txBody>
      </p:sp>
      <p:sp>
        <p:nvSpPr>
          <p:cNvPr id="144" name="Text 144"/>
          <p:cNvSpPr txBox="1"/>
          <p:nvPr/>
        </p:nvSpPr>
        <p:spPr>
          <a:xfrm>
            <a:off x="10007600" y="5689600"/>
            <a:ext cx="3302000" cy="355600"/>
          </a:xfrm>
          <a:prstGeom prst="rect">
            <a:avLst/>
          </a:prstGeom>
          <a:noFill/>
        </p:spPr>
        <p:txBody>
          <a:bodyPr wrap="square" lIns="7200" tIns="0" rIns="0" bIns="0" anchor="t">
            <a:normAutofit/>
          </a:bodyPr>
          <a:lstStyle/>
          <a:p>
            <a:pPr marL="0" indent="0" algn="l">
              <a:buNone/>
            </a:pPr>
            <a:r>
              <a:rPr lang="en-US" sz="1800" b="0" kern="0" dirty="0">
                <a:solidFill>
                  <a:srgbClr val="1D1F20">
                    <a:alpha val="88000"/>
                  </a:srgbClr>
                </a:solidFill>
                <a:latin typeface="Barlow"/>
                <a:cs typeface="Barlow"/>
              </a:rPr>
              <a:t>{{cover_rec_4_label}}</a:t>
            </a:r>
          </a:p>
        </p:txBody>
      </p:sp>
      <p:sp>
        <p:nvSpPr>
          <p:cNvPr id="145" name="Text 145"/>
          <p:cNvSpPr txBox="1"/>
          <p:nvPr/>
        </p:nvSpPr>
        <p:spPr>
          <a:xfrm>
            <a:off x="13208000" y="5689600"/>
            <a:ext cx="2413000" cy="355600"/>
          </a:xfrm>
          <a:prstGeom prst="rect">
            <a:avLst/>
          </a:prstGeom>
          <a:noFill/>
        </p:spPr>
        <p:txBody>
          <a:bodyPr wrap="none" lIns="7200" tIns="0" rIns="0" bIns="0" anchor="t">
            <a:normAutofit/>
          </a:bodyPr>
          <a:lstStyle/>
          <a:p>
            <a:pPr marL="0" indent="0" algn="l">
              <a:buNone/>
            </a:pPr>
            <a:r>
              <a:rPr lang="en-US" sz="1800" b="1" kern="0" dirty="0">
                <a:solidFill>
                  <a:srgbClr val="1D1F20"/>
                </a:solidFill>
                <a:latin typeface="Barlow"/>
                <a:cs typeface="Barlow"/>
              </a:rPr>
              <a:t>{{cover_rec_4_cover}}</a:t>
            </a:r>
          </a:p>
        </p:txBody>
      </p:sp>
      <p:sp>
        <p:nvSpPr>
          <p:cNvPr id="146" name="Text 146"/>
          <p:cNvSpPr txBox="1"/>
          <p:nvPr/>
        </p:nvSpPr>
        <p:spPr>
          <a:xfrm>
            <a:off x="14249400" y="5689600"/>
            <a:ext cx="2768600" cy="355600"/>
          </a:xfrm>
          <a:prstGeom prst="rect">
            <a:avLst/>
          </a:prstGeom>
          <a:noFill/>
        </p:spPr>
        <p:txBody>
          <a:bodyPr wrap="none" lIns="7200" tIns="0" rIns="0" bIns="0" anchor="t">
            <a:normAutofit/>
          </a:bodyPr>
          <a:lstStyle/>
          <a:p>
            <a:pPr marL="0" indent="0" algn="r">
              <a:buNone/>
            </a:pPr>
            <a:r>
              <a:rPr lang="en-US" sz="1800" b="0" kern="0" dirty="0">
                <a:solidFill>
                  <a:srgbClr val="1D1F20">
                    <a:alpha val="70000"/>
                  </a:srgbClr>
                </a:solidFill>
                <a:latin typeface="Barlow"/>
                <a:cs typeface="Barlow"/>
              </a:rPr>
              <a:t>{{cover_rec_4_premium}}</a:t>
            </a:r>
          </a:p>
        </p:txBody>
      </p:sp>
      <p:sp>
        <p:nvSpPr>
          <p:cNvPr id="147" name="Shape 147"/>
          <p:cNvSpPr/>
          <p:nvPr/>
        </p:nvSpPr>
        <p:spPr>
          <a:xfrm>
            <a:off x="10007600" y="6146800"/>
            <a:ext cx="7010400" cy="12700"/>
          </a:xfrm>
          <a:prstGeom prst="rect">
            <a:avLst/>
          </a:prstGeom>
          <a:solidFill>
            <a:srgbClr val="1D1F20">
              <a:alpha val="25000"/>
            </a:srgbClr>
          </a:solidFill>
          <a:ln>
            <a:noFill/>
          </a:ln>
        </p:spPr>
        <p:txBody>
          <a:bodyPr/>
          <a:lstStyle/>
          <a:p>
            <a:endParaRPr/>
          </a:p>
        </p:txBody>
      </p:sp>
      <p:sp>
        <p:nvSpPr>
          <p:cNvPr id="148" name="Text 148"/>
          <p:cNvSpPr txBox="1"/>
          <p:nvPr/>
        </p:nvSpPr>
        <p:spPr>
          <a:xfrm>
            <a:off x="10007600" y="6375400"/>
            <a:ext cx="3810000" cy="4318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Total premium</a:t>
            </a:r>
          </a:p>
        </p:txBody>
      </p:sp>
      <p:sp>
        <p:nvSpPr>
          <p:cNvPr id="149" name="Text 149"/>
          <p:cNvSpPr txBox="1"/>
          <p:nvPr/>
        </p:nvSpPr>
        <p:spPr>
          <a:xfrm>
            <a:off x="14478000" y="6350000"/>
            <a:ext cx="2540000" cy="457200"/>
          </a:xfrm>
          <a:prstGeom prst="rect">
            <a:avLst/>
          </a:prstGeom>
          <a:noFill/>
        </p:spPr>
        <p:txBody>
          <a:bodyPr wrap="square" lIns="7200" tIns="0" rIns="0" bIns="0" anchor="t">
            <a:normAutofit/>
          </a:bodyPr>
          <a:lstStyle/>
          <a:p>
            <a:pPr marL="0" indent="0" algn="r">
              <a:buNone/>
            </a:pPr>
            <a:r>
              <a:rPr lang="en-US" sz="2200" b="1" kern="0" dirty="0">
                <a:solidFill>
                  <a:srgbClr val="2F7D3A"/>
                </a:solidFill>
                <a:latin typeface="Barlow Condensed"/>
                <a:cs typeface="Barlow Condensed"/>
              </a:rPr>
              <a:t>{{cover_rec_total}}</a:t>
            </a:r>
          </a:p>
        </p:txBody>
      </p:sp>
      <p:sp>
        <p:nvSpPr>
          <p:cNvPr id="150" name="Shape 150"/>
          <p:cNvSpPr/>
          <p:nvPr/>
        </p:nvSpPr>
        <p:spPr>
          <a:xfrm>
            <a:off x="8763000" y="4470400"/>
            <a:ext cx="635000" cy="660400"/>
          </a:xfrm>
          <a:prstGeom prst="rightArrow">
            <a:avLst>
              <a:gd name="adj1" fmla="val 55000"/>
              <a:gd name="adj2" fmla="val 50000"/>
            </a:avLst>
          </a:prstGeom>
          <a:solidFill>
            <a:srgbClr val="2F7D3A"/>
          </a:solidFill>
          <a:ln>
            <a:noFill/>
          </a:ln>
        </p:spPr>
        <p:txBody>
          <a:bodyPr/>
          <a:lstStyle/>
          <a:p>
            <a:endParaRPr/>
          </a:p>
        </p:txBody>
      </p:sp>
      <p:sp>
        <p:nvSpPr>
          <p:cNvPr id="152" name="Shape 152"/>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53" name="Text 153"/>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54" name="Text 154"/>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{{cover_suggestion_comment}}</a:t>
            </a:r>
          </a:p>
        </p:txBody>
      </p:sp>
      <p:sp>
        <p:nvSpPr>
          <p:cNvPr id="155" name="Text 155"/>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56" name="Text 156"/>
          <p:cNvSpPr txBox="1"/>
          <p:nvPr/>
        </p:nvSpPr>
        <p:spPr>
          <a:xfrm>
            <a:off x="14833600" y="9474200"/>
            <a:ext cx="2540000" cy="393700"/>
          </a:xfrm>
          <a:prstGeom prst="rect">
            <a:avLst/>
          </a:prstGeom>
          <a:noFill/>
        </p:spPr>
        <p:txBody>
          <a:bodyPr wrap="none" lIns="7200" tIns="0" rIns="0" bIns="0" anchor="t">
            <a:normAutofit/>
          </a:bodyPr>
          <a:lstStyle/>
          <a:p>
            <a:pPr marL="0" indent="0" algn="r">
              <a:buNone/>
            </a:pPr>
            <a:r>
              <a:rPr lang="en-US" sz="1600" b="0" kern="0" dirty="0">
                <a:solidFill>
                  <a:srgbClr val="2A3480"/>
                </a:solidFill>
                <a:latin typeface="Barlow"/>
                <a:cs typeface="Barlow"/>
              </a:rPr>
              <a:t>{{page_no}} / {{page_total}}</a:t>
            </a:r>
          </a:p>
        </p:txBody>
      </p:sp>
    </p:spTree>
    <p:extLst>
      <p:ext uri="{BB962C8B-B14F-4D97-AF65-F5344CB8AC3E}">
        <p14:creationId xmlns:p14="http://schemas.microsoft.com/office/powerpoint/2010/main" val="33892833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2F2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
          </a:blip>
          <a:srcRect t="5882" b="5882"/>
          <a:stretch/>
        </p:blipFill>
        <p:spPr>
          <a:xfrm>
            <a:off x="0" y="0"/>
            <a:ext cx="18287930" cy="10287001"/>
          </a:xfrm>
          <a:prstGeom prst="rect">
            <a:avLst/>
          </a:prstGeom>
        </p:spPr>
      </p:pic>
      <p:sp>
        <p:nvSpPr>
          <p:cNvPr id="3" name="Text 0"/>
          <p:cNvSpPr/>
          <p:nvPr/>
        </p:nvSpPr>
        <p:spPr>
          <a:xfrm>
            <a:off x="914372" y="571429"/>
            <a:ext cx="4088798"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LIQUID ASSETS</a:t>
            </a:r>
            <a:endParaRPr lang="en-US" sz="2100" b="1" dirty="0">
              <a:solidFill>
                <a:srgbClr val="2A3480"/>
              </a:solidFill>
              <a:latin typeface="Barlow"/>
            </a:endParaRPr>
          </a:p>
        </p:txBody>
      </p:sp>
      <p:sp>
        <p:nvSpPr>
          <p:cNvPr id="4" name="Text 1"/>
          <p:cNvSpPr/>
          <p:nvPr/>
        </p:nvSpPr>
        <p:spPr>
          <a:xfrm>
            <a:off x="914372" y="1088501"/>
            <a:ext cx="4088798"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Fixed Deposits</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7" name="Shape 3"/>
          <p:cNvSpPr/>
          <p:nvPr/>
        </p:nvSpPr>
        <p:spPr>
          <a:xfrm>
            <a:off x="914372" y="2903070"/>
            <a:ext cx="3564150" cy="9525"/>
          </a:xfrm>
          <a:prstGeom prst="rect">
            <a:avLst/>
          </a:prstGeom>
          <a:solidFill>
            <a:srgbClr val="1F1F1F">
              <a:alpha val="16000"/>
            </a:srgbClr>
          </a:solidFill>
          <a:ln/>
        </p:spPr>
        <p:txBody>
          <a:bodyPr/>
          <a:lstStyle/>
          <a:p>
            <a:endParaRPr lang="en-US"/>
          </a:p>
        </p:txBody>
      </p:sp>
      <p:sp>
        <p:nvSpPr>
          <p:cNvPr id="8" name="Text 4"/>
          <p:cNvSpPr/>
          <p:nvPr/>
        </p:nvSpPr>
        <p:spPr>
          <a:xfrm>
            <a:off x="914372" y="2439010"/>
            <a:ext cx="3671075"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BANK / ISSUER</a:t>
            </a:r>
            <a:endParaRPr lang="en-US" sz="2100" dirty="0"/>
          </a:p>
        </p:txBody>
      </p:sp>
      <p:sp>
        <p:nvSpPr>
          <p:cNvPr id="9" name="Shape 5"/>
          <p:cNvSpPr/>
          <p:nvPr/>
        </p:nvSpPr>
        <p:spPr>
          <a:xfrm>
            <a:off x="4478522" y="2903070"/>
            <a:ext cx="1772330" cy="9525"/>
          </a:xfrm>
          <a:prstGeom prst="rect">
            <a:avLst/>
          </a:prstGeom>
          <a:solidFill>
            <a:srgbClr val="1F1F1F">
              <a:alpha val="16000"/>
            </a:srgbClr>
          </a:solidFill>
          <a:ln/>
        </p:spPr>
        <p:txBody>
          <a:bodyPr/>
          <a:lstStyle/>
          <a:p>
            <a:endParaRPr lang="en-US"/>
          </a:p>
        </p:txBody>
      </p:sp>
      <p:sp>
        <p:nvSpPr>
          <p:cNvPr id="10" name="Text 6"/>
          <p:cNvSpPr/>
          <p:nvPr/>
        </p:nvSpPr>
        <p:spPr>
          <a:xfrm>
            <a:off x="4478522" y="2439010"/>
            <a:ext cx="1848530"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AMOUNT</a:t>
            </a:r>
            <a:endParaRPr lang="en-US" sz="2100" dirty="0"/>
          </a:p>
        </p:txBody>
      </p:sp>
      <p:sp>
        <p:nvSpPr>
          <p:cNvPr id="11" name="Shape 7"/>
          <p:cNvSpPr/>
          <p:nvPr/>
        </p:nvSpPr>
        <p:spPr>
          <a:xfrm>
            <a:off x="6250853" y="2903070"/>
            <a:ext cx="2103792" cy="9525"/>
          </a:xfrm>
          <a:prstGeom prst="rect">
            <a:avLst/>
          </a:prstGeom>
          <a:solidFill>
            <a:srgbClr val="1F1F1F">
              <a:alpha val="16000"/>
            </a:srgbClr>
          </a:solidFill>
          <a:ln/>
        </p:spPr>
        <p:txBody>
          <a:bodyPr/>
          <a:lstStyle/>
          <a:p>
            <a:endParaRPr lang="en-US"/>
          </a:p>
        </p:txBody>
      </p:sp>
      <p:sp>
        <p:nvSpPr>
          <p:cNvPr id="12" name="Text 8"/>
          <p:cNvSpPr/>
          <p:nvPr/>
        </p:nvSpPr>
        <p:spPr>
          <a:xfrm>
            <a:off x="6250853" y="2439010"/>
            <a:ext cx="2179992"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INTEREST RATE</a:t>
            </a:r>
            <a:endParaRPr lang="en-US" sz="2100" dirty="0"/>
          </a:p>
        </p:txBody>
      </p:sp>
      <p:sp>
        <p:nvSpPr>
          <p:cNvPr id="13" name="Shape 9"/>
          <p:cNvSpPr/>
          <p:nvPr/>
        </p:nvSpPr>
        <p:spPr>
          <a:xfrm>
            <a:off x="8354645" y="2903070"/>
            <a:ext cx="2123777" cy="9525"/>
          </a:xfrm>
          <a:prstGeom prst="rect">
            <a:avLst/>
          </a:prstGeom>
          <a:solidFill>
            <a:srgbClr val="1F1F1F">
              <a:alpha val="16000"/>
            </a:srgbClr>
          </a:solidFill>
          <a:ln/>
        </p:spPr>
        <p:txBody>
          <a:bodyPr/>
          <a:lstStyle/>
          <a:p>
            <a:endParaRPr lang="en-US"/>
          </a:p>
        </p:txBody>
      </p:sp>
      <p:sp>
        <p:nvSpPr>
          <p:cNvPr id="14" name="Text 10"/>
          <p:cNvSpPr/>
          <p:nvPr/>
        </p:nvSpPr>
        <p:spPr>
          <a:xfrm>
            <a:off x="8354645" y="2439010"/>
            <a:ext cx="2199977"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MATURITY DATE</a:t>
            </a:r>
            <a:endParaRPr lang="en-US" sz="2100" dirty="0"/>
          </a:p>
        </p:txBody>
      </p:sp>
      <p:sp>
        <p:nvSpPr>
          <p:cNvPr id="15" name="Shape 11"/>
          <p:cNvSpPr/>
          <p:nvPr/>
        </p:nvSpPr>
        <p:spPr>
          <a:xfrm>
            <a:off x="10478422" y="2903070"/>
            <a:ext cx="6895137" cy="9525"/>
          </a:xfrm>
          <a:prstGeom prst="rect">
            <a:avLst/>
          </a:prstGeom>
          <a:solidFill>
            <a:srgbClr val="1F1F1F">
              <a:alpha val="16000"/>
            </a:srgbClr>
          </a:solidFill>
          <a:ln/>
        </p:spPr>
        <p:txBody>
          <a:bodyPr/>
          <a:lstStyle/>
          <a:p>
            <a:endParaRPr lang="en-US"/>
          </a:p>
        </p:txBody>
      </p:sp>
      <p:sp>
        <p:nvSpPr>
          <p:cNvPr id="16" name="Text 12"/>
          <p:cNvSpPr/>
          <p:nvPr/>
        </p:nvSpPr>
        <p:spPr>
          <a:xfrm>
            <a:off x="10478422" y="2439010"/>
            <a:ext cx="7101991" cy="387860"/>
          </a:xfrm>
          <a:prstGeom prst="rect">
            <a:avLst/>
          </a:prstGeom>
          <a:noFill/>
          <a:ln/>
        </p:spPr>
        <p:txBody>
          <a:bodyPr wrap="square" lIns="25400" tIns="25400" rIns="25400" bIns="25400" rtlCol="0" anchor="ctr">
            <a:normAutofit fontScale="92500" lnSpcReduction="10000"/>
          </a:bodyPr>
          <a:lstStyle/>
          <a:p>
            <a:pPr marL="0" indent="0" algn="l">
              <a:lnSpc>
                <a:spcPct val="130200"/>
              </a:lnSpc>
              <a:buNone/>
            </a:pPr>
            <a:r>
              <a:rPr lang="en-US" sz="2100" b="1" kern="0" spc="144" dirty="0">
                <a:solidFill>
                  <a:srgbClr val="1C2020">
                    <a:alpha val="90000"/>
                  </a:srgbClr>
                </a:solidFill>
                <a:latin typeface="Barlow" pitchFamily="34" charset="0"/>
                <a:ea typeface="Barlow" pitchFamily="34" charset="-122"/>
                <a:cs typeface="Barlow" pitchFamily="34" charset="-120"/>
              </a:rPr>
              <a:t>REMARKS</a:t>
            </a:r>
            <a:endParaRPr lang="en-US" sz="2100" dirty="0"/>
          </a:p>
        </p:txBody>
      </p:sp>
      <p:sp>
        <p:nvSpPr>
          <p:cNvPr id="17" name="Shape 13"/>
          <p:cNvSpPr/>
          <p:nvPr/>
        </p:nvSpPr>
        <p:spPr>
          <a:xfrm>
            <a:off x="914372" y="3678748"/>
            <a:ext cx="3564150" cy="9525"/>
          </a:xfrm>
          <a:prstGeom prst="rect">
            <a:avLst/>
          </a:prstGeom>
          <a:solidFill>
            <a:srgbClr val="1A1A26">
              <a:alpha val="8000"/>
            </a:srgbClr>
          </a:solidFill>
          <a:ln/>
        </p:spPr>
        <p:txBody>
          <a:bodyPr/>
          <a:lstStyle/>
          <a:p>
            <a:endParaRPr lang="en-US"/>
          </a:p>
        </p:txBody>
      </p:sp>
      <p:sp>
        <p:nvSpPr>
          <p:cNvPr id="18" name="Text 14"/>
          <p:cNvSpPr/>
          <p:nvPr/>
        </p:nvSpPr>
        <p:spPr>
          <a:xfrm>
            <a:off x="914372" y="3074066"/>
            <a:ext cx="3518675"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{{fd_1_issuer}}</a:t>
            </a:r>
            <a:endParaRPr lang="en-US" sz="2250" dirty="0"/>
          </a:p>
        </p:txBody>
      </p:sp>
      <p:sp>
        <p:nvSpPr>
          <p:cNvPr id="19" name="Shape 15"/>
          <p:cNvSpPr/>
          <p:nvPr/>
        </p:nvSpPr>
        <p:spPr>
          <a:xfrm>
            <a:off x="4478522" y="3678748"/>
            <a:ext cx="1772330" cy="9525"/>
          </a:xfrm>
          <a:prstGeom prst="rect">
            <a:avLst/>
          </a:prstGeom>
          <a:solidFill>
            <a:srgbClr val="1A1A26">
              <a:alpha val="8000"/>
            </a:srgbClr>
          </a:solidFill>
          <a:ln/>
        </p:spPr>
        <p:txBody>
          <a:bodyPr/>
          <a:lstStyle/>
          <a:p>
            <a:endParaRPr lang="en-US"/>
          </a:p>
        </p:txBody>
      </p:sp>
      <p:sp>
        <p:nvSpPr>
          <p:cNvPr id="20" name="Text 16"/>
          <p:cNvSpPr/>
          <p:nvPr/>
        </p:nvSpPr>
        <p:spPr>
          <a:xfrm>
            <a:off x="4478522" y="3074066"/>
            <a:ext cx="1696130"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{{fd_1_amount}}</a:t>
            </a:r>
            <a:endParaRPr lang="en-US" sz="2250" dirty="0"/>
          </a:p>
        </p:txBody>
      </p:sp>
      <p:sp>
        <p:nvSpPr>
          <p:cNvPr id="21" name="Shape 17"/>
          <p:cNvSpPr/>
          <p:nvPr/>
        </p:nvSpPr>
        <p:spPr>
          <a:xfrm>
            <a:off x="6250853" y="3678748"/>
            <a:ext cx="2103792" cy="9525"/>
          </a:xfrm>
          <a:prstGeom prst="rect">
            <a:avLst/>
          </a:prstGeom>
          <a:solidFill>
            <a:srgbClr val="1A1A26">
              <a:alpha val="8000"/>
            </a:srgbClr>
          </a:solidFill>
          <a:ln/>
        </p:spPr>
        <p:txBody>
          <a:bodyPr/>
          <a:lstStyle/>
          <a:p>
            <a:endParaRPr lang="en-US"/>
          </a:p>
        </p:txBody>
      </p:sp>
      <p:sp>
        <p:nvSpPr>
          <p:cNvPr id="22" name="Text 18"/>
          <p:cNvSpPr/>
          <p:nvPr/>
        </p:nvSpPr>
        <p:spPr>
          <a:xfrm>
            <a:off x="6250853" y="3074066"/>
            <a:ext cx="2027592"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{{fd_1_rate}}</a:t>
            </a:r>
            <a:endParaRPr lang="en-US" sz="2250" dirty="0"/>
          </a:p>
        </p:txBody>
      </p:sp>
      <p:sp>
        <p:nvSpPr>
          <p:cNvPr id="23" name="Shape 19"/>
          <p:cNvSpPr/>
          <p:nvPr/>
        </p:nvSpPr>
        <p:spPr>
          <a:xfrm>
            <a:off x="8354645" y="3678748"/>
            <a:ext cx="2123777" cy="9525"/>
          </a:xfrm>
          <a:prstGeom prst="rect">
            <a:avLst/>
          </a:prstGeom>
          <a:solidFill>
            <a:srgbClr val="1A1A26">
              <a:alpha val="8000"/>
            </a:srgbClr>
          </a:solidFill>
          <a:ln/>
        </p:spPr>
        <p:txBody>
          <a:bodyPr/>
          <a:lstStyle/>
          <a:p>
            <a:endParaRPr lang="en-US"/>
          </a:p>
        </p:txBody>
      </p:sp>
      <p:sp>
        <p:nvSpPr>
          <p:cNvPr id="24" name="Text 20"/>
          <p:cNvSpPr/>
          <p:nvPr/>
        </p:nvSpPr>
        <p:spPr>
          <a:xfrm>
            <a:off x="8354645" y="3074066"/>
            <a:ext cx="2047577"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{{fd_1_maturity}}</a:t>
            </a:r>
            <a:endParaRPr lang="en-US" sz="2250" dirty="0"/>
          </a:p>
        </p:txBody>
      </p:sp>
      <p:sp>
        <p:nvSpPr>
          <p:cNvPr id="25" name="Shape 21"/>
          <p:cNvSpPr/>
          <p:nvPr/>
        </p:nvSpPr>
        <p:spPr>
          <a:xfrm>
            <a:off x="10478422" y="3678748"/>
            <a:ext cx="6895137" cy="9525"/>
          </a:xfrm>
          <a:prstGeom prst="rect">
            <a:avLst/>
          </a:prstGeom>
          <a:solidFill>
            <a:srgbClr val="1A1A26">
              <a:alpha val="8000"/>
            </a:srgbClr>
          </a:solidFill>
          <a:ln/>
        </p:spPr>
        <p:txBody>
          <a:bodyPr/>
          <a:lstStyle/>
          <a:p>
            <a:endParaRPr lang="en-US"/>
          </a:p>
        </p:txBody>
      </p:sp>
      <p:sp>
        <p:nvSpPr>
          <p:cNvPr id="26" name="Text 22"/>
          <p:cNvSpPr/>
          <p:nvPr/>
        </p:nvSpPr>
        <p:spPr>
          <a:xfrm>
            <a:off x="10478422" y="3074066"/>
            <a:ext cx="7101991"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{{fd_1_remarks}}</a:t>
            </a:r>
            <a:endParaRPr lang="en-US" sz="2250" dirty="0"/>
          </a:p>
        </p:txBody>
      </p:sp>
      <p:sp>
        <p:nvSpPr>
          <p:cNvPr id="27" name="Shape 23"/>
          <p:cNvSpPr/>
          <p:nvPr/>
        </p:nvSpPr>
        <p:spPr>
          <a:xfrm>
            <a:off x="914372" y="4454426"/>
            <a:ext cx="3564150" cy="9525"/>
          </a:xfrm>
          <a:prstGeom prst="rect">
            <a:avLst/>
          </a:prstGeom>
          <a:solidFill>
            <a:srgbClr val="1A1A26">
              <a:alpha val="8000"/>
            </a:srgbClr>
          </a:solidFill>
          <a:ln/>
        </p:spPr>
        <p:txBody>
          <a:bodyPr/>
          <a:lstStyle/>
          <a:p>
            <a:endParaRPr lang="en-US"/>
          </a:p>
        </p:txBody>
      </p:sp>
      <p:sp>
        <p:nvSpPr>
          <p:cNvPr id="28" name="Text 24"/>
          <p:cNvSpPr/>
          <p:nvPr/>
        </p:nvSpPr>
        <p:spPr>
          <a:xfrm>
            <a:off x="914372" y="3849744"/>
            <a:ext cx="3518675"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{{fd_2_issuer}}</a:t>
            </a:r>
            <a:endParaRPr lang="en-US" sz="2250" dirty="0"/>
          </a:p>
        </p:txBody>
      </p:sp>
      <p:sp>
        <p:nvSpPr>
          <p:cNvPr id="29" name="Shape 25"/>
          <p:cNvSpPr/>
          <p:nvPr/>
        </p:nvSpPr>
        <p:spPr>
          <a:xfrm>
            <a:off x="4478522" y="4454426"/>
            <a:ext cx="1772330" cy="9525"/>
          </a:xfrm>
          <a:prstGeom prst="rect">
            <a:avLst/>
          </a:prstGeom>
          <a:solidFill>
            <a:srgbClr val="1A1A26">
              <a:alpha val="8000"/>
            </a:srgbClr>
          </a:solidFill>
          <a:ln/>
        </p:spPr>
        <p:txBody>
          <a:bodyPr/>
          <a:lstStyle/>
          <a:p>
            <a:endParaRPr lang="en-US"/>
          </a:p>
        </p:txBody>
      </p:sp>
      <p:sp>
        <p:nvSpPr>
          <p:cNvPr id="30" name="Text 26"/>
          <p:cNvSpPr/>
          <p:nvPr/>
        </p:nvSpPr>
        <p:spPr>
          <a:xfrm>
            <a:off x="4478522" y="3849744"/>
            <a:ext cx="1696130"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{{fd_2_amount}}</a:t>
            </a:r>
            <a:endParaRPr lang="en-US" sz="2250" dirty="0"/>
          </a:p>
        </p:txBody>
      </p:sp>
      <p:sp>
        <p:nvSpPr>
          <p:cNvPr id="31" name="Shape 27"/>
          <p:cNvSpPr/>
          <p:nvPr/>
        </p:nvSpPr>
        <p:spPr>
          <a:xfrm>
            <a:off x="6250853" y="4454426"/>
            <a:ext cx="2103792" cy="9525"/>
          </a:xfrm>
          <a:prstGeom prst="rect">
            <a:avLst/>
          </a:prstGeom>
          <a:solidFill>
            <a:srgbClr val="1A1A26">
              <a:alpha val="8000"/>
            </a:srgbClr>
          </a:solidFill>
          <a:ln/>
        </p:spPr>
        <p:txBody>
          <a:bodyPr/>
          <a:lstStyle/>
          <a:p>
            <a:endParaRPr lang="en-US"/>
          </a:p>
        </p:txBody>
      </p:sp>
      <p:sp>
        <p:nvSpPr>
          <p:cNvPr id="32" name="Text 28"/>
          <p:cNvSpPr/>
          <p:nvPr/>
        </p:nvSpPr>
        <p:spPr>
          <a:xfrm>
            <a:off x="6250853" y="3849744"/>
            <a:ext cx="2027592"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{{fd_2_rate}}</a:t>
            </a:r>
            <a:endParaRPr lang="en-US" sz="2250" dirty="0"/>
          </a:p>
        </p:txBody>
      </p:sp>
      <p:sp>
        <p:nvSpPr>
          <p:cNvPr id="33" name="Shape 29"/>
          <p:cNvSpPr/>
          <p:nvPr/>
        </p:nvSpPr>
        <p:spPr>
          <a:xfrm>
            <a:off x="8354645" y="4454426"/>
            <a:ext cx="2123777" cy="9525"/>
          </a:xfrm>
          <a:prstGeom prst="rect">
            <a:avLst/>
          </a:prstGeom>
          <a:solidFill>
            <a:srgbClr val="1A1A26">
              <a:alpha val="8000"/>
            </a:srgbClr>
          </a:solidFill>
          <a:ln/>
        </p:spPr>
        <p:txBody>
          <a:bodyPr/>
          <a:lstStyle/>
          <a:p>
            <a:endParaRPr lang="en-US"/>
          </a:p>
        </p:txBody>
      </p:sp>
      <p:sp>
        <p:nvSpPr>
          <p:cNvPr id="34" name="Text 30"/>
          <p:cNvSpPr/>
          <p:nvPr/>
        </p:nvSpPr>
        <p:spPr>
          <a:xfrm>
            <a:off x="8354645" y="3849744"/>
            <a:ext cx="2047577"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{{fd_2_maturity}}</a:t>
            </a:r>
            <a:endParaRPr lang="en-US" sz="2250" dirty="0"/>
          </a:p>
        </p:txBody>
      </p:sp>
      <p:sp>
        <p:nvSpPr>
          <p:cNvPr id="35" name="Shape 31"/>
          <p:cNvSpPr/>
          <p:nvPr/>
        </p:nvSpPr>
        <p:spPr>
          <a:xfrm>
            <a:off x="10478422" y="4454426"/>
            <a:ext cx="6895137" cy="9525"/>
          </a:xfrm>
          <a:prstGeom prst="rect">
            <a:avLst/>
          </a:prstGeom>
          <a:solidFill>
            <a:srgbClr val="1A1A26">
              <a:alpha val="8000"/>
            </a:srgbClr>
          </a:solidFill>
          <a:ln/>
        </p:spPr>
        <p:txBody>
          <a:bodyPr/>
          <a:lstStyle/>
          <a:p>
            <a:endParaRPr lang="en-US"/>
          </a:p>
        </p:txBody>
      </p:sp>
      <p:sp>
        <p:nvSpPr>
          <p:cNvPr id="36" name="Text 32"/>
          <p:cNvSpPr/>
          <p:nvPr/>
        </p:nvSpPr>
        <p:spPr>
          <a:xfrm>
            <a:off x="10478422" y="3849744"/>
            <a:ext cx="7101991"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{{fd_2_remarks}}</a:t>
            </a:r>
            <a:endParaRPr lang="en-US" sz="2250" dirty="0"/>
          </a:p>
        </p:txBody>
      </p:sp>
      <p:sp>
        <p:nvSpPr>
          <p:cNvPr id="37" name="Shape 33"/>
          <p:cNvSpPr/>
          <p:nvPr/>
        </p:nvSpPr>
        <p:spPr>
          <a:xfrm>
            <a:off x="914372" y="5230104"/>
            <a:ext cx="3564150" cy="9525"/>
          </a:xfrm>
          <a:prstGeom prst="rect">
            <a:avLst/>
          </a:prstGeom>
          <a:solidFill>
            <a:srgbClr val="1A1A26">
              <a:alpha val="8000"/>
            </a:srgbClr>
          </a:solidFill>
          <a:ln/>
        </p:spPr>
        <p:txBody>
          <a:bodyPr/>
          <a:lstStyle/>
          <a:p>
            <a:endParaRPr lang="en-US"/>
          </a:p>
        </p:txBody>
      </p:sp>
      <p:sp>
        <p:nvSpPr>
          <p:cNvPr id="38" name="Text 34"/>
          <p:cNvSpPr/>
          <p:nvPr/>
        </p:nvSpPr>
        <p:spPr>
          <a:xfrm>
            <a:off x="914372" y="4625423"/>
            <a:ext cx="3518675"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{{fd_3_issuer}}</a:t>
            </a:r>
            <a:endParaRPr lang="en-US" sz="2250" dirty="0"/>
          </a:p>
        </p:txBody>
      </p:sp>
      <p:sp>
        <p:nvSpPr>
          <p:cNvPr id="39" name="Shape 35"/>
          <p:cNvSpPr/>
          <p:nvPr/>
        </p:nvSpPr>
        <p:spPr>
          <a:xfrm>
            <a:off x="4478522" y="5230104"/>
            <a:ext cx="1772330" cy="9525"/>
          </a:xfrm>
          <a:prstGeom prst="rect">
            <a:avLst/>
          </a:prstGeom>
          <a:solidFill>
            <a:srgbClr val="1A1A26">
              <a:alpha val="8000"/>
            </a:srgbClr>
          </a:solidFill>
          <a:ln/>
        </p:spPr>
        <p:txBody>
          <a:bodyPr/>
          <a:lstStyle/>
          <a:p>
            <a:endParaRPr lang="en-US"/>
          </a:p>
        </p:txBody>
      </p:sp>
      <p:sp>
        <p:nvSpPr>
          <p:cNvPr id="40" name="Text 36"/>
          <p:cNvSpPr/>
          <p:nvPr/>
        </p:nvSpPr>
        <p:spPr>
          <a:xfrm>
            <a:off x="4478522" y="4625423"/>
            <a:ext cx="1696130"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{{fd_3_amount}}</a:t>
            </a:r>
            <a:endParaRPr lang="en-US" sz="2250" dirty="0"/>
          </a:p>
        </p:txBody>
      </p:sp>
      <p:sp>
        <p:nvSpPr>
          <p:cNvPr id="41" name="Shape 37"/>
          <p:cNvSpPr/>
          <p:nvPr/>
        </p:nvSpPr>
        <p:spPr>
          <a:xfrm>
            <a:off x="6250853" y="5230104"/>
            <a:ext cx="2103792" cy="9525"/>
          </a:xfrm>
          <a:prstGeom prst="rect">
            <a:avLst/>
          </a:prstGeom>
          <a:solidFill>
            <a:srgbClr val="1A1A26">
              <a:alpha val="8000"/>
            </a:srgbClr>
          </a:solidFill>
          <a:ln/>
        </p:spPr>
        <p:txBody>
          <a:bodyPr/>
          <a:lstStyle/>
          <a:p>
            <a:endParaRPr lang="en-US"/>
          </a:p>
        </p:txBody>
      </p:sp>
      <p:sp>
        <p:nvSpPr>
          <p:cNvPr id="42" name="Text 38"/>
          <p:cNvSpPr/>
          <p:nvPr/>
        </p:nvSpPr>
        <p:spPr>
          <a:xfrm>
            <a:off x="6250853" y="4625423"/>
            <a:ext cx="2027592"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{{fd_3_rate}}</a:t>
            </a:r>
            <a:endParaRPr lang="en-US" sz="2250" dirty="0"/>
          </a:p>
        </p:txBody>
      </p:sp>
      <p:sp>
        <p:nvSpPr>
          <p:cNvPr id="43" name="Shape 39"/>
          <p:cNvSpPr/>
          <p:nvPr/>
        </p:nvSpPr>
        <p:spPr>
          <a:xfrm>
            <a:off x="8354645" y="5230104"/>
            <a:ext cx="2123777" cy="9525"/>
          </a:xfrm>
          <a:prstGeom prst="rect">
            <a:avLst/>
          </a:prstGeom>
          <a:solidFill>
            <a:srgbClr val="1A1A26">
              <a:alpha val="8000"/>
            </a:srgbClr>
          </a:solidFill>
          <a:ln/>
        </p:spPr>
        <p:txBody>
          <a:bodyPr/>
          <a:lstStyle/>
          <a:p>
            <a:endParaRPr lang="en-US"/>
          </a:p>
        </p:txBody>
      </p:sp>
      <p:sp>
        <p:nvSpPr>
          <p:cNvPr id="44" name="Text 40"/>
          <p:cNvSpPr/>
          <p:nvPr/>
        </p:nvSpPr>
        <p:spPr>
          <a:xfrm>
            <a:off x="8354645" y="4625423"/>
            <a:ext cx="2047577"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{{fd_3_maturity}}</a:t>
            </a:r>
            <a:endParaRPr lang="en-US" sz="2250" dirty="0"/>
          </a:p>
        </p:txBody>
      </p:sp>
      <p:sp>
        <p:nvSpPr>
          <p:cNvPr id="45" name="Shape 41"/>
          <p:cNvSpPr/>
          <p:nvPr/>
        </p:nvSpPr>
        <p:spPr>
          <a:xfrm>
            <a:off x="10478422" y="5230104"/>
            <a:ext cx="6895137" cy="9525"/>
          </a:xfrm>
          <a:prstGeom prst="rect">
            <a:avLst/>
          </a:prstGeom>
          <a:solidFill>
            <a:srgbClr val="1A1A26">
              <a:alpha val="8000"/>
            </a:srgbClr>
          </a:solidFill>
          <a:ln/>
        </p:spPr>
        <p:txBody>
          <a:bodyPr/>
          <a:lstStyle/>
          <a:p>
            <a:endParaRPr lang="en-US"/>
          </a:p>
        </p:txBody>
      </p:sp>
      <p:sp>
        <p:nvSpPr>
          <p:cNvPr id="46" name="Text 42"/>
          <p:cNvSpPr/>
          <p:nvPr/>
        </p:nvSpPr>
        <p:spPr>
          <a:xfrm>
            <a:off x="10478422" y="4625423"/>
            <a:ext cx="7101991"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{{fd_3_remarks}}</a:t>
            </a:r>
            <a:endParaRPr lang="en-US" sz="2250" dirty="0"/>
          </a:p>
        </p:txBody>
      </p:sp>
      <p:sp>
        <p:nvSpPr>
          <p:cNvPr id="47" name="Shape 43"/>
          <p:cNvSpPr/>
          <p:nvPr/>
        </p:nvSpPr>
        <p:spPr>
          <a:xfrm>
            <a:off x="914372" y="6005782"/>
            <a:ext cx="3564150" cy="9525"/>
          </a:xfrm>
          <a:prstGeom prst="rect">
            <a:avLst/>
          </a:prstGeom>
          <a:solidFill>
            <a:srgbClr val="1A1A26">
              <a:alpha val="8000"/>
            </a:srgbClr>
          </a:solidFill>
          <a:ln/>
        </p:spPr>
        <p:txBody>
          <a:bodyPr/>
          <a:lstStyle/>
          <a:p>
            <a:endParaRPr lang="en-US"/>
          </a:p>
        </p:txBody>
      </p:sp>
      <p:sp>
        <p:nvSpPr>
          <p:cNvPr id="48" name="Text 44"/>
          <p:cNvSpPr/>
          <p:nvPr/>
        </p:nvSpPr>
        <p:spPr>
          <a:xfrm>
            <a:off x="914372" y="5401101"/>
            <a:ext cx="3518675"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{{fd_4_issuer}}</a:t>
            </a:r>
            <a:endParaRPr lang="en-US" sz="2250" dirty="0"/>
          </a:p>
        </p:txBody>
      </p:sp>
      <p:sp>
        <p:nvSpPr>
          <p:cNvPr id="49" name="Shape 45"/>
          <p:cNvSpPr/>
          <p:nvPr/>
        </p:nvSpPr>
        <p:spPr>
          <a:xfrm>
            <a:off x="4478522" y="6005782"/>
            <a:ext cx="1772330" cy="9525"/>
          </a:xfrm>
          <a:prstGeom prst="rect">
            <a:avLst/>
          </a:prstGeom>
          <a:solidFill>
            <a:srgbClr val="1A1A26">
              <a:alpha val="8000"/>
            </a:srgbClr>
          </a:solidFill>
          <a:ln/>
        </p:spPr>
        <p:txBody>
          <a:bodyPr/>
          <a:lstStyle/>
          <a:p>
            <a:endParaRPr lang="en-US"/>
          </a:p>
        </p:txBody>
      </p:sp>
      <p:sp>
        <p:nvSpPr>
          <p:cNvPr id="50" name="Text 46"/>
          <p:cNvSpPr/>
          <p:nvPr/>
        </p:nvSpPr>
        <p:spPr>
          <a:xfrm>
            <a:off x="4478522" y="5401101"/>
            <a:ext cx="1696130"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{{fd_4_amount}}</a:t>
            </a:r>
            <a:endParaRPr lang="en-US" sz="2250" dirty="0"/>
          </a:p>
        </p:txBody>
      </p:sp>
      <p:sp>
        <p:nvSpPr>
          <p:cNvPr id="51" name="Shape 47"/>
          <p:cNvSpPr/>
          <p:nvPr/>
        </p:nvSpPr>
        <p:spPr>
          <a:xfrm>
            <a:off x="6250853" y="6005782"/>
            <a:ext cx="2103792" cy="9525"/>
          </a:xfrm>
          <a:prstGeom prst="rect">
            <a:avLst/>
          </a:prstGeom>
          <a:solidFill>
            <a:srgbClr val="1A1A26">
              <a:alpha val="8000"/>
            </a:srgbClr>
          </a:solidFill>
          <a:ln/>
        </p:spPr>
        <p:txBody>
          <a:bodyPr/>
          <a:lstStyle/>
          <a:p>
            <a:endParaRPr lang="en-US"/>
          </a:p>
        </p:txBody>
      </p:sp>
      <p:sp>
        <p:nvSpPr>
          <p:cNvPr id="52" name="Text 48"/>
          <p:cNvSpPr/>
          <p:nvPr/>
        </p:nvSpPr>
        <p:spPr>
          <a:xfrm>
            <a:off x="6250853" y="5401101"/>
            <a:ext cx="2027592"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{{fd_4_rate}}</a:t>
            </a:r>
            <a:endParaRPr lang="en-US" sz="2250" dirty="0"/>
          </a:p>
        </p:txBody>
      </p:sp>
      <p:sp>
        <p:nvSpPr>
          <p:cNvPr id="53" name="Shape 49"/>
          <p:cNvSpPr/>
          <p:nvPr/>
        </p:nvSpPr>
        <p:spPr>
          <a:xfrm>
            <a:off x="8354645" y="6005782"/>
            <a:ext cx="2123777" cy="9525"/>
          </a:xfrm>
          <a:prstGeom prst="rect">
            <a:avLst/>
          </a:prstGeom>
          <a:solidFill>
            <a:srgbClr val="1A1A26">
              <a:alpha val="8000"/>
            </a:srgbClr>
          </a:solidFill>
          <a:ln/>
        </p:spPr>
        <p:txBody>
          <a:bodyPr/>
          <a:lstStyle/>
          <a:p>
            <a:endParaRPr lang="en-US"/>
          </a:p>
        </p:txBody>
      </p:sp>
      <p:sp>
        <p:nvSpPr>
          <p:cNvPr id="54" name="Text 50"/>
          <p:cNvSpPr/>
          <p:nvPr/>
        </p:nvSpPr>
        <p:spPr>
          <a:xfrm>
            <a:off x="8354645" y="5401101"/>
            <a:ext cx="2047577"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{{fd_4_maturity}}</a:t>
            </a:r>
            <a:endParaRPr lang="en-US" sz="2250" dirty="0"/>
          </a:p>
        </p:txBody>
      </p:sp>
      <p:sp>
        <p:nvSpPr>
          <p:cNvPr id="55" name="Shape 51"/>
          <p:cNvSpPr/>
          <p:nvPr/>
        </p:nvSpPr>
        <p:spPr>
          <a:xfrm>
            <a:off x="10478422" y="6005782"/>
            <a:ext cx="6895137" cy="9525"/>
          </a:xfrm>
          <a:prstGeom prst="rect">
            <a:avLst/>
          </a:prstGeom>
          <a:solidFill>
            <a:srgbClr val="1A1A26">
              <a:alpha val="8000"/>
            </a:srgbClr>
          </a:solidFill>
          <a:ln/>
        </p:spPr>
        <p:txBody>
          <a:bodyPr/>
          <a:lstStyle/>
          <a:p>
            <a:endParaRPr lang="en-US"/>
          </a:p>
        </p:txBody>
      </p:sp>
      <p:sp>
        <p:nvSpPr>
          <p:cNvPr id="56" name="Text 52"/>
          <p:cNvSpPr/>
          <p:nvPr/>
        </p:nvSpPr>
        <p:spPr>
          <a:xfrm>
            <a:off x="10478422" y="5401101"/>
            <a:ext cx="7101991"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{{fd_4_remarks}}</a:t>
            </a:r>
            <a:endParaRPr lang="en-US" sz="2250" dirty="0"/>
          </a:p>
        </p:txBody>
      </p:sp>
      <p:sp>
        <p:nvSpPr>
          <p:cNvPr id="57" name="Shape 53"/>
          <p:cNvSpPr/>
          <p:nvPr/>
        </p:nvSpPr>
        <p:spPr>
          <a:xfrm>
            <a:off x="914372" y="6781460"/>
            <a:ext cx="3564150" cy="9525"/>
          </a:xfrm>
          <a:prstGeom prst="rect">
            <a:avLst/>
          </a:prstGeom>
          <a:solidFill>
            <a:srgbClr val="1A1A26">
              <a:alpha val="8000"/>
            </a:srgbClr>
          </a:solidFill>
          <a:ln/>
        </p:spPr>
        <p:txBody>
          <a:bodyPr/>
          <a:lstStyle/>
          <a:p>
            <a:endParaRPr lang="en-US"/>
          </a:p>
        </p:txBody>
      </p:sp>
      <p:sp>
        <p:nvSpPr>
          <p:cNvPr id="58" name="Text 54"/>
          <p:cNvSpPr/>
          <p:nvPr/>
        </p:nvSpPr>
        <p:spPr>
          <a:xfrm>
            <a:off x="914372" y="6176779"/>
            <a:ext cx="3518675"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{{fd_5_issuer}}</a:t>
            </a:r>
            <a:endParaRPr lang="en-US" sz="2250" dirty="0"/>
          </a:p>
        </p:txBody>
      </p:sp>
      <p:sp>
        <p:nvSpPr>
          <p:cNvPr id="59" name="Shape 55"/>
          <p:cNvSpPr/>
          <p:nvPr/>
        </p:nvSpPr>
        <p:spPr>
          <a:xfrm>
            <a:off x="4478522" y="6781460"/>
            <a:ext cx="1772330" cy="9525"/>
          </a:xfrm>
          <a:prstGeom prst="rect">
            <a:avLst/>
          </a:prstGeom>
          <a:solidFill>
            <a:srgbClr val="1A1A26">
              <a:alpha val="8000"/>
            </a:srgbClr>
          </a:solidFill>
          <a:ln/>
        </p:spPr>
        <p:txBody>
          <a:bodyPr/>
          <a:lstStyle/>
          <a:p>
            <a:endParaRPr lang="en-US"/>
          </a:p>
        </p:txBody>
      </p:sp>
      <p:sp>
        <p:nvSpPr>
          <p:cNvPr id="60" name="Text 56"/>
          <p:cNvSpPr/>
          <p:nvPr/>
        </p:nvSpPr>
        <p:spPr>
          <a:xfrm>
            <a:off x="4478522" y="6176779"/>
            <a:ext cx="1696130"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{{fd_5_amount}}</a:t>
            </a:r>
            <a:endParaRPr lang="en-US" sz="2250" dirty="0"/>
          </a:p>
        </p:txBody>
      </p:sp>
      <p:sp>
        <p:nvSpPr>
          <p:cNvPr id="61" name="Shape 57"/>
          <p:cNvSpPr/>
          <p:nvPr/>
        </p:nvSpPr>
        <p:spPr>
          <a:xfrm>
            <a:off x="6250853" y="6781460"/>
            <a:ext cx="2103792" cy="9525"/>
          </a:xfrm>
          <a:prstGeom prst="rect">
            <a:avLst/>
          </a:prstGeom>
          <a:solidFill>
            <a:srgbClr val="1A1A26">
              <a:alpha val="8000"/>
            </a:srgbClr>
          </a:solidFill>
          <a:ln/>
        </p:spPr>
        <p:txBody>
          <a:bodyPr/>
          <a:lstStyle/>
          <a:p>
            <a:endParaRPr lang="en-US"/>
          </a:p>
        </p:txBody>
      </p:sp>
      <p:sp>
        <p:nvSpPr>
          <p:cNvPr id="62" name="Text 58"/>
          <p:cNvSpPr/>
          <p:nvPr/>
        </p:nvSpPr>
        <p:spPr>
          <a:xfrm>
            <a:off x="6250853" y="6176779"/>
            <a:ext cx="2027592"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{{fd_5_rate}}</a:t>
            </a:r>
            <a:endParaRPr lang="en-US" sz="2250" dirty="0"/>
          </a:p>
        </p:txBody>
      </p:sp>
      <p:sp>
        <p:nvSpPr>
          <p:cNvPr id="63" name="Shape 59"/>
          <p:cNvSpPr/>
          <p:nvPr/>
        </p:nvSpPr>
        <p:spPr>
          <a:xfrm>
            <a:off x="8354645" y="6781460"/>
            <a:ext cx="2123777" cy="9525"/>
          </a:xfrm>
          <a:prstGeom prst="rect">
            <a:avLst/>
          </a:prstGeom>
          <a:solidFill>
            <a:srgbClr val="1A1A26">
              <a:alpha val="8000"/>
            </a:srgbClr>
          </a:solidFill>
          <a:ln/>
        </p:spPr>
        <p:txBody>
          <a:bodyPr/>
          <a:lstStyle/>
          <a:p>
            <a:endParaRPr lang="en-US"/>
          </a:p>
        </p:txBody>
      </p:sp>
      <p:sp>
        <p:nvSpPr>
          <p:cNvPr id="64" name="Text 60"/>
          <p:cNvSpPr/>
          <p:nvPr/>
        </p:nvSpPr>
        <p:spPr>
          <a:xfrm>
            <a:off x="8354645" y="6176779"/>
            <a:ext cx="2047577" cy="480857"/>
          </a:xfrm>
          <a:prstGeom prst="rect">
            <a:avLst/>
          </a:prstGeom>
          <a:noFill/>
          <a:ln/>
        </p:spPr>
        <p:txBody>
          <a:bodyPr wrap="none" lIns="25400" tIns="25400" rIns="25400" bIns="25400" rtlCol="0" anchor="ctr">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{{fd_5_maturity}}</a:t>
            </a:r>
            <a:endParaRPr lang="en-US" sz="2250" dirty="0"/>
          </a:p>
        </p:txBody>
      </p:sp>
      <p:sp>
        <p:nvSpPr>
          <p:cNvPr id="65" name="Shape 61"/>
          <p:cNvSpPr/>
          <p:nvPr/>
        </p:nvSpPr>
        <p:spPr>
          <a:xfrm>
            <a:off x="10478422" y="6781460"/>
            <a:ext cx="6895137" cy="9525"/>
          </a:xfrm>
          <a:prstGeom prst="rect">
            <a:avLst/>
          </a:prstGeom>
          <a:solidFill>
            <a:srgbClr val="1A1A26">
              <a:alpha val="8000"/>
            </a:srgbClr>
          </a:solidFill>
          <a:ln/>
        </p:spPr>
        <p:txBody>
          <a:bodyPr/>
          <a:lstStyle/>
          <a:p>
            <a:endParaRPr lang="en-US"/>
          </a:p>
        </p:txBody>
      </p:sp>
      <p:sp>
        <p:nvSpPr>
          <p:cNvPr id="66" name="Text 62"/>
          <p:cNvSpPr/>
          <p:nvPr/>
        </p:nvSpPr>
        <p:spPr>
          <a:xfrm>
            <a:off x="10478422" y="6176779"/>
            <a:ext cx="7101991" cy="480857"/>
          </a:xfrm>
          <a:prstGeom prst="rect">
            <a:avLst/>
          </a:prstGeom>
          <a:noFill/>
          <a:ln/>
        </p:spPr>
        <p:txBody>
          <a:bodyPr wrap="square" lIns="25400" tIns="25400" rIns="25400" bIns="25400" rtlCol="0" anchor="ctr">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{{fd_5_remarks}}</a:t>
            </a:r>
            <a:endParaRPr lang="en-US" sz="2250" dirty="0"/>
          </a:p>
        </p:txBody>
      </p:sp>
      <p:sp>
        <p:nvSpPr>
          <p:cNvPr id="67" name="Text 63"/>
          <p:cNvSpPr/>
          <p:nvPr/>
        </p:nvSpPr>
        <p:spPr>
          <a:xfrm>
            <a:off x="914372" y="6961981"/>
            <a:ext cx="3518675" cy="603562"/>
          </a:xfrm>
          <a:prstGeom prst="rect">
            <a:avLst/>
          </a:prstGeom>
          <a:noFill/>
          <a:ln/>
        </p:spPr>
        <p:txBody>
          <a:bodyPr wrap="square" lIns="25400" tIns="25400" rIns="25400" bIns="25400" rtlCol="0" anchor="ctr">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Total</a:t>
            </a:r>
            <a:endParaRPr lang="en-US" sz="2850" dirty="0"/>
          </a:p>
        </p:txBody>
      </p:sp>
      <p:sp>
        <p:nvSpPr>
          <p:cNvPr id="68" name="Text 64"/>
          <p:cNvSpPr/>
          <p:nvPr/>
        </p:nvSpPr>
        <p:spPr>
          <a:xfrm>
            <a:off x="4478522" y="6961981"/>
            <a:ext cx="1696130" cy="603562"/>
          </a:xfrm>
          <a:prstGeom prst="rect">
            <a:avLst/>
          </a:prstGeom>
          <a:noFill/>
          <a:ln/>
        </p:spPr>
        <p:txBody>
          <a:bodyPr wrap="none" lIns="25400" tIns="25400" rIns="25400" bIns="25400" rtlCol="0" anchor="ctr">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{{fd_total}}</a:t>
            </a:r>
            <a:endParaRPr lang="en-US" sz="2850" dirty="0"/>
          </a:p>
        </p:txBody>
      </p:sp>
      <p:sp>
        <p:nvSpPr>
          <p:cNvPr id="69" name="Text 65"/>
          <p:cNvSpPr/>
          <p:nvPr/>
        </p:nvSpPr>
        <p:spPr>
          <a:xfrm>
            <a:off x="6250853" y="6961981"/>
            <a:ext cx="2027592" cy="603562"/>
          </a:xfrm>
          <a:prstGeom prst="rect">
            <a:avLst/>
          </a:prstGeom>
          <a:noFill/>
          <a:ln/>
        </p:spPr>
        <p:txBody>
          <a:bodyPr wrap="none" lIns="25400" tIns="25400" rIns="25400" bIns="25400" rtlCol="0" anchor="ctr">
            <a:normAutofit/>
          </a:bodyPr>
          <a:lstStyle/>
          <a:p>
            <a:pPr marL="0" indent="0" algn="l">
              <a:lnSpc>
                <a:spcPct val="128844"/>
              </a:lnSpc>
              <a:buNone/>
            </a:pPr>
            <a:r>
              <a:rPr lang="en-US" sz="2850" dirty="0">
                <a:solidFill>
                  <a:srgbClr val="1D1F20"/>
                </a:solidFill>
                <a:latin typeface="Barlow Condensed" pitchFamily="34" charset="0"/>
                <a:ea typeface="Barlow Condensed" pitchFamily="34" charset="-122"/>
                <a:cs typeface="Barlow Condensed" pitchFamily="34" charset="-120"/>
              </a:rPr>
              <a:t>{{fd_avg_rate}} avg</a:t>
            </a:r>
            <a:endParaRPr lang="en-US" sz="2850" dirty="0"/>
          </a:p>
        </p:txBody>
      </p:sp>
      <p:sp>
        <p:nvSpPr>
          <p:cNvPr id="70" name="Shape 66"/>
          <p:cNvSpPr/>
          <p:nvPr/>
        </p:nvSpPr>
        <p:spPr>
          <a:xfrm>
            <a:off x="914372" y="8008867"/>
            <a:ext cx="16459187" cy="9525"/>
          </a:xfrm>
          <a:prstGeom prst="rect">
            <a:avLst/>
          </a:prstGeom>
          <a:solidFill>
            <a:srgbClr val="1D1F20">
              <a:alpha val="18000"/>
            </a:srgbClr>
          </a:solidFill>
          <a:ln/>
        </p:spPr>
        <p:txBody>
          <a:bodyPr/>
          <a:lstStyle/>
          <a:p>
            <a:endParaRPr lang="en-US"/>
          </a:p>
        </p:txBody>
      </p:sp>
      <p:sp>
        <p:nvSpPr>
          <p:cNvPr id="71" name="Text 67"/>
          <p:cNvSpPr/>
          <p:nvPr/>
        </p:nvSpPr>
        <p:spPr>
          <a:xfrm>
            <a:off x="914372" y="8246539"/>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72" name="Text 68"/>
          <p:cNvSpPr/>
          <p:nvPr/>
        </p:nvSpPr>
        <p:spPr>
          <a:xfrm>
            <a:off x="3276487" y="8208439"/>
            <a:ext cx="13244441" cy="1133688"/>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{{fd_comment}}</a:t>
            </a:r>
            <a:endParaRPr lang="en-US" sz="2100" dirty="0"/>
          </a:p>
        </p:txBody>
      </p:sp>
      <p:sp>
        <p:nvSpPr>
          <p:cNvPr id="73" name="Text 69"/>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74" name="Text 70"/>
          <p:cNvSpPr/>
          <p:nvPr/>
        </p:nvSpPr>
        <p:spPr>
          <a:xfrm>
            <a:off x="16741180" y="9475462"/>
            <a:ext cx="708578"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39664042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HOME LOAN · FUNDING THE PREPAYMENT</a:t>
            </a:r>
          </a:p>
        </p:txBody>
      </p:sp>
      <p:sp>
        <p:nvSpPr>
          <p:cNvPr id="102" name="Text 102"/>
          <p:cNvSpPr txBox="1"/>
          <p:nvPr/>
        </p:nvSpPr>
        <p:spPr>
          <a:xfrm>
            <a:off x="914400" y="1092200"/>
            <a:ext cx="15748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{{prepay_funding_headline}}</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Shape 104"/>
          <p:cNvSpPr/>
          <p:nvPr/>
        </p:nvSpPr>
        <p:spPr>
          <a:xfrm>
            <a:off x="914400" y="2540000"/>
            <a:ext cx="4978400" cy="4318000"/>
          </a:xfrm>
          <a:prstGeom prst="rect">
            <a:avLst/>
          </a:prstGeom>
          <a:solidFill>
            <a:srgbClr val="26306F"/>
          </a:solidFill>
          <a:ln>
            <a:noFill/>
          </a:ln>
        </p:spPr>
        <p:txBody>
          <a:bodyPr/>
          <a:lstStyle/>
          <a:p>
            <a:endParaRPr/>
          </a:p>
        </p:txBody>
      </p:sp>
      <p:sp>
        <p:nvSpPr>
          <p:cNvPr id="105" name="Text 105"/>
          <p:cNvSpPr txBox="1"/>
          <p:nvPr/>
        </p:nvSpPr>
        <p:spPr>
          <a:xfrm>
            <a:off x="1320800" y="2997200"/>
            <a:ext cx="4191000" cy="381000"/>
          </a:xfrm>
          <a:prstGeom prst="rect">
            <a:avLst/>
          </a:prstGeom>
          <a:noFill/>
        </p:spPr>
        <p:txBody>
          <a:bodyPr wrap="square" lIns="7200" tIns="0" rIns="0" bIns="0" anchor="t">
            <a:normAutofit/>
          </a:bodyPr>
          <a:lstStyle/>
          <a:p>
            <a:pPr marL="0" indent="0" algn="l">
              <a:buNone/>
            </a:pPr>
            <a:r>
              <a:rPr lang="en-US" sz="1700" b="1" kern="0" spc="300" dirty="0">
                <a:solidFill>
                  <a:srgbClr val="B9C0DF"/>
                </a:solidFill>
                <a:latin typeface="Barlow"/>
                <a:cs typeface="Barlow"/>
              </a:rPr>
              <a:t>TODAY'S DEPOSIT BOOK</a:t>
            </a:r>
          </a:p>
        </p:txBody>
      </p:sp>
      <p:sp>
        <p:nvSpPr>
          <p:cNvPr id="106" name="Text 106"/>
          <p:cNvSpPr txBox="1"/>
          <p:nvPr/>
        </p:nvSpPr>
        <p:spPr>
          <a:xfrm>
            <a:off x="1320800" y="3581400"/>
            <a:ext cx="4191000" cy="914400"/>
          </a:xfrm>
          <a:prstGeom prst="rect">
            <a:avLst/>
          </a:prstGeom>
          <a:noFill/>
        </p:spPr>
        <p:txBody>
          <a:bodyPr wrap="none" lIns="7200" tIns="0" rIns="0" bIns="0" anchor="t">
            <a:normAutofit/>
          </a:bodyPr>
          <a:lstStyle/>
          <a:p>
            <a:pPr marL="0" indent="0" algn="l">
              <a:lnSpc>
                <a:spcPct val="82000"/>
              </a:lnSpc>
              <a:buNone/>
            </a:pPr>
            <a:r>
              <a:rPr lang="en-US" sz="6600" b="1" kern="0" spc="-80" dirty="0">
                <a:solidFill>
                  <a:srgbClr val="FFFFFF"/>
                </a:solidFill>
                <a:latin typeface="Barlow Condensed"/>
                <a:cs typeface="Barlow Condensed"/>
              </a:rPr>
              <a:t>{{fd_total_short}}</a:t>
            </a:r>
          </a:p>
        </p:txBody>
      </p:sp>
      <p:sp>
        <p:nvSpPr>
          <p:cNvPr id="107" name="Text 107"/>
          <p:cNvSpPr txBox="1"/>
          <p:nvPr/>
        </p:nvSpPr>
        <p:spPr>
          <a:xfrm>
            <a:off x="1320800" y="4622800"/>
            <a:ext cx="4191000" cy="1524000"/>
          </a:xfrm>
          <a:prstGeom prst="rect">
            <a:avLst/>
          </a:prstGeom>
          <a:noFill/>
        </p:spPr>
        <p:txBody>
          <a:bodyPr wrap="square" lIns="7200" tIns="0" rIns="0" bIns="0" anchor="t">
            <a:normAutofit/>
          </a:bodyPr>
          <a:lstStyle/>
          <a:p>
            <a:pPr marL="0" indent="0" algn="l">
              <a:lnSpc>
                <a:spcPct val="126000"/>
              </a:lnSpc>
              <a:buNone/>
            </a:pPr>
            <a:r>
              <a:rPr lang="en-US" sz="1800" b="0" kern="0" dirty="0">
                <a:solidFill>
                  <a:srgbClr val="FFFFFF">
                    <a:alpha val="90000"/>
                  </a:srgbClr>
                </a:solidFill>
                <a:latin typeface="Barlow"/>
                <a:cs typeface="Barlow"/>
              </a:rPr>
              <a:t>{{deposit_book_note}}</a:t>
            </a:r>
          </a:p>
        </p:txBody>
      </p:sp>
      <p:sp>
        <p:nvSpPr>
          <p:cNvPr id="108" name="Shape 108"/>
          <p:cNvSpPr/>
          <p:nvPr/>
        </p:nvSpPr>
        <p:spPr>
          <a:xfrm>
            <a:off x="6146800" y="4318000"/>
            <a:ext cx="711200" cy="762000"/>
          </a:xfrm>
          <a:prstGeom prst="rightArrow">
            <a:avLst>
              <a:gd name="adj1" fmla="val 55000"/>
              <a:gd name="adj2" fmla="val 50000"/>
            </a:avLst>
          </a:prstGeom>
          <a:solidFill>
            <a:srgbClr val="26306F"/>
          </a:solidFill>
          <a:ln>
            <a:noFill/>
          </a:ln>
        </p:spPr>
        <p:txBody>
          <a:bodyPr/>
          <a:lstStyle/>
          <a:p>
            <a:endParaRPr/>
          </a:p>
        </p:txBody>
      </p:sp>
      <p:sp>
        <p:nvSpPr>
          <p:cNvPr id="109" name="Shape 109"/>
          <p:cNvSpPr/>
          <p:nvPr/>
        </p:nvSpPr>
        <p:spPr>
          <a:xfrm>
            <a:off x="7112000" y="2540000"/>
            <a:ext cx="10261600" cy="1320800"/>
          </a:xfrm>
          <a:prstGeom prst="rect">
            <a:avLst/>
          </a:prstGeom>
          <a:noFill/>
          <a:ln w="9525">
            <a:solidFill>
              <a:srgbClr val="1D1F20">
                <a:alpha val="22000"/>
              </a:srgbClr>
            </a:solidFill>
          </a:ln>
        </p:spPr>
        <p:txBody>
          <a:bodyPr/>
          <a:lstStyle/>
          <a:p>
            <a:endParaRPr/>
          </a:p>
        </p:txBody>
      </p:sp>
      <p:sp>
        <p:nvSpPr>
          <p:cNvPr id="110" name="Shape 110"/>
          <p:cNvSpPr/>
          <p:nvPr/>
        </p:nvSpPr>
        <p:spPr>
          <a:xfrm>
            <a:off x="7112000" y="2540000"/>
            <a:ext cx="63500" cy="1320800"/>
          </a:xfrm>
          <a:prstGeom prst="rect">
            <a:avLst/>
          </a:prstGeom>
          <a:solidFill>
            <a:srgbClr val="26306F"/>
          </a:solidFill>
          <a:ln>
            <a:noFill/>
          </a:ln>
        </p:spPr>
        <p:txBody>
          <a:bodyPr/>
          <a:lstStyle/>
          <a:p>
            <a:endParaRPr/>
          </a:p>
        </p:txBody>
      </p:sp>
      <p:sp>
        <p:nvSpPr>
          <p:cNvPr id="111" name="Text 111"/>
          <p:cNvSpPr txBox="1"/>
          <p:nvPr/>
        </p:nvSpPr>
        <p:spPr>
          <a:xfrm>
            <a:off x="7518400" y="2819400"/>
            <a:ext cx="2794000" cy="558800"/>
          </a:xfrm>
          <a:prstGeom prst="rect">
            <a:avLst/>
          </a:prstGeom>
          <a:noFill/>
        </p:spPr>
        <p:txBody>
          <a:bodyPr wrap="none" lIns="7200" tIns="0" rIns="0" bIns="0" anchor="t">
            <a:normAutofit/>
          </a:bodyPr>
          <a:lstStyle/>
          <a:p>
            <a:pPr marL="0" indent="0" algn="l">
              <a:buNone/>
            </a:pPr>
            <a:r>
              <a:rPr lang="en-US" sz="3200" b="1" kern="0" spc="-40" dirty="0">
                <a:solidFill>
                  <a:srgbClr val="26306F"/>
                </a:solidFill>
                <a:latin typeface="Barlow Condensed"/>
                <a:cs typeface="Barlow Condensed"/>
              </a:rPr>
              <a:t>{{deposit_reserve_amount}}</a:t>
            </a:r>
          </a:p>
        </p:txBody>
      </p:sp>
      <p:sp>
        <p:nvSpPr>
          <p:cNvPr id="112" name="Text 112"/>
          <p:cNvSpPr txBox="1"/>
          <p:nvPr/>
        </p:nvSpPr>
        <p:spPr>
          <a:xfrm>
            <a:off x="10414000" y="2794000"/>
            <a:ext cx="6604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stays as the emergency reserve</a:t>
            </a:r>
          </a:p>
        </p:txBody>
      </p:sp>
      <p:sp>
        <p:nvSpPr>
          <p:cNvPr id="113" name="Text 113"/>
          <p:cNvSpPr txBox="1"/>
          <p:nvPr/>
        </p:nvSpPr>
        <p:spPr>
          <a:xfrm>
            <a:off x="10414000" y="3200400"/>
            <a:ext cx="6604000" cy="381000"/>
          </a:xfrm>
          <a:prstGeom prst="rect">
            <a:avLst/>
          </a:prstGeom>
          <a:noFill/>
        </p:spPr>
        <p:txBody>
          <a:bodyPr wrap="square" lIns="7200" tIns="0" rIns="0" bIns="0" anchor="t">
            <a:normAutofit/>
          </a:bodyPr>
          <a:lstStyle/>
          <a:p>
            <a:pPr marL="0" indent="0" algn="l">
              <a:buNone/>
            </a:pPr>
            <a:r>
              <a:rPr lang="en-US" sz="1700" b="0" kern="0" dirty="0">
                <a:solidFill>
                  <a:srgbClr val="1D1F20">
                    <a:alpha val="82000"/>
                  </a:srgbClr>
                </a:solidFill>
                <a:latin typeface="Barlow"/>
                <a:cs typeface="Barlow"/>
              </a:rPr>
              <a:t>{{deposit_reserve_note}}</a:t>
            </a:r>
          </a:p>
        </p:txBody>
      </p:sp>
      <p:sp>
        <p:nvSpPr>
          <p:cNvPr id="114" name="Shape 114"/>
          <p:cNvSpPr/>
          <p:nvPr/>
        </p:nvSpPr>
        <p:spPr>
          <a:xfrm>
            <a:off x="7112000" y="4038600"/>
            <a:ext cx="10261600" cy="1320800"/>
          </a:xfrm>
          <a:prstGeom prst="rect">
            <a:avLst/>
          </a:prstGeom>
          <a:noFill/>
          <a:ln w="9525">
            <a:solidFill>
              <a:srgbClr val="1D1F20">
                <a:alpha val="22000"/>
              </a:srgbClr>
            </a:solidFill>
          </a:ln>
        </p:spPr>
        <p:txBody>
          <a:bodyPr/>
          <a:lstStyle/>
          <a:p>
            <a:endParaRPr/>
          </a:p>
        </p:txBody>
      </p:sp>
      <p:sp>
        <p:nvSpPr>
          <p:cNvPr id="115" name="Shape 115"/>
          <p:cNvSpPr/>
          <p:nvPr/>
        </p:nvSpPr>
        <p:spPr>
          <a:xfrm>
            <a:off x="7112000" y="4038600"/>
            <a:ext cx="63500" cy="1320800"/>
          </a:xfrm>
          <a:prstGeom prst="rect">
            <a:avLst/>
          </a:prstGeom>
          <a:solidFill>
            <a:srgbClr val="2F7D3A"/>
          </a:solidFill>
          <a:ln>
            <a:noFill/>
          </a:ln>
        </p:spPr>
        <p:txBody>
          <a:bodyPr/>
          <a:lstStyle/>
          <a:p>
            <a:endParaRPr/>
          </a:p>
        </p:txBody>
      </p:sp>
      <p:sp>
        <p:nvSpPr>
          <p:cNvPr id="116" name="Text 116"/>
          <p:cNvSpPr txBox="1"/>
          <p:nvPr/>
        </p:nvSpPr>
        <p:spPr>
          <a:xfrm>
            <a:off x="7518400" y="4318000"/>
            <a:ext cx="2794000" cy="558800"/>
          </a:xfrm>
          <a:prstGeom prst="rect">
            <a:avLst/>
          </a:prstGeom>
          <a:noFill/>
        </p:spPr>
        <p:txBody>
          <a:bodyPr wrap="none" lIns="7200" tIns="0" rIns="0" bIns="0" anchor="t">
            <a:normAutofit/>
          </a:bodyPr>
          <a:lstStyle/>
          <a:p>
            <a:pPr marL="0" indent="0" algn="l">
              <a:buNone/>
            </a:pPr>
            <a:r>
              <a:rPr lang="en-US" sz="3200" b="1" kern="0" spc="-40" dirty="0">
                <a:solidFill>
                  <a:srgbClr val="2F7D3A"/>
                </a:solidFill>
                <a:latin typeface="Barlow Condensed"/>
                <a:cs typeface="Barlow Condensed"/>
              </a:rPr>
              <a:t>{{deposit_prepay_amount}}</a:t>
            </a:r>
          </a:p>
        </p:txBody>
      </p:sp>
      <p:sp>
        <p:nvSpPr>
          <p:cNvPr id="117" name="Text 117"/>
          <p:cNvSpPr txBox="1"/>
          <p:nvPr/>
        </p:nvSpPr>
        <p:spPr>
          <a:xfrm>
            <a:off x="10414000" y="4292600"/>
            <a:ext cx="6604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prepays the home loan</a:t>
            </a:r>
          </a:p>
        </p:txBody>
      </p:sp>
      <p:sp>
        <p:nvSpPr>
          <p:cNvPr id="118" name="Text 118"/>
          <p:cNvSpPr txBox="1"/>
          <p:nvPr/>
        </p:nvSpPr>
        <p:spPr>
          <a:xfrm>
            <a:off x="10414000" y="4699000"/>
            <a:ext cx="6604000" cy="381000"/>
          </a:xfrm>
          <a:prstGeom prst="rect">
            <a:avLst/>
          </a:prstGeom>
          <a:noFill/>
        </p:spPr>
        <p:txBody>
          <a:bodyPr wrap="square" lIns="7200" tIns="0" rIns="0" bIns="0" anchor="t">
            <a:normAutofit/>
          </a:bodyPr>
          <a:lstStyle/>
          <a:p>
            <a:pPr marL="0" indent="0" algn="l">
              <a:buNone/>
            </a:pPr>
            <a:r>
              <a:rPr lang="en-US" sz="1700" b="0" kern="0" dirty="0">
                <a:solidFill>
                  <a:srgbClr val="1D1F20">
                    <a:alpha val="82000"/>
                  </a:srgbClr>
                </a:solidFill>
                <a:latin typeface="Barlow"/>
                <a:cs typeface="Barlow"/>
              </a:rPr>
              <a:t>{{deposit_prepay_note}}</a:t>
            </a:r>
          </a:p>
        </p:txBody>
      </p:sp>
      <p:sp>
        <p:nvSpPr>
          <p:cNvPr id="119" name="Shape 119"/>
          <p:cNvSpPr/>
          <p:nvPr/>
        </p:nvSpPr>
        <p:spPr>
          <a:xfrm>
            <a:off x="7112000" y="5537200"/>
            <a:ext cx="10261600" cy="1320800"/>
          </a:xfrm>
          <a:prstGeom prst="rect">
            <a:avLst/>
          </a:prstGeom>
          <a:noFill/>
          <a:ln w="9525">
            <a:solidFill>
              <a:srgbClr val="1D1F20">
                <a:alpha val="22000"/>
              </a:srgbClr>
            </a:solidFill>
          </a:ln>
        </p:spPr>
        <p:txBody>
          <a:bodyPr/>
          <a:lstStyle/>
          <a:p>
            <a:endParaRPr/>
          </a:p>
        </p:txBody>
      </p:sp>
      <p:sp>
        <p:nvSpPr>
          <p:cNvPr id="120" name="Shape 120"/>
          <p:cNvSpPr/>
          <p:nvPr/>
        </p:nvSpPr>
        <p:spPr>
          <a:xfrm>
            <a:off x="7112000" y="5537200"/>
            <a:ext cx="63500" cy="1320800"/>
          </a:xfrm>
          <a:prstGeom prst="rect">
            <a:avLst/>
          </a:prstGeom>
          <a:solidFill>
            <a:srgbClr val="2F7D3A"/>
          </a:solidFill>
          <a:ln>
            <a:noFill/>
          </a:ln>
        </p:spPr>
        <p:txBody>
          <a:bodyPr/>
          <a:lstStyle/>
          <a:p>
            <a:endParaRPr/>
          </a:p>
        </p:txBody>
      </p:sp>
      <p:sp>
        <p:nvSpPr>
          <p:cNvPr id="121" name="Text 121"/>
          <p:cNvSpPr txBox="1"/>
          <p:nvPr/>
        </p:nvSpPr>
        <p:spPr>
          <a:xfrm>
            <a:off x="7518400" y="5816600"/>
            <a:ext cx="2794000" cy="558800"/>
          </a:xfrm>
          <a:prstGeom prst="rect">
            <a:avLst/>
          </a:prstGeom>
          <a:noFill/>
        </p:spPr>
        <p:txBody>
          <a:bodyPr wrap="none" lIns="7200" tIns="0" rIns="0" bIns="0" anchor="t">
            <a:normAutofit/>
          </a:bodyPr>
          <a:lstStyle/>
          <a:p>
            <a:pPr marL="0" indent="0" algn="l">
              <a:buNone/>
            </a:pPr>
            <a:r>
              <a:rPr lang="en-US" sz="3200" b="1" kern="0" spc="-40" dirty="0">
                <a:solidFill>
                  <a:srgbClr val="2F7D3A"/>
                </a:solidFill>
                <a:latin typeface="Barlow Condensed"/>
                <a:cs typeface="Barlow Condensed"/>
              </a:rPr>
              <a:t>{{deposit_retirement_amount}}</a:t>
            </a:r>
          </a:p>
        </p:txBody>
      </p:sp>
      <p:sp>
        <p:nvSpPr>
          <p:cNvPr id="122" name="Text 122"/>
          <p:cNvSpPr txBox="1"/>
          <p:nvPr/>
        </p:nvSpPr>
        <p:spPr>
          <a:xfrm>
            <a:off x="10414000" y="5791200"/>
            <a:ext cx="6604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moves to the retirement portfolio</a:t>
            </a:r>
          </a:p>
        </p:txBody>
      </p:sp>
      <p:sp>
        <p:nvSpPr>
          <p:cNvPr id="123" name="Text 123"/>
          <p:cNvSpPr txBox="1"/>
          <p:nvPr/>
        </p:nvSpPr>
        <p:spPr>
          <a:xfrm>
            <a:off x="10414000" y="6197600"/>
            <a:ext cx="6604000" cy="381000"/>
          </a:xfrm>
          <a:prstGeom prst="rect">
            <a:avLst/>
          </a:prstGeom>
          <a:noFill/>
        </p:spPr>
        <p:txBody>
          <a:bodyPr wrap="square" lIns="7200" tIns="0" rIns="0" bIns="0" anchor="t">
            <a:normAutofit/>
          </a:bodyPr>
          <a:lstStyle/>
          <a:p>
            <a:pPr marL="0" indent="0" algn="l">
              <a:buNone/>
            </a:pPr>
            <a:r>
              <a:rPr lang="en-US" sz="1700" b="0" kern="0" dirty="0">
                <a:solidFill>
                  <a:srgbClr val="1D1F20">
                    <a:alpha val="82000"/>
                  </a:srgbClr>
                </a:solidFill>
                <a:latin typeface="Barlow"/>
                <a:cs typeface="Barlow"/>
              </a:rPr>
              <a:t>{{deposit_retirement_note}}</a:t>
            </a:r>
          </a:p>
        </p:txBody>
      </p:sp>
      <p:sp>
        <p:nvSpPr>
          <p:cNvPr id="124" name="Shape 124"/>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25" name="Text 125"/>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26" name="Text 126"/>
          <p:cNvSpPr txBox="1"/>
          <p:nvPr/>
        </p:nvSpPr>
        <p:spPr>
          <a:xfrm>
            <a:off x="3276600" y="7658100"/>
            <a:ext cx="13246100" cy="774700"/>
          </a:xfrm>
          <a:prstGeom prst="rect">
            <a:avLst/>
          </a:prstGeom>
          <a:noFill/>
        </p:spPr>
        <p:txBody>
          <a:bodyPr wrap="square" lIns="7200" tIns="0" rIns="0" bIns="0" anchor="t">
            <a:normAutofit fontScale="92500"/>
          </a:bodyPr>
          <a:lstStyle/>
          <a:p>
            <a:pPr marL="0" indent="0" algn="l">
              <a:lnSpc>
                <a:spcPct val="118000"/>
              </a:lnSpc>
              <a:buNone/>
            </a:pPr>
            <a:r>
              <a:rPr lang="en-US" sz="2100" b="0" kern="0" dirty="0">
                <a:solidFill>
                  <a:srgbClr val="1D1F20">
                    <a:alpha val="90000"/>
                  </a:srgbClr>
                </a:solidFill>
                <a:latin typeface="Barlow"/>
                <a:cs typeface="Barlow"/>
              </a:rPr>
              <a:t>{{prepay_funding_comment}}</a:t>
            </a:r>
          </a:p>
        </p:txBody>
      </p:sp>
      <p:sp>
        <p:nvSpPr>
          <p:cNvPr id="127" name="Text 127"/>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8" name="Text 128"/>
          <p:cNvSpPr txBox="1"/>
          <p:nvPr/>
        </p:nvSpPr>
        <p:spPr>
          <a:xfrm>
            <a:off x="14833600" y="9474200"/>
            <a:ext cx="2540000" cy="393700"/>
          </a:xfrm>
          <a:prstGeom prst="rect">
            <a:avLst/>
          </a:prstGeom>
          <a:noFill/>
        </p:spPr>
        <p:txBody>
          <a:bodyPr wrap="none" lIns="7200" tIns="0" rIns="0" bIns="0" anchor="t">
            <a:normAutofit/>
          </a:bodyPr>
          <a:lstStyle/>
          <a:p>
            <a:pPr marL="0" indent="0" algn="r">
              <a:buNone/>
            </a:pPr>
            <a:r>
              <a:rPr lang="en-US" sz="1600" b="0" kern="0" dirty="0">
                <a:solidFill>
                  <a:srgbClr val="2A3480"/>
                </a:solidFill>
                <a:latin typeface="Barlow"/>
                <a:cs typeface="Barlow"/>
              </a:rPr>
              <a:t>{{page_no}} / {{page_total}}</a:t>
            </a:r>
          </a:p>
        </p:txBody>
      </p:sp>
    </p:spTree>
    <p:extLst>
      <p:ext uri="{BB962C8B-B14F-4D97-AF65-F5344CB8AC3E}">
        <p14:creationId xmlns:p14="http://schemas.microsoft.com/office/powerpoint/2010/main" val="2430208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1B50"/>
        </a:solidFill>
        <a:effectLst/>
      </p:bgPr>
    </p:bg>
    <p:spTree>
      <p:nvGrpSpPr>
        <p:cNvPr id="1" name="Shape 561"/>
        <p:cNvGrpSpPr/>
        <p:nvPr/>
      </p:nvGrpSpPr>
      <p:grpSpPr>
        <a:xfrm>
          <a:off x="0" y="0"/>
          <a:ext cx="0" cy="0"/>
          <a:chOff x="0" y="0"/>
          <a:chExt cx="0" cy="0"/>
        </a:xfrm>
      </p:grpSpPr>
      <p:sp>
        <p:nvSpPr>
          <p:cNvPr id="563" name="Google Shape;563;p16"/>
          <p:cNvSpPr/>
          <p:nvPr/>
        </p:nvSpPr>
        <p:spPr>
          <a:xfrm>
            <a:off x="914372" y="4034118"/>
            <a:ext cx="8844056" cy="1097164"/>
          </a:xfrm>
          <a:prstGeom prst="rect">
            <a:avLst/>
          </a:prstGeom>
          <a:noFill/>
          <a:ln>
            <a:noFill/>
          </a:ln>
        </p:spPr>
        <p:txBody>
          <a:bodyPr spcFirstLastPara="1" wrap="square" lIns="25400" tIns="25400" rIns="25400" bIns="25400" anchor="t" anchorCtr="0">
            <a:noAutofit/>
          </a:bodyPr>
          <a:lstStyle/>
          <a:p>
            <a:pPr marL="0" marR="0" lvl="0" indent="0" algn="l" rtl="0">
              <a:lnSpc>
                <a:spcPct val="76502"/>
              </a:lnSpc>
              <a:spcBef>
                <a:spcPts val="0"/>
              </a:spcBef>
              <a:spcAft>
                <a:spcPts val="0"/>
              </a:spcAft>
              <a:buClr>
                <a:srgbClr val="F2F2F3"/>
              </a:buClr>
              <a:buSzPts val="8850"/>
              <a:buFont typeface="Barlow Condensed"/>
              <a:buNone/>
            </a:pPr>
            <a:r>
              <a:rPr lang="en-US" sz="8000" b="1" i="0" u="none" strike="noStrike" cap="none" dirty="0">
                <a:solidFill>
                  <a:srgbClr val="F2F2F3"/>
                </a:solidFill>
                <a:latin typeface="Barlow Condensed"/>
                <a:ea typeface="Barlow Condensed"/>
                <a:cs typeface="Barlow Condensed"/>
                <a:sym typeface="Barlow Condensed"/>
              </a:rPr>
              <a:t>Closing the Home Loan</a:t>
            </a:r>
            <a:endParaRPr sz="8000" b="0" i="0" u="none" strike="noStrike" cap="none" dirty="0">
              <a:solidFill>
                <a:schemeClr val="dk1"/>
              </a:solidFill>
              <a:latin typeface="Calibri"/>
              <a:ea typeface="Calibri"/>
              <a:cs typeface="Calibri"/>
              <a:sym typeface="Calibri"/>
            </a:endParaRPr>
          </a:p>
        </p:txBody>
      </p:sp>
      <p:sp>
        <p:nvSpPr>
          <p:cNvPr id="564" name="Google Shape;564;p16"/>
          <p:cNvSpPr/>
          <p:nvPr/>
        </p:nvSpPr>
        <p:spPr>
          <a:xfrm>
            <a:off x="914372" y="5474182"/>
            <a:ext cx="7238930" cy="9525"/>
          </a:xfrm>
          <a:prstGeom prst="rect">
            <a:avLst/>
          </a:prstGeom>
          <a:solidFill>
            <a:srgbClr val="F2F2F3">
              <a:alpha val="2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6"/>
          <p:cNvSpPr/>
          <p:nvPr/>
        </p:nvSpPr>
        <p:spPr>
          <a:xfrm>
            <a:off x="914372" y="5807486"/>
            <a:ext cx="8229628" cy="1446865"/>
          </a:xfrm>
          <a:prstGeom prst="rect">
            <a:avLst/>
          </a:prstGeom>
          <a:noFill/>
          <a:ln>
            <a:noFill/>
          </a:ln>
        </p:spPr>
        <p:txBody>
          <a:bodyPr spcFirstLastPara="1" wrap="square" lIns="25400" tIns="25400" rIns="25400" bIns="25400" anchor="t" anchorCtr="0">
            <a:noAutofit/>
          </a:bodyPr>
          <a:lstStyle/>
          <a:p>
            <a:pPr marL="0" marR="0" lvl="0" indent="0" algn="l" rtl="0">
              <a:lnSpc>
                <a:spcPct val="121800"/>
              </a:lnSpc>
              <a:spcBef>
                <a:spcPts val="0"/>
              </a:spcBef>
              <a:spcAft>
                <a:spcPts val="0"/>
              </a:spcAft>
              <a:buClr>
                <a:srgbClr val="F2F2F3"/>
              </a:buClr>
              <a:buSzPts val="2550"/>
              <a:buFont typeface="Barlow"/>
              <a:buNone/>
            </a:pPr>
            <a:r>
              <a:rPr lang="en-US" sz="2550" b="0" i="0" u="none" strike="noStrike" cap="none" dirty="0">
                <a:solidFill>
                  <a:srgbClr val="F2F2F3"/>
                </a:solidFill>
                <a:latin typeface="Barlow"/>
                <a:ea typeface="Barlow"/>
                <a:cs typeface="Barlow"/>
                <a:sym typeface="Barlow"/>
              </a:rPr>
              <a:t>{{home_loan_section_intro}}</a:t>
            </a:r>
            <a:r>
              <a:rPr lang="en-US" sz="2550" dirty="0">
                <a:solidFill>
                  <a:srgbClr val="F2F2F3"/>
                </a:solidFill>
                <a:latin typeface="Barlow"/>
                <a:ea typeface="Barlow"/>
                <a:cs typeface="Barlow"/>
                <a:sym typeface="Barlow"/>
              </a:rPr>
              <a:t/>
            </a:r>
            <a:r>
              <a:rPr lang="en-US" sz="2550" b="0" i="0" u="none" strike="noStrike" cap="none" dirty="0">
                <a:solidFill>
                  <a:srgbClr val="F2F2F3"/>
                </a:solidFill>
                <a:latin typeface="Barlow"/>
                <a:ea typeface="Barlow"/>
                <a:cs typeface="Barlow"/>
                <a:sym typeface="Barlow"/>
              </a:rPr>
              <a:t/>
            </a:r>
            <a:endParaRPr sz="2550" b="0" i="0" u="none" strike="noStrike" cap="none" dirty="0">
              <a:solidFill>
                <a:schemeClr val="dk1"/>
              </a:solidFill>
              <a:latin typeface="Calibri"/>
              <a:ea typeface="Calibri"/>
              <a:cs typeface="Calibri"/>
              <a:sym typeface="Calibri"/>
            </a:endParaRPr>
          </a:p>
        </p:txBody>
      </p:sp>
      <p:sp>
        <p:nvSpPr>
          <p:cNvPr id="566" name="Google Shape;566;p16"/>
          <p:cNvSpPr/>
          <p:nvPr/>
        </p:nvSpPr>
        <p:spPr>
          <a:xfrm>
            <a:off x="914372" y="7749623"/>
            <a:ext cx="2403745"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INTEREST SAVED</a:t>
            </a:r>
            <a:endParaRPr sz="1800" b="0" i="0" u="none" strike="noStrike" cap="none">
              <a:solidFill>
                <a:schemeClr val="dk1"/>
              </a:solidFill>
              <a:latin typeface="Calibri"/>
              <a:ea typeface="Calibri"/>
              <a:cs typeface="Calibri"/>
              <a:sym typeface="Calibri"/>
            </a:endParaRPr>
          </a:p>
        </p:txBody>
      </p:sp>
      <p:sp>
        <p:nvSpPr>
          <p:cNvPr id="567" name="Google Shape;567;p16"/>
          <p:cNvSpPr/>
          <p:nvPr/>
        </p:nvSpPr>
        <p:spPr>
          <a:xfrm>
            <a:off x="914372" y="8180161"/>
            <a:ext cx="2403745" cy="571472"/>
          </a:xfrm>
          <a:prstGeom prst="rect">
            <a:avLst/>
          </a:prstGeom>
          <a:noFill/>
          <a:ln>
            <a:noFill/>
          </a:ln>
        </p:spPr>
        <p:txBody>
          <a:bodyPr spcFirstLastPara="1" wrap="non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dirty="0">
                <a:solidFill>
                  <a:srgbClr val="94BCE3"/>
                </a:solidFill>
                <a:latin typeface="Barlow Condensed"/>
                <a:ea typeface="Barlow Condensed"/>
                <a:cs typeface="Barlow Condensed"/>
                <a:sym typeface="Barlow Condensed"/>
              </a:rPr>
              <a:t>{{loan_1_interest_saved_short}}</a:t>
            </a:r>
            <a:r>
              <a:rPr lang="en-US" sz="4200" dirty="0">
                <a:solidFill>
                  <a:srgbClr val="94BCE3"/>
                </a:solidFill>
                <a:latin typeface="Barlow Condensed"/>
                <a:ea typeface="Barlow Condensed"/>
                <a:cs typeface="Barlow Condensed"/>
                <a:sym typeface="Barlow Condensed"/>
              </a:rPr>
              <a:t/>
            </a:r>
            <a:r>
              <a:rPr lang="en-US" sz="4200" b="0" i="0" u="none" strike="noStrike" cap="none" dirty="0">
                <a:solidFill>
                  <a:srgbClr val="94BCE3"/>
                </a:solidFill>
                <a:latin typeface="Barlow Condensed"/>
                <a:ea typeface="Barlow Condensed"/>
                <a:cs typeface="Barlow Condensed"/>
                <a:sym typeface="Barlow Condensed"/>
              </a:rPr>
              <a:t/>
            </a:r>
            <a:endParaRPr sz="4200" b="0" i="0" u="none" strike="noStrike" cap="none" dirty="0">
              <a:solidFill>
                <a:schemeClr val="dk1"/>
              </a:solidFill>
              <a:latin typeface="Calibri"/>
              <a:ea typeface="Calibri"/>
              <a:cs typeface="Calibri"/>
              <a:sym typeface="Calibri"/>
            </a:endParaRPr>
          </a:p>
        </p:txBody>
      </p:sp>
      <p:sp>
        <p:nvSpPr>
          <p:cNvPr id="568" name="Google Shape;568;p16"/>
          <p:cNvSpPr/>
          <p:nvPr/>
        </p:nvSpPr>
        <p:spPr>
          <a:xfrm>
            <a:off x="3632966" y="7749623"/>
            <a:ext cx="2558412"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TENURE REDUCED</a:t>
            </a:r>
            <a:endParaRPr sz="1800" b="0" i="0" u="none" strike="noStrike" cap="none">
              <a:solidFill>
                <a:schemeClr val="dk1"/>
              </a:solidFill>
              <a:latin typeface="Calibri"/>
              <a:ea typeface="Calibri"/>
              <a:cs typeface="Calibri"/>
              <a:sym typeface="Calibri"/>
            </a:endParaRPr>
          </a:p>
        </p:txBody>
      </p:sp>
      <p:sp>
        <p:nvSpPr>
          <p:cNvPr id="569" name="Google Shape;569;p16"/>
          <p:cNvSpPr/>
          <p:nvPr/>
        </p:nvSpPr>
        <p:spPr>
          <a:xfrm>
            <a:off x="3632966" y="8180161"/>
            <a:ext cx="2558412" cy="571472"/>
          </a:xfrm>
          <a:prstGeom prst="rect">
            <a:avLst/>
          </a:prstGeom>
          <a:noFill/>
          <a:ln>
            <a:noFill/>
          </a:ln>
        </p:spPr>
        <p:txBody>
          <a:bodyPr spcFirstLastPara="1" wrap="non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dirty="0">
                <a:solidFill>
                  <a:srgbClr val="94BCE3"/>
                </a:solidFill>
                <a:latin typeface="Barlow Condensed"/>
                <a:ea typeface="Barlow Condensed"/>
                <a:cs typeface="Barlow Condensed"/>
                <a:sym typeface="Barlow Condensed"/>
              </a:rPr>
              <a:t>{{loan_1_years_saved}}</a:t>
            </a:r>
            <a:r>
              <a:rPr lang="en-US" sz="4200" b="0" i="0" u="none" strike="noStrike" cap="none" dirty="0">
                <a:solidFill>
                  <a:srgbClr val="94BCE3"/>
                </a:solidFill>
                <a:latin typeface="Barlow Condensed"/>
                <a:ea typeface="Barlow Condensed"/>
                <a:cs typeface="Barlow Condensed"/>
                <a:sym typeface="Barlow Condensed"/>
              </a:rPr>
              <a:t/>
            </a:r>
            <a:endParaRPr sz="4200" b="0" i="0" u="none" strike="noStrike" cap="none" dirty="0">
              <a:solidFill>
                <a:schemeClr val="dk1"/>
              </a:solidFill>
              <a:latin typeface="Calibri"/>
              <a:ea typeface="Calibri"/>
              <a:cs typeface="Calibri"/>
              <a:sym typeface="Calibri"/>
            </a:endParaRPr>
          </a:p>
        </p:txBody>
      </p:sp>
      <p:sp>
        <p:nvSpPr>
          <p:cNvPr id="570" name="Google Shape;570;p16"/>
          <p:cNvSpPr/>
          <p:nvPr/>
        </p:nvSpPr>
        <p:spPr>
          <a:xfrm>
            <a:off x="914372" y="9323090"/>
            <a:ext cx="944510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ARMSTRONG CAPITAL · GOAL BASED PLANNING</a:t>
            </a:r>
            <a:endParaRPr sz="1800" b="0" i="0" u="none" strike="noStrike" cap="none">
              <a:solidFill>
                <a:schemeClr val="dk1"/>
              </a:solidFill>
              <a:latin typeface="Calibri"/>
              <a:ea typeface="Calibri"/>
              <a:cs typeface="Calibri"/>
              <a:sym typeface="Calibri"/>
            </a:endParaRPr>
          </a:p>
        </p:txBody>
      </p:sp>
      <p:sp>
        <p:nvSpPr>
          <p:cNvPr id="571" name="Google Shape;571;p16"/>
          <p:cNvSpPr/>
          <p:nvPr/>
        </p:nvSpPr>
        <p:spPr>
          <a:xfrm>
            <a:off x="10110391" y="0"/>
            <a:ext cx="8177539" cy="10287001"/>
          </a:xfrm>
          <a:prstGeom prst="rect">
            <a:avLst/>
          </a:prstGeom>
          <a:solidFill>
            <a:srgbClr val="20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2" name="Google Shape;572;p16" descr="preencoded.png"/>
          <p:cNvPicPr preferRelativeResize="0"/>
          <p:nvPr/>
        </p:nvPicPr>
        <p:blipFill rotWithShape="1">
          <a:blip r:embed="rId3">
            <a:alphaModFix amt="90000"/>
          </a:blip>
          <a:srcRect l="27730" r="27730"/>
          <a:stretch/>
        </p:blipFill>
        <p:spPr>
          <a:xfrm>
            <a:off x="10110391" y="0"/>
            <a:ext cx="8177539" cy="10287001"/>
          </a:xfrm>
          <a:prstGeom prst="rect">
            <a:avLst/>
          </a:prstGeom>
          <a:noFill/>
          <a:ln>
            <a:noFill/>
          </a:ln>
        </p:spPr>
      </p:pic>
      <p:sp>
        <p:nvSpPr>
          <p:cNvPr id="573" name="Google Shape;573;p16"/>
          <p:cNvSpPr/>
          <p:nvPr/>
        </p:nvSpPr>
        <p:spPr>
          <a:xfrm>
            <a:off x="10110391" y="0"/>
            <a:ext cx="8177539" cy="10287001"/>
          </a:xfrm>
          <a:prstGeom prst="rect">
            <a:avLst/>
          </a:prstGeom>
          <a:solidFill>
            <a:srgbClr val="141A45">
              <a:alpha val="5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6"/>
          <p:cNvSpPr/>
          <p:nvPr/>
        </p:nvSpPr>
        <p:spPr>
          <a:xfrm>
            <a:off x="10110391" y="0"/>
            <a:ext cx="8177539" cy="10287001"/>
          </a:xfrm>
          <a:prstGeom prst="rect">
            <a:avLst/>
          </a:prstGeom>
          <a:gradFill>
            <a:gsLst>
              <a:gs pos="0">
                <a:srgbClr val="141A45"/>
              </a:gs>
              <a:gs pos="30000">
                <a:srgbClr val="141A45">
                  <a:alpha val="0"/>
                </a:srgbClr>
              </a:gs>
              <a:gs pos="100000">
                <a:srgbClr val="141A45">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0" tIns="0" rIns="0" bIns="0" anchor="t">
            <a:normAutofit/>
          </a:bodyPr>
          <a:lstStyle/>
          <a:p>
            <a:pPr marL="0" indent="0" algn="l">
              <a:buNone/>
            </a:pPr>
            <a:r>
              <a:rPr lang="en-US" sz="2100" b="1" kern="0" spc="390" dirty="0">
                <a:solidFill>
                  <a:srgbClr val="2A3480"/>
                </a:solidFill>
                <a:latin typeface="Barlow"/>
                <a:cs typeface="Barlow"/>
              </a:rPr>
              <a:t>HOME LOAN · LIFE OF THE LOAN</a:t>
            </a:r>
          </a:p>
        </p:txBody>
      </p:sp>
      <p:sp>
        <p:nvSpPr>
          <p:cNvPr id="102" name="Text 102"/>
          <p:cNvSpPr txBox="1"/>
          <p:nvPr/>
        </p:nvSpPr>
        <p:spPr>
          <a:xfrm>
            <a:off x="914400" y="1092200"/>
            <a:ext cx="15240000" cy="774700"/>
          </a:xfrm>
          <a:prstGeom prst="rect">
            <a:avLst/>
          </a:prstGeom>
          <a:noFill/>
        </p:spPr>
        <p:txBody>
          <a:bodyPr wrap="square" lIns="0" tIns="0" rIns="0" bIns="0" anchor="t">
            <a:normAutofit fontScale="92500"/>
          </a:bodyPr>
          <a:lstStyle/>
          <a:p>
            <a:pPr marL="0" indent="0" algn="l">
              <a:lnSpc>
                <a:spcPct val="80000"/>
              </a:lnSpc>
              <a:buNone/>
            </a:pPr>
            <a:r>
              <a:rPr lang="en-US" sz="4400" b="1" kern="0" spc="-80" dirty="0">
                <a:solidFill>
                  <a:srgbClr val="1D1F20"/>
                </a:solidFill>
                <a:latin typeface="Barlow Condensed"/>
                <a:cs typeface="Barlow Condensed"/>
              </a:rPr>
              <a:t>{{loan_life_headline}}</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1905000" y="2616200"/>
            <a:ext cx="8890000" cy="381000"/>
          </a:xfrm>
          <a:prstGeom prst="rect">
            <a:avLst/>
          </a:prstGeom>
          <a:noFill/>
        </p:spPr>
        <p:txBody>
          <a:bodyPr wrap="square" lIns="0" tIns="0" rIns="0" bIns="0" anchor="t">
            <a:normAutofit/>
          </a:bodyPr>
          <a:lstStyle/>
          <a:p>
            <a:pPr marL="0" indent="0" algn="l">
              <a:buNone/>
            </a:pPr>
            <a:r>
              <a:rPr lang="en-US" sz="1700" b="1" kern="0" spc="300" dirty="0">
                <a:solidFill>
                  <a:srgbClr val="1D1F20">
                    <a:alpha val="75000"/>
                  </a:srgbClr>
                </a:solidFill>
                <a:latin typeface="Barlow"/>
                <a:cs typeface="Barlow"/>
              </a:rPr>
              <a:t>IF THE LOAN CONTINUES AS IT IS</a:t>
            </a:r>
          </a:p>
        </p:txBody>
      </p:sp>
      <p:sp>
        <p:nvSpPr>
          <p:cNvPr id="105" name="Shape 105"/>
          <p:cNvSpPr/>
          <p:nvPr/>
        </p:nvSpPr>
        <p:spPr>
          <a:xfrm>
            <a:off x="1905000" y="3048000"/>
            <a:ext cx="5200650" cy="431800"/>
          </a:xfrm>
          <a:prstGeom prst="rect">
            <a:avLst/>
          </a:prstGeom>
          <a:solidFill>
            <a:srgbClr val="26306F"/>
          </a:solidFill>
          <a:ln>
            <a:noFill/>
          </a:ln>
        </p:spPr>
        <p:txBody>
          <a:bodyPr/>
          <a:lstStyle/>
          <a:p>
            <a:endParaRPr/>
          </a:p>
        </p:txBody>
      </p:sp>
      <p:sp>
        <p:nvSpPr>
          <p:cNvPr id="106" name="Shape 106"/>
          <p:cNvSpPr/>
          <p:nvPr/>
        </p:nvSpPr>
        <p:spPr>
          <a:xfrm>
            <a:off x="7105650" y="3048000"/>
            <a:ext cx="9658350" cy="431800"/>
          </a:xfrm>
          <a:prstGeom prst="rect">
            <a:avLst/>
          </a:prstGeom>
          <a:solidFill>
            <a:srgbClr val="C6C8CF"/>
          </a:solidFill>
          <a:ln>
            <a:noFill/>
          </a:ln>
        </p:spPr>
        <p:txBody>
          <a:bodyPr/>
          <a:lstStyle/>
          <a:p>
            <a:endParaRPr/>
          </a:p>
        </p:txBody>
      </p:sp>
      <p:sp>
        <p:nvSpPr>
          <p:cNvPr id="107" name="Text 107"/>
          <p:cNvSpPr txBox="1"/>
          <p:nvPr/>
        </p:nvSpPr>
        <p:spPr>
          <a:xfrm>
            <a:off x="2082800" y="3162300"/>
            <a:ext cx="4064000" cy="355600"/>
          </a:xfrm>
          <a:prstGeom prst="rect">
            <a:avLst/>
          </a:prstGeom>
          <a:noFill/>
        </p:spPr>
        <p:txBody>
          <a:bodyPr wrap="square" lIns="0" tIns="0" rIns="0" bIns="0" anchor="t">
            <a:normAutofit/>
          </a:bodyPr>
          <a:lstStyle/>
          <a:p>
            <a:pPr marL="0" indent="0" algn="l">
              <a:buNone/>
            </a:pPr>
            <a:r>
              <a:rPr lang="en-US" sz="1700" b="1" kern="0" dirty="0">
                <a:solidFill>
                  <a:srgbClr val="FFFFFF"/>
                </a:solidFill>
                <a:latin typeface="Barlow"/>
                <a:cs typeface="Barlow"/>
              </a:rPr>
              <a:t>{{loan_1_paid_to_date}} paid  ·  {{loan_1_start_year}}–{{review_year}}</a:t>
            </a:r>
          </a:p>
        </p:txBody>
      </p:sp>
      <p:sp>
        <p:nvSpPr>
          <p:cNvPr id="108" name="Text 108"/>
          <p:cNvSpPr txBox="1"/>
          <p:nvPr/>
        </p:nvSpPr>
        <p:spPr>
          <a:xfrm>
            <a:off x="7283450" y="3162300"/>
            <a:ext cx="5334000" cy="355600"/>
          </a:xfrm>
          <a:prstGeom prst="rect">
            <a:avLst/>
          </a:prstGeom>
          <a:noFill/>
        </p:spPr>
        <p:txBody>
          <a:bodyPr wrap="square" lIns="0" tIns="0" rIns="0" bIns="0" anchor="t">
            <a:normAutofit/>
          </a:bodyPr>
          <a:lstStyle/>
          <a:p>
            <a:pPr marL="0" indent="0" algn="l">
              <a:buNone/>
            </a:pPr>
            <a:r>
              <a:rPr lang="en-US" sz="1700" b="1" kern="0" dirty="0">
                <a:solidFill>
                  <a:srgbClr val="1D1F20">
                    <a:alpha val="80000"/>
                  </a:srgbClr>
                </a:solidFill>
                <a:latin typeface="Barlow"/>
                <a:cs typeface="Barlow"/>
              </a:rPr>
              <a:t>{{loan_life_continue_note}}</a:t>
            </a:r>
          </a:p>
        </p:txBody>
      </p:sp>
      <p:sp>
        <p:nvSpPr>
          <p:cNvPr id="109" name="Text 109"/>
          <p:cNvSpPr txBox="1"/>
          <p:nvPr/>
        </p:nvSpPr>
        <p:spPr>
          <a:xfrm>
            <a:off x="1905000" y="4140200"/>
            <a:ext cx="8890000" cy="381000"/>
          </a:xfrm>
          <a:prstGeom prst="rect">
            <a:avLst/>
          </a:prstGeom>
          <a:noFill/>
        </p:spPr>
        <p:txBody>
          <a:bodyPr wrap="square" lIns="0" tIns="0" rIns="0" bIns="0" anchor="t">
            <a:normAutofit/>
          </a:bodyPr>
          <a:lstStyle/>
          <a:p>
            <a:pPr marL="0" indent="0" algn="l">
              <a:buNone/>
            </a:pPr>
            <a:r>
              <a:rPr lang="en-US" sz="1700" b="1" kern="0" spc="300" dirty="0">
                <a:solidFill>
                  <a:srgbClr val="2F7D3A"/>
                </a:solidFill>
                <a:latin typeface="Barlow"/>
                <a:cs typeface="Barlow"/>
              </a:rPr>
              <a:t>{{loan_life_prepay_label}}</a:t>
            </a:r>
          </a:p>
        </p:txBody>
      </p:sp>
      <p:sp>
        <p:nvSpPr>
          <p:cNvPr id="110" name="Shape 110"/>
          <p:cNvSpPr/>
          <p:nvPr/>
        </p:nvSpPr>
        <p:spPr>
          <a:xfrm>
            <a:off x="1905000" y="4572000"/>
            <a:ext cx="5200650" cy="431800"/>
          </a:xfrm>
          <a:prstGeom prst="rect">
            <a:avLst/>
          </a:prstGeom>
          <a:solidFill>
            <a:srgbClr val="26306F"/>
          </a:solidFill>
          <a:ln>
            <a:noFill/>
          </a:ln>
        </p:spPr>
        <p:txBody>
          <a:bodyPr/>
          <a:lstStyle/>
          <a:p>
            <a:endParaRPr/>
          </a:p>
        </p:txBody>
      </p:sp>
      <p:sp>
        <p:nvSpPr>
          <p:cNvPr id="111" name="Shape 111"/>
          <p:cNvSpPr/>
          <p:nvPr/>
        </p:nvSpPr>
        <p:spPr>
          <a:xfrm>
            <a:off x="7105650" y="4572000"/>
            <a:ext cx="5943600" cy="431800"/>
          </a:xfrm>
          <a:prstGeom prst="rect">
            <a:avLst/>
          </a:prstGeom>
          <a:solidFill>
            <a:srgbClr val="2F7D3A"/>
          </a:solidFill>
          <a:ln>
            <a:noFill/>
          </a:ln>
        </p:spPr>
        <p:txBody>
          <a:bodyPr/>
          <a:lstStyle/>
          <a:p>
            <a:endParaRPr/>
          </a:p>
        </p:txBody>
      </p:sp>
      <p:sp>
        <p:nvSpPr>
          <p:cNvPr id="112" name="Text 112"/>
          <p:cNvSpPr txBox="1"/>
          <p:nvPr/>
        </p:nvSpPr>
        <p:spPr>
          <a:xfrm>
            <a:off x="2082800" y="4686300"/>
            <a:ext cx="4064000" cy="355600"/>
          </a:xfrm>
          <a:prstGeom prst="rect">
            <a:avLst/>
          </a:prstGeom>
          <a:noFill/>
        </p:spPr>
        <p:txBody>
          <a:bodyPr wrap="square" lIns="0" tIns="0" rIns="0" bIns="0" anchor="t">
            <a:normAutofit/>
          </a:bodyPr>
          <a:lstStyle/>
          <a:p>
            <a:pPr marL="0" indent="0" algn="l">
              <a:buNone/>
            </a:pPr>
            <a:r>
              <a:rPr lang="en-US" sz="1700" b="1" kern="0" dirty="0">
                <a:solidFill>
                  <a:srgbClr val="FFFFFF"/>
                </a:solidFill>
                <a:latin typeface="Barlow"/>
                <a:cs typeface="Barlow"/>
              </a:rPr>
              <a:t>{{loan_1_paid_to_date}} paid  ·  {{loan_1_start_year}}–{{review_year}}</a:t>
            </a:r>
          </a:p>
        </p:txBody>
      </p:sp>
      <p:sp>
        <p:nvSpPr>
          <p:cNvPr id="113" name="Text 113"/>
          <p:cNvSpPr txBox="1"/>
          <p:nvPr/>
        </p:nvSpPr>
        <p:spPr>
          <a:xfrm>
            <a:off x="7283450" y="4686300"/>
            <a:ext cx="4572000" cy="355600"/>
          </a:xfrm>
          <a:prstGeom prst="rect">
            <a:avLst/>
          </a:prstGeom>
          <a:noFill/>
        </p:spPr>
        <p:txBody>
          <a:bodyPr wrap="square" lIns="0" tIns="0" rIns="0" bIns="0" anchor="t">
            <a:normAutofit/>
          </a:bodyPr>
          <a:lstStyle/>
          <a:p>
            <a:pPr marL="0" indent="0" algn="l">
              <a:buNone/>
            </a:pPr>
            <a:r>
              <a:rPr lang="en-US" sz="1700" b="1" kern="0" dirty="0">
                <a:solidFill>
                  <a:srgbClr val="FFFFFF"/>
                </a:solidFill>
                <a:latin typeface="Barlow"/>
                <a:cs typeface="Barlow"/>
              </a:rPr>
              <a:t>{{loan_1_interest_after_prepay}} interest from here</a:t>
            </a:r>
          </a:p>
        </p:txBody>
      </p:sp>
      <p:sp>
        <p:nvSpPr>
          <p:cNvPr id="114" name="Shape 114"/>
          <p:cNvSpPr/>
          <p:nvPr/>
        </p:nvSpPr>
        <p:spPr>
          <a:xfrm>
            <a:off x="13049250" y="4572000"/>
            <a:ext cx="3714750" cy="431800"/>
          </a:xfrm>
          <a:prstGeom prst="rect">
            <a:avLst/>
          </a:prstGeom>
          <a:noFill/>
          <a:ln w="12700">
            <a:solidFill>
              <a:srgbClr val="2F7D3A"/>
            </a:solidFill>
            <a:prstDash val="dash"/>
          </a:ln>
        </p:spPr>
        <p:txBody>
          <a:bodyPr/>
          <a:lstStyle/>
          <a:p>
            <a:endParaRPr/>
          </a:p>
        </p:txBody>
      </p:sp>
      <p:sp>
        <p:nvSpPr>
          <p:cNvPr id="115" name="Text 115"/>
          <p:cNvSpPr txBox="1"/>
          <p:nvPr/>
        </p:nvSpPr>
        <p:spPr>
          <a:xfrm>
            <a:off x="13049250" y="5105400"/>
            <a:ext cx="3714750" cy="355600"/>
          </a:xfrm>
          <a:prstGeom prst="rect">
            <a:avLst/>
          </a:prstGeom>
          <a:noFill/>
        </p:spPr>
        <p:txBody>
          <a:bodyPr wrap="square" lIns="0" tIns="0" rIns="0" bIns="0" anchor="t">
            <a:normAutofit/>
          </a:bodyPr>
          <a:lstStyle/>
          <a:p>
            <a:pPr marL="0" indent="0" algn="ctr">
              <a:buNone/>
            </a:pPr>
            <a:r>
              <a:rPr lang="en-US" sz="1700" b="1" kern="0" dirty="0">
                <a:solidFill>
                  <a:srgbClr val="2F7D3A"/>
                </a:solidFill>
                <a:latin typeface="Barlow"/>
                <a:cs typeface="Barlow"/>
              </a:rPr>
              <a:t>{{loan_1_years_saved}} saved</a:t>
            </a:r>
          </a:p>
        </p:txBody>
      </p:sp>
      <p:sp>
        <p:nvSpPr>
          <p:cNvPr id="116" name="Shape 116"/>
          <p:cNvSpPr/>
          <p:nvPr/>
        </p:nvSpPr>
        <p:spPr>
          <a:xfrm>
            <a:off x="7092950" y="2489200"/>
            <a:ext cx="25400" cy="2794000"/>
          </a:xfrm>
          <a:prstGeom prst="rect">
            <a:avLst/>
          </a:prstGeom>
          <a:solidFill>
            <a:srgbClr val="2A3480">
              <a:alpha val="55000"/>
            </a:srgbClr>
          </a:solidFill>
          <a:ln>
            <a:noFill/>
          </a:ln>
        </p:spPr>
        <p:txBody>
          <a:bodyPr/>
          <a:lstStyle/>
          <a:p>
            <a:endParaRPr/>
          </a:p>
        </p:txBody>
      </p:sp>
      <p:sp>
        <p:nvSpPr>
          <p:cNvPr id="117" name="Text 117"/>
          <p:cNvSpPr txBox="1"/>
          <p:nvPr/>
        </p:nvSpPr>
        <p:spPr>
          <a:xfrm>
            <a:off x="4972050" y="2133600"/>
            <a:ext cx="4267200" cy="330200"/>
          </a:xfrm>
          <a:prstGeom prst="rect">
            <a:avLst/>
          </a:prstGeom>
          <a:noFill/>
        </p:spPr>
        <p:txBody>
          <a:bodyPr wrap="none" lIns="0" tIns="0" rIns="0" bIns="0" anchor="t">
            <a:normAutofit/>
          </a:bodyPr>
          <a:lstStyle/>
          <a:p>
            <a:pPr marL="0" indent="0" algn="ctr">
              <a:buNone/>
            </a:pPr>
            <a:r>
              <a:rPr lang="en-US" sz="1500" b="1" kern="0" spc="200" dirty="0">
                <a:solidFill>
                  <a:srgbClr val="2A3480"/>
                </a:solidFill>
                <a:latin typeface="Barlow"/>
                <a:cs typeface="Barlow"/>
              </a:rPr>
              <a:t>TODAY · {{review_year}}</a:t>
            </a:r>
          </a:p>
        </p:txBody>
      </p:sp>
      <p:sp>
        <p:nvSpPr>
          <p:cNvPr id="118" name="Shape 118"/>
          <p:cNvSpPr/>
          <p:nvPr/>
        </p:nvSpPr>
        <p:spPr>
          <a:xfrm>
            <a:off x="1905000" y="5664200"/>
            <a:ext cx="14859000" cy="12700"/>
          </a:xfrm>
          <a:prstGeom prst="rect">
            <a:avLst/>
          </a:prstGeom>
          <a:solidFill>
            <a:srgbClr val="1D1F20">
              <a:alpha val="25000"/>
            </a:srgbClr>
          </a:solidFill>
          <a:ln w="19050">
            <a:solidFill>
              <a:schemeClr val="tx1"/>
            </a:solidFill>
          </a:ln>
        </p:spPr>
        <p:txBody>
          <a:bodyPr/>
          <a:lstStyle/>
          <a:p>
            <a:endParaRPr b="1" dirty="0"/>
          </a:p>
        </p:txBody>
      </p:sp>
      <p:sp>
        <p:nvSpPr>
          <p:cNvPr id="119" name="Shape 119"/>
          <p:cNvSpPr/>
          <p:nvPr/>
        </p:nvSpPr>
        <p:spPr>
          <a:xfrm>
            <a:off x="1905000" y="5664200"/>
            <a:ext cx="12700" cy="127000"/>
          </a:xfrm>
          <a:prstGeom prst="rect">
            <a:avLst/>
          </a:prstGeom>
          <a:solidFill>
            <a:srgbClr val="1D1F20">
              <a:alpha val="25000"/>
            </a:srgbClr>
          </a:solidFill>
          <a:ln>
            <a:noFill/>
          </a:ln>
        </p:spPr>
        <p:txBody>
          <a:bodyPr/>
          <a:lstStyle/>
          <a:p>
            <a:endParaRPr/>
          </a:p>
        </p:txBody>
      </p:sp>
      <p:sp>
        <p:nvSpPr>
          <p:cNvPr id="120" name="Text 120"/>
          <p:cNvSpPr txBox="1"/>
          <p:nvPr/>
        </p:nvSpPr>
        <p:spPr>
          <a:xfrm>
            <a:off x="635000" y="5867400"/>
            <a:ext cx="2540000" cy="355600"/>
          </a:xfrm>
          <a:prstGeom prst="rect">
            <a:avLst/>
          </a:prstGeom>
          <a:noFill/>
        </p:spPr>
        <p:txBody>
          <a:bodyPr wrap="square" lIns="0" tIns="0" rIns="0" bIns="0" anchor="t">
            <a:normAutofit/>
          </a:bodyPr>
          <a:lstStyle/>
          <a:p>
            <a:pPr marL="0" indent="0" algn="l">
              <a:buNone/>
            </a:pPr>
            <a:r>
              <a:rPr lang="en-US" sz="1700" b="1" kern="0" dirty="0">
                <a:solidFill>
                  <a:srgbClr val="1D1F20">
                    <a:alpha val="75000"/>
                  </a:srgbClr>
                </a:solidFill>
                <a:latin typeface="Barlow"/>
                <a:cs typeface="Barlow"/>
              </a:rPr>
              <a:t>{{loan_1_start_year}} · loan taken</a:t>
            </a:r>
          </a:p>
        </p:txBody>
      </p:sp>
      <p:sp>
        <p:nvSpPr>
          <p:cNvPr id="121" name="Shape 121"/>
          <p:cNvSpPr/>
          <p:nvPr/>
        </p:nvSpPr>
        <p:spPr>
          <a:xfrm>
            <a:off x="7105650" y="5664200"/>
            <a:ext cx="12700" cy="127000"/>
          </a:xfrm>
          <a:prstGeom prst="rect">
            <a:avLst/>
          </a:prstGeom>
          <a:solidFill>
            <a:srgbClr val="1D1F20">
              <a:alpha val="25000"/>
            </a:srgbClr>
          </a:solidFill>
          <a:ln>
            <a:noFill/>
          </a:ln>
        </p:spPr>
        <p:txBody>
          <a:bodyPr/>
          <a:lstStyle/>
          <a:p>
            <a:endParaRPr/>
          </a:p>
        </p:txBody>
      </p:sp>
      <p:sp>
        <p:nvSpPr>
          <p:cNvPr id="122" name="Text 122"/>
          <p:cNvSpPr txBox="1"/>
          <p:nvPr/>
        </p:nvSpPr>
        <p:spPr>
          <a:xfrm>
            <a:off x="4464050" y="5867400"/>
            <a:ext cx="5283200" cy="355600"/>
          </a:xfrm>
          <a:prstGeom prst="rect">
            <a:avLst/>
          </a:prstGeom>
          <a:noFill/>
        </p:spPr>
        <p:txBody>
          <a:bodyPr wrap="none" lIns="0" tIns="0" rIns="0" bIns="0" anchor="t">
            <a:normAutofit/>
          </a:bodyPr>
          <a:lstStyle/>
          <a:p>
            <a:pPr marL="0" indent="0" algn="ctr">
              <a:buNone/>
            </a:pPr>
            <a:r>
              <a:rPr lang="en-US" sz="1700" b="1" kern="0" dirty="0">
                <a:solidFill>
                  <a:srgbClr val="1D1F20">
                    <a:alpha val="75000"/>
                  </a:srgbClr>
                </a:solidFill>
                <a:latin typeface="Barlow"/>
                <a:cs typeface="Barlow"/>
              </a:rPr>
              <a:t>{{review_year}}</a:t>
            </a:r>
          </a:p>
        </p:txBody>
      </p:sp>
      <p:sp>
        <p:nvSpPr>
          <p:cNvPr id="123" name="Shape 123"/>
          <p:cNvSpPr/>
          <p:nvPr/>
        </p:nvSpPr>
        <p:spPr>
          <a:xfrm>
            <a:off x="13049250" y="5664200"/>
            <a:ext cx="12700" cy="127000"/>
          </a:xfrm>
          <a:prstGeom prst="rect">
            <a:avLst/>
          </a:prstGeom>
          <a:solidFill>
            <a:srgbClr val="1D1F20">
              <a:alpha val="25000"/>
            </a:srgbClr>
          </a:solidFill>
          <a:ln>
            <a:noFill/>
          </a:ln>
        </p:spPr>
        <p:txBody>
          <a:bodyPr/>
          <a:lstStyle/>
          <a:p>
            <a:endParaRPr/>
          </a:p>
        </p:txBody>
      </p:sp>
      <p:sp>
        <p:nvSpPr>
          <p:cNvPr id="124" name="Text 124"/>
          <p:cNvSpPr txBox="1"/>
          <p:nvPr/>
        </p:nvSpPr>
        <p:spPr>
          <a:xfrm>
            <a:off x="11779250" y="5867400"/>
            <a:ext cx="2540000" cy="355600"/>
          </a:xfrm>
          <a:prstGeom prst="rect">
            <a:avLst/>
          </a:prstGeom>
          <a:noFill/>
        </p:spPr>
        <p:txBody>
          <a:bodyPr wrap="square" lIns="0" tIns="0" rIns="0" bIns="0" anchor="t">
            <a:normAutofit/>
          </a:bodyPr>
          <a:lstStyle/>
          <a:p>
            <a:pPr marL="0" indent="0" algn="ctr">
              <a:buNone/>
            </a:pPr>
            <a:r>
              <a:rPr lang="en-US" sz="1700" b="1" kern="0" dirty="0">
                <a:solidFill>
                  <a:srgbClr val="2F7D3A">
                    <a:alpha val="100000"/>
                  </a:srgbClr>
                </a:solidFill>
                <a:latin typeface="Barlow"/>
                <a:cs typeface="Barlow"/>
              </a:rPr>
              <a:t>{{loan_1_new_closing_year}} · loan free</a:t>
            </a:r>
          </a:p>
        </p:txBody>
      </p:sp>
      <p:sp>
        <p:nvSpPr>
          <p:cNvPr id="125" name="Shape 125"/>
          <p:cNvSpPr/>
          <p:nvPr/>
        </p:nvSpPr>
        <p:spPr>
          <a:xfrm>
            <a:off x="16764000" y="5664200"/>
            <a:ext cx="12700" cy="127000"/>
          </a:xfrm>
          <a:prstGeom prst="rect">
            <a:avLst/>
          </a:prstGeom>
          <a:solidFill>
            <a:srgbClr val="1D1F20">
              <a:alpha val="25000"/>
            </a:srgbClr>
          </a:solidFill>
          <a:ln>
            <a:noFill/>
          </a:ln>
        </p:spPr>
        <p:txBody>
          <a:bodyPr/>
          <a:lstStyle/>
          <a:p>
            <a:endParaRPr/>
          </a:p>
        </p:txBody>
      </p:sp>
      <p:sp>
        <p:nvSpPr>
          <p:cNvPr id="126" name="Text 126"/>
          <p:cNvSpPr txBox="1"/>
          <p:nvPr/>
        </p:nvSpPr>
        <p:spPr>
          <a:xfrm>
            <a:off x="12852400" y="5867400"/>
            <a:ext cx="3911600" cy="355600"/>
          </a:xfrm>
          <a:prstGeom prst="rect">
            <a:avLst/>
          </a:prstGeom>
          <a:noFill/>
        </p:spPr>
        <p:txBody>
          <a:bodyPr wrap="none" lIns="0" tIns="0" rIns="0" bIns="0" anchor="t">
            <a:normAutofit/>
          </a:bodyPr>
          <a:lstStyle/>
          <a:p>
            <a:pPr marL="0" indent="0" algn="r">
              <a:buNone/>
            </a:pPr>
            <a:r>
              <a:rPr lang="en-US" sz="1700" b="1" kern="0" dirty="0">
                <a:solidFill>
                  <a:srgbClr val="1D1F20">
                    <a:alpha val="75000"/>
                  </a:srgbClr>
                </a:solidFill>
                <a:latin typeface="Barlow"/>
                <a:cs typeface="Barlow"/>
              </a:rPr>
              <a:t>{{loan_1_closing_year}}</a:t>
            </a:r>
          </a:p>
        </p:txBody>
      </p:sp>
      <p:sp>
        <p:nvSpPr>
          <p:cNvPr id="127" name="Shape 127"/>
          <p:cNvSpPr/>
          <p:nvPr/>
        </p:nvSpPr>
        <p:spPr>
          <a:xfrm>
            <a:off x="914400" y="6426200"/>
            <a:ext cx="16459200" cy="12700"/>
          </a:xfrm>
          <a:prstGeom prst="rect">
            <a:avLst/>
          </a:prstGeom>
          <a:solidFill>
            <a:srgbClr val="1D1F20">
              <a:alpha val="25000"/>
            </a:srgbClr>
          </a:solidFill>
          <a:ln>
            <a:noFill/>
          </a:ln>
        </p:spPr>
        <p:txBody>
          <a:bodyPr/>
          <a:lstStyle/>
          <a:p>
            <a:endParaRPr/>
          </a:p>
        </p:txBody>
      </p:sp>
      <p:sp>
        <p:nvSpPr>
          <p:cNvPr id="128" name="Text 128"/>
          <p:cNvSpPr txBox="1"/>
          <p:nvPr/>
        </p:nvSpPr>
        <p:spPr>
          <a:xfrm>
            <a:off x="914400" y="6654800"/>
            <a:ext cx="5080000" cy="558800"/>
          </a:xfrm>
          <a:prstGeom prst="rect">
            <a:avLst/>
          </a:prstGeom>
          <a:noFill/>
        </p:spPr>
        <p:txBody>
          <a:bodyPr wrap="none" lIns="0" tIns="0" rIns="0" bIns="0" anchor="t">
            <a:normAutofit/>
          </a:bodyPr>
          <a:lstStyle/>
          <a:p>
            <a:pPr marL="0" indent="0" algn="l">
              <a:buNone/>
            </a:pPr>
            <a:r>
              <a:rPr lang="en-US" sz="3200" b="1" kern="0" spc="-40" dirty="0">
                <a:solidFill>
                  <a:srgbClr val="1D1F20"/>
                </a:solidFill>
                <a:latin typeface="Barlow Condensed"/>
                <a:cs typeface="Barlow Condensed"/>
              </a:rPr>
              <a:t>{{loan_1_paid_to_date}}</a:t>
            </a:r>
          </a:p>
        </p:txBody>
      </p:sp>
      <p:sp>
        <p:nvSpPr>
          <p:cNvPr id="129" name="Text 129"/>
          <p:cNvSpPr txBox="1"/>
          <p:nvPr/>
        </p:nvSpPr>
        <p:spPr>
          <a:xfrm>
            <a:off x="914400" y="7188200"/>
            <a:ext cx="5080000" cy="330200"/>
          </a:xfrm>
          <a:prstGeom prst="rect">
            <a:avLst/>
          </a:prstGeom>
          <a:noFill/>
        </p:spPr>
        <p:txBody>
          <a:bodyPr wrap="square" lIns="0" tIns="0" rIns="0" bIns="0" anchor="t">
            <a:normAutofit/>
          </a:bodyPr>
          <a:lstStyle/>
          <a:p>
            <a:pPr marL="0" indent="0" algn="l">
              <a:buNone/>
            </a:pPr>
            <a:r>
              <a:rPr lang="en-US" sz="1700" b="0" kern="0" dirty="0">
                <a:solidFill>
                  <a:srgbClr val="1D1F20">
                    <a:alpha val="88000"/>
                  </a:srgbClr>
                </a:solidFill>
                <a:latin typeface="Barlow"/>
                <a:cs typeface="Barlow"/>
              </a:rPr>
              <a:t>{{loan_1_paid_period}}</a:t>
            </a:r>
          </a:p>
        </p:txBody>
      </p:sp>
      <p:sp>
        <p:nvSpPr>
          <p:cNvPr id="130" name="Text 130"/>
          <p:cNvSpPr txBox="1"/>
          <p:nvPr/>
        </p:nvSpPr>
        <p:spPr>
          <a:xfrm>
            <a:off x="6502400" y="6654800"/>
            <a:ext cx="5080000" cy="558800"/>
          </a:xfrm>
          <a:prstGeom prst="rect">
            <a:avLst/>
          </a:prstGeom>
          <a:noFill/>
        </p:spPr>
        <p:txBody>
          <a:bodyPr wrap="none" lIns="0" tIns="0" rIns="0" bIns="0" anchor="t">
            <a:normAutofit/>
          </a:bodyPr>
          <a:lstStyle/>
          <a:p>
            <a:pPr marL="0" indent="0" algn="l">
              <a:buNone/>
            </a:pPr>
            <a:r>
              <a:rPr lang="en-US" sz="3200" b="1" kern="0" spc="-40" dirty="0">
                <a:solidFill>
                  <a:srgbClr val="2F7D3A"/>
                </a:solidFill>
                <a:latin typeface="Barlow Condensed"/>
                <a:cs typeface="Barlow Condensed"/>
              </a:rPr>
              <a:t>{{loan_1_interest_saved_short}}</a:t>
            </a:r>
          </a:p>
        </p:txBody>
      </p:sp>
      <p:sp>
        <p:nvSpPr>
          <p:cNvPr id="131" name="Text 131"/>
          <p:cNvSpPr txBox="1"/>
          <p:nvPr/>
        </p:nvSpPr>
        <p:spPr>
          <a:xfrm>
            <a:off x="6502400" y="7188200"/>
            <a:ext cx="5080000" cy="330200"/>
          </a:xfrm>
          <a:prstGeom prst="rect">
            <a:avLst/>
          </a:prstGeom>
          <a:noFill/>
        </p:spPr>
        <p:txBody>
          <a:bodyPr wrap="square" lIns="0" tIns="0" rIns="0" bIns="0" anchor="t">
            <a:normAutofit/>
          </a:bodyPr>
          <a:lstStyle/>
          <a:p>
            <a:pPr marL="0" indent="0" algn="l">
              <a:buNone/>
            </a:pPr>
            <a:r>
              <a:rPr lang="en-US" sz="1700" b="0" kern="0" dirty="0">
                <a:solidFill>
                  <a:srgbClr val="1D1F20">
                    <a:alpha val="88000"/>
                  </a:srgbClr>
                </a:solidFill>
                <a:latin typeface="Barlow"/>
                <a:cs typeface="Barlow"/>
              </a:rPr>
              <a:t>interest never paid</a:t>
            </a:r>
          </a:p>
        </p:txBody>
      </p:sp>
      <p:sp>
        <p:nvSpPr>
          <p:cNvPr id="132" name="Text 132"/>
          <p:cNvSpPr txBox="1"/>
          <p:nvPr/>
        </p:nvSpPr>
        <p:spPr>
          <a:xfrm>
            <a:off x="12090400" y="6654800"/>
            <a:ext cx="5080000" cy="558800"/>
          </a:xfrm>
          <a:prstGeom prst="rect">
            <a:avLst/>
          </a:prstGeom>
          <a:noFill/>
        </p:spPr>
        <p:txBody>
          <a:bodyPr wrap="none" lIns="0" tIns="0" rIns="0" bIns="0" anchor="t">
            <a:normAutofit/>
          </a:bodyPr>
          <a:lstStyle/>
          <a:p>
            <a:pPr marL="0" indent="0" algn="l">
              <a:buNone/>
            </a:pPr>
            <a:r>
              <a:rPr lang="en-US" sz="3200" b="1" kern="0" spc="-40" dirty="0">
                <a:solidFill>
                  <a:srgbClr val="1D1F20"/>
                </a:solidFill>
                <a:latin typeface="Barlow Condensed"/>
                <a:cs typeface="Barlow Condensed"/>
              </a:rPr>
              <a:t>{{loan_1_emi}}</a:t>
            </a:r>
          </a:p>
        </p:txBody>
      </p:sp>
      <p:sp>
        <p:nvSpPr>
          <p:cNvPr id="133" name="Text 133"/>
          <p:cNvSpPr txBox="1"/>
          <p:nvPr/>
        </p:nvSpPr>
        <p:spPr>
          <a:xfrm>
            <a:off x="12090400" y="7188200"/>
            <a:ext cx="5080000" cy="330200"/>
          </a:xfrm>
          <a:prstGeom prst="rect">
            <a:avLst/>
          </a:prstGeom>
          <a:noFill/>
        </p:spPr>
        <p:txBody>
          <a:bodyPr wrap="square" lIns="0" tIns="0" rIns="0" bIns="0" anchor="t">
            <a:normAutofit/>
          </a:bodyPr>
          <a:lstStyle/>
          <a:p>
            <a:pPr marL="0" indent="0" algn="l">
              <a:buNone/>
            </a:pPr>
            <a:r>
              <a:rPr lang="en-US" sz="1700" b="0" kern="0" dirty="0">
                <a:solidFill>
                  <a:srgbClr val="1D1F20">
                    <a:alpha val="88000"/>
                  </a:srgbClr>
                </a:solidFill>
                <a:latin typeface="Barlow"/>
                <a:cs typeface="Barlow"/>
              </a:rPr>
              <a:t>{{loan_1_emi_freed_note}}</a:t>
            </a:r>
          </a:p>
        </p:txBody>
      </p:sp>
      <p:sp>
        <p:nvSpPr>
          <p:cNvPr id="134" name="Shape 134"/>
          <p:cNvSpPr/>
          <p:nvPr/>
        </p:nvSpPr>
        <p:spPr>
          <a:xfrm>
            <a:off x="914400" y="7620000"/>
            <a:ext cx="16459200" cy="12700"/>
          </a:xfrm>
          <a:prstGeom prst="rect">
            <a:avLst/>
          </a:prstGeom>
          <a:solidFill>
            <a:srgbClr val="1D1F20">
              <a:alpha val="25000"/>
            </a:srgbClr>
          </a:solidFill>
          <a:ln>
            <a:noFill/>
          </a:ln>
        </p:spPr>
        <p:txBody>
          <a:bodyPr/>
          <a:lstStyle/>
          <a:p>
            <a:endParaRPr/>
          </a:p>
        </p:txBody>
      </p:sp>
      <p:sp>
        <p:nvSpPr>
          <p:cNvPr id="135" name="Text 135"/>
          <p:cNvSpPr txBox="1"/>
          <p:nvPr/>
        </p:nvSpPr>
        <p:spPr>
          <a:xfrm>
            <a:off x="3505200" y="7878485"/>
            <a:ext cx="13868400" cy="635000"/>
          </a:xfrm>
          <a:prstGeom prst="rect">
            <a:avLst/>
          </a:prstGeom>
          <a:noFill/>
        </p:spPr>
        <p:txBody>
          <a:bodyPr wrap="square" lIns="0" tIns="0" rIns="0" bIns="0" anchor="t">
            <a:normAutofit/>
          </a:bodyPr>
          <a:lstStyle/>
          <a:p>
            <a:pPr marL="0" indent="0" algn="l">
              <a:lnSpc>
                <a:spcPct val="120000"/>
              </a:lnSpc>
              <a:buNone/>
            </a:pPr>
            <a:r>
              <a:rPr lang="en-US" b="1" kern="0" dirty="0">
                <a:solidFill>
                  <a:schemeClr val="tx1">
                    <a:alpha val="65000"/>
                  </a:schemeClr>
                </a:solidFill>
                <a:latin typeface="Barlow"/>
                <a:cs typeface="Barlow"/>
              </a:rPr>
              <a:t>{{loan_life_footnote}}</a:t>
            </a:r>
          </a:p>
        </p:txBody>
      </p:sp>
      <p:sp>
        <p:nvSpPr>
          <p:cNvPr id="136" name="Text 136"/>
          <p:cNvSpPr txBox="1"/>
          <p:nvPr/>
        </p:nvSpPr>
        <p:spPr>
          <a:xfrm>
            <a:off x="914400" y="9474200"/>
            <a:ext cx="5080000" cy="393700"/>
          </a:xfrm>
          <a:prstGeom prst="rect">
            <a:avLst/>
          </a:prstGeom>
          <a:noFill/>
        </p:spPr>
        <p:txBody>
          <a:bodyPr wrap="square" lIns="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37" name="Text 137"/>
          <p:cNvSpPr txBox="1"/>
          <p:nvPr/>
        </p:nvSpPr>
        <p:spPr>
          <a:xfrm>
            <a:off x="14833600" y="9474200"/>
            <a:ext cx="2540000" cy="393700"/>
          </a:xfrm>
          <a:prstGeom prst="rect">
            <a:avLst/>
          </a:prstGeom>
          <a:noFill/>
        </p:spPr>
        <p:txBody>
          <a:bodyPr wrap="none" lIns="0" tIns="0" rIns="0" bIns="0" anchor="t">
            <a:normAutofit/>
          </a:bodyPr>
          <a:lstStyle/>
          <a:p>
            <a:pPr marL="0" indent="0" algn="r">
              <a:buNone/>
            </a:pPr>
            <a:r>
              <a:rPr lang="en-US" sz="1600" b="0" kern="0" dirty="0">
                <a:solidFill>
                  <a:srgbClr val="2A3480"/>
                </a:solidFill>
                <a:latin typeface="Barlow"/>
                <a:cs typeface="Barlow"/>
              </a:rPr>
              <a:t>{{page_no}} / {{page_total}}</a:t>
            </a:r>
          </a:p>
        </p:txBody>
      </p:sp>
      <p:sp>
        <p:nvSpPr>
          <p:cNvPr id="3" name="Text 36">
            <a:extLst>
              <a:ext uri="{FF2B5EF4-FFF2-40B4-BE49-F238E27FC236}">
                <a16:creationId xmlns:a16="http://schemas.microsoft.com/office/drawing/2014/main" id="{4EA2A8AE-196D-A376-3546-E97E28A725AD}"/>
              </a:ext>
            </a:extLst>
          </p:cNvPr>
          <p:cNvSpPr/>
          <p:nvPr/>
        </p:nvSpPr>
        <p:spPr>
          <a:xfrm>
            <a:off x="914372" y="7967441"/>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Tree>
    <p:extLst>
      <p:ext uri="{BB962C8B-B14F-4D97-AF65-F5344CB8AC3E}">
        <p14:creationId xmlns:p14="http://schemas.microsoft.com/office/powerpoint/2010/main" val="3114680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HOME LOAN · WHERE THE EMI GOES</a:t>
            </a:r>
          </a:p>
        </p:txBody>
      </p:sp>
      <p:sp>
        <p:nvSpPr>
          <p:cNvPr id="102" name="Text 102"/>
          <p:cNvSpPr txBox="1"/>
          <p:nvPr/>
        </p:nvSpPr>
        <p:spPr>
          <a:xfrm>
            <a:off x="914400" y="1092200"/>
            <a:ext cx="15748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{{emi_split_headline}}</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914400" y="2489200"/>
            <a:ext cx="8890000" cy="381000"/>
          </a:xfrm>
          <a:prstGeom prst="rect">
            <a:avLst/>
          </a:prstGeom>
          <a:noFill/>
        </p:spPr>
        <p:txBody>
          <a:bodyPr wrap="square" lIns="7200" tIns="0" rIns="0" bIns="0" anchor="t">
            <a:normAutofit/>
          </a:bodyPr>
          <a:lstStyle/>
          <a:p>
            <a:pPr marL="0" indent="0" algn="l">
              <a:buNone/>
            </a:pPr>
            <a:r>
              <a:rPr lang="en-US" sz="1800" b="0" kern="0" dirty="0">
                <a:solidFill>
                  <a:srgbClr val="1D1F20">
                    <a:alpha val="80000"/>
                  </a:srgbClr>
                </a:solidFill>
                <a:latin typeface="Barlow"/>
                <a:cs typeface="Barlow"/>
              </a:rPr>
              <a:t>EMI split into interest and principal, ₹ thousand a month</a:t>
            </a:r>
          </a:p>
        </p:txBody>
      </p:sp>
      <p:sp>
        <p:nvSpPr>
          <p:cNvPr id="105" name="Shape 105"/>
          <p:cNvSpPr/>
          <p:nvPr/>
        </p:nvSpPr>
        <p:spPr>
          <a:xfrm>
            <a:off x="12192000" y="2489200"/>
            <a:ext cx="203200" cy="203200"/>
          </a:xfrm>
          <a:prstGeom prst="rect">
            <a:avLst/>
          </a:prstGeom>
          <a:solidFill>
            <a:srgbClr val="26306F"/>
          </a:solidFill>
          <a:ln>
            <a:noFill/>
          </a:ln>
        </p:spPr>
        <p:txBody>
          <a:bodyPr/>
          <a:lstStyle/>
          <a:p>
            <a:endParaRPr/>
          </a:p>
        </p:txBody>
      </p:sp>
      <p:sp>
        <p:nvSpPr>
          <p:cNvPr id="106" name="Text 106"/>
          <p:cNvSpPr txBox="1"/>
          <p:nvPr/>
        </p:nvSpPr>
        <p:spPr>
          <a:xfrm>
            <a:off x="12496800" y="2463800"/>
            <a:ext cx="1524000" cy="330200"/>
          </a:xfrm>
          <a:prstGeom prst="rect">
            <a:avLst/>
          </a:prstGeom>
          <a:noFill/>
        </p:spPr>
        <p:txBody>
          <a:bodyPr wrap="square" lIns="7200" tIns="0" rIns="0" bIns="0" anchor="t">
            <a:normAutofit/>
          </a:bodyPr>
          <a:lstStyle/>
          <a:p>
            <a:pPr marL="0" indent="0" algn="l">
              <a:buNone/>
            </a:pPr>
            <a:r>
              <a:rPr lang="en-US" sz="1700" b="0" kern="0" dirty="0">
                <a:solidFill>
                  <a:srgbClr val="1D1F20">
                    <a:alpha val="85000"/>
                  </a:srgbClr>
                </a:solidFill>
                <a:latin typeface="Barlow"/>
                <a:cs typeface="Barlow"/>
              </a:rPr>
              <a:t>Interest</a:t>
            </a:r>
          </a:p>
        </p:txBody>
      </p:sp>
      <p:sp>
        <p:nvSpPr>
          <p:cNvPr id="107" name="Shape 107"/>
          <p:cNvSpPr/>
          <p:nvPr/>
        </p:nvSpPr>
        <p:spPr>
          <a:xfrm>
            <a:off x="13817600" y="2489200"/>
            <a:ext cx="203200" cy="203200"/>
          </a:xfrm>
          <a:prstGeom prst="rect">
            <a:avLst/>
          </a:prstGeom>
          <a:solidFill>
            <a:srgbClr val="2F7D3A"/>
          </a:solidFill>
          <a:ln>
            <a:noFill/>
          </a:ln>
        </p:spPr>
        <p:txBody>
          <a:bodyPr/>
          <a:lstStyle/>
          <a:p>
            <a:endParaRPr/>
          </a:p>
        </p:txBody>
      </p:sp>
      <p:sp>
        <p:nvSpPr>
          <p:cNvPr id="108" name="Text 108"/>
          <p:cNvSpPr txBox="1"/>
          <p:nvPr/>
        </p:nvSpPr>
        <p:spPr>
          <a:xfrm>
            <a:off x="14122400" y="2463800"/>
            <a:ext cx="1524000" cy="330200"/>
          </a:xfrm>
          <a:prstGeom prst="rect">
            <a:avLst/>
          </a:prstGeom>
          <a:noFill/>
        </p:spPr>
        <p:txBody>
          <a:bodyPr wrap="square" lIns="7200" tIns="0" rIns="0" bIns="0" anchor="t">
            <a:normAutofit/>
          </a:bodyPr>
          <a:lstStyle/>
          <a:p>
            <a:pPr marL="0" indent="0" algn="l">
              <a:buNone/>
            </a:pPr>
            <a:r>
              <a:rPr lang="en-US" sz="1700" b="0" kern="0" dirty="0">
                <a:solidFill>
                  <a:srgbClr val="1D1F20">
                    <a:alpha val="85000"/>
                  </a:srgbClr>
                </a:solidFill>
                <a:latin typeface="Barlow"/>
                <a:cs typeface="Barlow"/>
              </a:rPr>
              <a:t>Principal</a:t>
            </a:r>
          </a:p>
        </p:txBody>
      </p:sp>
      <p:sp>
        <p:nvSpPr>
          <p:cNvPr id="109" name="Shape 109"/>
          <p:cNvSpPr/>
          <p:nvPr/>
        </p:nvSpPr>
        <p:spPr>
          <a:xfrm>
            <a:off x="12192000" y="3175000"/>
            <a:ext cx="12700" cy="3810000"/>
          </a:xfrm>
          <a:prstGeom prst="rect">
            <a:avLst/>
          </a:prstGeom>
          <a:solidFill>
            <a:srgbClr val="1D1F20">
              <a:alpha val="25000"/>
            </a:srgbClr>
          </a:solidFill>
          <a:ln>
            <a:noFill/>
          </a:ln>
        </p:spPr>
        <p:txBody>
          <a:bodyPr/>
          <a:lstStyle/>
          <a:p>
            <a:endParaRPr/>
          </a:p>
        </p:txBody>
      </p:sp>
      <p:sp>
        <p:nvSpPr>
          <p:cNvPr id="110" name="Text 110"/>
          <p:cNvSpPr txBox="1"/>
          <p:nvPr/>
        </p:nvSpPr>
        <p:spPr>
          <a:xfrm>
            <a:off x="12598400" y="3175000"/>
            <a:ext cx="4775200" cy="584200"/>
          </a:xfrm>
          <a:prstGeom prst="rect">
            <a:avLst/>
          </a:prstGeom>
          <a:noFill/>
        </p:spPr>
        <p:txBody>
          <a:bodyPr wrap="none" lIns="7200" tIns="0" rIns="0" bIns="0" anchor="t">
            <a:normAutofit/>
          </a:bodyPr>
          <a:lstStyle/>
          <a:p>
            <a:pPr marL="0" indent="0" algn="l">
              <a:buNone/>
            </a:pPr>
            <a:r>
              <a:rPr lang="en-US" sz="3400" b="1" kern="0" spc="-40" dirty="0">
                <a:solidFill>
                  <a:srgbClr val="26306F"/>
                </a:solidFill>
                <a:latin typeface="Barlow Condensed"/>
                <a:cs typeface="Barlow Condensed"/>
              </a:rPr>
              <a:t>{{emi_interest_share}}</a:t>
            </a:r>
          </a:p>
        </p:txBody>
      </p:sp>
      <p:sp>
        <p:nvSpPr>
          <p:cNvPr id="111" name="Text 111"/>
          <p:cNvSpPr txBox="1"/>
          <p:nvPr/>
        </p:nvSpPr>
        <p:spPr>
          <a:xfrm>
            <a:off x="12598400" y="3784600"/>
            <a:ext cx="47752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of the EMI is interest today</a:t>
            </a:r>
          </a:p>
        </p:txBody>
      </p:sp>
      <p:sp>
        <p:nvSpPr>
          <p:cNvPr id="112" name="Text 112"/>
          <p:cNvSpPr txBox="1"/>
          <p:nvPr/>
        </p:nvSpPr>
        <p:spPr>
          <a:xfrm>
            <a:off x="12598400" y="4165600"/>
            <a:ext cx="4775200" cy="762000"/>
          </a:xfrm>
          <a:prstGeom prst="rect">
            <a:avLst/>
          </a:prstGeom>
          <a:noFill/>
        </p:spPr>
        <p:txBody>
          <a:bodyPr wrap="square" lIns="7200" tIns="0" rIns="0" bIns="0" anchor="t">
            <a:normAutofit/>
          </a:bodyPr>
          <a:lstStyle/>
          <a:p>
            <a:pPr marL="0" indent="0" algn="l">
              <a:lnSpc>
                <a:spcPct val="122000"/>
              </a:lnSpc>
              <a:buNone/>
            </a:pPr>
            <a:r>
              <a:rPr lang="en-US" sz="1600" b="0" kern="0" dirty="0">
                <a:solidFill>
                  <a:srgbClr val="1D1F20">
                    <a:alpha val="80000"/>
                  </a:srgbClr>
                </a:solidFill>
                <a:latin typeface="Barlow"/>
                <a:cs typeface="Barlow"/>
              </a:rPr>
              <a:t>{{emi_interest_note}}</a:t>
            </a:r>
          </a:p>
        </p:txBody>
      </p:sp>
      <p:sp>
        <p:nvSpPr>
          <p:cNvPr id="113" name="Text 113"/>
          <p:cNvSpPr txBox="1"/>
          <p:nvPr/>
        </p:nvSpPr>
        <p:spPr>
          <a:xfrm>
            <a:off x="12598400" y="4495800"/>
            <a:ext cx="4775200" cy="584200"/>
          </a:xfrm>
          <a:prstGeom prst="rect">
            <a:avLst/>
          </a:prstGeom>
          <a:noFill/>
        </p:spPr>
        <p:txBody>
          <a:bodyPr wrap="none" lIns="7200" tIns="0" rIns="0" bIns="0" anchor="t">
            <a:normAutofit/>
          </a:bodyPr>
          <a:lstStyle/>
          <a:p>
            <a:pPr marL="0" indent="0" algn="l">
              <a:buNone/>
            </a:pPr>
            <a:r>
              <a:rPr lang="en-US" sz="3400" b="1" kern="0" spc="-40" dirty="0">
                <a:solidFill>
                  <a:srgbClr val="26306F"/>
                </a:solidFill>
                <a:latin typeface="Barlow Condensed"/>
                <a:cs typeface="Barlow Condensed"/>
              </a:rPr>
              <a:t>{{emi_crossover_year}}</a:t>
            </a:r>
          </a:p>
        </p:txBody>
      </p:sp>
      <p:sp>
        <p:nvSpPr>
          <p:cNvPr id="114" name="Text 114"/>
          <p:cNvSpPr txBox="1"/>
          <p:nvPr/>
        </p:nvSpPr>
        <p:spPr>
          <a:xfrm>
            <a:off x="12598400" y="5105400"/>
            <a:ext cx="47752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the year the split flips</a:t>
            </a:r>
          </a:p>
        </p:txBody>
      </p:sp>
      <p:sp>
        <p:nvSpPr>
          <p:cNvPr id="115" name="Text 115"/>
          <p:cNvSpPr txBox="1"/>
          <p:nvPr/>
        </p:nvSpPr>
        <p:spPr>
          <a:xfrm>
            <a:off x="12598400" y="5486400"/>
            <a:ext cx="4775200" cy="762000"/>
          </a:xfrm>
          <a:prstGeom prst="rect">
            <a:avLst/>
          </a:prstGeom>
          <a:noFill/>
        </p:spPr>
        <p:txBody>
          <a:bodyPr wrap="square" lIns="7200" tIns="0" rIns="0" bIns="0" anchor="t">
            <a:normAutofit/>
          </a:bodyPr>
          <a:lstStyle/>
          <a:p>
            <a:pPr marL="0" indent="0" algn="l">
              <a:lnSpc>
                <a:spcPct val="122000"/>
              </a:lnSpc>
              <a:buNone/>
            </a:pPr>
            <a:r>
              <a:rPr lang="en-US" sz="1600" b="0" kern="0" dirty="0">
                <a:solidFill>
                  <a:srgbClr val="1D1F20">
                    <a:alpha val="80000"/>
                  </a:srgbClr>
                </a:solidFill>
                <a:latin typeface="Barlow"/>
                <a:cs typeface="Barlow"/>
              </a:rPr>
              <a:t>{{emi_crossover_note}}</a:t>
            </a:r>
          </a:p>
        </p:txBody>
      </p:sp>
      <p:sp>
        <p:nvSpPr>
          <p:cNvPr id="116" name="Text 116"/>
          <p:cNvSpPr txBox="1"/>
          <p:nvPr/>
        </p:nvSpPr>
        <p:spPr>
          <a:xfrm>
            <a:off x="12598400" y="5816600"/>
            <a:ext cx="4775200" cy="584200"/>
          </a:xfrm>
          <a:prstGeom prst="rect">
            <a:avLst/>
          </a:prstGeom>
          <a:noFill/>
        </p:spPr>
        <p:txBody>
          <a:bodyPr wrap="none" lIns="7200" tIns="0" rIns="0" bIns="0" anchor="t">
            <a:normAutofit/>
          </a:bodyPr>
          <a:lstStyle/>
          <a:p>
            <a:pPr marL="0" indent="0" algn="l">
              <a:buNone/>
            </a:pPr>
            <a:r>
              <a:rPr lang="en-US" sz="3400" b="1" kern="0" spc="-40" dirty="0">
                <a:solidFill>
                  <a:srgbClr val="2F7D3A"/>
                </a:solidFill>
                <a:latin typeface="Barlow Condensed"/>
                <a:cs typeface="Barlow Condensed"/>
              </a:rPr>
              <a:t>{{loan_1_prepay_short}}</a:t>
            </a:r>
          </a:p>
        </p:txBody>
      </p:sp>
      <p:sp>
        <p:nvSpPr>
          <p:cNvPr id="117" name="Text 117"/>
          <p:cNvSpPr txBox="1"/>
          <p:nvPr/>
        </p:nvSpPr>
        <p:spPr>
          <a:xfrm>
            <a:off x="12598400" y="6426200"/>
            <a:ext cx="4775200" cy="355600"/>
          </a:xfrm>
          <a:prstGeom prst="rect">
            <a:avLst/>
          </a:prstGeom>
          <a:noFill/>
        </p:spPr>
        <p:txBody>
          <a:bodyPr wrap="square" lIns="7200" tIns="0" rIns="0" bIns="0" anchor="t">
            <a:normAutofit/>
          </a:bodyPr>
          <a:lstStyle/>
          <a:p>
            <a:pPr marL="0" indent="0" algn="l">
              <a:buNone/>
            </a:pPr>
            <a:r>
              <a:rPr lang="en-US" sz="1800" b="1" kern="0" dirty="0">
                <a:solidFill>
                  <a:srgbClr val="1D1F20"/>
                </a:solidFill>
                <a:latin typeface="Barlow"/>
                <a:cs typeface="Barlow"/>
              </a:rPr>
              <a:t>prepaid moves the flip to {{emi_crossover_year_prepaid}}</a:t>
            </a:r>
          </a:p>
        </p:txBody>
      </p:sp>
      <p:sp>
        <p:nvSpPr>
          <p:cNvPr id="118" name="Text 118"/>
          <p:cNvSpPr txBox="1"/>
          <p:nvPr/>
        </p:nvSpPr>
        <p:spPr>
          <a:xfrm>
            <a:off x="12598400" y="6807200"/>
            <a:ext cx="4775200" cy="762000"/>
          </a:xfrm>
          <a:prstGeom prst="rect">
            <a:avLst/>
          </a:prstGeom>
          <a:noFill/>
        </p:spPr>
        <p:txBody>
          <a:bodyPr wrap="square" lIns="7200" tIns="0" rIns="0" bIns="0" anchor="t">
            <a:normAutofit/>
          </a:bodyPr>
          <a:lstStyle/>
          <a:p>
            <a:pPr marL="0" indent="0" algn="l">
              <a:lnSpc>
                <a:spcPct val="122000"/>
              </a:lnSpc>
              <a:buNone/>
            </a:pPr>
            <a:r>
              <a:rPr lang="en-US" sz="1600" b="0" kern="0" dirty="0">
                <a:solidFill>
                  <a:srgbClr val="1D1F20">
                    <a:alpha val="80000"/>
                  </a:srgbClr>
                </a:solidFill>
                <a:latin typeface="Barlow"/>
                <a:cs typeface="Barlow"/>
              </a:rPr>
              <a:t>{{emi_prepay_note}}</a:t>
            </a:r>
          </a:p>
        </p:txBody>
      </p:sp>
      <p:sp>
        <p:nvSpPr>
          <p:cNvPr id="119" name="Shape 119"/>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20" name="Text 120"/>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21" name="Text 121"/>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{{emi_split_comment}}</a:t>
            </a:r>
          </a:p>
        </p:txBody>
      </p:sp>
      <p:sp>
        <p:nvSpPr>
          <p:cNvPr id="122" name="Text 122"/>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3" name="Text 123"/>
          <p:cNvSpPr txBox="1"/>
          <p:nvPr/>
        </p:nvSpPr>
        <p:spPr>
          <a:xfrm>
            <a:off x="14833600" y="9474200"/>
            <a:ext cx="2540000" cy="393700"/>
          </a:xfrm>
          <a:prstGeom prst="rect">
            <a:avLst/>
          </a:prstGeom>
          <a:noFill/>
        </p:spPr>
        <p:txBody>
          <a:bodyPr wrap="none" lIns="7200" tIns="0" rIns="0" bIns="0" anchor="t">
            <a:normAutofit/>
          </a:bodyPr>
          <a:lstStyle/>
          <a:p>
            <a:pPr marL="0" indent="0" algn="r">
              <a:buNone/>
            </a:pPr>
            <a:r>
              <a:rPr lang="en-US" sz="1600" b="0" kern="0" dirty="0">
                <a:solidFill>
                  <a:srgbClr val="2A3480"/>
                </a:solidFill>
                <a:latin typeface="Barlow"/>
                <a:cs typeface="Barlow"/>
              </a:rPr>
              <a:t>{{page_no}} / {{page_total}}</a:t>
            </a:r>
          </a:p>
        </p:txBody>
      </p:sp>
      <p:graphicFrame>
        <p:nvGraphicFramePr>
          <p:cNvPr id="124" name="Chart"/>
          <p:cNvGraphicFramePr/>
          <p:nvPr/>
        </p:nvGraphicFramePr>
        <p:xfrm>
          <a:off x="914400" y="2997200"/>
          <a:ext cx="10795000" cy="381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86830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HOME LOAN · IMPACT OF PREPAYMENT</a:t>
            </a:r>
          </a:p>
        </p:txBody>
      </p:sp>
      <p:sp>
        <p:nvSpPr>
          <p:cNvPr id="102" name="Text 102"/>
          <p:cNvSpPr txBox="1"/>
          <p:nvPr/>
        </p:nvSpPr>
        <p:spPr>
          <a:xfrm>
            <a:off x="914400" y="1092200"/>
            <a:ext cx="15748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{{prepay_impact_headline}}</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914400" y="2489200"/>
            <a:ext cx="8890000" cy="381000"/>
          </a:xfrm>
          <a:prstGeom prst="rect">
            <a:avLst/>
          </a:prstGeom>
          <a:noFill/>
        </p:spPr>
        <p:txBody>
          <a:bodyPr wrap="square" lIns="7200" tIns="0" rIns="0" bIns="0" anchor="t">
            <a:normAutofit/>
          </a:bodyPr>
          <a:lstStyle/>
          <a:p>
            <a:pPr marL="0" indent="0" algn="l">
              <a:buNone/>
            </a:pPr>
            <a:r>
              <a:rPr lang="en-US" sz="1800" b="0" kern="0" dirty="0">
                <a:solidFill>
                  <a:srgbClr val="1D1F20">
                    <a:alpha val="80000"/>
                  </a:srgbClr>
                </a:solidFill>
                <a:latin typeface="Barlow"/>
                <a:cs typeface="Barlow"/>
              </a:rPr>
              <a:t>Interest still payable on the home loan, ₹ lakh</a:t>
            </a:r>
          </a:p>
        </p:txBody>
      </p:sp>
      <p:sp>
        <p:nvSpPr>
          <p:cNvPr id="105" name="Shape 105"/>
          <p:cNvSpPr/>
          <p:nvPr/>
        </p:nvSpPr>
        <p:spPr>
          <a:xfrm>
            <a:off x="10363200" y="2489200"/>
            <a:ext cx="7010400" cy="4622800"/>
          </a:xfrm>
          <a:prstGeom prst="rect">
            <a:avLst/>
          </a:prstGeom>
          <a:noFill/>
          <a:ln w="9525">
            <a:solidFill>
              <a:srgbClr val="1D1F20">
                <a:alpha val="22000"/>
              </a:srgbClr>
            </a:solidFill>
          </a:ln>
        </p:spPr>
        <p:txBody>
          <a:bodyPr/>
          <a:lstStyle/>
          <a:p>
            <a:endParaRPr/>
          </a:p>
        </p:txBody>
      </p:sp>
      <p:sp>
        <p:nvSpPr>
          <p:cNvPr id="106" name="Shape 106"/>
          <p:cNvSpPr/>
          <p:nvPr/>
        </p:nvSpPr>
        <p:spPr>
          <a:xfrm>
            <a:off x="10363200" y="2489200"/>
            <a:ext cx="7010400" cy="63500"/>
          </a:xfrm>
          <a:prstGeom prst="rect">
            <a:avLst/>
          </a:prstGeom>
          <a:solidFill>
            <a:srgbClr val="2F7D3A"/>
          </a:solidFill>
          <a:ln>
            <a:noFill/>
          </a:ln>
        </p:spPr>
        <p:txBody>
          <a:bodyPr/>
          <a:lstStyle/>
          <a:p>
            <a:endParaRPr/>
          </a:p>
        </p:txBody>
      </p:sp>
      <p:sp>
        <p:nvSpPr>
          <p:cNvPr id="107" name="Text 107"/>
          <p:cNvSpPr txBox="1"/>
          <p:nvPr/>
        </p:nvSpPr>
        <p:spPr>
          <a:xfrm>
            <a:off x="10769600" y="2844800"/>
            <a:ext cx="6096000" cy="406400"/>
          </a:xfrm>
          <a:prstGeom prst="rect">
            <a:avLst/>
          </a:prstGeom>
          <a:noFill/>
        </p:spPr>
        <p:txBody>
          <a:bodyPr wrap="square" lIns="7200" tIns="0" rIns="0" bIns="0" anchor="t">
            <a:normAutofit/>
          </a:bodyPr>
          <a:lstStyle/>
          <a:p>
            <a:pPr marL="0" indent="0" algn="l">
              <a:buNone/>
            </a:pPr>
            <a:r>
              <a:rPr lang="en-US" sz="1700" b="1" kern="0" spc="300" dirty="0">
                <a:solidFill>
                  <a:srgbClr val="2A3480"/>
                </a:solidFill>
                <a:latin typeface="Barlow"/>
                <a:cs typeface="Barlow"/>
              </a:rPr>
              <a:t>WHAT THE FAMILY GAINS</a:t>
            </a:r>
          </a:p>
        </p:txBody>
      </p:sp>
      <p:sp>
        <p:nvSpPr>
          <p:cNvPr id="108" name="Text 108"/>
          <p:cNvSpPr txBox="1"/>
          <p:nvPr/>
        </p:nvSpPr>
        <p:spPr>
          <a:xfrm>
            <a:off x="10769600" y="3149600"/>
            <a:ext cx="3810000" cy="533400"/>
          </a:xfrm>
          <a:prstGeom prst="rect">
            <a:avLst/>
          </a:prstGeom>
          <a:noFill/>
        </p:spPr>
        <p:txBody>
          <a:bodyPr wrap="none" lIns="7200" tIns="0" rIns="0" bIns="0" anchor="t">
            <a:normAutofit/>
          </a:bodyPr>
          <a:lstStyle/>
          <a:p>
            <a:pPr marL="0" indent="0" algn="l">
              <a:buNone/>
            </a:pPr>
            <a:r>
              <a:rPr lang="en-US" sz="3000" b="1" kern="0" spc="-40" dirty="0">
                <a:solidFill>
                  <a:srgbClr val="2F7D3A"/>
                </a:solidFill>
                <a:latin typeface="Barlow Condensed"/>
                <a:cs typeface="Barlow Condensed"/>
              </a:rPr>
              <a:t>{{loan_1_interest_saved_short}}</a:t>
            </a:r>
          </a:p>
        </p:txBody>
      </p:sp>
      <p:sp>
        <p:nvSpPr>
          <p:cNvPr id="109" name="Text 109"/>
          <p:cNvSpPr txBox="1"/>
          <p:nvPr/>
        </p:nvSpPr>
        <p:spPr>
          <a:xfrm>
            <a:off x="10769600" y="36830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interest never paid</a:t>
            </a:r>
          </a:p>
        </p:txBody>
      </p:sp>
      <p:sp>
        <p:nvSpPr>
          <p:cNvPr id="110" name="Text 110"/>
          <p:cNvSpPr txBox="1"/>
          <p:nvPr/>
        </p:nvSpPr>
        <p:spPr>
          <a:xfrm>
            <a:off x="10769600" y="4038600"/>
            <a:ext cx="6096000" cy="355600"/>
          </a:xfrm>
          <a:prstGeom prst="rect">
            <a:avLst/>
          </a:prstGeom>
          <a:noFill/>
        </p:spPr>
        <p:txBody>
          <a:bodyPr wrap="square" lIns="7200" tIns="0" rIns="0" bIns="0" anchor="t">
            <a:normAutofit/>
          </a:bodyPr>
          <a:lstStyle/>
          <a:p>
            <a:pPr marL="0" indent="0" algn="l">
              <a:buNone/>
            </a:pPr>
            <a:r>
              <a:rPr lang="en-US" sz="1600" b="0" kern="0" dirty="0">
                <a:solidFill>
                  <a:srgbClr val="1D1F20">
                    <a:alpha val="80000"/>
                  </a:srgbClr>
                </a:solidFill>
                <a:latin typeface="Barlow"/>
                <a:cs typeface="Barlow"/>
              </a:rPr>
              <a:t>{{prepay_return_note}}</a:t>
            </a:r>
          </a:p>
        </p:txBody>
      </p:sp>
      <p:sp>
        <p:nvSpPr>
          <p:cNvPr id="111" name="Shape 111"/>
          <p:cNvSpPr/>
          <p:nvPr/>
        </p:nvSpPr>
        <p:spPr>
          <a:xfrm>
            <a:off x="10769600" y="4495800"/>
            <a:ext cx="6197600" cy="12700"/>
          </a:xfrm>
          <a:prstGeom prst="rect">
            <a:avLst/>
          </a:prstGeom>
          <a:solidFill>
            <a:srgbClr val="1D1F20">
              <a:alpha val="25000"/>
            </a:srgbClr>
          </a:solidFill>
          <a:ln>
            <a:noFill/>
          </a:ln>
        </p:spPr>
        <p:txBody>
          <a:bodyPr/>
          <a:lstStyle/>
          <a:p>
            <a:endParaRPr/>
          </a:p>
        </p:txBody>
      </p:sp>
      <p:sp>
        <p:nvSpPr>
          <p:cNvPr id="112" name="Text 112"/>
          <p:cNvSpPr txBox="1"/>
          <p:nvPr/>
        </p:nvSpPr>
        <p:spPr>
          <a:xfrm>
            <a:off x="10769600" y="4470400"/>
            <a:ext cx="3810000" cy="533400"/>
          </a:xfrm>
          <a:prstGeom prst="rect">
            <a:avLst/>
          </a:prstGeom>
          <a:noFill/>
        </p:spPr>
        <p:txBody>
          <a:bodyPr wrap="none" lIns="7200" tIns="0" rIns="0" bIns="0" anchor="t">
            <a:normAutofit/>
          </a:bodyPr>
          <a:lstStyle/>
          <a:p>
            <a:pPr marL="0" indent="0" algn="l">
              <a:buNone/>
            </a:pPr>
            <a:r>
              <a:rPr lang="en-US" sz="3000" b="1" kern="0" spc="-40" dirty="0">
                <a:solidFill>
                  <a:srgbClr val="1D1F20"/>
                </a:solidFill>
                <a:latin typeface="Barlow Condensed"/>
                <a:cs typeface="Barlow Condensed"/>
              </a:rPr>
              <a:t>{{loan_1_years_saved}}</a:t>
            </a:r>
          </a:p>
        </p:txBody>
      </p:sp>
      <p:sp>
        <p:nvSpPr>
          <p:cNvPr id="113" name="Text 113"/>
          <p:cNvSpPr txBox="1"/>
          <p:nvPr/>
        </p:nvSpPr>
        <p:spPr>
          <a:xfrm>
            <a:off x="10769600" y="50038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of EMI removed</a:t>
            </a:r>
          </a:p>
        </p:txBody>
      </p:sp>
      <p:sp>
        <p:nvSpPr>
          <p:cNvPr id="114" name="Text 114"/>
          <p:cNvSpPr txBox="1"/>
          <p:nvPr/>
        </p:nvSpPr>
        <p:spPr>
          <a:xfrm>
            <a:off x="10769600" y="5359400"/>
            <a:ext cx="6096000" cy="355600"/>
          </a:xfrm>
          <a:prstGeom prst="rect">
            <a:avLst/>
          </a:prstGeom>
          <a:noFill/>
        </p:spPr>
        <p:txBody>
          <a:bodyPr wrap="square" lIns="7200" tIns="0" rIns="0" bIns="0" anchor="t">
            <a:normAutofit/>
          </a:bodyPr>
          <a:lstStyle/>
          <a:p>
            <a:pPr marL="0" indent="0" algn="l">
              <a:buNone/>
            </a:pPr>
            <a:r>
              <a:rPr lang="en-US" sz="1600" b="0" kern="0" dirty="0">
                <a:solidFill>
                  <a:srgbClr val="1D1F20">
                    <a:alpha val="80000"/>
                  </a:srgbClr>
                </a:solidFill>
                <a:latin typeface="Barlow"/>
                <a:cs typeface="Barlow"/>
              </a:rPr>
              <a:t>{{prepay_end_note}}</a:t>
            </a:r>
          </a:p>
        </p:txBody>
      </p:sp>
      <p:sp>
        <p:nvSpPr>
          <p:cNvPr id="115" name="Shape 115"/>
          <p:cNvSpPr/>
          <p:nvPr/>
        </p:nvSpPr>
        <p:spPr>
          <a:xfrm>
            <a:off x="10769600" y="5816600"/>
            <a:ext cx="6197600" cy="12700"/>
          </a:xfrm>
          <a:prstGeom prst="rect">
            <a:avLst/>
          </a:prstGeom>
          <a:solidFill>
            <a:srgbClr val="1D1F20">
              <a:alpha val="25000"/>
            </a:srgbClr>
          </a:solidFill>
          <a:ln>
            <a:noFill/>
          </a:ln>
        </p:spPr>
        <p:txBody>
          <a:bodyPr/>
          <a:lstStyle/>
          <a:p>
            <a:endParaRPr/>
          </a:p>
        </p:txBody>
      </p:sp>
      <p:sp>
        <p:nvSpPr>
          <p:cNvPr id="116" name="Text 116"/>
          <p:cNvSpPr txBox="1"/>
          <p:nvPr/>
        </p:nvSpPr>
        <p:spPr>
          <a:xfrm>
            <a:off x="10769600" y="5791200"/>
            <a:ext cx="3810000" cy="533400"/>
          </a:xfrm>
          <a:prstGeom prst="rect">
            <a:avLst/>
          </a:prstGeom>
          <a:noFill/>
        </p:spPr>
        <p:txBody>
          <a:bodyPr wrap="none" lIns="7200" tIns="0" rIns="0" bIns="0" anchor="t">
            <a:normAutofit/>
          </a:bodyPr>
          <a:lstStyle/>
          <a:p>
            <a:pPr marL="0" indent="0" algn="l">
              <a:buNone/>
            </a:pPr>
            <a:r>
              <a:rPr lang="en-US" sz="3000" b="1" kern="0" spc="-40" dirty="0">
                <a:solidFill>
                  <a:srgbClr val="1D1F20"/>
                </a:solidFill>
                <a:latin typeface="Barlow Condensed"/>
                <a:cs typeface="Barlow Condensed"/>
              </a:rPr>
              <a:t>{{loan_1_emi}}</a:t>
            </a:r>
          </a:p>
        </p:txBody>
      </p:sp>
      <p:sp>
        <p:nvSpPr>
          <p:cNvPr id="117" name="Text 117"/>
          <p:cNvSpPr txBox="1"/>
          <p:nvPr/>
        </p:nvSpPr>
        <p:spPr>
          <a:xfrm>
            <a:off x="10769600" y="6324600"/>
            <a:ext cx="6096000" cy="355600"/>
          </a:xfrm>
          <a:prstGeom prst="rect">
            <a:avLst/>
          </a:prstGeom>
          <a:noFill/>
        </p:spPr>
        <p:txBody>
          <a:bodyPr wrap="square" lIns="7200" tIns="0" rIns="0" bIns="0" anchor="t">
            <a:normAutofit/>
          </a:bodyPr>
          <a:lstStyle/>
          <a:p>
            <a:pPr marL="0" indent="0" algn="l">
              <a:buNone/>
            </a:pPr>
            <a:r>
              <a:rPr lang="en-US" sz="1900" b="1" kern="0" dirty="0">
                <a:solidFill>
                  <a:srgbClr val="1D1F20"/>
                </a:solidFill>
                <a:latin typeface="Barlow"/>
                <a:cs typeface="Barlow"/>
              </a:rPr>
              <a:t>a month freed from {{loan_1_new_closing_year}}</a:t>
            </a:r>
          </a:p>
        </p:txBody>
      </p:sp>
      <p:sp>
        <p:nvSpPr>
          <p:cNvPr id="118" name="Text 118"/>
          <p:cNvSpPr txBox="1"/>
          <p:nvPr/>
        </p:nvSpPr>
        <p:spPr>
          <a:xfrm>
            <a:off x="10769600" y="6680200"/>
            <a:ext cx="6096000" cy="355600"/>
          </a:xfrm>
          <a:prstGeom prst="rect">
            <a:avLst/>
          </a:prstGeom>
          <a:noFill/>
        </p:spPr>
        <p:txBody>
          <a:bodyPr wrap="square" lIns="7200" tIns="0" rIns="0" bIns="0" anchor="t">
            <a:normAutofit/>
          </a:bodyPr>
          <a:lstStyle/>
          <a:p>
            <a:pPr marL="0" indent="0" algn="l">
              <a:buNone/>
            </a:pPr>
            <a:r>
              <a:rPr lang="en-US" sz="1600" b="0" kern="0" dirty="0">
                <a:solidFill>
                  <a:srgbClr val="1D1F20">
                    <a:alpha val="80000"/>
                  </a:srgbClr>
                </a:solidFill>
                <a:latin typeface="Barlow"/>
                <a:cs typeface="Barlow"/>
              </a:rPr>
              <a:t>re-tagged to the retirement SIP, not to spending</a:t>
            </a:r>
          </a:p>
        </p:txBody>
      </p:sp>
      <p:sp>
        <p:nvSpPr>
          <p:cNvPr id="119" name="Shape 119"/>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20" name="Text 120"/>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21" name="Text 121"/>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{{prepay_impact_comment}}</a:t>
            </a:r>
          </a:p>
        </p:txBody>
      </p:sp>
      <p:sp>
        <p:nvSpPr>
          <p:cNvPr id="122" name="Text 122"/>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3" name="Text 123"/>
          <p:cNvSpPr txBox="1"/>
          <p:nvPr/>
        </p:nvSpPr>
        <p:spPr>
          <a:xfrm>
            <a:off x="14833600" y="9474200"/>
            <a:ext cx="2540000" cy="393700"/>
          </a:xfrm>
          <a:prstGeom prst="rect">
            <a:avLst/>
          </a:prstGeom>
          <a:noFill/>
        </p:spPr>
        <p:txBody>
          <a:bodyPr wrap="none" lIns="7200" tIns="0" rIns="0" bIns="0" anchor="t">
            <a:normAutofit/>
          </a:bodyPr>
          <a:lstStyle/>
          <a:p>
            <a:pPr marL="0" indent="0" algn="r">
              <a:buNone/>
            </a:pPr>
            <a:r>
              <a:rPr lang="en-US" sz="1600" b="0" kern="0" dirty="0">
                <a:solidFill>
                  <a:srgbClr val="2A3480"/>
                </a:solidFill>
                <a:latin typeface="Barlow"/>
                <a:cs typeface="Barlow"/>
              </a:rPr>
              <a:t>{{page_no}} / {{page_total}}</a:t>
            </a:r>
          </a:p>
        </p:txBody>
      </p:sp>
      <p:graphicFrame>
        <p:nvGraphicFramePr>
          <p:cNvPr id="124" name="Chart"/>
          <p:cNvGraphicFramePr/>
          <p:nvPr/>
        </p:nvGraphicFramePr>
        <p:xfrm>
          <a:off x="914400" y="2921000"/>
          <a:ext cx="8763000" cy="447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66115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41A45"/>
        </a:solidFill>
        <a:effectLst/>
      </p:bgPr>
    </p:bg>
    <p:spTree>
      <p:nvGrpSpPr>
        <p:cNvPr id="1" name="">
          <a:extLst>
            <a:ext uri="{FF2B5EF4-FFF2-40B4-BE49-F238E27FC236}">
              <a16:creationId xmlns:a16="http://schemas.microsoft.com/office/drawing/2014/main" id="{DE362EFC-416B-B167-0299-85AC4C5CB50D}"/>
            </a:ext>
          </a:extLst>
        </p:cNvPr>
        <p:cNvGrpSpPr/>
        <p:nvPr/>
      </p:nvGrpSpPr>
      <p:grpSpPr>
        <a:xfrm>
          <a:off x="0" y="0"/>
          <a:ext cx="0" cy="0"/>
          <a:chOff x="0" y="0"/>
          <a:chExt cx="0" cy="0"/>
        </a:xfrm>
      </p:grpSpPr>
      <p:sp>
        <p:nvSpPr>
          <p:cNvPr id="3" name="Google Shape;686;p20">
            <a:extLst>
              <a:ext uri="{FF2B5EF4-FFF2-40B4-BE49-F238E27FC236}">
                <a16:creationId xmlns:a16="http://schemas.microsoft.com/office/drawing/2014/main" id="{1365D28F-AB52-32F1-47B6-9042BE22EF2F}"/>
              </a:ext>
            </a:extLst>
          </p:cNvPr>
          <p:cNvSpPr/>
          <p:nvPr/>
        </p:nvSpPr>
        <p:spPr>
          <a:xfrm>
            <a:off x="0" y="0"/>
            <a:ext cx="8177539" cy="10287001"/>
          </a:xfrm>
          <a:prstGeom prst="rect">
            <a:avLst/>
          </a:prstGeom>
          <a:solidFill>
            <a:srgbClr val="20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 name="Google Shape;687;p20" descr="preencoded.png">
            <a:extLst>
              <a:ext uri="{FF2B5EF4-FFF2-40B4-BE49-F238E27FC236}">
                <a16:creationId xmlns:a16="http://schemas.microsoft.com/office/drawing/2014/main" id="{4910403C-A20F-1A4A-97AD-99638EB53EF5}"/>
              </a:ext>
            </a:extLst>
          </p:cNvPr>
          <p:cNvPicPr preferRelativeResize="0"/>
          <p:nvPr/>
        </p:nvPicPr>
        <p:blipFill rotWithShape="1">
          <a:blip r:embed="rId3">
            <a:alphaModFix amt="90000"/>
          </a:blip>
          <a:srcRect l="10253" r="10253"/>
          <a:stretch/>
        </p:blipFill>
        <p:spPr>
          <a:xfrm>
            <a:off x="0" y="0"/>
            <a:ext cx="8177539" cy="10287001"/>
          </a:xfrm>
          <a:prstGeom prst="rect">
            <a:avLst/>
          </a:prstGeom>
          <a:noFill/>
          <a:ln>
            <a:noFill/>
          </a:ln>
        </p:spPr>
      </p:pic>
      <p:sp>
        <p:nvSpPr>
          <p:cNvPr id="7" name="Google Shape;688;p20">
            <a:extLst>
              <a:ext uri="{FF2B5EF4-FFF2-40B4-BE49-F238E27FC236}">
                <a16:creationId xmlns:a16="http://schemas.microsoft.com/office/drawing/2014/main" id="{D20ED2E6-B763-888E-AD8B-5F105A517556}"/>
              </a:ext>
            </a:extLst>
          </p:cNvPr>
          <p:cNvSpPr/>
          <p:nvPr/>
        </p:nvSpPr>
        <p:spPr>
          <a:xfrm>
            <a:off x="0" y="0"/>
            <a:ext cx="8177539" cy="10287001"/>
          </a:xfrm>
          <a:prstGeom prst="rect">
            <a:avLst/>
          </a:prstGeom>
          <a:solidFill>
            <a:srgbClr val="141A45">
              <a:alpha val="5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89;p20">
            <a:extLst>
              <a:ext uri="{FF2B5EF4-FFF2-40B4-BE49-F238E27FC236}">
                <a16:creationId xmlns:a16="http://schemas.microsoft.com/office/drawing/2014/main" id="{CF98BBB1-4030-7DD6-60A1-BA8ACF9D6426}"/>
              </a:ext>
            </a:extLst>
          </p:cNvPr>
          <p:cNvSpPr/>
          <p:nvPr/>
        </p:nvSpPr>
        <p:spPr>
          <a:xfrm>
            <a:off x="0" y="0"/>
            <a:ext cx="8177539" cy="10287001"/>
          </a:xfrm>
          <a:prstGeom prst="rect">
            <a:avLst/>
          </a:prstGeom>
          <a:gradFill>
            <a:gsLst>
              <a:gs pos="0">
                <a:srgbClr val="141A45"/>
              </a:gs>
              <a:gs pos="30000">
                <a:srgbClr val="141A45">
                  <a:alpha val="0"/>
                </a:srgbClr>
              </a:gs>
              <a:gs pos="100000">
                <a:srgbClr val="141A45">
                  <a:alpha val="0"/>
                </a:srgbClr>
              </a:gs>
            </a:gsLst>
            <a:lin ang="108000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91;p20">
            <a:extLst>
              <a:ext uri="{FF2B5EF4-FFF2-40B4-BE49-F238E27FC236}">
                <a16:creationId xmlns:a16="http://schemas.microsoft.com/office/drawing/2014/main" id="{5D619025-E150-4D29-17B5-6CB31000295F}"/>
              </a:ext>
            </a:extLst>
          </p:cNvPr>
          <p:cNvSpPr/>
          <p:nvPr/>
        </p:nvSpPr>
        <p:spPr>
          <a:xfrm>
            <a:off x="8787097" y="3025180"/>
            <a:ext cx="8844056" cy="2106102"/>
          </a:xfrm>
          <a:prstGeom prst="rect">
            <a:avLst/>
          </a:prstGeom>
          <a:noFill/>
          <a:ln>
            <a:noFill/>
          </a:ln>
        </p:spPr>
        <p:txBody>
          <a:bodyPr spcFirstLastPara="1" wrap="square" lIns="25400" tIns="25400" rIns="25400" bIns="25400" anchor="t" anchorCtr="0">
            <a:noAutofit/>
          </a:bodyPr>
          <a:lstStyle/>
          <a:p>
            <a:pPr marL="0" marR="0" lvl="0" indent="0" algn="l" rtl="0">
              <a:lnSpc>
                <a:spcPct val="76502"/>
              </a:lnSpc>
              <a:spcBef>
                <a:spcPts val="0"/>
              </a:spcBef>
              <a:spcAft>
                <a:spcPts val="0"/>
              </a:spcAft>
              <a:buClr>
                <a:srgbClr val="F2F2F3"/>
              </a:buClr>
              <a:buSzPts val="8850"/>
              <a:buFont typeface="Barlow Condensed"/>
              <a:buNone/>
            </a:pPr>
            <a:r>
              <a:rPr lang="en-US" sz="8850" b="1" i="0" u="none" strike="noStrike" cap="none">
                <a:solidFill>
                  <a:srgbClr val="F2F2F3"/>
                </a:solidFill>
                <a:latin typeface="Barlow Condensed"/>
                <a:ea typeface="Barlow Condensed"/>
                <a:cs typeface="Barlow Condensed"/>
                <a:sym typeface="Barlow Condensed"/>
              </a:rPr>
              <a:t>Funding Each Goal</a:t>
            </a:r>
            <a:endParaRPr sz="8850" b="0" i="0" u="none" strike="noStrike" cap="none">
              <a:solidFill>
                <a:schemeClr val="dk1"/>
              </a:solidFill>
              <a:latin typeface="Calibri"/>
              <a:ea typeface="Calibri"/>
              <a:cs typeface="Calibri"/>
              <a:sym typeface="Calibri"/>
            </a:endParaRPr>
          </a:p>
        </p:txBody>
      </p:sp>
      <p:sp>
        <p:nvSpPr>
          <p:cNvPr id="13" name="Google Shape;692;p20">
            <a:extLst>
              <a:ext uri="{FF2B5EF4-FFF2-40B4-BE49-F238E27FC236}">
                <a16:creationId xmlns:a16="http://schemas.microsoft.com/office/drawing/2014/main" id="{53F6F54E-6BE7-ED1F-5EA2-FE53396E4926}"/>
              </a:ext>
            </a:extLst>
          </p:cNvPr>
          <p:cNvSpPr/>
          <p:nvPr/>
        </p:nvSpPr>
        <p:spPr>
          <a:xfrm>
            <a:off x="8787097" y="5474182"/>
            <a:ext cx="7238930" cy="9525"/>
          </a:xfrm>
          <a:prstGeom prst="rect">
            <a:avLst/>
          </a:prstGeom>
          <a:solidFill>
            <a:srgbClr val="F2F2F3">
              <a:alpha val="2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93;p20">
            <a:extLst>
              <a:ext uri="{FF2B5EF4-FFF2-40B4-BE49-F238E27FC236}">
                <a16:creationId xmlns:a16="http://schemas.microsoft.com/office/drawing/2014/main" id="{ACB83102-6E96-E592-A85E-174AD960261C}"/>
              </a:ext>
            </a:extLst>
          </p:cNvPr>
          <p:cNvSpPr/>
          <p:nvPr/>
        </p:nvSpPr>
        <p:spPr>
          <a:xfrm>
            <a:off x="8787097" y="5807486"/>
            <a:ext cx="7848528" cy="1446865"/>
          </a:xfrm>
          <a:prstGeom prst="rect">
            <a:avLst/>
          </a:prstGeom>
          <a:noFill/>
          <a:ln>
            <a:noFill/>
          </a:ln>
        </p:spPr>
        <p:txBody>
          <a:bodyPr spcFirstLastPara="1" wrap="square" lIns="25400" tIns="25400" rIns="25400" bIns="25400" anchor="t" anchorCtr="0">
            <a:noAutofit/>
          </a:bodyPr>
          <a:lstStyle/>
          <a:p>
            <a:pPr marL="0" marR="0" lvl="0" indent="0" algn="l" rtl="0">
              <a:lnSpc>
                <a:spcPct val="121800"/>
              </a:lnSpc>
              <a:spcBef>
                <a:spcPts val="0"/>
              </a:spcBef>
              <a:spcAft>
                <a:spcPts val="0"/>
              </a:spcAft>
              <a:buClr>
                <a:srgbClr val="F2F2F3"/>
              </a:buClr>
              <a:buSzPts val="2550"/>
              <a:buFont typeface="Barlow"/>
              <a:buNone/>
            </a:pPr>
            <a:r>
              <a:rPr lang="en-US" sz="2550" b="0" i="0" u="none" strike="noStrike" cap="none">
                <a:solidFill>
                  <a:srgbClr val="F2F2F3"/>
                </a:solidFill>
                <a:latin typeface="Barlow"/>
                <a:ea typeface="Barlow"/>
                <a:cs typeface="Barlow"/>
                <a:sym typeface="Barlow"/>
              </a:rPr>
              <a:t>{{goals_funding_intro}}</a:t>
            </a:r>
            <a:endParaRPr sz="2550" b="0" i="0" u="none" strike="noStrike" cap="none">
              <a:solidFill>
                <a:schemeClr val="dk1"/>
              </a:solidFill>
              <a:latin typeface="Calibri"/>
              <a:ea typeface="Calibri"/>
              <a:cs typeface="Calibri"/>
              <a:sym typeface="Calibri"/>
            </a:endParaRPr>
          </a:p>
        </p:txBody>
      </p:sp>
      <p:sp>
        <p:nvSpPr>
          <p:cNvPr id="17" name="Google Shape;694;p20">
            <a:extLst>
              <a:ext uri="{FF2B5EF4-FFF2-40B4-BE49-F238E27FC236}">
                <a16:creationId xmlns:a16="http://schemas.microsoft.com/office/drawing/2014/main" id="{523077BB-EFFA-FCB7-4E3C-6834ED3280E7}"/>
              </a:ext>
            </a:extLst>
          </p:cNvPr>
          <p:cNvSpPr/>
          <p:nvPr/>
        </p:nvSpPr>
        <p:spPr>
          <a:xfrm>
            <a:off x="8787097" y="7749623"/>
            <a:ext cx="231619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FIRST GOAL DUE</a:t>
            </a:r>
            <a:endParaRPr sz="1800" b="0" i="0" u="none" strike="noStrike" cap="none">
              <a:solidFill>
                <a:schemeClr val="dk1"/>
              </a:solidFill>
              <a:latin typeface="Calibri"/>
              <a:ea typeface="Calibri"/>
              <a:cs typeface="Calibri"/>
              <a:sym typeface="Calibri"/>
            </a:endParaRPr>
          </a:p>
        </p:txBody>
      </p:sp>
      <p:sp>
        <p:nvSpPr>
          <p:cNvPr id="21" name="Google Shape;695;p20">
            <a:extLst>
              <a:ext uri="{FF2B5EF4-FFF2-40B4-BE49-F238E27FC236}">
                <a16:creationId xmlns:a16="http://schemas.microsoft.com/office/drawing/2014/main" id="{84B81ADD-0693-AFE4-78D3-459C830DDAA2}"/>
              </a:ext>
            </a:extLst>
          </p:cNvPr>
          <p:cNvSpPr/>
          <p:nvPr/>
        </p:nvSpPr>
        <p:spPr>
          <a:xfrm>
            <a:off x="8787097" y="8180161"/>
            <a:ext cx="2316198" cy="571472"/>
          </a:xfrm>
          <a:prstGeom prst="rect">
            <a:avLst/>
          </a:prstGeom>
          <a:noFill/>
          <a:ln>
            <a:noFill/>
          </a:ln>
        </p:spPr>
        <p:txBody>
          <a:bodyPr spcFirstLastPara="1" wrap="non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a:solidFill>
                  <a:srgbClr val="94BCE3"/>
                </a:solidFill>
                <a:latin typeface="Barlow Condensed"/>
                <a:ea typeface="Barlow Condensed"/>
                <a:cs typeface="Barlow Condensed"/>
                <a:sym typeface="Barlow Condensed"/>
              </a:rPr>
              <a:t>{{first_goal_year}}</a:t>
            </a:r>
            <a:endParaRPr sz="4200" b="0" i="0" u="none" strike="noStrike" cap="none">
              <a:solidFill>
                <a:schemeClr val="dk1"/>
              </a:solidFill>
              <a:latin typeface="Calibri"/>
              <a:ea typeface="Calibri"/>
              <a:cs typeface="Calibri"/>
              <a:sym typeface="Calibri"/>
            </a:endParaRPr>
          </a:p>
        </p:txBody>
      </p:sp>
      <p:sp>
        <p:nvSpPr>
          <p:cNvPr id="25" name="Google Shape;696;p20">
            <a:extLst>
              <a:ext uri="{FF2B5EF4-FFF2-40B4-BE49-F238E27FC236}">
                <a16:creationId xmlns:a16="http://schemas.microsoft.com/office/drawing/2014/main" id="{E46CBCFE-F6F8-8D7D-FF94-03ACFE84EE7E}"/>
              </a:ext>
            </a:extLst>
          </p:cNvPr>
          <p:cNvSpPr/>
          <p:nvPr/>
        </p:nvSpPr>
        <p:spPr>
          <a:xfrm>
            <a:off x="11426103" y="7749623"/>
            <a:ext cx="221617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LAST GOAL DUE</a:t>
            </a:r>
            <a:endParaRPr sz="1800" b="0" i="0" u="none" strike="noStrike" cap="none">
              <a:solidFill>
                <a:schemeClr val="dk1"/>
              </a:solidFill>
              <a:latin typeface="Calibri"/>
              <a:ea typeface="Calibri"/>
              <a:cs typeface="Calibri"/>
              <a:sym typeface="Calibri"/>
            </a:endParaRPr>
          </a:p>
        </p:txBody>
      </p:sp>
      <p:sp>
        <p:nvSpPr>
          <p:cNvPr id="29" name="Google Shape;697;p20">
            <a:extLst>
              <a:ext uri="{FF2B5EF4-FFF2-40B4-BE49-F238E27FC236}">
                <a16:creationId xmlns:a16="http://schemas.microsoft.com/office/drawing/2014/main" id="{397AA8C2-FB52-8BCA-F532-02F8961AD11D}"/>
              </a:ext>
            </a:extLst>
          </p:cNvPr>
          <p:cNvSpPr/>
          <p:nvPr/>
        </p:nvSpPr>
        <p:spPr>
          <a:xfrm>
            <a:off x="11426103" y="8180161"/>
            <a:ext cx="2216178" cy="571472"/>
          </a:xfrm>
          <a:prstGeom prst="rect">
            <a:avLst/>
          </a:prstGeom>
          <a:noFill/>
          <a:ln>
            <a:noFill/>
          </a:ln>
        </p:spPr>
        <p:txBody>
          <a:bodyPr spcFirstLastPara="1" wrap="non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a:solidFill>
                  <a:srgbClr val="94BCE3"/>
                </a:solidFill>
                <a:latin typeface="Barlow Condensed"/>
                <a:ea typeface="Barlow Condensed"/>
                <a:cs typeface="Barlow Condensed"/>
                <a:sym typeface="Barlow Condensed"/>
              </a:rPr>
              <a:t>{{last_goal_year}}</a:t>
            </a:r>
            <a:endParaRPr sz="4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20382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p32"/>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853" name="Google Shape;853;p32" descr="image.jpg"/>
          <p:cNvPicPr preferRelativeResize="0"/>
          <p:nvPr/>
        </p:nvPicPr>
        <p:blipFill rotWithShape="1">
          <a:blip r:embed="rId3">
            <a:alphaModFix amt="7058"/>
          </a:blip>
          <a:srcRect/>
          <a:stretch/>
        </p:blipFill>
        <p:spPr>
          <a:xfrm>
            <a:off x="0" y="0"/>
            <a:ext cx="18287872" cy="10286999"/>
          </a:xfrm>
          <a:prstGeom prst="rect">
            <a:avLst/>
          </a:prstGeom>
          <a:noFill/>
          <a:ln>
            <a:noFill/>
          </a:ln>
        </p:spPr>
      </p:pic>
      <p:sp>
        <p:nvSpPr>
          <p:cNvPr id="854" name="Google Shape;854;p32"/>
          <p:cNvSpPr txBox="1"/>
          <p:nvPr/>
        </p:nvSpPr>
        <p:spPr>
          <a:xfrm>
            <a:off x="863803" y="376292"/>
            <a:ext cx="7121557"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{{goal_year}}</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{{goal_name}}</a:t>
            </a:r>
            <a:endParaRPr/>
          </a:p>
        </p:txBody>
      </p:sp>
      <p:pic>
        <p:nvPicPr>
          <p:cNvPr id="855" name="Google Shape;855;p32"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856" name="Google Shape;856;p32"/>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7" name="Google Shape;857;p32"/>
          <p:cNvSpPr txBox="1"/>
          <p:nvPr/>
        </p:nvSpPr>
        <p:spPr>
          <a:xfrm>
            <a:off x="863803" y="1699879"/>
            <a:ext cx="1412508"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THE TARGET</a:t>
            </a:r>
            <a:endParaRPr/>
          </a:p>
        </p:txBody>
      </p:sp>
      <p:sp>
        <p:nvSpPr>
          <p:cNvPr id="858" name="Google Shape;858;p32"/>
          <p:cNvSpPr/>
          <p:nvPr/>
        </p:nvSpPr>
        <p:spPr>
          <a:xfrm>
            <a:off x="838187" y="2836036"/>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59" name="Google Shape;859;p32"/>
          <p:cNvSpPr txBox="1"/>
          <p:nvPr/>
        </p:nvSpPr>
        <p:spPr>
          <a:xfrm>
            <a:off x="863803" y="2387630"/>
            <a:ext cx="1223118"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{{goal_cost_label}}</a:t>
            </a:r>
            <a:endParaRPr/>
          </a:p>
        </p:txBody>
      </p:sp>
      <p:sp>
        <p:nvSpPr>
          <p:cNvPr id="860" name="Google Shape;860;p32"/>
          <p:cNvSpPr txBox="1"/>
          <p:nvPr/>
        </p:nvSpPr>
        <p:spPr>
          <a:xfrm>
            <a:off x="7501128" y="2324577"/>
            <a:ext cx="912674" cy="40709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{{goal_cost_today}}</a:t>
            </a:r>
            <a:endParaRPr/>
          </a:p>
        </p:txBody>
      </p:sp>
      <p:sp>
        <p:nvSpPr>
          <p:cNvPr id="861" name="Google Shape;861;p32"/>
          <p:cNvSpPr/>
          <p:nvPr/>
        </p:nvSpPr>
        <p:spPr>
          <a:xfrm>
            <a:off x="838187" y="3556507"/>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2" name="Google Shape;862;p32"/>
          <p:cNvSpPr txBox="1"/>
          <p:nvPr/>
        </p:nvSpPr>
        <p:spPr>
          <a:xfrm>
            <a:off x="863803" y="3108482"/>
            <a:ext cx="2027012"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{{goal_inflation_label}}</a:t>
            </a:r>
            <a:endParaRPr/>
          </a:p>
        </p:txBody>
      </p:sp>
      <p:sp>
        <p:nvSpPr>
          <p:cNvPr id="863" name="Google Shape;863;p32"/>
          <p:cNvSpPr txBox="1"/>
          <p:nvPr/>
        </p:nvSpPr>
        <p:spPr>
          <a:xfrm>
            <a:off x="7956804" y="3045048"/>
            <a:ext cx="461119" cy="40709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{{goal_inflation}}</a:t>
            </a:r>
            <a:endParaRPr/>
          </a:p>
        </p:txBody>
      </p:sp>
      <p:sp>
        <p:nvSpPr>
          <p:cNvPr id="864" name="Google Shape;864;p32"/>
          <p:cNvSpPr/>
          <p:nvPr/>
        </p:nvSpPr>
        <p:spPr>
          <a:xfrm>
            <a:off x="838187" y="4277105"/>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5" name="Google Shape;865;p32"/>
          <p:cNvSpPr txBox="1"/>
          <p:nvPr/>
        </p:nvSpPr>
        <p:spPr>
          <a:xfrm>
            <a:off x="863803" y="3829080"/>
            <a:ext cx="1466147"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Years to goal</a:t>
            </a:r>
            <a:endParaRPr/>
          </a:p>
        </p:txBody>
      </p:sp>
      <p:sp>
        <p:nvSpPr>
          <p:cNvPr id="866" name="Google Shape;866;p32"/>
          <p:cNvSpPr txBox="1"/>
          <p:nvPr/>
        </p:nvSpPr>
        <p:spPr>
          <a:xfrm>
            <a:off x="8212201" y="3765646"/>
            <a:ext cx="206081" cy="40709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{{goal_years_left}}</a:t>
            </a:r>
            <a:endParaRPr/>
          </a:p>
        </p:txBody>
      </p:sp>
      <p:sp>
        <p:nvSpPr>
          <p:cNvPr id="867" name="Google Shape;867;p32"/>
          <p:cNvSpPr/>
          <p:nvPr/>
        </p:nvSpPr>
        <p:spPr>
          <a:xfrm>
            <a:off x="838187" y="4495672"/>
            <a:ext cx="7478141" cy="1554353"/>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8" name="Google Shape;868;p32"/>
          <p:cNvSpPr txBox="1"/>
          <p:nvPr/>
        </p:nvSpPr>
        <p:spPr>
          <a:xfrm>
            <a:off x="1130503" y="4780153"/>
            <a:ext cx="2674253" cy="11209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REQUIRED IN {{goal_year}}</a:t>
            </a:r>
            <a:endParaRPr/>
          </a:p>
          <a:p>
            <a:pPr marL="0" marR="0" lvl="0" indent="0" algn="l" rtl="0">
              <a:lnSpc>
                <a:spcPct val="100000"/>
              </a:lnSpc>
              <a:spcBef>
                <a:spcPts val="0"/>
              </a:spcBef>
              <a:spcAft>
                <a:spcPts val="0"/>
              </a:spcAft>
              <a:buNone/>
            </a:pPr>
            <a:r>
              <a:rPr lang="en-US" sz="5700" b="0" i="0" u="none" strike="noStrike" cap="none">
                <a:solidFill>
                  <a:srgbClr val="F2F2F3"/>
                </a:solidFill>
                <a:latin typeface="Barlow Condensed"/>
                <a:ea typeface="Barlow Condensed"/>
                <a:cs typeface="Barlow Condensed"/>
                <a:sym typeface="Barlow Condensed"/>
              </a:rPr>
              <a:t>{{goal_future_cost}}</a:t>
            </a:r>
            <a:endParaRPr/>
          </a:p>
        </p:txBody>
      </p:sp>
      <p:sp>
        <p:nvSpPr>
          <p:cNvPr id="869" name="Google Shape;869;p32"/>
          <p:cNvSpPr txBox="1"/>
          <p:nvPr/>
        </p:nvSpPr>
        <p:spPr>
          <a:xfrm>
            <a:off x="863803" y="8059023"/>
            <a:ext cx="7570859" cy="642457"/>
          </a:xfrm>
          <a:prstGeom prst="rect">
            <a:avLst/>
          </a:prstGeom>
          <a:noFill/>
          <a:ln>
            <a:noFill/>
          </a:ln>
        </p:spPr>
        <p:txBody>
          <a:bodyPr spcFirstLastPara="1" wrap="square" lIns="0" tIns="0" rIns="0" bIns="0" anchor="t" anchorCtr="0">
            <a:noAutofit/>
          </a:bodyPr>
          <a:lstStyle/>
          <a:p>
            <a:pPr marL="0" marR="0" lvl="0" indent="0" algn="l" rtl="0">
              <a:lnSpc>
                <a:spcPct val="120200"/>
              </a:lnSpc>
              <a:spcBef>
                <a:spcPts val="0"/>
              </a:spcBef>
              <a:spcAft>
                <a:spcPts val="0"/>
              </a:spcAft>
              <a:buNone/>
            </a:pPr>
            <a:r>
              <a:rPr lang="en-US" sz="1850" b="0" i="0" u="none" strike="noStrike" cap="none">
                <a:solidFill>
                  <a:srgbClr val="1D1F20"/>
                </a:solidFill>
                <a:latin typeface="Barlow"/>
                <a:ea typeface="Barlow"/>
                <a:cs typeface="Barlow"/>
                <a:sym typeface="Barlow"/>
              </a:rPr>
              <a:t>{{goal_intro}}</a:t>
            </a:r>
            <a:endParaRPr/>
          </a:p>
        </p:txBody>
      </p:sp>
      <p:sp>
        <p:nvSpPr>
          <p:cNvPr id="870" name="Google Shape;870;p32"/>
          <p:cNvSpPr txBox="1"/>
          <p:nvPr/>
        </p:nvSpPr>
        <p:spPr>
          <a:xfrm>
            <a:off x="8875776" y="1699879"/>
            <a:ext cx="228723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HOW WE GET THERE</a:t>
            </a:r>
            <a:endParaRPr/>
          </a:p>
        </p:txBody>
      </p:sp>
      <p:sp>
        <p:nvSpPr>
          <p:cNvPr id="871" name="Google Shape;871;p32"/>
          <p:cNvSpPr/>
          <p:nvPr/>
        </p:nvSpPr>
        <p:spPr>
          <a:xfrm>
            <a:off x="8849741" y="212451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2" name="Google Shape;872;p32"/>
          <p:cNvSpPr txBox="1"/>
          <p:nvPr/>
        </p:nvSpPr>
        <p:spPr>
          <a:xfrm>
            <a:off x="9123553" y="2277990"/>
            <a:ext cx="2734228" cy="4574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{{goal_src1_label}}</a:t>
            </a:r>
            <a:endParaRPr/>
          </a:p>
        </p:txBody>
      </p:sp>
      <p:sp>
        <p:nvSpPr>
          <p:cNvPr id="873" name="Google Shape;873;p32"/>
          <p:cNvSpPr txBox="1"/>
          <p:nvPr/>
        </p:nvSpPr>
        <p:spPr>
          <a:xfrm>
            <a:off x="9123553" y="2772267"/>
            <a:ext cx="5702874"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{{goal_src1_terms}}</a:t>
            </a:r>
            <a:endParaRPr/>
          </a:p>
        </p:txBody>
      </p:sp>
      <p:sp>
        <p:nvSpPr>
          <p:cNvPr id="874" name="Google Shape;874;p32"/>
          <p:cNvSpPr txBox="1"/>
          <p:nvPr/>
        </p:nvSpPr>
        <p:spPr>
          <a:xfrm>
            <a:off x="14872969" y="2475514"/>
            <a:ext cx="2484262" cy="505023"/>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{{goal_src1_value}}</a:t>
            </a:r>
            <a:endParaRPr/>
          </a:p>
        </p:txBody>
      </p:sp>
      <p:sp>
        <p:nvSpPr>
          <p:cNvPr id="875" name="Google Shape;875;p32"/>
          <p:cNvSpPr/>
          <p:nvPr/>
        </p:nvSpPr>
        <p:spPr>
          <a:xfrm>
            <a:off x="8849741" y="334879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6" name="Google Shape;876;p32"/>
          <p:cNvSpPr txBox="1"/>
          <p:nvPr/>
        </p:nvSpPr>
        <p:spPr>
          <a:xfrm>
            <a:off x="9123553" y="3502944"/>
            <a:ext cx="3513934"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{{goal_src2_label}}</a:t>
            </a:r>
            <a:endParaRPr/>
          </a:p>
        </p:txBody>
      </p:sp>
      <p:sp>
        <p:nvSpPr>
          <p:cNvPr id="877" name="Google Shape;877;p32"/>
          <p:cNvSpPr txBox="1"/>
          <p:nvPr/>
        </p:nvSpPr>
        <p:spPr>
          <a:xfrm>
            <a:off x="9123553" y="3996547"/>
            <a:ext cx="4874606"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{{goal_src2_terms}}</a:t>
            </a:r>
            <a:endParaRPr/>
          </a:p>
        </p:txBody>
      </p:sp>
      <p:sp>
        <p:nvSpPr>
          <p:cNvPr id="878" name="Google Shape;878;p32"/>
          <p:cNvSpPr txBox="1"/>
          <p:nvPr/>
        </p:nvSpPr>
        <p:spPr>
          <a:xfrm>
            <a:off x="14872969" y="3699794"/>
            <a:ext cx="2467427" cy="505023"/>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{{goal_src2_value}}</a:t>
            </a:r>
            <a:endParaRPr/>
          </a:p>
        </p:txBody>
      </p:sp>
      <p:sp>
        <p:nvSpPr>
          <p:cNvPr id="879" name="Google Shape;879;p32"/>
          <p:cNvSpPr/>
          <p:nvPr/>
        </p:nvSpPr>
        <p:spPr>
          <a:xfrm>
            <a:off x="8849741" y="4573079"/>
            <a:ext cx="8599931" cy="1110043"/>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0" name="Google Shape;880;p32"/>
          <p:cNvSpPr txBox="1"/>
          <p:nvPr/>
        </p:nvSpPr>
        <p:spPr>
          <a:xfrm>
            <a:off x="9123553" y="4727351"/>
            <a:ext cx="3187296"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F2F2F3"/>
                </a:solidFill>
                <a:latin typeface="Barlow Condensed"/>
                <a:ea typeface="Barlow Condensed"/>
                <a:cs typeface="Barlow Condensed"/>
                <a:sym typeface="Barlow Condensed"/>
              </a:rPr>
              <a:t>Corpus available in {{goal_year}}</a:t>
            </a:r>
            <a:endParaRPr/>
          </a:p>
        </p:txBody>
      </p:sp>
      <p:sp>
        <p:nvSpPr>
          <p:cNvPr id="881" name="Google Shape;881;p32"/>
          <p:cNvSpPr txBox="1"/>
          <p:nvPr/>
        </p:nvSpPr>
        <p:spPr>
          <a:xfrm>
            <a:off x="9123553" y="5220954"/>
            <a:ext cx="285551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{{goal_margin}}</a:t>
            </a:r>
            <a:endParaRPr/>
          </a:p>
        </p:txBody>
      </p:sp>
      <p:sp>
        <p:nvSpPr>
          <p:cNvPr id="882" name="Google Shape;882;p32"/>
          <p:cNvSpPr txBox="1"/>
          <p:nvPr/>
        </p:nvSpPr>
        <p:spPr>
          <a:xfrm>
            <a:off x="14877034" y="4923908"/>
            <a:ext cx="2406676" cy="505407"/>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150" b="0" i="0" u="none" strike="noStrike" cap="none">
                <a:solidFill>
                  <a:srgbClr val="F2F2F3"/>
                </a:solidFill>
                <a:latin typeface="Barlow Condensed"/>
                <a:ea typeface="Barlow Condensed"/>
                <a:cs typeface="Barlow Condensed"/>
                <a:sym typeface="Barlow Condensed"/>
              </a:rPr>
              <a:t>{{goal_corpus}}</a:t>
            </a:r>
            <a:endParaRPr/>
          </a:p>
        </p:txBody>
      </p:sp>
      <p:sp>
        <p:nvSpPr>
          <p:cNvPr id="883" name="Google Shape;883;p32"/>
          <p:cNvSpPr/>
          <p:nvPr/>
        </p:nvSpPr>
        <p:spPr>
          <a:xfrm>
            <a:off x="8849741" y="7843049"/>
            <a:ext cx="8599931" cy="836130"/>
          </a:xfrm>
          <a:prstGeom prst="rect">
            <a:avLst/>
          </a:prstGeom>
          <a:solidFill>
            <a:srgbClr val="141A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4" name="Google Shape;884;p32"/>
          <p:cNvSpPr txBox="1"/>
          <p:nvPr/>
        </p:nvSpPr>
        <p:spPr>
          <a:xfrm>
            <a:off x="9123553" y="8155289"/>
            <a:ext cx="4846467"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{{goal_redirect_label}}</a:t>
            </a:r>
            <a:endParaRPr/>
          </a:p>
        </p:txBody>
      </p:sp>
      <p:sp>
        <p:nvSpPr>
          <p:cNvPr id="885" name="Google Shape;885;p32"/>
          <p:cNvSpPr txBox="1"/>
          <p:nvPr/>
        </p:nvSpPr>
        <p:spPr>
          <a:xfrm>
            <a:off x="14375003" y="8090661"/>
            <a:ext cx="3031370" cy="4320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F2F2F3"/>
                </a:solidFill>
                <a:latin typeface="Barlow Condensed"/>
                <a:ea typeface="Barlow Condensed"/>
                <a:cs typeface="Barlow Condensed"/>
                <a:sym typeface="Barlow Condensed"/>
              </a:rPr>
              <a:t>{{goal_redirect_to}}</a:t>
            </a:r>
            <a:endParaRPr/>
          </a:p>
        </p:txBody>
      </p:sp>
      <p:sp>
        <p:nvSpPr>
          <p:cNvPr id="886" name="Google Shape;886;p32"/>
          <p:cNvSpPr/>
          <p:nvPr/>
        </p:nvSpPr>
        <p:spPr>
          <a:xfrm>
            <a:off x="838187" y="8774480"/>
            <a:ext cx="16611600" cy="853427"/>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87" name="Google Shape;887;p32"/>
          <p:cNvSpPr txBox="1"/>
          <p:nvPr/>
        </p:nvSpPr>
        <p:spPr>
          <a:xfrm>
            <a:off x="1082344" y="8935211"/>
            <a:ext cx="16637587" cy="63215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00000"/>
              </a:lnSpc>
              <a:spcBef>
                <a:spcPts val="440"/>
              </a:spcBef>
              <a:spcAft>
                <a:spcPts val="0"/>
              </a:spcAft>
              <a:buNone/>
            </a:pPr>
            <a:r>
              <a:rPr lang="en-US" sz="1850" b="0" i="0" u="none" strike="noStrike" cap="none">
                <a:solidFill>
                  <a:srgbClr val="1D1F20"/>
                </a:solidFill>
                <a:latin typeface="Barlow"/>
                <a:ea typeface="Barlow"/>
                <a:cs typeface="Barlow"/>
                <a:sym typeface="Barlow"/>
              </a:rPr>
              <a:t>{{goal_comment}}</a:t>
            </a:r>
            <a:endParaRPr/>
          </a:p>
        </p:txBody>
      </p:sp>
      <p:sp>
        <p:nvSpPr>
          <p:cNvPr id="888" name="Google Shape;888;p32"/>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889" name="Google Shape;889;p32"/>
          <p:cNvSpPr txBox="1"/>
          <p:nvPr/>
        </p:nvSpPr>
        <p:spPr>
          <a:xfrm>
            <a:off x="16587469" y="9779215"/>
            <a:ext cx="754676" cy="28842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{{page_no}} / {{page_total}}</a:t>
            </a:r>
            <a:endParaRPr/>
          </a:p>
        </p:txBody>
      </p:sp>
      <p:pic>
        <p:nvPicPr>
          <p:cNvPr id="890" name="Google Shape;890;p32" descr="image.png"/>
          <p:cNvPicPr preferRelativeResize="0"/>
          <p:nvPr/>
        </p:nvPicPr>
        <p:blipFill rotWithShape="1">
          <a:blip r:embed="rId5">
            <a:alphaModFix/>
          </a:blip>
          <a:srcRect/>
          <a:stretch/>
        </p:blipFill>
        <p:spPr>
          <a:xfrm>
            <a:off x="996950" y="6343650"/>
            <a:ext cx="749300" cy="882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41"/>
        <p:cNvGrpSpPr/>
        <p:nvPr/>
      </p:nvGrpSpPr>
      <p:grpSpPr>
        <a:xfrm>
          <a:off x="0" y="0"/>
          <a:ext cx="0" cy="0"/>
          <a:chOff x="0" y="0"/>
          <a:chExt cx="0" cy="0"/>
        </a:xfrm>
      </p:grpSpPr>
      <p:sp>
        <p:nvSpPr>
          <p:cNvPr id="942" name="Google Shape;942;p34"/>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943" name="Google Shape;943;p34" descr="image.jpg"/>
          <p:cNvPicPr preferRelativeResize="0"/>
          <p:nvPr/>
        </p:nvPicPr>
        <p:blipFill rotWithShape="1">
          <a:blip r:embed="rId3">
            <a:alphaModFix/>
          </a:blip>
          <a:srcRect/>
          <a:stretch/>
        </p:blipFill>
        <p:spPr>
          <a:xfrm>
            <a:off x="0" y="0"/>
            <a:ext cx="18287999" cy="10286997"/>
          </a:xfrm>
          <a:prstGeom prst="rect">
            <a:avLst/>
          </a:prstGeom>
          <a:noFill/>
          <a:ln>
            <a:noFill/>
          </a:ln>
        </p:spPr>
      </p:pic>
      <p:sp>
        <p:nvSpPr>
          <p:cNvPr id="944" name="Google Shape;944;p34"/>
          <p:cNvSpPr/>
          <p:nvPr/>
        </p:nvSpPr>
        <p:spPr>
          <a:xfrm>
            <a:off x="0" y="0"/>
            <a:ext cx="18288000" cy="10287000"/>
          </a:xfrm>
          <a:prstGeom prst="rect">
            <a:avLst/>
          </a:prstGeom>
          <a:solidFill>
            <a:srgbClr val="F2F2F0">
              <a:alpha val="8902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5" name="Google Shape;945;p34"/>
          <p:cNvSpPr txBox="1"/>
          <p:nvPr/>
        </p:nvSpPr>
        <p:spPr>
          <a:xfrm>
            <a:off x="863803" y="376292"/>
            <a:ext cx="7140578"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2030</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Property Purchase — The Plot</a:t>
            </a:r>
            <a:endParaRPr/>
          </a:p>
        </p:txBody>
      </p:sp>
      <p:pic>
        <p:nvPicPr>
          <p:cNvPr id="946" name="Google Shape;946;p34"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947" name="Google Shape;947;p34"/>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8" name="Google Shape;948;p34"/>
          <p:cNvSpPr txBox="1"/>
          <p:nvPr/>
        </p:nvSpPr>
        <p:spPr>
          <a:xfrm>
            <a:off x="863803" y="1699879"/>
            <a:ext cx="1412508"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THE TARGET</a:t>
            </a:r>
            <a:endParaRPr/>
          </a:p>
        </p:txBody>
      </p:sp>
      <p:sp>
        <p:nvSpPr>
          <p:cNvPr id="949" name="Google Shape;949;p34"/>
          <p:cNvSpPr/>
          <p:nvPr/>
        </p:nvSpPr>
        <p:spPr>
          <a:xfrm>
            <a:off x="838187" y="2836036"/>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0" name="Google Shape;950;p34"/>
          <p:cNvSpPr txBox="1"/>
          <p:nvPr/>
        </p:nvSpPr>
        <p:spPr>
          <a:xfrm>
            <a:off x="863803" y="2387630"/>
            <a:ext cx="1223118"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Cost today</a:t>
            </a:r>
            <a:endParaRPr/>
          </a:p>
        </p:txBody>
      </p:sp>
      <p:sp>
        <p:nvSpPr>
          <p:cNvPr id="951" name="Google Shape;951;p34"/>
          <p:cNvSpPr txBox="1"/>
          <p:nvPr/>
        </p:nvSpPr>
        <p:spPr>
          <a:xfrm>
            <a:off x="7508493" y="2324577"/>
            <a:ext cx="903306"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₹45.0 L</a:t>
            </a:r>
            <a:endParaRPr/>
          </a:p>
        </p:txBody>
      </p:sp>
      <p:sp>
        <p:nvSpPr>
          <p:cNvPr id="952" name="Google Shape;952;p34"/>
          <p:cNvSpPr/>
          <p:nvPr/>
        </p:nvSpPr>
        <p:spPr>
          <a:xfrm>
            <a:off x="838187" y="3556507"/>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3" name="Google Shape;953;p34"/>
          <p:cNvSpPr txBox="1"/>
          <p:nvPr/>
        </p:nvSpPr>
        <p:spPr>
          <a:xfrm>
            <a:off x="863803" y="3108482"/>
            <a:ext cx="2327266"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Real-estate inflation</a:t>
            </a:r>
            <a:endParaRPr/>
          </a:p>
        </p:txBody>
      </p:sp>
      <p:sp>
        <p:nvSpPr>
          <p:cNvPr id="954" name="Google Shape;954;p34"/>
          <p:cNvSpPr txBox="1"/>
          <p:nvPr/>
        </p:nvSpPr>
        <p:spPr>
          <a:xfrm>
            <a:off x="7956804" y="3045048"/>
            <a:ext cx="461119"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6%</a:t>
            </a:r>
            <a:endParaRPr/>
          </a:p>
        </p:txBody>
      </p:sp>
      <p:sp>
        <p:nvSpPr>
          <p:cNvPr id="955" name="Google Shape;955;p34"/>
          <p:cNvSpPr/>
          <p:nvPr/>
        </p:nvSpPr>
        <p:spPr>
          <a:xfrm>
            <a:off x="838187" y="4277105"/>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6" name="Google Shape;956;p34"/>
          <p:cNvSpPr txBox="1"/>
          <p:nvPr/>
        </p:nvSpPr>
        <p:spPr>
          <a:xfrm>
            <a:off x="863803" y="3829080"/>
            <a:ext cx="1466147"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Years to goal</a:t>
            </a:r>
            <a:endParaRPr/>
          </a:p>
        </p:txBody>
      </p:sp>
      <p:sp>
        <p:nvSpPr>
          <p:cNvPr id="957" name="Google Shape;957;p34"/>
          <p:cNvSpPr txBox="1"/>
          <p:nvPr/>
        </p:nvSpPr>
        <p:spPr>
          <a:xfrm>
            <a:off x="8208009" y="3765646"/>
            <a:ext cx="210281" cy="40709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4</a:t>
            </a:r>
            <a:endParaRPr/>
          </a:p>
        </p:txBody>
      </p:sp>
      <p:sp>
        <p:nvSpPr>
          <p:cNvPr id="958" name="Google Shape;958;p34"/>
          <p:cNvSpPr/>
          <p:nvPr/>
        </p:nvSpPr>
        <p:spPr>
          <a:xfrm>
            <a:off x="838187" y="4495672"/>
            <a:ext cx="7478141" cy="1554353"/>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59" name="Google Shape;959;p34"/>
          <p:cNvSpPr txBox="1"/>
          <p:nvPr/>
        </p:nvSpPr>
        <p:spPr>
          <a:xfrm>
            <a:off x="1130503" y="4780153"/>
            <a:ext cx="2892943" cy="11209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REQUIRED IN 2030</a:t>
            </a:r>
            <a:endParaRPr/>
          </a:p>
          <a:p>
            <a:pPr marL="0" marR="0" lvl="0" indent="0" algn="l" rtl="0">
              <a:lnSpc>
                <a:spcPct val="100000"/>
              </a:lnSpc>
              <a:spcBef>
                <a:spcPts val="0"/>
              </a:spcBef>
              <a:spcAft>
                <a:spcPts val="0"/>
              </a:spcAft>
              <a:buNone/>
            </a:pPr>
            <a:r>
              <a:rPr lang="en-US" sz="5700" b="0" i="0" u="none" strike="noStrike" cap="none">
                <a:solidFill>
                  <a:srgbClr val="F2F2F3"/>
                </a:solidFill>
                <a:latin typeface="Barlow Condensed"/>
                <a:ea typeface="Barlow Condensed"/>
                <a:cs typeface="Barlow Condensed"/>
                <a:sym typeface="Barlow Condensed"/>
              </a:rPr>
              <a:t>₹56.8 Lakh</a:t>
            </a:r>
            <a:endParaRPr/>
          </a:p>
        </p:txBody>
      </p:sp>
      <p:sp>
        <p:nvSpPr>
          <p:cNvPr id="960" name="Google Shape;960;p34"/>
          <p:cNvSpPr txBox="1"/>
          <p:nvPr/>
        </p:nvSpPr>
        <p:spPr>
          <a:xfrm>
            <a:off x="863803" y="7410650"/>
            <a:ext cx="7243703" cy="986030"/>
          </a:xfrm>
          <a:prstGeom prst="rect">
            <a:avLst/>
          </a:prstGeom>
          <a:noFill/>
          <a:ln>
            <a:noFill/>
          </a:ln>
        </p:spPr>
        <p:txBody>
          <a:bodyPr spcFirstLastPara="1" wrap="square" lIns="0" tIns="0" rIns="0" bIns="0" anchor="t" anchorCtr="0">
            <a:noAutofit/>
          </a:bodyPr>
          <a:lstStyle/>
          <a:p>
            <a:pPr marL="0" marR="0" lvl="0" indent="0" algn="l" rtl="0">
              <a:lnSpc>
                <a:spcPct val="120200"/>
              </a:lnSpc>
              <a:spcBef>
                <a:spcPts val="0"/>
              </a:spcBef>
              <a:spcAft>
                <a:spcPts val="0"/>
              </a:spcAft>
              <a:buNone/>
            </a:pPr>
            <a:r>
              <a:rPr lang="en-US" sz="1850" b="0" i="0" u="none" strike="noStrike" cap="none">
                <a:solidFill>
                  <a:srgbClr val="1D1F20"/>
                </a:solidFill>
                <a:latin typeface="Barlow"/>
                <a:ea typeface="Barlow"/>
                <a:cs typeface="Barlow"/>
                <a:sym typeface="Barlow"/>
              </a:rPr>
              <a:t>Bought without borrowing, and held for four years before construction begins in 2034 — which is why the plot and the build are planned as one decision.</a:t>
            </a:r>
            <a:endParaRPr/>
          </a:p>
        </p:txBody>
      </p:sp>
      <p:sp>
        <p:nvSpPr>
          <p:cNvPr id="961" name="Google Shape;961;p34"/>
          <p:cNvSpPr txBox="1"/>
          <p:nvPr/>
        </p:nvSpPr>
        <p:spPr>
          <a:xfrm>
            <a:off x="8875776" y="1699879"/>
            <a:ext cx="228723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HOW WE GET THERE</a:t>
            </a:r>
            <a:endParaRPr/>
          </a:p>
        </p:txBody>
      </p:sp>
      <p:sp>
        <p:nvSpPr>
          <p:cNvPr id="962" name="Google Shape;962;p34"/>
          <p:cNvSpPr/>
          <p:nvPr/>
        </p:nvSpPr>
        <p:spPr>
          <a:xfrm>
            <a:off x="8849741" y="212451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3" name="Google Shape;963;p34"/>
          <p:cNvSpPr txBox="1"/>
          <p:nvPr/>
        </p:nvSpPr>
        <p:spPr>
          <a:xfrm>
            <a:off x="9123553" y="2277990"/>
            <a:ext cx="2721530" cy="4574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SIP ₹25,000 a month</a:t>
            </a:r>
            <a:endParaRPr/>
          </a:p>
        </p:txBody>
      </p:sp>
      <p:sp>
        <p:nvSpPr>
          <p:cNvPr id="964" name="Google Shape;964;p34"/>
          <p:cNvSpPr txBox="1"/>
          <p:nvPr/>
        </p:nvSpPr>
        <p:spPr>
          <a:xfrm>
            <a:off x="9123553" y="2772267"/>
            <a:ext cx="510116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Balanced advantage · 11% assumed · 48 months</a:t>
            </a:r>
            <a:endParaRPr/>
          </a:p>
        </p:txBody>
      </p:sp>
      <p:sp>
        <p:nvSpPr>
          <p:cNvPr id="965" name="Google Shape;965;p34"/>
          <p:cNvSpPr txBox="1"/>
          <p:nvPr/>
        </p:nvSpPr>
        <p:spPr>
          <a:xfrm>
            <a:off x="16262350" y="2475514"/>
            <a:ext cx="1034904"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₹15.0 L</a:t>
            </a:r>
            <a:endParaRPr/>
          </a:p>
        </p:txBody>
      </p:sp>
      <p:sp>
        <p:nvSpPr>
          <p:cNvPr id="966" name="Google Shape;966;p34"/>
          <p:cNvSpPr/>
          <p:nvPr/>
        </p:nvSpPr>
        <p:spPr>
          <a:xfrm>
            <a:off x="8849741" y="334879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67" name="Google Shape;967;p34"/>
          <p:cNvSpPr txBox="1"/>
          <p:nvPr/>
        </p:nvSpPr>
        <p:spPr>
          <a:xfrm>
            <a:off x="9123553" y="3502944"/>
            <a:ext cx="3164993"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Gold and SGB, redeemed</a:t>
            </a:r>
            <a:endParaRPr/>
          </a:p>
        </p:txBody>
      </p:sp>
      <p:sp>
        <p:nvSpPr>
          <p:cNvPr id="968" name="Google Shape;968;p34"/>
          <p:cNvSpPr txBox="1"/>
          <p:nvPr/>
        </p:nvSpPr>
        <p:spPr>
          <a:xfrm>
            <a:off x="9123553" y="3996547"/>
            <a:ext cx="3858507"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₹32 L holding · 8% assumed to 2030</a:t>
            </a:r>
            <a:endParaRPr/>
          </a:p>
        </p:txBody>
      </p:sp>
      <p:sp>
        <p:nvSpPr>
          <p:cNvPr id="969" name="Google Shape;969;p34"/>
          <p:cNvSpPr txBox="1"/>
          <p:nvPr/>
        </p:nvSpPr>
        <p:spPr>
          <a:xfrm>
            <a:off x="16198850" y="3699794"/>
            <a:ext cx="1083803" cy="5050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₹43.5 L</a:t>
            </a:r>
            <a:endParaRPr/>
          </a:p>
        </p:txBody>
      </p:sp>
      <p:sp>
        <p:nvSpPr>
          <p:cNvPr id="970" name="Google Shape;970;p34"/>
          <p:cNvSpPr/>
          <p:nvPr/>
        </p:nvSpPr>
        <p:spPr>
          <a:xfrm>
            <a:off x="8849741" y="4573079"/>
            <a:ext cx="8599931" cy="1110043"/>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1" name="Google Shape;971;p34"/>
          <p:cNvSpPr txBox="1"/>
          <p:nvPr/>
        </p:nvSpPr>
        <p:spPr>
          <a:xfrm>
            <a:off x="9123553" y="4727351"/>
            <a:ext cx="2201886"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F2F2F3"/>
                </a:solidFill>
                <a:latin typeface="Barlow Condensed"/>
                <a:ea typeface="Barlow Condensed"/>
                <a:cs typeface="Barlow Condensed"/>
                <a:sym typeface="Barlow Condensed"/>
              </a:rPr>
              <a:t>Available in 2030</a:t>
            </a:r>
            <a:endParaRPr/>
          </a:p>
        </p:txBody>
      </p:sp>
      <p:sp>
        <p:nvSpPr>
          <p:cNvPr id="972" name="Google Shape;972;p34"/>
          <p:cNvSpPr txBox="1"/>
          <p:nvPr/>
        </p:nvSpPr>
        <p:spPr>
          <a:xfrm>
            <a:off x="9123553" y="5220954"/>
            <a:ext cx="2754707"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₹1.70 L clear of the target</a:t>
            </a:r>
            <a:endParaRPr/>
          </a:p>
        </p:txBody>
      </p:sp>
      <p:sp>
        <p:nvSpPr>
          <p:cNvPr id="973" name="Google Shape;973;p34"/>
          <p:cNvSpPr txBox="1"/>
          <p:nvPr/>
        </p:nvSpPr>
        <p:spPr>
          <a:xfrm>
            <a:off x="16195802" y="4923908"/>
            <a:ext cx="1085619" cy="50540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F2F2F3"/>
                </a:solidFill>
                <a:latin typeface="Barlow Condensed"/>
                <a:ea typeface="Barlow Condensed"/>
                <a:cs typeface="Barlow Condensed"/>
                <a:sym typeface="Barlow Condensed"/>
              </a:rPr>
              <a:t>₹58.5 L</a:t>
            </a:r>
            <a:endParaRPr/>
          </a:p>
        </p:txBody>
      </p:sp>
      <p:sp>
        <p:nvSpPr>
          <p:cNvPr id="974" name="Google Shape;974;p34"/>
          <p:cNvSpPr/>
          <p:nvPr/>
        </p:nvSpPr>
        <p:spPr>
          <a:xfrm>
            <a:off x="8849741" y="7533551"/>
            <a:ext cx="8599931" cy="836130"/>
          </a:xfrm>
          <a:prstGeom prst="rect">
            <a:avLst/>
          </a:prstGeom>
          <a:solidFill>
            <a:srgbClr val="141A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5" name="Google Shape;975;p34"/>
          <p:cNvSpPr txBox="1"/>
          <p:nvPr/>
        </p:nvSpPr>
        <p:spPr>
          <a:xfrm>
            <a:off x="9123553" y="7845917"/>
            <a:ext cx="484018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From April 2030 the ₹25,000 SIP redirects to</a:t>
            </a:r>
            <a:endParaRPr/>
          </a:p>
        </p:txBody>
      </p:sp>
      <p:sp>
        <p:nvSpPr>
          <p:cNvPr id="976" name="Google Shape;976;p34"/>
          <p:cNvSpPr txBox="1"/>
          <p:nvPr/>
        </p:nvSpPr>
        <p:spPr>
          <a:xfrm>
            <a:off x="14375003" y="7780908"/>
            <a:ext cx="3031370" cy="4320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F2F2F3"/>
                </a:solidFill>
                <a:latin typeface="Barlow Condensed"/>
                <a:ea typeface="Barlow Condensed"/>
                <a:cs typeface="Barlow Condensed"/>
                <a:sym typeface="Barlow Condensed"/>
              </a:rPr>
              <a:t>Home construction 2034</a:t>
            </a:r>
            <a:endParaRPr/>
          </a:p>
        </p:txBody>
      </p:sp>
      <p:sp>
        <p:nvSpPr>
          <p:cNvPr id="977" name="Google Shape;977;p34"/>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78" name="Google Shape;978;p34"/>
          <p:cNvSpPr txBox="1"/>
          <p:nvPr/>
        </p:nvSpPr>
        <p:spPr>
          <a:xfrm>
            <a:off x="1082344" y="8625586"/>
            <a:ext cx="15550080"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Time the SGB redemption to the eight-year maturity windows where possible — exiting early on the exchange usually means accepting a discount to the underlying gold price.</a:t>
            </a:r>
            <a:endParaRPr/>
          </a:p>
        </p:txBody>
      </p:sp>
      <p:sp>
        <p:nvSpPr>
          <p:cNvPr id="979" name="Google Shape;979;p34"/>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980" name="Google Shape;980;p34"/>
          <p:cNvSpPr txBox="1"/>
          <p:nvPr/>
        </p:nvSpPr>
        <p:spPr>
          <a:xfrm>
            <a:off x="16587469" y="9779215"/>
            <a:ext cx="748495" cy="28842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{{page_no}} / {{page_total}}</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p38"/>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19" name="Google Shape;1119;p38" descr="image.jpg"/>
          <p:cNvPicPr preferRelativeResize="0"/>
          <p:nvPr/>
        </p:nvPicPr>
        <p:blipFill rotWithShape="1">
          <a:blip r:embed="rId3">
            <a:alphaModFix amt="16863"/>
          </a:blip>
          <a:srcRect/>
          <a:stretch/>
        </p:blipFill>
        <p:spPr>
          <a:xfrm>
            <a:off x="0" y="0"/>
            <a:ext cx="18287872" cy="10286997"/>
          </a:xfrm>
          <a:prstGeom prst="rect">
            <a:avLst/>
          </a:prstGeom>
          <a:noFill/>
          <a:ln>
            <a:noFill/>
          </a:ln>
        </p:spPr>
      </p:pic>
      <p:sp>
        <p:nvSpPr>
          <p:cNvPr id="1120" name="Google Shape;1120;p38"/>
          <p:cNvSpPr txBox="1"/>
          <p:nvPr/>
        </p:nvSpPr>
        <p:spPr>
          <a:xfrm>
            <a:off x="863803" y="376292"/>
            <a:ext cx="4598407"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{{goal4_year}}</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{{goal4_name}}</a:t>
            </a:r>
            <a:endParaRPr/>
          </a:p>
        </p:txBody>
      </p:sp>
      <p:pic>
        <p:nvPicPr>
          <p:cNvPr id="1121" name="Google Shape;1121;p38"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1122" name="Google Shape;1122;p38"/>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3" name="Google Shape;1123;p38"/>
          <p:cNvSpPr txBox="1"/>
          <p:nvPr/>
        </p:nvSpPr>
        <p:spPr>
          <a:xfrm>
            <a:off x="863803" y="1699879"/>
            <a:ext cx="1412508"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THE TARGET</a:t>
            </a:r>
            <a:endParaRPr/>
          </a:p>
        </p:txBody>
      </p:sp>
      <p:sp>
        <p:nvSpPr>
          <p:cNvPr id="1124" name="Google Shape;1124;p38"/>
          <p:cNvSpPr/>
          <p:nvPr/>
        </p:nvSpPr>
        <p:spPr>
          <a:xfrm>
            <a:off x="838187" y="2836036"/>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5" name="Google Shape;1125;p38"/>
          <p:cNvSpPr txBox="1"/>
          <p:nvPr/>
        </p:nvSpPr>
        <p:spPr>
          <a:xfrm>
            <a:off x="863803" y="2387630"/>
            <a:ext cx="1821625"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{{goal4_cost_label}}</a:t>
            </a:r>
            <a:endParaRPr/>
          </a:p>
        </p:txBody>
      </p:sp>
      <p:sp>
        <p:nvSpPr>
          <p:cNvPr id="1126" name="Google Shape;1126;p38"/>
          <p:cNvSpPr txBox="1"/>
          <p:nvPr/>
        </p:nvSpPr>
        <p:spPr>
          <a:xfrm>
            <a:off x="7506334" y="2324577"/>
            <a:ext cx="904920" cy="40709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{{goal4_cost_today}}</a:t>
            </a:r>
            <a:endParaRPr/>
          </a:p>
        </p:txBody>
      </p:sp>
      <p:sp>
        <p:nvSpPr>
          <p:cNvPr id="1127" name="Google Shape;1127;p38"/>
          <p:cNvSpPr/>
          <p:nvPr/>
        </p:nvSpPr>
        <p:spPr>
          <a:xfrm>
            <a:off x="838187" y="3556507"/>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28" name="Google Shape;1128;p38"/>
          <p:cNvSpPr txBox="1"/>
          <p:nvPr/>
        </p:nvSpPr>
        <p:spPr>
          <a:xfrm>
            <a:off x="863803" y="3108482"/>
            <a:ext cx="2485710"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{{goal4_inflation_label}}</a:t>
            </a:r>
            <a:endParaRPr/>
          </a:p>
        </p:txBody>
      </p:sp>
      <p:sp>
        <p:nvSpPr>
          <p:cNvPr id="1129" name="Google Shape;1129;p38"/>
          <p:cNvSpPr txBox="1"/>
          <p:nvPr/>
        </p:nvSpPr>
        <p:spPr>
          <a:xfrm>
            <a:off x="7956804" y="3045048"/>
            <a:ext cx="461119" cy="40709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{{goal4_inflation}}</a:t>
            </a:r>
            <a:endParaRPr/>
          </a:p>
        </p:txBody>
      </p:sp>
      <p:sp>
        <p:nvSpPr>
          <p:cNvPr id="1130" name="Google Shape;1130;p38"/>
          <p:cNvSpPr/>
          <p:nvPr/>
        </p:nvSpPr>
        <p:spPr>
          <a:xfrm>
            <a:off x="838187" y="4277105"/>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1" name="Google Shape;1131;p38"/>
          <p:cNvSpPr txBox="1"/>
          <p:nvPr/>
        </p:nvSpPr>
        <p:spPr>
          <a:xfrm>
            <a:off x="863803" y="3829080"/>
            <a:ext cx="1466147"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Years to goal</a:t>
            </a:r>
            <a:endParaRPr/>
          </a:p>
        </p:txBody>
      </p:sp>
      <p:sp>
        <p:nvSpPr>
          <p:cNvPr id="1132" name="Google Shape;1132;p38"/>
          <p:cNvSpPr txBox="1"/>
          <p:nvPr/>
        </p:nvSpPr>
        <p:spPr>
          <a:xfrm>
            <a:off x="8205851" y="3765646"/>
            <a:ext cx="212542" cy="40709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{{goal4_years_left}}</a:t>
            </a:r>
            <a:endParaRPr/>
          </a:p>
        </p:txBody>
      </p:sp>
      <p:sp>
        <p:nvSpPr>
          <p:cNvPr id="1133" name="Google Shape;1133;p38"/>
          <p:cNvSpPr/>
          <p:nvPr/>
        </p:nvSpPr>
        <p:spPr>
          <a:xfrm>
            <a:off x="838187" y="4438650"/>
            <a:ext cx="7478141" cy="1440053"/>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4" name="Google Shape;1134;p38"/>
          <p:cNvSpPr txBox="1"/>
          <p:nvPr/>
        </p:nvSpPr>
        <p:spPr>
          <a:xfrm>
            <a:off x="1111300" y="4665853"/>
            <a:ext cx="2928133" cy="11209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REQUIRED IN {{goal4_year}}</a:t>
            </a:r>
            <a:endParaRPr/>
          </a:p>
          <a:p>
            <a:pPr marL="0" marR="0" lvl="0" indent="0" algn="l" rtl="0">
              <a:lnSpc>
                <a:spcPct val="100000"/>
              </a:lnSpc>
              <a:spcBef>
                <a:spcPts val="0"/>
              </a:spcBef>
              <a:spcAft>
                <a:spcPts val="0"/>
              </a:spcAft>
              <a:buNone/>
            </a:pPr>
            <a:r>
              <a:rPr lang="en-US" sz="5700" b="0" i="0" u="none" strike="noStrike" cap="none">
                <a:solidFill>
                  <a:srgbClr val="F2F2F3"/>
                </a:solidFill>
                <a:latin typeface="Barlow Condensed"/>
                <a:ea typeface="Barlow Condensed"/>
                <a:cs typeface="Barlow Condensed"/>
                <a:sym typeface="Barlow Condensed"/>
              </a:rPr>
              <a:t>{{goal4_future_cost}}</a:t>
            </a:r>
            <a:endParaRPr/>
          </a:p>
        </p:txBody>
      </p:sp>
      <p:sp>
        <p:nvSpPr>
          <p:cNvPr id="1135" name="Google Shape;1135;p38"/>
          <p:cNvSpPr txBox="1"/>
          <p:nvPr/>
        </p:nvSpPr>
        <p:spPr>
          <a:xfrm>
            <a:off x="863803" y="7749271"/>
            <a:ext cx="7474205" cy="642457"/>
          </a:xfrm>
          <a:prstGeom prst="rect">
            <a:avLst/>
          </a:prstGeom>
          <a:noFill/>
          <a:ln>
            <a:noFill/>
          </a:ln>
        </p:spPr>
        <p:txBody>
          <a:bodyPr spcFirstLastPara="1" wrap="square" lIns="0" tIns="0" rIns="0" bIns="0" anchor="t" anchorCtr="0">
            <a:noAutofit/>
          </a:bodyPr>
          <a:lstStyle/>
          <a:p>
            <a:pPr marL="0" marR="0" lvl="0" indent="0" algn="l" rtl="0">
              <a:lnSpc>
                <a:spcPct val="120200"/>
              </a:lnSpc>
              <a:spcBef>
                <a:spcPts val="0"/>
              </a:spcBef>
              <a:spcAft>
                <a:spcPts val="0"/>
              </a:spcAft>
              <a:buNone/>
            </a:pPr>
            <a:r>
              <a:rPr lang="en-US" sz="1850" b="0" i="0" u="none" strike="noStrike" cap="none">
                <a:solidFill>
                  <a:srgbClr val="1D1F20"/>
                </a:solidFill>
                <a:latin typeface="Barlow"/>
                <a:ea typeface="Barlow"/>
                <a:cs typeface="Barlow"/>
                <a:sym typeface="Barlow"/>
              </a:rPr>
              <a:t>{{goal4_intro}}</a:t>
            </a:r>
            <a:endParaRPr/>
          </a:p>
        </p:txBody>
      </p:sp>
      <p:sp>
        <p:nvSpPr>
          <p:cNvPr id="1136" name="Google Shape;1136;p38"/>
          <p:cNvSpPr txBox="1"/>
          <p:nvPr/>
        </p:nvSpPr>
        <p:spPr>
          <a:xfrm>
            <a:off x="8875776" y="1699879"/>
            <a:ext cx="228723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HOW WE GET THERE</a:t>
            </a:r>
            <a:endParaRPr/>
          </a:p>
        </p:txBody>
      </p:sp>
      <p:sp>
        <p:nvSpPr>
          <p:cNvPr id="1137" name="Google Shape;1137;p38"/>
          <p:cNvSpPr/>
          <p:nvPr/>
        </p:nvSpPr>
        <p:spPr>
          <a:xfrm>
            <a:off x="8849741" y="2124519"/>
            <a:ext cx="8599931" cy="921956"/>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38" name="Google Shape;1138;p38"/>
          <p:cNvSpPr txBox="1"/>
          <p:nvPr/>
        </p:nvSpPr>
        <p:spPr>
          <a:xfrm>
            <a:off x="9104376" y="2204046"/>
            <a:ext cx="2588532" cy="43243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1D1F20"/>
                </a:solidFill>
                <a:latin typeface="Barlow Condensed"/>
                <a:ea typeface="Barlow Condensed"/>
                <a:cs typeface="Barlow Condensed"/>
                <a:sym typeface="Barlow Condensed"/>
              </a:rPr>
              <a:t>{{goal4_src1_label}}</a:t>
            </a:r>
            <a:endParaRPr/>
          </a:p>
        </p:txBody>
      </p:sp>
      <p:sp>
        <p:nvSpPr>
          <p:cNvPr id="1139" name="Google Shape;1139;p38"/>
          <p:cNvSpPr txBox="1"/>
          <p:nvPr/>
        </p:nvSpPr>
        <p:spPr>
          <a:xfrm>
            <a:off x="9104376" y="2671572"/>
            <a:ext cx="2900065" cy="28803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{{goal4_src1_terms}}</a:t>
            </a:r>
            <a:endParaRPr/>
          </a:p>
        </p:txBody>
      </p:sp>
      <p:sp>
        <p:nvSpPr>
          <p:cNvPr id="1140" name="Google Shape;1140;p38"/>
          <p:cNvSpPr txBox="1"/>
          <p:nvPr/>
        </p:nvSpPr>
        <p:spPr>
          <a:xfrm>
            <a:off x="14890114" y="2392425"/>
            <a:ext cx="2412110" cy="480060"/>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000" b="0" i="0" u="none" strike="noStrike" cap="none">
                <a:solidFill>
                  <a:srgbClr val="26306F"/>
                </a:solidFill>
                <a:latin typeface="Barlow Condensed"/>
                <a:ea typeface="Barlow Condensed"/>
                <a:cs typeface="Barlow Condensed"/>
                <a:sym typeface="Barlow Condensed"/>
              </a:rPr>
              <a:t>{{goal4_src1_value}}</a:t>
            </a:r>
            <a:endParaRPr/>
          </a:p>
        </p:txBody>
      </p:sp>
      <p:sp>
        <p:nvSpPr>
          <p:cNvPr id="1141" name="Google Shape;1141;p38"/>
          <p:cNvSpPr/>
          <p:nvPr/>
        </p:nvSpPr>
        <p:spPr>
          <a:xfrm>
            <a:off x="8849741" y="3113087"/>
            <a:ext cx="8599931" cy="921956"/>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42" name="Google Shape;1142;p38"/>
          <p:cNvSpPr txBox="1"/>
          <p:nvPr/>
        </p:nvSpPr>
        <p:spPr>
          <a:xfrm>
            <a:off x="9104376" y="3193034"/>
            <a:ext cx="4042198" cy="43205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1D1F20"/>
                </a:solidFill>
                <a:latin typeface="Barlow Condensed"/>
                <a:ea typeface="Barlow Condensed"/>
                <a:cs typeface="Barlow Condensed"/>
                <a:sym typeface="Barlow Condensed"/>
              </a:rPr>
              <a:t>{{goal4_src2_label}}</a:t>
            </a:r>
            <a:endParaRPr/>
          </a:p>
        </p:txBody>
      </p:sp>
      <p:sp>
        <p:nvSpPr>
          <p:cNvPr id="1143" name="Google Shape;1143;p38"/>
          <p:cNvSpPr txBox="1"/>
          <p:nvPr/>
        </p:nvSpPr>
        <p:spPr>
          <a:xfrm>
            <a:off x="9104376" y="3660394"/>
            <a:ext cx="3879235"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{{goal4_src2_terms}}</a:t>
            </a:r>
            <a:endParaRPr/>
          </a:p>
        </p:txBody>
      </p:sp>
      <p:sp>
        <p:nvSpPr>
          <p:cNvPr id="1144" name="Google Shape;1144;p38"/>
          <p:cNvSpPr txBox="1"/>
          <p:nvPr/>
        </p:nvSpPr>
        <p:spPr>
          <a:xfrm>
            <a:off x="14897354" y="3380574"/>
            <a:ext cx="2419974" cy="480444"/>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000" b="0" i="0" u="none" strike="noStrike" cap="none">
                <a:solidFill>
                  <a:srgbClr val="26306F"/>
                </a:solidFill>
                <a:latin typeface="Barlow Condensed"/>
                <a:ea typeface="Barlow Condensed"/>
                <a:cs typeface="Barlow Condensed"/>
                <a:sym typeface="Barlow Condensed"/>
              </a:rPr>
              <a:t>{{goal4_src2_value}}</a:t>
            </a:r>
            <a:endParaRPr/>
          </a:p>
        </p:txBody>
      </p:sp>
      <p:sp>
        <p:nvSpPr>
          <p:cNvPr id="1145" name="Google Shape;1145;p38"/>
          <p:cNvSpPr/>
          <p:nvPr/>
        </p:nvSpPr>
        <p:spPr>
          <a:xfrm>
            <a:off x="8849741" y="4101655"/>
            <a:ext cx="8599931" cy="921956"/>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46" name="Google Shape;1146;p38"/>
          <p:cNvSpPr txBox="1"/>
          <p:nvPr/>
        </p:nvSpPr>
        <p:spPr>
          <a:xfrm>
            <a:off x="9104376" y="4181856"/>
            <a:ext cx="2291343" cy="43205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1D1F20"/>
                </a:solidFill>
                <a:latin typeface="Barlow Condensed"/>
                <a:ea typeface="Barlow Condensed"/>
                <a:cs typeface="Barlow Condensed"/>
                <a:sym typeface="Barlow Condensed"/>
              </a:rPr>
              <a:t>{{goal4_src3_label}}</a:t>
            </a:r>
            <a:endParaRPr/>
          </a:p>
        </p:txBody>
      </p:sp>
      <p:sp>
        <p:nvSpPr>
          <p:cNvPr id="1147" name="Google Shape;1147;p38"/>
          <p:cNvSpPr txBox="1"/>
          <p:nvPr/>
        </p:nvSpPr>
        <p:spPr>
          <a:xfrm>
            <a:off x="9104376" y="4648834"/>
            <a:ext cx="2881379"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{{goal4_src3_terms}}</a:t>
            </a:r>
            <a:endParaRPr/>
          </a:p>
        </p:txBody>
      </p:sp>
      <p:sp>
        <p:nvSpPr>
          <p:cNvPr id="1148" name="Google Shape;1148;p38"/>
          <p:cNvSpPr txBox="1"/>
          <p:nvPr/>
        </p:nvSpPr>
        <p:spPr>
          <a:xfrm>
            <a:off x="14956282" y="4369561"/>
            <a:ext cx="2346579" cy="480060"/>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000" b="0" i="0" u="none" strike="noStrike" cap="none">
                <a:solidFill>
                  <a:srgbClr val="26306F"/>
                </a:solidFill>
                <a:latin typeface="Barlow Condensed"/>
                <a:ea typeface="Barlow Condensed"/>
                <a:cs typeface="Barlow Condensed"/>
                <a:sym typeface="Barlow Condensed"/>
              </a:rPr>
              <a:t>{{goal4_src3_value}}</a:t>
            </a:r>
            <a:endParaRPr/>
          </a:p>
        </p:txBody>
      </p:sp>
      <p:sp>
        <p:nvSpPr>
          <p:cNvPr id="1149" name="Google Shape;1149;p38"/>
          <p:cNvSpPr/>
          <p:nvPr/>
        </p:nvSpPr>
        <p:spPr>
          <a:xfrm>
            <a:off x="8849741" y="5090223"/>
            <a:ext cx="8599931" cy="921956"/>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0" name="Google Shape;1150;p38"/>
          <p:cNvSpPr txBox="1"/>
          <p:nvPr/>
        </p:nvSpPr>
        <p:spPr>
          <a:xfrm>
            <a:off x="9104376" y="5170677"/>
            <a:ext cx="4348469" cy="43205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1D1F20"/>
                </a:solidFill>
                <a:latin typeface="Barlow Condensed"/>
                <a:ea typeface="Barlow Condensed"/>
                <a:cs typeface="Barlow Condensed"/>
                <a:sym typeface="Barlow Condensed"/>
              </a:rPr>
              <a:t>{{goal4_src4_label}}</a:t>
            </a:r>
            <a:endParaRPr/>
          </a:p>
        </p:txBody>
      </p:sp>
      <p:sp>
        <p:nvSpPr>
          <p:cNvPr id="1151" name="Google Shape;1151;p38"/>
          <p:cNvSpPr txBox="1"/>
          <p:nvPr/>
        </p:nvSpPr>
        <p:spPr>
          <a:xfrm>
            <a:off x="9104376" y="5637529"/>
            <a:ext cx="3080808"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{{goal4_src4_terms}}</a:t>
            </a:r>
            <a:endParaRPr/>
          </a:p>
        </p:txBody>
      </p:sp>
      <p:sp>
        <p:nvSpPr>
          <p:cNvPr id="1152" name="Google Shape;1152;p38"/>
          <p:cNvSpPr txBox="1"/>
          <p:nvPr/>
        </p:nvSpPr>
        <p:spPr>
          <a:xfrm>
            <a:off x="14899512" y="5358384"/>
            <a:ext cx="2415539" cy="480060"/>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000" b="0" i="0" u="none" strike="noStrike" cap="none">
                <a:solidFill>
                  <a:srgbClr val="26306F"/>
                </a:solidFill>
                <a:latin typeface="Barlow Condensed"/>
                <a:ea typeface="Barlow Condensed"/>
                <a:cs typeface="Barlow Condensed"/>
                <a:sym typeface="Barlow Condensed"/>
              </a:rPr>
              <a:t>{{goal4_src4_value}}</a:t>
            </a:r>
            <a:endParaRPr/>
          </a:p>
        </p:txBody>
      </p:sp>
      <p:sp>
        <p:nvSpPr>
          <p:cNvPr id="1153" name="Google Shape;1153;p38"/>
          <p:cNvSpPr/>
          <p:nvPr/>
        </p:nvSpPr>
        <p:spPr>
          <a:xfrm>
            <a:off x="8849741" y="6078791"/>
            <a:ext cx="8599931" cy="921956"/>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4" name="Google Shape;1154;p38"/>
          <p:cNvSpPr txBox="1"/>
          <p:nvPr/>
        </p:nvSpPr>
        <p:spPr>
          <a:xfrm>
            <a:off x="9104376" y="6159373"/>
            <a:ext cx="2075801" cy="43205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F2F2F3"/>
                </a:solidFill>
                <a:latin typeface="Barlow Condensed"/>
                <a:ea typeface="Barlow Condensed"/>
                <a:cs typeface="Barlow Condensed"/>
                <a:sym typeface="Barlow Condensed"/>
              </a:rPr>
              <a:t>Available in {{goal4_year}}</a:t>
            </a:r>
            <a:endParaRPr/>
          </a:p>
        </p:txBody>
      </p:sp>
      <p:sp>
        <p:nvSpPr>
          <p:cNvPr id="1155" name="Google Shape;1155;p38"/>
          <p:cNvSpPr txBox="1"/>
          <p:nvPr/>
        </p:nvSpPr>
        <p:spPr>
          <a:xfrm>
            <a:off x="9104376" y="6626352"/>
            <a:ext cx="4137655"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{{goal4_margin}}</a:t>
            </a:r>
            <a:endParaRPr/>
          </a:p>
        </p:txBody>
      </p:sp>
      <p:sp>
        <p:nvSpPr>
          <p:cNvPr id="1156" name="Google Shape;1156;p38"/>
          <p:cNvSpPr txBox="1"/>
          <p:nvPr/>
        </p:nvSpPr>
        <p:spPr>
          <a:xfrm>
            <a:off x="14894052" y="6347205"/>
            <a:ext cx="2417446" cy="480060"/>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000" b="0" i="0" u="none" strike="noStrike" cap="none">
                <a:solidFill>
                  <a:srgbClr val="F2F2F3"/>
                </a:solidFill>
                <a:latin typeface="Barlow Condensed"/>
                <a:ea typeface="Barlow Condensed"/>
                <a:cs typeface="Barlow Condensed"/>
                <a:sym typeface="Barlow Condensed"/>
              </a:rPr>
              <a:t>{{goal4_corpus}}</a:t>
            </a:r>
            <a:endParaRPr/>
          </a:p>
        </p:txBody>
      </p:sp>
      <p:sp>
        <p:nvSpPr>
          <p:cNvPr id="1157" name="Google Shape;1157;p38"/>
          <p:cNvSpPr/>
          <p:nvPr/>
        </p:nvSpPr>
        <p:spPr>
          <a:xfrm>
            <a:off x="8849741" y="7533551"/>
            <a:ext cx="8599931" cy="836130"/>
          </a:xfrm>
          <a:prstGeom prst="rect">
            <a:avLst/>
          </a:prstGeom>
          <a:solidFill>
            <a:srgbClr val="141A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58" name="Google Shape;1158;p38"/>
          <p:cNvSpPr txBox="1"/>
          <p:nvPr/>
        </p:nvSpPr>
        <p:spPr>
          <a:xfrm>
            <a:off x="9123553" y="7845917"/>
            <a:ext cx="5556644"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{{goal4_redirect_label}}</a:t>
            </a:r>
            <a:endParaRPr/>
          </a:p>
        </p:txBody>
      </p:sp>
      <p:sp>
        <p:nvSpPr>
          <p:cNvPr id="1159" name="Google Shape;1159;p38"/>
          <p:cNvSpPr txBox="1"/>
          <p:nvPr/>
        </p:nvSpPr>
        <p:spPr>
          <a:xfrm>
            <a:off x="15069312" y="7780908"/>
            <a:ext cx="2291705" cy="4320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700" b="0" i="0" u="none" strike="noStrike" cap="none">
                <a:solidFill>
                  <a:srgbClr val="F2F2F3"/>
                </a:solidFill>
                <a:latin typeface="Barlow Condensed"/>
                <a:ea typeface="Barlow Condensed"/>
                <a:cs typeface="Barlow Condensed"/>
                <a:sym typeface="Barlow Condensed"/>
              </a:rPr>
              <a:t>{{goal4_redirect_to}}</a:t>
            </a:r>
            <a:endParaRPr/>
          </a:p>
        </p:txBody>
      </p:sp>
      <p:sp>
        <p:nvSpPr>
          <p:cNvPr id="1160" name="Google Shape;1160;p38"/>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61" name="Google Shape;1161;p38"/>
          <p:cNvSpPr txBox="1"/>
          <p:nvPr/>
        </p:nvSpPr>
        <p:spPr>
          <a:xfrm>
            <a:off x="1082344" y="8625586"/>
            <a:ext cx="15961809"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{{goal4_comment}}</a:t>
            </a:r>
            <a:endParaRPr/>
          </a:p>
        </p:txBody>
      </p:sp>
      <p:sp>
        <p:nvSpPr>
          <p:cNvPr id="1162" name="Google Shape;1162;p38"/>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163" name="Google Shape;1163;p38"/>
          <p:cNvSpPr txBox="1"/>
          <p:nvPr/>
        </p:nvSpPr>
        <p:spPr>
          <a:xfrm>
            <a:off x="16587469" y="9779215"/>
            <a:ext cx="743687" cy="28842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{{page_no}} / {{page_total}}</a:t>
            </a:r>
            <a:endParaRPr/>
          </a:p>
        </p:txBody>
      </p:sp>
      <p:pic>
        <p:nvPicPr>
          <p:cNvPr id="1164" name="Google Shape;1164;p38" descr="image.png"/>
          <p:cNvPicPr preferRelativeResize="0"/>
          <p:nvPr/>
        </p:nvPicPr>
        <p:blipFill rotWithShape="1">
          <a:blip r:embed="rId5">
            <a:alphaModFix/>
          </a:blip>
          <a:srcRect/>
          <a:stretch/>
        </p:blipFill>
        <p:spPr>
          <a:xfrm>
            <a:off x="889000" y="6324600"/>
            <a:ext cx="965200" cy="8636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sp>
        <p:nvSpPr>
          <p:cNvPr id="1028" name="Google Shape;1028;p36"/>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29" name="Google Shape;1029;p36" descr="image.jpg"/>
          <p:cNvPicPr preferRelativeResize="0"/>
          <p:nvPr/>
        </p:nvPicPr>
        <p:blipFill rotWithShape="1">
          <a:blip r:embed="rId3">
            <a:alphaModFix amt="16863"/>
          </a:blip>
          <a:srcRect/>
          <a:stretch/>
        </p:blipFill>
        <p:spPr>
          <a:xfrm>
            <a:off x="0" y="0"/>
            <a:ext cx="18287872" cy="10286997"/>
          </a:xfrm>
          <a:prstGeom prst="rect">
            <a:avLst/>
          </a:prstGeom>
          <a:noFill/>
          <a:ln>
            <a:noFill/>
          </a:ln>
        </p:spPr>
      </p:pic>
      <p:sp>
        <p:nvSpPr>
          <p:cNvPr id="1030" name="Google Shape;1030;p36"/>
          <p:cNvSpPr txBox="1"/>
          <p:nvPr/>
        </p:nvSpPr>
        <p:spPr>
          <a:xfrm>
            <a:off x="863803" y="376292"/>
            <a:ext cx="6147007"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{{ug_years}}</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Undergraduate Education</a:t>
            </a:r>
            <a:endParaRPr/>
          </a:p>
        </p:txBody>
      </p:sp>
      <p:pic>
        <p:nvPicPr>
          <p:cNvPr id="1031" name="Google Shape;1031;p36"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1032" name="Google Shape;1032;p36"/>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3" name="Google Shape;1033;p36"/>
          <p:cNvSpPr/>
          <p:nvPr/>
        </p:nvSpPr>
        <p:spPr>
          <a:xfrm>
            <a:off x="838187" y="1612772"/>
            <a:ext cx="8191500" cy="5505450"/>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4" name="Google Shape;1034;p36"/>
          <p:cNvSpPr txBox="1"/>
          <p:nvPr/>
        </p:nvSpPr>
        <p:spPr>
          <a:xfrm>
            <a:off x="1149400" y="1919081"/>
            <a:ext cx="2111226" cy="105138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{{ug_1_child}} — {{ug_1_year}}</a:t>
            </a:r>
            <a:endParaRPr/>
          </a:p>
          <a:p>
            <a:pPr marL="0" marR="0" lvl="0" indent="0" algn="l" rtl="0">
              <a:lnSpc>
                <a:spcPct val="100000"/>
              </a:lnSpc>
              <a:spcBef>
                <a:spcPts val="0"/>
              </a:spcBef>
              <a:spcAft>
                <a:spcPts val="0"/>
              </a:spcAft>
              <a:buNone/>
            </a:pPr>
            <a:r>
              <a:rPr lang="en-US" sz="4950" b="0" i="0" u="none" strike="noStrike" cap="none">
                <a:solidFill>
                  <a:srgbClr val="1D1F20"/>
                </a:solidFill>
                <a:latin typeface="Barlow Condensed"/>
                <a:ea typeface="Barlow Condensed"/>
                <a:cs typeface="Barlow Condensed"/>
                <a:sym typeface="Barlow Condensed"/>
              </a:rPr>
              <a:t>{{ug_1_target}}</a:t>
            </a:r>
            <a:endParaRPr/>
          </a:p>
        </p:txBody>
      </p:sp>
      <p:sp>
        <p:nvSpPr>
          <p:cNvPr id="1035" name="Google Shape;1035;p36"/>
          <p:cNvSpPr txBox="1"/>
          <p:nvPr/>
        </p:nvSpPr>
        <p:spPr>
          <a:xfrm>
            <a:off x="1149400" y="3031347"/>
            <a:ext cx="758952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{{ug_1_basis}}</a:t>
            </a:r>
            <a:endParaRPr/>
          </a:p>
        </p:txBody>
      </p:sp>
      <p:sp>
        <p:nvSpPr>
          <p:cNvPr id="1036" name="Google Shape;1036;p36"/>
          <p:cNvSpPr/>
          <p:nvPr/>
        </p:nvSpPr>
        <p:spPr>
          <a:xfrm>
            <a:off x="1123861" y="3493643"/>
            <a:ext cx="7620126"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37" name="Google Shape;1037;p36"/>
          <p:cNvSpPr txBox="1"/>
          <p:nvPr/>
        </p:nvSpPr>
        <p:spPr>
          <a:xfrm>
            <a:off x="1149400" y="3828907"/>
            <a:ext cx="676656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{{ug_1_src1_label}}</a:t>
            </a:r>
            <a:endParaRPr/>
          </a:p>
        </p:txBody>
      </p:sp>
      <p:sp>
        <p:nvSpPr>
          <p:cNvPr id="1038" name="Google Shape;1038;p36"/>
          <p:cNvSpPr txBox="1"/>
          <p:nvPr/>
        </p:nvSpPr>
        <p:spPr>
          <a:xfrm>
            <a:off x="8182991" y="3840733"/>
            <a:ext cx="644956" cy="384048"/>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{{ug_1_src1_value}}</a:t>
            </a:r>
            <a:endParaRPr/>
          </a:p>
        </p:txBody>
      </p:sp>
      <p:sp>
        <p:nvSpPr>
          <p:cNvPr id="1039" name="Google Shape;1039;p36"/>
          <p:cNvSpPr txBox="1"/>
          <p:nvPr/>
        </p:nvSpPr>
        <p:spPr>
          <a:xfrm>
            <a:off x="1149400" y="4453747"/>
            <a:ext cx="676656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{{ug_1_src2_label}}</a:t>
            </a:r>
            <a:endParaRPr/>
          </a:p>
        </p:txBody>
      </p:sp>
      <p:sp>
        <p:nvSpPr>
          <p:cNvPr id="1040" name="Google Shape;1040;p36"/>
          <p:cNvSpPr txBox="1"/>
          <p:nvPr/>
        </p:nvSpPr>
        <p:spPr>
          <a:xfrm>
            <a:off x="8205469" y="4465574"/>
            <a:ext cx="622096" cy="384048"/>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{{ug_1_src2_value}}</a:t>
            </a:r>
            <a:endParaRPr/>
          </a:p>
        </p:txBody>
      </p:sp>
      <p:sp>
        <p:nvSpPr>
          <p:cNvPr id="1041" name="Google Shape;1041;p36"/>
          <p:cNvSpPr/>
          <p:nvPr/>
        </p:nvSpPr>
        <p:spPr>
          <a:xfrm>
            <a:off x="1123861" y="5000371"/>
            <a:ext cx="7620126" cy="9525"/>
          </a:xfrm>
          <a:prstGeom prst="rect">
            <a:avLst/>
          </a:prstGeom>
          <a:solidFill>
            <a:srgbClr val="1D1F20">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2" name="Google Shape;1042;p36"/>
          <p:cNvSpPr txBox="1"/>
          <p:nvPr/>
        </p:nvSpPr>
        <p:spPr>
          <a:xfrm>
            <a:off x="1149400" y="5215666"/>
            <a:ext cx="1745790"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Corpus by {{ug_1_year}}</a:t>
            </a:r>
            <a:endParaRPr/>
          </a:p>
        </p:txBody>
      </p:sp>
      <p:sp>
        <p:nvSpPr>
          <p:cNvPr id="1043" name="Google Shape;1043;p36"/>
          <p:cNvSpPr txBox="1"/>
          <p:nvPr/>
        </p:nvSpPr>
        <p:spPr>
          <a:xfrm>
            <a:off x="8014969" y="5249194"/>
            <a:ext cx="827683" cy="505023"/>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F7D3A"/>
                </a:solidFill>
                <a:latin typeface="Barlow Condensed"/>
                <a:ea typeface="Barlow Condensed"/>
                <a:cs typeface="Barlow Condensed"/>
                <a:sym typeface="Barlow Condensed"/>
              </a:rPr>
              <a:t>{{ug_1_corpus}}</a:t>
            </a:r>
            <a:endParaRPr/>
          </a:p>
        </p:txBody>
      </p:sp>
      <p:sp>
        <p:nvSpPr>
          <p:cNvPr id="1044" name="Google Shape;1044;p36"/>
          <p:cNvSpPr txBox="1"/>
          <p:nvPr/>
        </p:nvSpPr>
        <p:spPr>
          <a:xfrm>
            <a:off x="1149400" y="6610477"/>
            <a:ext cx="4976443"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{{ug_1_note}}</a:t>
            </a:r>
            <a:endParaRPr/>
          </a:p>
        </p:txBody>
      </p:sp>
      <p:sp>
        <p:nvSpPr>
          <p:cNvPr id="1045" name="Google Shape;1045;p36"/>
          <p:cNvSpPr/>
          <p:nvPr/>
        </p:nvSpPr>
        <p:spPr>
          <a:xfrm>
            <a:off x="9258300" y="1612772"/>
            <a:ext cx="8191500" cy="5505450"/>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6" name="Google Shape;1046;p36"/>
          <p:cNvSpPr txBox="1"/>
          <p:nvPr/>
        </p:nvSpPr>
        <p:spPr>
          <a:xfrm>
            <a:off x="9570084" y="1919081"/>
            <a:ext cx="1973776" cy="105138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{{ug_2_child}} — {{ug_2_year}}</a:t>
            </a:r>
            <a:endParaRPr/>
          </a:p>
          <a:p>
            <a:pPr marL="0" marR="0" lvl="0" indent="0" algn="l" rtl="0">
              <a:lnSpc>
                <a:spcPct val="100000"/>
              </a:lnSpc>
              <a:spcBef>
                <a:spcPts val="0"/>
              </a:spcBef>
              <a:spcAft>
                <a:spcPts val="0"/>
              </a:spcAft>
              <a:buNone/>
            </a:pPr>
            <a:r>
              <a:rPr lang="en-US" sz="4950" b="0" i="0" u="none" strike="noStrike" cap="none">
                <a:solidFill>
                  <a:srgbClr val="1D1F20"/>
                </a:solidFill>
                <a:latin typeface="Barlow Condensed"/>
                <a:ea typeface="Barlow Condensed"/>
                <a:cs typeface="Barlow Condensed"/>
                <a:sym typeface="Barlow Condensed"/>
              </a:rPr>
              <a:t>{{ug_2_target}}</a:t>
            </a:r>
            <a:endParaRPr/>
          </a:p>
        </p:txBody>
      </p:sp>
      <p:sp>
        <p:nvSpPr>
          <p:cNvPr id="1047" name="Google Shape;1047;p36"/>
          <p:cNvSpPr txBox="1"/>
          <p:nvPr/>
        </p:nvSpPr>
        <p:spPr>
          <a:xfrm>
            <a:off x="9570084" y="3031347"/>
            <a:ext cx="758952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{{ug_2_basis}}</a:t>
            </a:r>
            <a:endParaRPr/>
          </a:p>
        </p:txBody>
      </p:sp>
      <p:sp>
        <p:nvSpPr>
          <p:cNvPr id="1048" name="Google Shape;1048;p36"/>
          <p:cNvSpPr/>
          <p:nvPr/>
        </p:nvSpPr>
        <p:spPr>
          <a:xfrm>
            <a:off x="9543922" y="3493643"/>
            <a:ext cx="7620127"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49" name="Google Shape;1049;p36"/>
          <p:cNvSpPr txBox="1"/>
          <p:nvPr/>
        </p:nvSpPr>
        <p:spPr>
          <a:xfrm>
            <a:off x="9570084" y="3828907"/>
            <a:ext cx="548640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{{ug_2_src1_label}}</a:t>
            </a:r>
            <a:endParaRPr/>
          </a:p>
        </p:txBody>
      </p:sp>
      <p:sp>
        <p:nvSpPr>
          <p:cNvPr id="1050" name="Google Shape;1050;p36"/>
          <p:cNvSpPr txBox="1"/>
          <p:nvPr/>
        </p:nvSpPr>
        <p:spPr>
          <a:xfrm>
            <a:off x="15218917" y="3840733"/>
            <a:ext cx="2031265" cy="384048"/>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{{ug_2_src1_value}}</a:t>
            </a:r>
            <a:endParaRPr/>
          </a:p>
        </p:txBody>
      </p:sp>
      <p:sp>
        <p:nvSpPr>
          <p:cNvPr id="1051" name="Google Shape;1051;p36"/>
          <p:cNvSpPr txBox="1"/>
          <p:nvPr/>
        </p:nvSpPr>
        <p:spPr>
          <a:xfrm>
            <a:off x="9570084" y="4453747"/>
            <a:ext cx="548640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{{ug_2_src2_label}}</a:t>
            </a:r>
            <a:endParaRPr/>
          </a:p>
        </p:txBody>
      </p:sp>
      <p:sp>
        <p:nvSpPr>
          <p:cNvPr id="1052" name="Google Shape;1052;p36"/>
          <p:cNvSpPr txBox="1"/>
          <p:nvPr/>
        </p:nvSpPr>
        <p:spPr>
          <a:xfrm>
            <a:off x="15217139" y="4465574"/>
            <a:ext cx="2031798" cy="384048"/>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{{ug_2_src2_value}}</a:t>
            </a:r>
            <a:endParaRPr/>
          </a:p>
        </p:txBody>
      </p:sp>
      <p:sp>
        <p:nvSpPr>
          <p:cNvPr id="1053" name="Google Shape;1053;p36"/>
          <p:cNvSpPr/>
          <p:nvPr/>
        </p:nvSpPr>
        <p:spPr>
          <a:xfrm>
            <a:off x="9543922" y="5000371"/>
            <a:ext cx="7620127" cy="9525"/>
          </a:xfrm>
          <a:prstGeom prst="rect">
            <a:avLst/>
          </a:prstGeom>
          <a:solidFill>
            <a:srgbClr val="1D1F20">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4" name="Google Shape;1054;p36"/>
          <p:cNvSpPr txBox="1"/>
          <p:nvPr/>
        </p:nvSpPr>
        <p:spPr>
          <a:xfrm>
            <a:off x="9570084" y="5215666"/>
            <a:ext cx="1729200"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Corpus by {{ug_2_year}}</a:t>
            </a:r>
            <a:endParaRPr/>
          </a:p>
        </p:txBody>
      </p:sp>
      <p:sp>
        <p:nvSpPr>
          <p:cNvPr id="1055" name="Google Shape;1055;p36"/>
          <p:cNvSpPr txBox="1"/>
          <p:nvPr/>
        </p:nvSpPr>
        <p:spPr>
          <a:xfrm>
            <a:off x="15101062" y="5249194"/>
            <a:ext cx="2156797" cy="505023"/>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150" b="0" i="0" u="none" strike="noStrike" cap="none">
                <a:solidFill>
                  <a:srgbClr val="2F7D3A"/>
                </a:solidFill>
                <a:latin typeface="Barlow Condensed"/>
                <a:ea typeface="Barlow Condensed"/>
                <a:cs typeface="Barlow Condensed"/>
                <a:sym typeface="Barlow Condensed"/>
              </a:rPr>
              <a:t>{{ug_2_corpus}}</a:t>
            </a:r>
            <a:endParaRPr/>
          </a:p>
        </p:txBody>
      </p:sp>
      <p:sp>
        <p:nvSpPr>
          <p:cNvPr id="1056" name="Google Shape;1056;p36"/>
          <p:cNvSpPr txBox="1"/>
          <p:nvPr/>
        </p:nvSpPr>
        <p:spPr>
          <a:xfrm>
            <a:off x="9570084" y="6610477"/>
            <a:ext cx="4655617"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{{ug_2_note}}</a:t>
            </a:r>
            <a:endParaRPr/>
          </a:p>
        </p:txBody>
      </p:sp>
      <p:sp>
        <p:nvSpPr>
          <p:cNvPr id="1057" name="Google Shape;1057;p36"/>
          <p:cNvSpPr/>
          <p:nvPr/>
        </p:nvSpPr>
        <p:spPr>
          <a:xfrm>
            <a:off x="838187" y="7270546"/>
            <a:ext cx="5422899" cy="1099134"/>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58" name="Google Shape;1058;p36"/>
          <p:cNvSpPr txBox="1"/>
          <p:nvPr/>
        </p:nvSpPr>
        <p:spPr>
          <a:xfrm>
            <a:off x="1092098" y="7498079"/>
            <a:ext cx="2768460" cy="76974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COMBINED REQUIREMENT</a:t>
            </a:r>
            <a:endParaRPr/>
          </a:p>
          <a:p>
            <a:pPr marL="0" marR="0" lvl="0" indent="0" algn="l" rtl="0">
              <a:lnSpc>
                <a:spcPct val="100000"/>
              </a:lnSpc>
              <a:spcBef>
                <a:spcPts val="0"/>
              </a:spcBef>
              <a:spcAft>
                <a:spcPts val="0"/>
              </a:spcAft>
              <a:buNone/>
            </a:pPr>
            <a:r>
              <a:rPr lang="en-US" sz="3300" b="0" i="0" u="none" strike="noStrike" cap="none">
                <a:solidFill>
                  <a:srgbClr val="F2F2F3"/>
                </a:solidFill>
                <a:latin typeface="Barlow Condensed"/>
                <a:ea typeface="Barlow Condensed"/>
                <a:cs typeface="Barlow Condensed"/>
                <a:sym typeface="Barlow Condensed"/>
              </a:rPr>
              <a:t>{{ug_combined_required}}</a:t>
            </a:r>
            <a:endParaRPr/>
          </a:p>
        </p:txBody>
      </p:sp>
      <p:sp>
        <p:nvSpPr>
          <p:cNvPr id="1059" name="Google Shape;1059;p36"/>
          <p:cNvSpPr/>
          <p:nvPr/>
        </p:nvSpPr>
        <p:spPr>
          <a:xfrm>
            <a:off x="6432550" y="7270546"/>
            <a:ext cx="5422900" cy="1099134"/>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0" name="Google Shape;1060;p36"/>
          <p:cNvSpPr txBox="1"/>
          <p:nvPr/>
        </p:nvSpPr>
        <p:spPr>
          <a:xfrm>
            <a:off x="6687057" y="7498079"/>
            <a:ext cx="2081495" cy="76974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COMBINED CORPUS</a:t>
            </a:r>
            <a:endParaRPr/>
          </a:p>
          <a:p>
            <a:pPr marL="0" marR="0" lvl="0" indent="0" algn="l" rtl="0">
              <a:lnSpc>
                <a:spcPct val="100000"/>
              </a:lnSpc>
              <a:spcBef>
                <a:spcPts val="0"/>
              </a:spcBef>
              <a:spcAft>
                <a:spcPts val="0"/>
              </a:spcAft>
              <a:buNone/>
            </a:pPr>
            <a:r>
              <a:rPr lang="en-US" sz="3300" b="0" i="0" u="none" strike="noStrike" cap="none">
                <a:solidFill>
                  <a:srgbClr val="F2F2F3"/>
                </a:solidFill>
                <a:latin typeface="Barlow Condensed"/>
                <a:ea typeface="Barlow Condensed"/>
                <a:cs typeface="Barlow Condensed"/>
                <a:sym typeface="Barlow Condensed"/>
              </a:rPr>
              <a:t>{{ug_combined_corpus}}</a:t>
            </a:r>
            <a:endParaRPr/>
          </a:p>
        </p:txBody>
      </p:sp>
      <p:sp>
        <p:nvSpPr>
          <p:cNvPr id="1061" name="Google Shape;1061;p36"/>
          <p:cNvSpPr/>
          <p:nvPr/>
        </p:nvSpPr>
        <p:spPr>
          <a:xfrm>
            <a:off x="12026772" y="7270546"/>
            <a:ext cx="5422900" cy="1099134"/>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2" name="Google Shape;1062;p36"/>
          <p:cNvSpPr txBox="1"/>
          <p:nvPr/>
        </p:nvSpPr>
        <p:spPr>
          <a:xfrm>
            <a:off x="12281916" y="7498079"/>
            <a:ext cx="2572669" cy="76974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MONTHLY COMMITMENT</a:t>
            </a:r>
            <a:endParaRPr/>
          </a:p>
          <a:p>
            <a:pPr marL="0" marR="0" lvl="0" indent="0" algn="l" rtl="0">
              <a:lnSpc>
                <a:spcPct val="100000"/>
              </a:lnSpc>
              <a:spcBef>
                <a:spcPts val="0"/>
              </a:spcBef>
              <a:spcAft>
                <a:spcPts val="0"/>
              </a:spcAft>
              <a:buNone/>
            </a:pPr>
            <a:r>
              <a:rPr lang="en-US" sz="3300" b="0" i="0" u="none" strike="noStrike" cap="none">
                <a:solidFill>
                  <a:srgbClr val="26306F"/>
                </a:solidFill>
                <a:latin typeface="Barlow Condensed"/>
                <a:ea typeface="Barlow Condensed"/>
                <a:cs typeface="Barlow Condensed"/>
                <a:sym typeface="Barlow Condensed"/>
              </a:rPr>
              <a:t>{{ug_monthly}}</a:t>
            </a:r>
            <a:endParaRPr/>
          </a:p>
        </p:txBody>
      </p:sp>
      <p:sp>
        <p:nvSpPr>
          <p:cNvPr id="1063" name="Google Shape;1063;p36"/>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64" name="Google Shape;1064;p36"/>
          <p:cNvSpPr txBox="1"/>
          <p:nvPr/>
        </p:nvSpPr>
        <p:spPr>
          <a:xfrm>
            <a:off x="1082344" y="8625586"/>
            <a:ext cx="16146709"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{{ug_comment}}</a:t>
            </a:r>
            <a:endParaRPr/>
          </a:p>
        </p:txBody>
      </p:sp>
      <p:sp>
        <p:nvSpPr>
          <p:cNvPr id="1065" name="Google Shape;1065;p36"/>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066" name="Google Shape;1066;p36"/>
          <p:cNvSpPr txBox="1"/>
          <p:nvPr/>
        </p:nvSpPr>
        <p:spPr>
          <a:xfrm>
            <a:off x="16587469" y="9779215"/>
            <a:ext cx="751471" cy="28842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{{page_no}} / {{page_total}}</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37"/>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72" name="Google Shape;1072;p37" descr="image.jpg"/>
          <p:cNvPicPr preferRelativeResize="0"/>
          <p:nvPr/>
        </p:nvPicPr>
        <p:blipFill rotWithShape="1">
          <a:blip r:embed="rId3">
            <a:alphaModFix amt="16863"/>
          </a:blip>
          <a:srcRect/>
          <a:stretch/>
        </p:blipFill>
        <p:spPr>
          <a:xfrm>
            <a:off x="0" y="25"/>
            <a:ext cx="18287872" cy="10285857"/>
          </a:xfrm>
          <a:prstGeom prst="rect">
            <a:avLst/>
          </a:prstGeom>
          <a:noFill/>
          <a:ln>
            <a:noFill/>
          </a:ln>
        </p:spPr>
      </p:pic>
      <p:sp>
        <p:nvSpPr>
          <p:cNvPr id="1073" name="Google Shape;1073;p37"/>
          <p:cNvSpPr txBox="1"/>
          <p:nvPr/>
        </p:nvSpPr>
        <p:spPr>
          <a:xfrm>
            <a:off x="863803" y="376292"/>
            <a:ext cx="5797904"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{{pg_years}}</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Postgraduate Education</a:t>
            </a:r>
            <a:endParaRPr/>
          </a:p>
        </p:txBody>
      </p:sp>
      <p:pic>
        <p:nvPicPr>
          <p:cNvPr id="1074" name="Google Shape;1074;p37"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1075" name="Google Shape;1075;p37"/>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6" name="Google Shape;1076;p37"/>
          <p:cNvSpPr/>
          <p:nvPr/>
        </p:nvSpPr>
        <p:spPr>
          <a:xfrm>
            <a:off x="838187" y="1612645"/>
            <a:ext cx="8191500" cy="5461000"/>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77" name="Google Shape;1077;p37"/>
          <p:cNvSpPr txBox="1"/>
          <p:nvPr/>
        </p:nvSpPr>
        <p:spPr>
          <a:xfrm>
            <a:off x="1149400" y="1919081"/>
            <a:ext cx="2412269" cy="105138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{{pg_1_child}} — {{pg_1_year}}</a:t>
            </a:r>
            <a:endParaRPr/>
          </a:p>
          <a:p>
            <a:pPr marL="0" marR="0" lvl="0" indent="0" algn="l" rtl="0">
              <a:lnSpc>
                <a:spcPct val="100000"/>
              </a:lnSpc>
              <a:spcBef>
                <a:spcPts val="0"/>
              </a:spcBef>
              <a:spcAft>
                <a:spcPts val="0"/>
              </a:spcAft>
              <a:buNone/>
            </a:pPr>
            <a:r>
              <a:rPr lang="en-US" sz="4950" b="0" i="0" u="none" strike="noStrike" cap="none">
                <a:solidFill>
                  <a:srgbClr val="1D1F20"/>
                </a:solidFill>
                <a:latin typeface="Barlow Condensed"/>
                <a:ea typeface="Barlow Condensed"/>
                <a:cs typeface="Barlow Condensed"/>
                <a:sym typeface="Barlow Condensed"/>
              </a:rPr>
              <a:t>{{pg_1_target}}</a:t>
            </a:r>
            <a:endParaRPr/>
          </a:p>
        </p:txBody>
      </p:sp>
      <p:sp>
        <p:nvSpPr>
          <p:cNvPr id="1078" name="Google Shape;1078;p37"/>
          <p:cNvSpPr txBox="1"/>
          <p:nvPr/>
        </p:nvSpPr>
        <p:spPr>
          <a:xfrm>
            <a:off x="1149400" y="3031347"/>
            <a:ext cx="758952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{{pg_1_basis}}</a:t>
            </a:r>
            <a:endParaRPr/>
          </a:p>
        </p:txBody>
      </p:sp>
      <p:sp>
        <p:nvSpPr>
          <p:cNvPr id="1079" name="Google Shape;1079;p37"/>
          <p:cNvSpPr/>
          <p:nvPr/>
        </p:nvSpPr>
        <p:spPr>
          <a:xfrm>
            <a:off x="1123861" y="3493643"/>
            <a:ext cx="7620126"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0" name="Google Shape;1080;p37"/>
          <p:cNvSpPr txBox="1"/>
          <p:nvPr/>
        </p:nvSpPr>
        <p:spPr>
          <a:xfrm>
            <a:off x="1149400" y="3828907"/>
            <a:ext cx="676656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{{pg_1_src1_label}}</a:t>
            </a:r>
            <a:endParaRPr/>
          </a:p>
        </p:txBody>
      </p:sp>
      <p:sp>
        <p:nvSpPr>
          <p:cNvPr id="1081" name="Google Shape;1081;p37"/>
          <p:cNvSpPr txBox="1"/>
          <p:nvPr/>
        </p:nvSpPr>
        <p:spPr>
          <a:xfrm>
            <a:off x="8222615" y="3840733"/>
            <a:ext cx="612952" cy="384048"/>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{{pg_1_src1_value}}</a:t>
            </a:r>
            <a:endParaRPr/>
          </a:p>
        </p:txBody>
      </p:sp>
      <p:sp>
        <p:nvSpPr>
          <p:cNvPr id="1082" name="Google Shape;1082;p37"/>
          <p:cNvSpPr txBox="1"/>
          <p:nvPr/>
        </p:nvSpPr>
        <p:spPr>
          <a:xfrm>
            <a:off x="1149400" y="4453747"/>
            <a:ext cx="676656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{{pg_1_src2_label}}</a:t>
            </a:r>
            <a:endParaRPr/>
          </a:p>
        </p:txBody>
      </p:sp>
      <p:sp>
        <p:nvSpPr>
          <p:cNvPr id="1083" name="Google Shape;1083;p37"/>
          <p:cNvSpPr txBox="1"/>
          <p:nvPr/>
        </p:nvSpPr>
        <p:spPr>
          <a:xfrm>
            <a:off x="8228965" y="4465574"/>
            <a:ext cx="609904" cy="384048"/>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{{pg_1_src2_value}}</a:t>
            </a:r>
            <a:endParaRPr/>
          </a:p>
        </p:txBody>
      </p:sp>
      <p:sp>
        <p:nvSpPr>
          <p:cNvPr id="1084" name="Google Shape;1084;p37"/>
          <p:cNvSpPr txBox="1"/>
          <p:nvPr/>
        </p:nvSpPr>
        <p:spPr>
          <a:xfrm>
            <a:off x="1149400" y="5078587"/>
            <a:ext cx="676656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{{pg_1_src3_label}}</a:t>
            </a:r>
            <a:endParaRPr/>
          </a:p>
        </p:txBody>
      </p:sp>
      <p:sp>
        <p:nvSpPr>
          <p:cNvPr id="1085" name="Google Shape;1085;p37"/>
          <p:cNvSpPr txBox="1"/>
          <p:nvPr/>
        </p:nvSpPr>
        <p:spPr>
          <a:xfrm>
            <a:off x="8171433" y="5090121"/>
            <a:ext cx="657272" cy="384432"/>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{{pg_1_src3_value}}</a:t>
            </a:r>
            <a:endParaRPr/>
          </a:p>
        </p:txBody>
      </p:sp>
      <p:sp>
        <p:nvSpPr>
          <p:cNvPr id="1086" name="Google Shape;1086;p37"/>
          <p:cNvSpPr/>
          <p:nvPr/>
        </p:nvSpPr>
        <p:spPr>
          <a:xfrm>
            <a:off x="1123861" y="5625210"/>
            <a:ext cx="7620126" cy="9525"/>
          </a:xfrm>
          <a:prstGeom prst="rect">
            <a:avLst/>
          </a:prstGeom>
          <a:solidFill>
            <a:srgbClr val="1D1F20">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87" name="Google Shape;1087;p37"/>
          <p:cNvSpPr txBox="1"/>
          <p:nvPr/>
        </p:nvSpPr>
        <p:spPr>
          <a:xfrm>
            <a:off x="1149400" y="5840506"/>
            <a:ext cx="1740260"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Corpus by {{pg_1_year}}</a:t>
            </a:r>
            <a:endParaRPr/>
          </a:p>
        </p:txBody>
      </p:sp>
      <p:sp>
        <p:nvSpPr>
          <p:cNvPr id="1088" name="Google Shape;1088;p37"/>
          <p:cNvSpPr txBox="1"/>
          <p:nvPr/>
        </p:nvSpPr>
        <p:spPr>
          <a:xfrm>
            <a:off x="7664450" y="5874034"/>
            <a:ext cx="1161960" cy="505023"/>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3150" b="0" i="0" u="none" strike="noStrike" cap="none">
                <a:solidFill>
                  <a:srgbClr val="2F7D3A"/>
                </a:solidFill>
                <a:latin typeface="Barlow Condensed"/>
                <a:ea typeface="Barlow Condensed"/>
                <a:cs typeface="Barlow Condensed"/>
                <a:sym typeface="Barlow Condensed"/>
              </a:rPr>
              <a:t>{{pg_1_corpus}}</a:t>
            </a:r>
            <a:endParaRPr/>
          </a:p>
        </p:txBody>
      </p:sp>
      <p:sp>
        <p:nvSpPr>
          <p:cNvPr id="1089" name="Google Shape;1089;p37"/>
          <p:cNvSpPr/>
          <p:nvPr/>
        </p:nvSpPr>
        <p:spPr>
          <a:xfrm>
            <a:off x="9258300" y="1612645"/>
            <a:ext cx="8191500" cy="5461000"/>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0" name="Google Shape;1090;p37"/>
          <p:cNvSpPr txBox="1"/>
          <p:nvPr/>
        </p:nvSpPr>
        <p:spPr>
          <a:xfrm>
            <a:off x="9570084" y="1919081"/>
            <a:ext cx="2561174" cy="105138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{{pg_2_child}} — {{pg_2_year}}</a:t>
            </a:r>
            <a:endParaRPr/>
          </a:p>
          <a:p>
            <a:pPr marL="0" marR="0" lvl="0" indent="0" algn="l" rtl="0">
              <a:lnSpc>
                <a:spcPct val="100000"/>
              </a:lnSpc>
              <a:spcBef>
                <a:spcPts val="0"/>
              </a:spcBef>
              <a:spcAft>
                <a:spcPts val="0"/>
              </a:spcAft>
              <a:buNone/>
            </a:pPr>
            <a:r>
              <a:rPr lang="en-US" sz="4950" b="0" i="0" u="none" strike="noStrike" cap="none">
                <a:solidFill>
                  <a:srgbClr val="1D1F20"/>
                </a:solidFill>
                <a:latin typeface="Barlow Condensed"/>
                <a:ea typeface="Barlow Condensed"/>
                <a:cs typeface="Barlow Condensed"/>
                <a:sym typeface="Barlow Condensed"/>
              </a:rPr>
              <a:t>{{pg_2_target}}</a:t>
            </a:r>
            <a:endParaRPr/>
          </a:p>
        </p:txBody>
      </p:sp>
      <p:sp>
        <p:nvSpPr>
          <p:cNvPr id="1091" name="Google Shape;1091;p37"/>
          <p:cNvSpPr txBox="1"/>
          <p:nvPr/>
        </p:nvSpPr>
        <p:spPr>
          <a:xfrm>
            <a:off x="9570084" y="3031347"/>
            <a:ext cx="758952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{{pg_2_basis}}</a:t>
            </a:r>
            <a:endParaRPr/>
          </a:p>
        </p:txBody>
      </p:sp>
      <p:sp>
        <p:nvSpPr>
          <p:cNvPr id="1092" name="Google Shape;1092;p37"/>
          <p:cNvSpPr/>
          <p:nvPr/>
        </p:nvSpPr>
        <p:spPr>
          <a:xfrm>
            <a:off x="9543922" y="3493643"/>
            <a:ext cx="7620127"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093" name="Google Shape;1093;p37"/>
          <p:cNvSpPr txBox="1"/>
          <p:nvPr/>
        </p:nvSpPr>
        <p:spPr>
          <a:xfrm>
            <a:off x="9570084" y="3828907"/>
            <a:ext cx="548640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{{pg_2_src1_label}}</a:t>
            </a:r>
            <a:endParaRPr/>
          </a:p>
        </p:txBody>
      </p:sp>
      <p:sp>
        <p:nvSpPr>
          <p:cNvPr id="1094" name="Google Shape;1094;p37"/>
          <p:cNvSpPr txBox="1"/>
          <p:nvPr/>
        </p:nvSpPr>
        <p:spPr>
          <a:xfrm>
            <a:off x="15209773" y="3840733"/>
            <a:ext cx="2038275" cy="384048"/>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{{pg_2_src1_value}}</a:t>
            </a:r>
            <a:endParaRPr/>
          </a:p>
        </p:txBody>
      </p:sp>
      <p:sp>
        <p:nvSpPr>
          <p:cNvPr id="1095" name="Google Shape;1095;p37"/>
          <p:cNvSpPr txBox="1"/>
          <p:nvPr/>
        </p:nvSpPr>
        <p:spPr>
          <a:xfrm>
            <a:off x="9570084" y="4453747"/>
            <a:ext cx="548640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{{pg_2_src2_label}}</a:t>
            </a:r>
            <a:endParaRPr/>
          </a:p>
        </p:txBody>
      </p:sp>
      <p:sp>
        <p:nvSpPr>
          <p:cNvPr id="1096" name="Google Shape;1096;p37"/>
          <p:cNvSpPr txBox="1"/>
          <p:nvPr/>
        </p:nvSpPr>
        <p:spPr>
          <a:xfrm>
            <a:off x="15278354" y="4465574"/>
            <a:ext cx="1971448" cy="384048"/>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{{pg_2_src2_value}}</a:t>
            </a:r>
            <a:endParaRPr/>
          </a:p>
        </p:txBody>
      </p:sp>
      <p:sp>
        <p:nvSpPr>
          <p:cNvPr id="1097" name="Google Shape;1097;p37"/>
          <p:cNvSpPr txBox="1"/>
          <p:nvPr/>
        </p:nvSpPr>
        <p:spPr>
          <a:xfrm>
            <a:off x="9570084" y="5078587"/>
            <a:ext cx="548640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{{pg_2_src3_label}}</a:t>
            </a:r>
            <a:endParaRPr/>
          </a:p>
        </p:txBody>
      </p:sp>
      <p:sp>
        <p:nvSpPr>
          <p:cNvPr id="1098" name="Google Shape;1098;p37"/>
          <p:cNvSpPr txBox="1"/>
          <p:nvPr/>
        </p:nvSpPr>
        <p:spPr>
          <a:xfrm>
            <a:off x="15217139" y="5090121"/>
            <a:ext cx="2031924" cy="384432"/>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{{pg_2_src3_value}}</a:t>
            </a:r>
            <a:endParaRPr/>
          </a:p>
        </p:txBody>
      </p:sp>
      <p:sp>
        <p:nvSpPr>
          <p:cNvPr id="1099" name="Google Shape;1099;p37"/>
          <p:cNvSpPr txBox="1"/>
          <p:nvPr/>
        </p:nvSpPr>
        <p:spPr>
          <a:xfrm>
            <a:off x="9570084" y="5704151"/>
            <a:ext cx="5486400" cy="29994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{{pg_2_src4_label}}</a:t>
            </a:r>
            <a:endParaRPr/>
          </a:p>
        </p:txBody>
      </p:sp>
      <p:sp>
        <p:nvSpPr>
          <p:cNvPr id="1100" name="Google Shape;1100;p37"/>
          <p:cNvSpPr txBox="1"/>
          <p:nvPr/>
        </p:nvSpPr>
        <p:spPr>
          <a:xfrm>
            <a:off x="15214981" y="5715977"/>
            <a:ext cx="2035585" cy="384432"/>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2400" b="0" i="0" u="none" strike="noStrike" cap="none">
                <a:solidFill>
                  <a:srgbClr val="1D1F20"/>
                </a:solidFill>
                <a:latin typeface="Barlow Condensed"/>
                <a:ea typeface="Barlow Condensed"/>
                <a:cs typeface="Barlow Condensed"/>
                <a:sym typeface="Barlow Condensed"/>
              </a:rPr>
              <a:t>{{pg_2_src4_value}}</a:t>
            </a:r>
            <a:endParaRPr/>
          </a:p>
        </p:txBody>
      </p:sp>
      <p:sp>
        <p:nvSpPr>
          <p:cNvPr id="1101" name="Google Shape;1101;p37"/>
          <p:cNvSpPr/>
          <p:nvPr/>
        </p:nvSpPr>
        <p:spPr>
          <a:xfrm>
            <a:off x="9543922" y="6146800"/>
            <a:ext cx="7620127" cy="9525"/>
          </a:xfrm>
          <a:prstGeom prst="rect">
            <a:avLst/>
          </a:prstGeom>
          <a:solidFill>
            <a:srgbClr val="1D1F20">
              <a:alpha val="2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2" name="Google Shape;1102;p37"/>
          <p:cNvSpPr txBox="1"/>
          <p:nvPr/>
        </p:nvSpPr>
        <p:spPr>
          <a:xfrm>
            <a:off x="9570084" y="6333901"/>
            <a:ext cx="1706292"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Corpus by {{pg_2_year}}</a:t>
            </a:r>
            <a:endParaRPr/>
          </a:p>
        </p:txBody>
      </p:sp>
      <p:sp>
        <p:nvSpPr>
          <p:cNvPr id="1103" name="Google Shape;1103;p37"/>
          <p:cNvSpPr txBox="1"/>
          <p:nvPr/>
        </p:nvSpPr>
        <p:spPr>
          <a:xfrm>
            <a:off x="14718537" y="6367430"/>
            <a:ext cx="2528752" cy="505023"/>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150" b="0" i="0" u="none" strike="noStrike" cap="none">
                <a:solidFill>
                  <a:srgbClr val="2F7D3A"/>
                </a:solidFill>
                <a:latin typeface="Barlow Condensed"/>
                <a:ea typeface="Barlow Condensed"/>
                <a:cs typeface="Barlow Condensed"/>
                <a:sym typeface="Barlow Condensed"/>
              </a:rPr>
              <a:t>{{pg_2_corpus}}</a:t>
            </a:r>
            <a:endParaRPr/>
          </a:p>
        </p:txBody>
      </p:sp>
      <p:sp>
        <p:nvSpPr>
          <p:cNvPr id="1104" name="Google Shape;1104;p37"/>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5" name="Google Shape;1105;p37"/>
          <p:cNvSpPr txBox="1"/>
          <p:nvPr/>
        </p:nvSpPr>
        <p:spPr>
          <a:xfrm>
            <a:off x="1082344" y="8625586"/>
            <a:ext cx="15486051"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{{pg_comment}}</a:t>
            </a:r>
            <a:endParaRPr/>
          </a:p>
        </p:txBody>
      </p:sp>
      <p:sp>
        <p:nvSpPr>
          <p:cNvPr id="1106" name="Google Shape;1106;p37"/>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107" name="Google Shape;1107;p37"/>
          <p:cNvSpPr txBox="1"/>
          <p:nvPr/>
        </p:nvSpPr>
        <p:spPr>
          <a:xfrm>
            <a:off x="16587469" y="9779215"/>
            <a:ext cx="743687" cy="28842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{{page_no}} / {{page_total}}</a:t>
            </a:r>
            <a:endParaRPr/>
          </a:p>
        </p:txBody>
      </p:sp>
      <p:sp>
        <p:nvSpPr>
          <p:cNvPr id="1108" name="Google Shape;1108;p37"/>
          <p:cNvSpPr/>
          <p:nvPr/>
        </p:nvSpPr>
        <p:spPr>
          <a:xfrm>
            <a:off x="838187" y="7270546"/>
            <a:ext cx="5422899" cy="1099134"/>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09" name="Google Shape;1109;p37"/>
          <p:cNvSpPr txBox="1"/>
          <p:nvPr/>
        </p:nvSpPr>
        <p:spPr>
          <a:xfrm>
            <a:off x="1092098" y="7498079"/>
            <a:ext cx="2768460" cy="7788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COMBINED REQUIREMENT</a:t>
            </a:r>
            <a:endParaRPr/>
          </a:p>
          <a:p>
            <a:pPr marL="0" marR="0" lvl="0" indent="0" algn="l" rtl="0">
              <a:lnSpc>
                <a:spcPct val="100000"/>
              </a:lnSpc>
              <a:spcBef>
                <a:spcPts val="0"/>
              </a:spcBef>
              <a:spcAft>
                <a:spcPts val="0"/>
              </a:spcAft>
              <a:buNone/>
            </a:pPr>
            <a:r>
              <a:rPr lang="en-US" sz="3300" b="0" i="0" u="none" strike="noStrike" cap="none">
                <a:solidFill>
                  <a:srgbClr val="F2F2F3"/>
                </a:solidFill>
                <a:latin typeface="Barlow Condensed"/>
                <a:ea typeface="Barlow Condensed"/>
                <a:cs typeface="Barlow Condensed"/>
                <a:sym typeface="Barlow Condensed"/>
              </a:rPr>
              <a:t>{{pg_combined_required}}</a:t>
            </a:r>
            <a:endParaRPr/>
          </a:p>
        </p:txBody>
      </p:sp>
      <p:sp>
        <p:nvSpPr>
          <p:cNvPr id="1110" name="Google Shape;1110;p37"/>
          <p:cNvSpPr/>
          <p:nvPr/>
        </p:nvSpPr>
        <p:spPr>
          <a:xfrm>
            <a:off x="6426200" y="7270546"/>
            <a:ext cx="5422900" cy="1099134"/>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1" name="Google Shape;1111;p37"/>
          <p:cNvSpPr txBox="1"/>
          <p:nvPr/>
        </p:nvSpPr>
        <p:spPr>
          <a:xfrm>
            <a:off x="6680961" y="7498079"/>
            <a:ext cx="2081495" cy="7788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COMBINED CORPUS</a:t>
            </a:r>
            <a:endParaRPr/>
          </a:p>
          <a:p>
            <a:pPr marL="0" marR="0" lvl="0" indent="0" algn="l" rtl="0">
              <a:lnSpc>
                <a:spcPct val="100000"/>
              </a:lnSpc>
              <a:spcBef>
                <a:spcPts val="0"/>
              </a:spcBef>
              <a:spcAft>
                <a:spcPts val="0"/>
              </a:spcAft>
              <a:buNone/>
            </a:pPr>
            <a:r>
              <a:rPr lang="en-US" sz="3300" b="0" i="0" u="none" strike="noStrike" cap="none">
                <a:solidFill>
                  <a:srgbClr val="F2F2F3"/>
                </a:solidFill>
                <a:latin typeface="Barlow Condensed"/>
                <a:ea typeface="Barlow Condensed"/>
                <a:cs typeface="Barlow Condensed"/>
                <a:sym typeface="Barlow Condensed"/>
              </a:rPr>
              <a:t>{{pg_combined_corpus}}</a:t>
            </a:r>
            <a:endParaRPr/>
          </a:p>
        </p:txBody>
      </p:sp>
      <p:sp>
        <p:nvSpPr>
          <p:cNvPr id="1112" name="Google Shape;1112;p37"/>
          <p:cNvSpPr/>
          <p:nvPr/>
        </p:nvSpPr>
        <p:spPr>
          <a:xfrm>
            <a:off x="12026900" y="7270546"/>
            <a:ext cx="5422900" cy="1099134"/>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13" name="Google Shape;1113;p37"/>
          <p:cNvSpPr txBox="1"/>
          <p:nvPr/>
        </p:nvSpPr>
        <p:spPr>
          <a:xfrm>
            <a:off x="12281916" y="7498079"/>
            <a:ext cx="2572669" cy="77889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MONTHLY COMMITMENT</a:t>
            </a:r>
            <a:endParaRPr/>
          </a:p>
          <a:p>
            <a:pPr marL="0" marR="0" lvl="0" indent="0" algn="l" rtl="0">
              <a:lnSpc>
                <a:spcPct val="100000"/>
              </a:lnSpc>
              <a:spcBef>
                <a:spcPts val="0"/>
              </a:spcBef>
              <a:spcAft>
                <a:spcPts val="0"/>
              </a:spcAft>
              <a:buNone/>
            </a:pPr>
            <a:r>
              <a:rPr lang="en-US" sz="3300" b="0" i="0" u="none" strike="noStrike" cap="none">
                <a:solidFill>
                  <a:srgbClr val="26306F"/>
                </a:solidFill>
                <a:latin typeface="Barlow Condensed"/>
                <a:ea typeface="Barlow Condensed"/>
                <a:cs typeface="Barlow Condensed"/>
                <a:sym typeface="Barlow Condensed"/>
              </a:rPr>
              <a:t>{{pg_monthly}}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p39"/>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170" name="Google Shape;1170;p39" descr="image.jpg"/>
          <p:cNvPicPr preferRelativeResize="0"/>
          <p:nvPr/>
        </p:nvPicPr>
        <p:blipFill rotWithShape="1">
          <a:blip r:embed="rId3">
            <a:alphaModFix amt="16863"/>
          </a:blip>
          <a:srcRect/>
          <a:stretch/>
        </p:blipFill>
        <p:spPr>
          <a:xfrm>
            <a:off x="0" y="0"/>
            <a:ext cx="18287872" cy="10286999"/>
          </a:xfrm>
          <a:prstGeom prst="rect">
            <a:avLst/>
          </a:prstGeom>
          <a:noFill/>
          <a:ln>
            <a:noFill/>
          </a:ln>
        </p:spPr>
      </p:pic>
      <p:sp>
        <p:nvSpPr>
          <p:cNvPr id="1171" name="Google Shape;1171;p39"/>
          <p:cNvSpPr txBox="1"/>
          <p:nvPr/>
        </p:nvSpPr>
        <p:spPr>
          <a:xfrm>
            <a:off x="863803" y="376292"/>
            <a:ext cx="4649803"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GOAL · {{marriage_year}}</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Children’s Marriage</a:t>
            </a:r>
            <a:endParaRPr/>
          </a:p>
        </p:txBody>
      </p:sp>
      <p:pic>
        <p:nvPicPr>
          <p:cNvPr id="1172" name="Google Shape;1172;p39" descr="image.png"/>
          <p:cNvPicPr preferRelativeResize="0"/>
          <p:nvPr/>
        </p:nvPicPr>
        <p:blipFill rotWithShape="1">
          <a:blip r:embed="rId4">
            <a:alphaModFix/>
          </a:blip>
          <a:srcRect/>
          <a:stretch/>
        </p:blipFill>
        <p:spPr>
          <a:xfrm>
            <a:off x="15373350" y="304736"/>
            <a:ext cx="2076323" cy="590486"/>
          </a:xfrm>
          <a:prstGeom prst="rect">
            <a:avLst/>
          </a:prstGeom>
          <a:noFill/>
          <a:ln>
            <a:noFill/>
          </a:ln>
        </p:spPr>
      </p:pic>
      <p:sp>
        <p:nvSpPr>
          <p:cNvPr id="1173" name="Google Shape;1173;p39"/>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4" name="Google Shape;1174;p39"/>
          <p:cNvSpPr txBox="1"/>
          <p:nvPr/>
        </p:nvSpPr>
        <p:spPr>
          <a:xfrm>
            <a:off x="863803" y="1699879"/>
            <a:ext cx="1412508"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THE TARGET</a:t>
            </a:r>
            <a:endParaRPr/>
          </a:p>
        </p:txBody>
      </p:sp>
      <p:sp>
        <p:nvSpPr>
          <p:cNvPr id="1175" name="Google Shape;1175;p39"/>
          <p:cNvSpPr/>
          <p:nvPr/>
        </p:nvSpPr>
        <p:spPr>
          <a:xfrm>
            <a:off x="838187" y="2836036"/>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6" name="Google Shape;1176;p39"/>
          <p:cNvSpPr txBox="1"/>
          <p:nvPr/>
        </p:nvSpPr>
        <p:spPr>
          <a:xfrm>
            <a:off x="863803" y="2387630"/>
            <a:ext cx="2399605"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Combined cost today</a:t>
            </a:r>
            <a:endParaRPr/>
          </a:p>
        </p:txBody>
      </p:sp>
      <p:sp>
        <p:nvSpPr>
          <p:cNvPr id="1177" name="Google Shape;1177;p39"/>
          <p:cNvSpPr txBox="1"/>
          <p:nvPr/>
        </p:nvSpPr>
        <p:spPr>
          <a:xfrm>
            <a:off x="7498715" y="2324577"/>
            <a:ext cx="915836" cy="40709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{{marriage_cost_today}}</a:t>
            </a:r>
            <a:endParaRPr/>
          </a:p>
        </p:txBody>
      </p:sp>
      <p:sp>
        <p:nvSpPr>
          <p:cNvPr id="1178" name="Google Shape;1178;p39"/>
          <p:cNvSpPr/>
          <p:nvPr/>
        </p:nvSpPr>
        <p:spPr>
          <a:xfrm>
            <a:off x="838187" y="3556507"/>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79" name="Google Shape;1179;p39"/>
          <p:cNvSpPr txBox="1"/>
          <p:nvPr/>
        </p:nvSpPr>
        <p:spPr>
          <a:xfrm>
            <a:off x="863803" y="3108482"/>
            <a:ext cx="2027012"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Inflation assumed</a:t>
            </a:r>
            <a:endParaRPr/>
          </a:p>
        </p:txBody>
      </p:sp>
      <p:sp>
        <p:nvSpPr>
          <p:cNvPr id="1180" name="Google Shape;1180;p39"/>
          <p:cNvSpPr txBox="1"/>
          <p:nvPr/>
        </p:nvSpPr>
        <p:spPr>
          <a:xfrm>
            <a:off x="7956804" y="3045048"/>
            <a:ext cx="461119" cy="40709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{{marriage_inflation}}</a:t>
            </a:r>
            <a:endParaRPr/>
          </a:p>
        </p:txBody>
      </p:sp>
      <p:sp>
        <p:nvSpPr>
          <p:cNvPr id="1181" name="Google Shape;1181;p39"/>
          <p:cNvSpPr/>
          <p:nvPr/>
        </p:nvSpPr>
        <p:spPr>
          <a:xfrm>
            <a:off x="838187" y="4277105"/>
            <a:ext cx="747814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2" name="Google Shape;1182;p39"/>
          <p:cNvSpPr txBox="1"/>
          <p:nvPr/>
        </p:nvSpPr>
        <p:spPr>
          <a:xfrm>
            <a:off x="863803" y="3829080"/>
            <a:ext cx="1466147" cy="312999"/>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1D1F20"/>
                </a:solidFill>
                <a:latin typeface="Barlow"/>
                <a:ea typeface="Barlow"/>
                <a:cs typeface="Barlow"/>
                <a:sym typeface="Barlow"/>
              </a:rPr>
              <a:t>Years to goal</a:t>
            </a:r>
            <a:endParaRPr/>
          </a:p>
        </p:txBody>
      </p:sp>
      <p:sp>
        <p:nvSpPr>
          <p:cNvPr id="1183" name="Google Shape;1183;p39"/>
          <p:cNvSpPr txBox="1"/>
          <p:nvPr/>
        </p:nvSpPr>
        <p:spPr>
          <a:xfrm>
            <a:off x="8122919" y="3765646"/>
            <a:ext cx="294839" cy="40709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550" b="0" i="0" u="none" strike="noStrike" cap="none">
                <a:solidFill>
                  <a:srgbClr val="1D1F20"/>
                </a:solidFill>
                <a:latin typeface="Barlow Condensed"/>
                <a:ea typeface="Barlow Condensed"/>
                <a:cs typeface="Barlow Condensed"/>
                <a:sym typeface="Barlow Condensed"/>
              </a:rPr>
              <a:t>{{marriage_years_left}}</a:t>
            </a:r>
            <a:endParaRPr/>
          </a:p>
        </p:txBody>
      </p:sp>
      <p:sp>
        <p:nvSpPr>
          <p:cNvPr id="1184" name="Google Shape;1184;p39"/>
          <p:cNvSpPr/>
          <p:nvPr/>
        </p:nvSpPr>
        <p:spPr>
          <a:xfrm>
            <a:off x="838187" y="4495672"/>
            <a:ext cx="7478141" cy="1554353"/>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5" name="Google Shape;1185;p39"/>
          <p:cNvSpPr txBox="1"/>
          <p:nvPr/>
        </p:nvSpPr>
        <p:spPr>
          <a:xfrm>
            <a:off x="1130503" y="4780153"/>
            <a:ext cx="2778610" cy="11209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REQUIRED IN {{marriage_year}}</a:t>
            </a:r>
            <a:endParaRPr/>
          </a:p>
          <a:p>
            <a:pPr marL="0" marR="0" lvl="0" indent="0" algn="l" rtl="0">
              <a:lnSpc>
                <a:spcPct val="100000"/>
              </a:lnSpc>
              <a:spcBef>
                <a:spcPts val="0"/>
              </a:spcBef>
              <a:spcAft>
                <a:spcPts val="0"/>
              </a:spcAft>
              <a:buNone/>
            </a:pPr>
            <a:r>
              <a:rPr lang="en-US" sz="5700" b="0" i="0" u="none" strike="noStrike" cap="none">
                <a:solidFill>
                  <a:srgbClr val="F2F2F3"/>
                </a:solidFill>
                <a:latin typeface="Barlow Condensed"/>
                <a:ea typeface="Barlow Condensed"/>
                <a:cs typeface="Barlow Condensed"/>
                <a:sym typeface="Barlow Condensed"/>
              </a:rPr>
              <a:t>{{marriage_future_cost}}</a:t>
            </a:r>
            <a:endParaRPr/>
          </a:p>
        </p:txBody>
      </p:sp>
      <p:sp>
        <p:nvSpPr>
          <p:cNvPr id="1186" name="Google Shape;1186;p39"/>
          <p:cNvSpPr txBox="1"/>
          <p:nvPr/>
        </p:nvSpPr>
        <p:spPr>
          <a:xfrm>
            <a:off x="863803" y="7410650"/>
            <a:ext cx="7427706" cy="986030"/>
          </a:xfrm>
          <a:prstGeom prst="rect">
            <a:avLst/>
          </a:prstGeom>
          <a:noFill/>
          <a:ln>
            <a:noFill/>
          </a:ln>
        </p:spPr>
        <p:txBody>
          <a:bodyPr spcFirstLastPara="1" wrap="square" lIns="0" tIns="0" rIns="0" bIns="0" anchor="t" anchorCtr="0">
            <a:noAutofit/>
          </a:bodyPr>
          <a:lstStyle/>
          <a:p>
            <a:pPr marL="0" marR="0" lvl="0" indent="0" algn="l" rtl="0">
              <a:lnSpc>
                <a:spcPct val="120200"/>
              </a:lnSpc>
              <a:spcBef>
                <a:spcPts val="0"/>
              </a:spcBef>
              <a:spcAft>
                <a:spcPts val="0"/>
              </a:spcAft>
              <a:buNone/>
            </a:pPr>
            <a:r>
              <a:rPr lang="en-US" sz="1850" b="0" i="0" u="none" strike="noStrike" cap="none">
                <a:solidFill>
                  <a:srgbClr val="1D1F20"/>
                </a:solidFill>
                <a:latin typeface="Barlow"/>
                <a:ea typeface="Barlow"/>
                <a:cs typeface="Barlow"/>
                <a:sym typeface="Barlow"/>
              </a:rPr>
              <a:t>{{marriage_intro}}</a:t>
            </a:r>
            <a:endParaRPr/>
          </a:p>
        </p:txBody>
      </p:sp>
      <p:sp>
        <p:nvSpPr>
          <p:cNvPr id="1187" name="Google Shape;1187;p39"/>
          <p:cNvSpPr txBox="1"/>
          <p:nvPr/>
        </p:nvSpPr>
        <p:spPr>
          <a:xfrm>
            <a:off x="8875776" y="1699879"/>
            <a:ext cx="228723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HOW WE GET THERE</a:t>
            </a:r>
            <a:endParaRPr/>
          </a:p>
        </p:txBody>
      </p:sp>
      <p:sp>
        <p:nvSpPr>
          <p:cNvPr id="1188" name="Google Shape;1188;p39"/>
          <p:cNvSpPr/>
          <p:nvPr/>
        </p:nvSpPr>
        <p:spPr>
          <a:xfrm>
            <a:off x="8849741" y="212451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9" name="Google Shape;1189;p39"/>
          <p:cNvSpPr txBox="1"/>
          <p:nvPr/>
        </p:nvSpPr>
        <p:spPr>
          <a:xfrm>
            <a:off x="9123553" y="2277990"/>
            <a:ext cx="5669280" cy="457401"/>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{{marriage_src1_label}}</a:t>
            </a:r>
            <a:endParaRPr/>
          </a:p>
        </p:txBody>
      </p:sp>
      <p:sp>
        <p:nvSpPr>
          <p:cNvPr id="1190" name="Google Shape;1190;p39"/>
          <p:cNvSpPr txBox="1"/>
          <p:nvPr/>
        </p:nvSpPr>
        <p:spPr>
          <a:xfrm>
            <a:off x="9123553" y="2772267"/>
            <a:ext cx="566928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{{marriage_src1_terms}}</a:t>
            </a:r>
            <a:endParaRPr/>
          </a:p>
        </p:txBody>
      </p:sp>
      <p:sp>
        <p:nvSpPr>
          <p:cNvPr id="1191" name="Google Shape;1191;p39"/>
          <p:cNvSpPr txBox="1"/>
          <p:nvPr/>
        </p:nvSpPr>
        <p:spPr>
          <a:xfrm>
            <a:off x="15069058" y="2475514"/>
            <a:ext cx="2212909" cy="505023"/>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{{marriage_src1_value}}</a:t>
            </a:r>
            <a:endParaRPr/>
          </a:p>
        </p:txBody>
      </p:sp>
      <p:sp>
        <p:nvSpPr>
          <p:cNvPr id="1192" name="Google Shape;1192;p39"/>
          <p:cNvSpPr/>
          <p:nvPr/>
        </p:nvSpPr>
        <p:spPr>
          <a:xfrm>
            <a:off x="8849741" y="334879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93" name="Google Shape;1193;p39"/>
          <p:cNvSpPr txBox="1"/>
          <p:nvPr/>
        </p:nvSpPr>
        <p:spPr>
          <a:xfrm>
            <a:off x="9123553" y="3502944"/>
            <a:ext cx="5669280"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{{marriage_src2_label}}</a:t>
            </a:r>
            <a:endParaRPr/>
          </a:p>
        </p:txBody>
      </p:sp>
      <p:sp>
        <p:nvSpPr>
          <p:cNvPr id="1194" name="Google Shape;1194;p39"/>
          <p:cNvSpPr txBox="1"/>
          <p:nvPr/>
        </p:nvSpPr>
        <p:spPr>
          <a:xfrm>
            <a:off x="9123553" y="3996547"/>
            <a:ext cx="566928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{{marriage_src2_terms}}</a:t>
            </a:r>
            <a:endParaRPr/>
          </a:p>
        </p:txBody>
      </p:sp>
      <p:sp>
        <p:nvSpPr>
          <p:cNvPr id="1195" name="Google Shape;1195;p39"/>
          <p:cNvSpPr txBox="1"/>
          <p:nvPr/>
        </p:nvSpPr>
        <p:spPr>
          <a:xfrm>
            <a:off x="15071470" y="3699794"/>
            <a:ext cx="2210105" cy="505023"/>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{{marriage_src2_value}}</a:t>
            </a:r>
            <a:endParaRPr/>
          </a:p>
        </p:txBody>
      </p:sp>
      <p:sp>
        <p:nvSpPr>
          <p:cNvPr id="1196" name="Google Shape;1196;p39"/>
          <p:cNvSpPr/>
          <p:nvPr/>
        </p:nvSpPr>
        <p:spPr>
          <a:xfrm>
            <a:off x="8849741" y="4573079"/>
            <a:ext cx="8599931" cy="1110043"/>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97" name="Google Shape;1197;p39"/>
          <p:cNvSpPr txBox="1"/>
          <p:nvPr/>
        </p:nvSpPr>
        <p:spPr>
          <a:xfrm>
            <a:off x="9123553" y="4727351"/>
            <a:ext cx="5669280"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{{marriage_src3_label}}</a:t>
            </a:r>
            <a:endParaRPr/>
          </a:p>
        </p:txBody>
      </p:sp>
      <p:sp>
        <p:nvSpPr>
          <p:cNvPr id="1198" name="Google Shape;1198;p39"/>
          <p:cNvSpPr txBox="1"/>
          <p:nvPr/>
        </p:nvSpPr>
        <p:spPr>
          <a:xfrm>
            <a:off x="9123553" y="5220954"/>
            <a:ext cx="566928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{{marriage_src3_terms}}</a:t>
            </a:r>
            <a:endParaRPr/>
          </a:p>
        </p:txBody>
      </p:sp>
      <p:sp>
        <p:nvSpPr>
          <p:cNvPr id="1199" name="Google Shape;1199;p39"/>
          <p:cNvSpPr txBox="1"/>
          <p:nvPr/>
        </p:nvSpPr>
        <p:spPr>
          <a:xfrm>
            <a:off x="14894306" y="4923908"/>
            <a:ext cx="2386916" cy="505407"/>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150" b="0" i="0" u="none" strike="noStrike" cap="none">
                <a:solidFill>
                  <a:srgbClr val="26306F"/>
                </a:solidFill>
                <a:latin typeface="Barlow Condensed"/>
                <a:ea typeface="Barlow Condensed"/>
                <a:cs typeface="Barlow Condensed"/>
                <a:sym typeface="Barlow Condensed"/>
              </a:rPr>
              <a:t>{{marriage_src3_value}}</a:t>
            </a:r>
            <a:endParaRPr/>
          </a:p>
        </p:txBody>
      </p:sp>
      <p:sp>
        <p:nvSpPr>
          <p:cNvPr id="1200" name="Google Shape;1200;p39"/>
          <p:cNvSpPr/>
          <p:nvPr/>
        </p:nvSpPr>
        <p:spPr>
          <a:xfrm>
            <a:off x="8849741" y="5797486"/>
            <a:ext cx="8599931" cy="1110043"/>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1" name="Google Shape;1201;p39"/>
          <p:cNvSpPr txBox="1"/>
          <p:nvPr/>
        </p:nvSpPr>
        <p:spPr>
          <a:xfrm>
            <a:off x="9123553" y="5951758"/>
            <a:ext cx="1956592" cy="45701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F2F2F3"/>
                </a:solidFill>
                <a:latin typeface="Barlow Condensed"/>
                <a:ea typeface="Barlow Condensed"/>
                <a:cs typeface="Barlow Condensed"/>
                <a:sym typeface="Barlow Condensed"/>
              </a:rPr>
              <a:t>Corpus in {{marriage_year}}</a:t>
            </a:r>
            <a:endParaRPr/>
          </a:p>
        </p:txBody>
      </p:sp>
      <p:sp>
        <p:nvSpPr>
          <p:cNvPr id="1202" name="Google Shape;1202;p39"/>
          <p:cNvSpPr txBox="1"/>
          <p:nvPr/>
        </p:nvSpPr>
        <p:spPr>
          <a:xfrm>
            <a:off x="9123553" y="6445361"/>
            <a:ext cx="566928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{{marriage_margin}}</a:t>
            </a:r>
            <a:endParaRPr/>
          </a:p>
        </p:txBody>
      </p:sp>
      <p:sp>
        <p:nvSpPr>
          <p:cNvPr id="1203" name="Google Shape;1203;p39"/>
          <p:cNvSpPr txBox="1"/>
          <p:nvPr/>
        </p:nvSpPr>
        <p:spPr>
          <a:xfrm>
            <a:off x="14748637" y="6148861"/>
            <a:ext cx="2534364" cy="505023"/>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3150" b="0" i="0" u="none" strike="noStrike" cap="none">
                <a:solidFill>
                  <a:srgbClr val="F2F2F3"/>
                </a:solidFill>
                <a:latin typeface="Barlow Condensed"/>
                <a:ea typeface="Barlow Condensed"/>
                <a:cs typeface="Barlow Condensed"/>
                <a:sym typeface="Barlow Condensed"/>
              </a:rPr>
              <a:t>{{marriage_corpus}}</a:t>
            </a:r>
            <a:endParaRPr/>
          </a:p>
        </p:txBody>
      </p:sp>
      <p:sp>
        <p:nvSpPr>
          <p:cNvPr id="1204" name="Google Shape;1204;p39"/>
          <p:cNvSpPr/>
          <p:nvPr/>
        </p:nvSpPr>
        <p:spPr>
          <a:xfrm>
            <a:off x="8849741" y="7533551"/>
            <a:ext cx="8599931" cy="836130"/>
          </a:xfrm>
          <a:prstGeom prst="rect">
            <a:avLst/>
          </a:prstGeom>
          <a:solidFill>
            <a:srgbClr val="141A4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5" name="Google Shape;1205;p39"/>
          <p:cNvSpPr txBox="1"/>
          <p:nvPr/>
        </p:nvSpPr>
        <p:spPr>
          <a:xfrm>
            <a:off x="9123553" y="7845917"/>
            <a:ext cx="3797270"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Contributions stop at retirement in</a:t>
            </a:r>
            <a:endParaRPr/>
          </a:p>
        </p:txBody>
      </p:sp>
      <p:sp>
        <p:nvSpPr>
          <p:cNvPr id="1206" name="Google Shape;1206;p39"/>
          <p:cNvSpPr txBox="1"/>
          <p:nvPr/>
        </p:nvSpPr>
        <p:spPr>
          <a:xfrm>
            <a:off x="14712061" y="7780908"/>
            <a:ext cx="2591713" cy="432053"/>
          </a:xfrm>
          <a:prstGeom prst="rect">
            <a:avLst/>
          </a:prstGeom>
          <a:noFill/>
          <a:ln>
            <a:noFill/>
          </a:ln>
        </p:spPr>
        <p:txBody>
          <a:bodyPr spcFirstLastPara="1" wrap="none" lIns="0" tIns="0" rIns="0" bIns="0" anchor="t" anchorCtr="0">
            <a:noAutofit/>
          </a:bodyPr>
          <a:lstStyle/>
          <a:p>
            <a:pPr marL="0" marR="0" lvl="0" indent="0" algn="r" rtl="0">
              <a:lnSpc>
                <a:spcPct val="100000"/>
              </a:lnSpc>
              <a:spcBef>
                <a:spcPts val="0"/>
              </a:spcBef>
              <a:spcAft>
                <a:spcPts val="0"/>
              </a:spcAft>
              <a:buNone/>
            </a:pPr>
            <a:r>
              <a:rPr lang="en-US" sz="2700" b="0" i="0" u="none" strike="noStrike" cap="none">
                <a:solidFill>
                  <a:srgbClr val="F2F2F3"/>
                </a:solidFill>
                <a:latin typeface="Barlow Condensed"/>
                <a:ea typeface="Barlow Condensed"/>
                <a:cs typeface="Barlow Condensed"/>
                <a:sym typeface="Barlow Condensed"/>
              </a:rPr>
              <a:t>{{marriage_contributions_end}}</a:t>
            </a:r>
            <a:endParaRPr/>
          </a:p>
        </p:txBody>
      </p:sp>
      <p:sp>
        <p:nvSpPr>
          <p:cNvPr id="1207" name="Google Shape;1207;p39"/>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08" name="Google Shape;1208;p39"/>
          <p:cNvSpPr txBox="1"/>
          <p:nvPr/>
        </p:nvSpPr>
        <p:spPr>
          <a:xfrm>
            <a:off x="1082344" y="8625586"/>
            <a:ext cx="16029822"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{{marriage_comment}}</a:t>
            </a:r>
            <a:endParaRPr/>
          </a:p>
        </p:txBody>
      </p:sp>
      <p:sp>
        <p:nvSpPr>
          <p:cNvPr id="1209" name="Google Shape;1209;p39"/>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210" name="Google Shape;1210;p39"/>
          <p:cNvSpPr txBox="1"/>
          <p:nvPr/>
        </p:nvSpPr>
        <p:spPr>
          <a:xfrm>
            <a:off x="16587469" y="9779215"/>
            <a:ext cx="734533" cy="28842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{{page_no}} / {{page_total}}</a:t>
            </a:r>
            <a:endParaRPr/>
          </a:p>
        </p:txBody>
      </p:sp>
      <p:pic>
        <p:nvPicPr>
          <p:cNvPr id="1211" name="Google Shape;1211;p39" descr="image.png"/>
          <p:cNvPicPr preferRelativeResize="0"/>
          <p:nvPr/>
        </p:nvPicPr>
        <p:blipFill rotWithShape="1">
          <a:blip r:embed="rId5">
            <a:alphaModFix/>
          </a:blip>
          <a:srcRect/>
          <a:stretch/>
        </p:blipFill>
        <p:spPr>
          <a:xfrm>
            <a:off x="1073150" y="6413500"/>
            <a:ext cx="590550" cy="7366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8">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11594243"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SMALL SAVINGS</a:t>
            </a:r>
            <a:endParaRPr lang="en-US" sz="2100" b="1" dirty="0">
              <a:solidFill>
                <a:srgbClr val="2A3480"/>
              </a:solidFill>
              <a:latin typeface="Barlow"/>
            </a:endParaRPr>
          </a:p>
        </p:txBody>
      </p:sp>
      <p:sp>
        <p:nvSpPr>
          <p:cNvPr id="3" name="Text 1"/>
          <p:cNvSpPr/>
          <p:nvPr/>
        </p:nvSpPr>
        <p:spPr>
          <a:xfrm>
            <a:off x="914372" y="1132045"/>
            <a:ext cx="11594243"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Sukanya Samriddhi Yojana</a:t>
            </a:r>
            <a:endParaRPr lang="en-US" sz="6000" dirty="0"/>
          </a:p>
        </p:txBody>
      </p:sp>
      <p:sp>
        <p:nvSpPr>
          <p:cNvPr id="4" name="Shape 2"/>
          <p:cNvSpPr/>
          <p:nvPr/>
        </p:nvSpPr>
        <p:spPr>
          <a:xfrm>
            <a:off x="914372" y="2086641"/>
            <a:ext cx="10540221" cy="9525"/>
          </a:xfrm>
          <a:prstGeom prst="rect">
            <a:avLst/>
          </a:prstGeom>
          <a:solidFill>
            <a:srgbClr val="1D1F20">
              <a:alpha val="18000"/>
            </a:srgbClr>
          </a:solidFill>
          <a:ln/>
        </p:spPr>
        <p:txBody>
          <a:bodyPr/>
          <a:lstStyle/>
          <a:p>
            <a:endParaRPr lang="en-US"/>
          </a:p>
        </p:txBody>
      </p:sp>
      <p:sp>
        <p:nvSpPr>
          <p:cNvPr id="5" name="Shape 3"/>
          <p:cNvSpPr/>
          <p:nvPr/>
        </p:nvSpPr>
        <p:spPr>
          <a:xfrm>
            <a:off x="914372" y="2419945"/>
            <a:ext cx="5079575" cy="5341300"/>
          </a:xfrm>
          <a:prstGeom prst="rect">
            <a:avLst/>
          </a:prstGeom>
          <a:ln w="9071">
            <a:solidFill>
              <a:srgbClr val="1F1F1F">
                <a:alpha val="16000"/>
              </a:srgbClr>
            </a:solidFill>
            <a:prstDash val="solid"/>
          </a:ln>
        </p:spPr>
        <p:txBody>
          <a:bodyPr/>
          <a:lstStyle/>
          <a:p>
            <a:endParaRPr lang="en-US"/>
          </a:p>
        </p:txBody>
      </p:sp>
      <p:sp>
        <p:nvSpPr>
          <p:cNvPr id="6" name="Text 4"/>
          <p:cNvSpPr/>
          <p:nvPr/>
        </p:nvSpPr>
        <p:spPr>
          <a:xfrm>
            <a:off x="1247251" y="2733760"/>
            <a:ext cx="485519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INVESTMENT SUMMARY</a:t>
            </a:r>
            <a:endParaRPr lang="en-US" sz="2100" dirty="0"/>
          </a:p>
        </p:txBody>
      </p:sp>
      <p:sp>
        <p:nvSpPr>
          <p:cNvPr id="7" name="Shape 5"/>
          <p:cNvSpPr/>
          <p:nvPr/>
        </p:nvSpPr>
        <p:spPr>
          <a:xfrm>
            <a:off x="1247251" y="4029841"/>
            <a:ext cx="4413817" cy="9525"/>
          </a:xfrm>
          <a:prstGeom prst="rect">
            <a:avLst/>
          </a:prstGeom>
          <a:solidFill>
            <a:srgbClr val="1D1F20">
              <a:alpha val="12000"/>
            </a:srgbClr>
          </a:solidFill>
          <a:ln/>
        </p:spPr>
        <p:txBody>
          <a:bodyPr/>
          <a:lstStyle/>
          <a:p>
            <a:endParaRPr lang="en-US"/>
          </a:p>
        </p:txBody>
      </p:sp>
      <p:sp>
        <p:nvSpPr>
          <p:cNvPr id="8" name="Text 6"/>
          <p:cNvSpPr/>
          <p:nvPr/>
        </p:nvSpPr>
        <p:spPr>
          <a:xfrm>
            <a:off x="1247251" y="3507100"/>
            <a:ext cx="1166402"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Start Date</a:t>
            </a:r>
            <a:endParaRPr lang="en-US" sz="2100" dirty="0"/>
          </a:p>
        </p:txBody>
      </p:sp>
      <p:sp>
        <p:nvSpPr>
          <p:cNvPr id="9" name="Text 7"/>
          <p:cNvSpPr/>
          <p:nvPr/>
        </p:nvSpPr>
        <p:spPr>
          <a:xfrm>
            <a:off x="4688937" y="3393707"/>
            <a:ext cx="1048331" cy="569487"/>
          </a:xfrm>
          <a:prstGeom prst="rect">
            <a:avLst/>
          </a:prstGeom>
          <a:noFill/>
          <a:ln/>
        </p:spPr>
        <p:txBody>
          <a:bodyPr wrap="non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{{ssy_start_date}}</a:t>
            </a:r>
            <a:endParaRPr lang="en-US" sz="2700" dirty="0"/>
          </a:p>
        </p:txBody>
      </p:sp>
      <p:sp>
        <p:nvSpPr>
          <p:cNvPr id="10" name="Shape 8"/>
          <p:cNvSpPr/>
          <p:nvPr/>
        </p:nvSpPr>
        <p:spPr>
          <a:xfrm>
            <a:off x="1247251" y="4779793"/>
            <a:ext cx="4413817" cy="9525"/>
          </a:xfrm>
          <a:prstGeom prst="rect">
            <a:avLst/>
          </a:prstGeom>
          <a:solidFill>
            <a:srgbClr val="1D1F20">
              <a:alpha val="12000"/>
            </a:srgbClr>
          </a:solidFill>
          <a:ln/>
        </p:spPr>
        <p:txBody>
          <a:bodyPr/>
          <a:lstStyle/>
          <a:p>
            <a:endParaRPr lang="en-US"/>
          </a:p>
        </p:txBody>
      </p:sp>
      <p:sp>
        <p:nvSpPr>
          <p:cNvPr id="11" name="Text 9"/>
          <p:cNvSpPr/>
          <p:nvPr/>
        </p:nvSpPr>
        <p:spPr>
          <a:xfrm>
            <a:off x="1247251" y="4257051"/>
            <a:ext cx="2348239"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Annual Contribution</a:t>
            </a:r>
            <a:endParaRPr lang="en-US" sz="2100" dirty="0"/>
          </a:p>
        </p:txBody>
      </p:sp>
      <p:sp>
        <p:nvSpPr>
          <p:cNvPr id="12" name="Text 10"/>
          <p:cNvSpPr/>
          <p:nvPr/>
        </p:nvSpPr>
        <p:spPr>
          <a:xfrm>
            <a:off x="4523950" y="4143659"/>
            <a:ext cx="1213318" cy="569487"/>
          </a:xfrm>
          <a:prstGeom prst="rect">
            <a:avLst/>
          </a:prstGeom>
          <a:noFill/>
          <a:ln/>
        </p:spPr>
        <p:txBody>
          <a:bodyPr wrap="non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{{ssy_annual_contribution}}</a:t>
            </a:r>
            <a:endParaRPr lang="en-US" sz="2700" dirty="0"/>
          </a:p>
        </p:txBody>
      </p:sp>
      <p:sp>
        <p:nvSpPr>
          <p:cNvPr id="13" name="Shape 11"/>
          <p:cNvSpPr/>
          <p:nvPr/>
        </p:nvSpPr>
        <p:spPr>
          <a:xfrm>
            <a:off x="1247251" y="5529745"/>
            <a:ext cx="4413817" cy="9525"/>
          </a:xfrm>
          <a:prstGeom prst="rect">
            <a:avLst/>
          </a:prstGeom>
          <a:solidFill>
            <a:srgbClr val="1D1F20">
              <a:alpha val="12000"/>
            </a:srgbClr>
          </a:solidFill>
          <a:ln/>
        </p:spPr>
        <p:txBody>
          <a:bodyPr/>
          <a:lstStyle/>
          <a:p>
            <a:endParaRPr lang="en-US"/>
          </a:p>
        </p:txBody>
      </p:sp>
      <p:sp>
        <p:nvSpPr>
          <p:cNvPr id="14" name="Text 12"/>
          <p:cNvSpPr/>
          <p:nvPr/>
        </p:nvSpPr>
        <p:spPr>
          <a:xfrm>
            <a:off x="1247251" y="5007004"/>
            <a:ext cx="1527735"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Interest Rate</a:t>
            </a:r>
            <a:endParaRPr lang="en-US" sz="2100" dirty="0"/>
          </a:p>
        </p:txBody>
      </p:sp>
      <p:sp>
        <p:nvSpPr>
          <p:cNvPr id="15" name="Text 13"/>
          <p:cNvSpPr/>
          <p:nvPr/>
        </p:nvSpPr>
        <p:spPr>
          <a:xfrm>
            <a:off x="4893257" y="4893611"/>
            <a:ext cx="844011" cy="569487"/>
          </a:xfrm>
          <a:prstGeom prst="rect">
            <a:avLst/>
          </a:prstGeom>
          <a:noFill/>
          <a:ln/>
        </p:spPr>
        <p:txBody>
          <a:bodyPr wrap="non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{{ssy_rate}}</a:t>
            </a:r>
            <a:endParaRPr lang="en-US" sz="2700" dirty="0"/>
          </a:p>
        </p:txBody>
      </p:sp>
      <p:sp>
        <p:nvSpPr>
          <p:cNvPr id="16" name="Shape 14"/>
          <p:cNvSpPr/>
          <p:nvPr/>
        </p:nvSpPr>
        <p:spPr>
          <a:xfrm>
            <a:off x="1247251" y="6279697"/>
            <a:ext cx="4413817" cy="9525"/>
          </a:xfrm>
          <a:prstGeom prst="rect">
            <a:avLst/>
          </a:prstGeom>
          <a:solidFill>
            <a:srgbClr val="1D1F20">
              <a:alpha val="12000"/>
            </a:srgbClr>
          </a:solidFill>
          <a:ln/>
        </p:spPr>
        <p:txBody>
          <a:bodyPr/>
          <a:lstStyle/>
          <a:p>
            <a:endParaRPr lang="en-US"/>
          </a:p>
        </p:txBody>
      </p:sp>
      <p:sp>
        <p:nvSpPr>
          <p:cNvPr id="17" name="Text 15"/>
          <p:cNvSpPr/>
          <p:nvPr/>
        </p:nvSpPr>
        <p:spPr>
          <a:xfrm>
            <a:off x="1247251" y="5756956"/>
            <a:ext cx="1824675"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Interest Earned</a:t>
            </a:r>
            <a:endParaRPr lang="en-US" sz="2100" dirty="0"/>
          </a:p>
        </p:txBody>
      </p:sp>
      <p:sp>
        <p:nvSpPr>
          <p:cNvPr id="18" name="Text 16"/>
          <p:cNvSpPr/>
          <p:nvPr/>
        </p:nvSpPr>
        <p:spPr>
          <a:xfrm>
            <a:off x="4973128" y="5643563"/>
            <a:ext cx="764140" cy="569487"/>
          </a:xfrm>
          <a:prstGeom prst="rect">
            <a:avLst/>
          </a:prstGeom>
          <a:noFill/>
          <a:ln/>
        </p:spPr>
        <p:txBody>
          <a:bodyPr wrap="non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{{ssy_interest_to_date}}</a:t>
            </a:r>
            <a:endParaRPr lang="en-US" sz="2700" dirty="0"/>
          </a:p>
        </p:txBody>
      </p:sp>
      <p:sp>
        <p:nvSpPr>
          <p:cNvPr id="19" name="Text 17"/>
          <p:cNvSpPr/>
          <p:nvPr/>
        </p:nvSpPr>
        <p:spPr>
          <a:xfrm>
            <a:off x="1247251" y="6506908"/>
            <a:ext cx="1594467"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1D1F20">
                    <a:alpha val="90000"/>
                  </a:srgbClr>
                </a:solidFill>
                <a:latin typeface="Barlow" pitchFamily="34" charset="0"/>
                <a:ea typeface="Barlow" pitchFamily="34" charset="-122"/>
                <a:cs typeface="Barlow" pitchFamily="34" charset="-120"/>
              </a:rPr>
              <a:t>Current Value</a:t>
            </a:r>
            <a:endParaRPr lang="en-US" sz="2100" dirty="0"/>
          </a:p>
        </p:txBody>
      </p:sp>
      <p:sp>
        <p:nvSpPr>
          <p:cNvPr id="20" name="Text 18"/>
          <p:cNvSpPr/>
          <p:nvPr/>
        </p:nvSpPr>
        <p:spPr>
          <a:xfrm>
            <a:off x="4832520" y="6393515"/>
            <a:ext cx="904747" cy="569487"/>
          </a:xfrm>
          <a:prstGeom prst="rect">
            <a:avLst/>
          </a:prstGeom>
          <a:noFill/>
          <a:ln/>
        </p:spPr>
        <p:txBody>
          <a:bodyPr wrap="none" lIns="25400" tIns="25400" rIns="25400" bIns="25400" rtlCol="0" anchor="t">
            <a:normAutofit/>
          </a:bodyPr>
          <a:lstStyle/>
          <a:p>
            <a:pPr marL="0" indent="0" algn="l">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{{ssy_current_value}}</a:t>
            </a:r>
            <a:endParaRPr lang="en-US" sz="2700" dirty="0"/>
          </a:p>
        </p:txBody>
      </p:sp>
      <p:sp>
        <p:nvSpPr>
          <p:cNvPr id="21" name="Shape 19"/>
          <p:cNvSpPr/>
          <p:nvPr/>
        </p:nvSpPr>
        <p:spPr>
          <a:xfrm>
            <a:off x="6374947" y="2419945"/>
            <a:ext cx="5079646" cy="5341300"/>
          </a:xfrm>
          <a:prstGeom prst="rect">
            <a:avLst/>
          </a:prstGeom>
          <a:solidFill>
            <a:srgbClr val="141A45"/>
          </a:solidFill>
          <a:ln w="9071">
            <a:solidFill>
              <a:srgbClr val="141A45"/>
            </a:solidFill>
            <a:prstDash val="solid"/>
          </a:ln>
        </p:spPr>
        <p:txBody>
          <a:bodyPr/>
          <a:lstStyle/>
          <a:p>
            <a:endParaRPr lang="en-US"/>
          </a:p>
        </p:txBody>
      </p:sp>
      <p:sp>
        <p:nvSpPr>
          <p:cNvPr id="22" name="Text 20"/>
          <p:cNvSpPr/>
          <p:nvPr/>
        </p:nvSpPr>
        <p:spPr>
          <a:xfrm>
            <a:off x="6707826" y="2733760"/>
            <a:ext cx="4855277"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94BCE3"/>
                </a:solidFill>
                <a:latin typeface="Barlow" pitchFamily="34" charset="0"/>
                <a:ea typeface="Barlow" pitchFamily="34" charset="-122"/>
                <a:cs typeface="Barlow" pitchFamily="34" charset="-120"/>
              </a:rPr>
              <a:t>AT MATURITY</a:t>
            </a:r>
            <a:endParaRPr lang="en-US" sz="2100" dirty="0"/>
          </a:p>
        </p:txBody>
      </p:sp>
      <p:sp>
        <p:nvSpPr>
          <p:cNvPr id="23" name="Shape 21"/>
          <p:cNvSpPr/>
          <p:nvPr/>
        </p:nvSpPr>
        <p:spPr>
          <a:xfrm>
            <a:off x="6707826" y="4029841"/>
            <a:ext cx="4413888" cy="9525"/>
          </a:xfrm>
          <a:prstGeom prst="rect">
            <a:avLst/>
          </a:prstGeom>
          <a:solidFill>
            <a:srgbClr val="F2F2F3">
              <a:alpha val="16000"/>
            </a:srgbClr>
          </a:solidFill>
          <a:ln/>
        </p:spPr>
        <p:txBody>
          <a:bodyPr/>
          <a:lstStyle/>
          <a:p>
            <a:endParaRPr lang="en-US"/>
          </a:p>
        </p:txBody>
      </p:sp>
      <p:sp>
        <p:nvSpPr>
          <p:cNvPr id="24" name="Text 22"/>
          <p:cNvSpPr/>
          <p:nvPr/>
        </p:nvSpPr>
        <p:spPr>
          <a:xfrm>
            <a:off x="6707826" y="3507100"/>
            <a:ext cx="1038126"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End Date</a:t>
            </a:r>
            <a:endParaRPr lang="en-US" sz="2100" dirty="0"/>
          </a:p>
        </p:txBody>
      </p:sp>
      <p:sp>
        <p:nvSpPr>
          <p:cNvPr id="25" name="Text 23"/>
          <p:cNvSpPr/>
          <p:nvPr/>
        </p:nvSpPr>
        <p:spPr>
          <a:xfrm>
            <a:off x="10080980" y="3393707"/>
            <a:ext cx="1116934" cy="569487"/>
          </a:xfrm>
          <a:prstGeom prst="rect">
            <a:avLst/>
          </a:prstGeom>
          <a:noFill/>
          <a:ln/>
        </p:spPr>
        <p:txBody>
          <a:bodyPr wrap="none" lIns="25400" tIns="25400" rIns="25400" bIns="25400" rtlCol="0" anchor="t">
            <a:normAutofit/>
          </a:bodyPr>
          <a:lstStyle/>
          <a:p>
            <a:pPr marL="0" indent="0" algn="l">
              <a:lnSpc>
                <a:spcPct val="128769"/>
              </a:lnSpc>
              <a:buNone/>
            </a:pPr>
            <a:r>
              <a:rPr lang="en-US" sz="2700" dirty="0">
                <a:solidFill>
                  <a:srgbClr val="F2F2F3"/>
                </a:solidFill>
                <a:latin typeface="Barlow Condensed" pitchFamily="34" charset="0"/>
                <a:ea typeface="Barlow Condensed" pitchFamily="34" charset="-122"/>
                <a:cs typeface="Barlow Condensed" pitchFamily="34" charset="-120"/>
              </a:rPr>
              <a:t>{{ssy_end_date}}</a:t>
            </a:r>
            <a:endParaRPr lang="en-US" sz="2700" dirty="0"/>
          </a:p>
        </p:txBody>
      </p:sp>
      <p:sp>
        <p:nvSpPr>
          <p:cNvPr id="26" name="Shape 24"/>
          <p:cNvSpPr/>
          <p:nvPr/>
        </p:nvSpPr>
        <p:spPr>
          <a:xfrm>
            <a:off x="6707826" y="4779793"/>
            <a:ext cx="4413888" cy="9525"/>
          </a:xfrm>
          <a:prstGeom prst="rect">
            <a:avLst/>
          </a:prstGeom>
          <a:solidFill>
            <a:srgbClr val="F2F2F3">
              <a:alpha val="16000"/>
            </a:srgbClr>
          </a:solidFill>
          <a:ln/>
        </p:spPr>
        <p:txBody>
          <a:bodyPr/>
          <a:lstStyle/>
          <a:p>
            <a:endParaRPr lang="en-US"/>
          </a:p>
        </p:txBody>
      </p:sp>
      <p:sp>
        <p:nvSpPr>
          <p:cNvPr id="27" name="Text 25"/>
          <p:cNvSpPr/>
          <p:nvPr/>
        </p:nvSpPr>
        <p:spPr>
          <a:xfrm>
            <a:off x="6707826" y="4257051"/>
            <a:ext cx="2130893"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Contributions End</a:t>
            </a:r>
            <a:endParaRPr lang="en-US" sz="2100" dirty="0"/>
          </a:p>
        </p:txBody>
      </p:sp>
      <p:sp>
        <p:nvSpPr>
          <p:cNvPr id="28" name="Text 26"/>
          <p:cNvSpPr/>
          <p:nvPr/>
        </p:nvSpPr>
        <p:spPr>
          <a:xfrm>
            <a:off x="10549363" y="4143659"/>
            <a:ext cx="648550" cy="569487"/>
          </a:xfrm>
          <a:prstGeom prst="rect">
            <a:avLst/>
          </a:prstGeom>
          <a:noFill/>
          <a:ln/>
        </p:spPr>
        <p:txBody>
          <a:bodyPr wrap="none" lIns="25400" tIns="25400" rIns="25400" bIns="25400" rtlCol="0" anchor="t">
            <a:normAutofit/>
          </a:bodyPr>
          <a:lstStyle/>
          <a:p>
            <a:pPr marL="0" indent="0" algn="l">
              <a:lnSpc>
                <a:spcPct val="128769"/>
              </a:lnSpc>
              <a:buNone/>
            </a:pPr>
            <a:r>
              <a:rPr lang="en-US" sz="2700" dirty="0">
                <a:solidFill>
                  <a:srgbClr val="F2F2F3"/>
                </a:solidFill>
                <a:latin typeface="Barlow Condensed" pitchFamily="34" charset="0"/>
                <a:ea typeface="Barlow Condensed" pitchFamily="34" charset="-122"/>
                <a:cs typeface="Barlow Condensed" pitchFamily="34" charset="-120"/>
              </a:rPr>
              <a:t>{{ssy_contributions_end}}</a:t>
            </a:r>
            <a:endParaRPr lang="en-US" sz="2700" dirty="0"/>
          </a:p>
        </p:txBody>
      </p:sp>
      <p:sp>
        <p:nvSpPr>
          <p:cNvPr id="29" name="Shape 27"/>
          <p:cNvSpPr/>
          <p:nvPr/>
        </p:nvSpPr>
        <p:spPr>
          <a:xfrm>
            <a:off x="6707826" y="5529745"/>
            <a:ext cx="4413888" cy="9525"/>
          </a:xfrm>
          <a:prstGeom prst="rect">
            <a:avLst/>
          </a:prstGeom>
          <a:solidFill>
            <a:srgbClr val="F2F2F3">
              <a:alpha val="16000"/>
            </a:srgbClr>
          </a:solidFill>
          <a:ln/>
        </p:spPr>
        <p:txBody>
          <a:bodyPr/>
          <a:lstStyle/>
          <a:p>
            <a:endParaRPr lang="en-US"/>
          </a:p>
        </p:txBody>
      </p:sp>
      <p:sp>
        <p:nvSpPr>
          <p:cNvPr id="30" name="Text 28"/>
          <p:cNvSpPr/>
          <p:nvPr/>
        </p:nvSpPr>
        <p:spPr>
          <a:xfrm>
            <a:off x="6707826" y="5007004"/>
            <a:ext cx="1527735"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Interest Rate</a:t>
            </a:r>
            <a:endParaRPr lang="en-US" sz="2100" dirty="0"/>
          </a:p>
        </p:txBody>
      </p:sp>
      <p:sp>
        <p:nvSpPr>
          <p:cNvPr id="31" name="Text 29"/>
          <p:cNvSpPr/>
          <p:nvPr/>
        </p:nvSpPr>
        <p:spPr>
          <a:xfrm>
            <a:off x="10353903" y="4893611"/>
            <a:ext cx="844011" cy="569487"/>
          </a:xfrm>
          <a:prstGeom prst="rect">
            <a:avLst/>
          </a:prstGeom>
          <a:noFill/>
          <a:ln/>
        </p:spPr>
        <p:txBody>
          <a:bodyPr wrap="none" lIns="25400" tIns="25400" rIns="25400" bIns="25400" rtlCol="0" anchor="t">
            <a:normAutofit/>
          </a:bodyPr>
          <a:lstStyle/>
          <a:p>
            <a:pPr marL="0" indent="0" algn="l">
              <a:lnSpc>
                <a:spcPct val="128769"/>
              </a:lnSpc>
              <a:buNone/>
            </a:pPr>
            <a:r>
              <a:rPr lang="en-US" sz="2700" dirty="0">
                <a:solidFill>
                  <a:srgbClr val="F2F2F3"/>
                </a:solidFill>
                <a:latin typeface="Barlow Condensed" pitchFamily="34" charset="0"/>
                <a:ea typeface="Barlow Condensed" pitchFamily="34" charset="-122"/>
                <a:cs typeface="Barlow Condensed" pitchFamily="34" charset="-120"/>
              </a:rPr>
              <a:t>{{ssy_rate}}</a:t>
            </a:r>
            <a:endParaRPr lang="en-US" sz="2700" dirty="0"/>
          </a:p>
        </p:txBody>
      </p:sp>
      <p:sp>
        <p:nvSpPr>
          <p:cNvPr id="32" name="Shape 30"/>
          <p:cNvSpPr/>
          <p:nvPr/>
        </p:nvSpPr>
        <p:spPr>
          <a:xfrm>
            <a:off x="6707826" y="6279697"/>
            <a:ext cx="4413888" cy="9525"/>
          </a:xfrm>
          <a:prstGeom prst="rect">
            <a:avLst/>
          </a:prstGeom>
          <a:solidFill>
            <a:srgbClr val="F2F2F3">
              <a:alpha val="16000"/>
            </a:srgbClr>
          </a:solidFill>
          <a:ln/>
        </p:spPr>
        <p:txBody>
          <a:bodyPr/>
          <a:lstStyle/>
          <a:p>
            <a:endParaRPr lang="en-US"/>
          </a:p>
        </p:txBody>
      </p:sp>
      <p:sp>
        <p:nvSpPr>
          <p:cNvPr id="33" name="Text 31"/>
          <p:cNvSpPr/>
          <p:nvPr/>
        </p:nvSpPr>
        <p:spPr>
          <a:xfrm>
            <a:off x="6707826" y="5756956"/>
            <a:ext cx="1824675"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Interest Earned</a:t>
            </a:r>
            <a:endParaRPr lang="en-US" sz="2100" dirty="0"/>
          </a:p>
        </p:txBody>
      </p:sp>
      <p:sp>
        <p:nvSpPr>
          <p:cNvPr id="34" name="Text 32"/>
          <p:cNvSpPr/>
          <p:nvPr/>
        </p:nvSpPr>
        <p:spPr>
          <a:xfrm>
            <a:off x="10236611" y="5643563"/>
            <a:ext cx="961302" cy="569487"/>
          </a:xfrm>
          <a:prstGeom prst="rect">
            <a:avLst/>
          </a:prstGeom>
          <a:noFill/>
          <a:ln/>
        </p:spPr>
        <p:txBody>
          <a:bodyPr wrap="none" lIns="25400" tIns="25400" rIns="25400" bIns="25400" rtlCol="0" anchor="t">
            <a:normAutofit/>
          </a:bodyPr>
          <a:lstStyle/>
          <a:p>
            <a:pPr marL="0" indent="0" algn="l">
              <a:lnSpc>
                <a:spcPct val="128769"/>
              </a:lnSpc>
              <a:buNone/>
            </a:pPr>
            <a:r>
              <a:rPr lang="en-US" sz="2700" dirty="0">
                <a:solidFill>
                  <a:srgbClr val="F2F2F3"/>
                </a:solidFill>
                <a:latin typeface="Barlow Condensed" pitchFamily="34" charset="0"/>
                <a:ea typeface="Barlow Condensed" pitchFamily="34" charset="-122"/>
                <a:cs typeface="Barlow Condensed" pitchFamily="34" charset="-120"/>
              </a:rPr>
              <a:t>{{ssy_interest_at_maturity}}</a:t>
            </a:r>
            <a:endParaRPr lang="en-US" sz="2700" dirty="0"/>
          </a:p>
        </p:txBody>
      </p:sp>
      <p:sp>
        <p:nvSpPr>
          <p:cNvPr id="35" name="Text 33"/>
          <p:cNvSpPr/>
          <p:nvPr/>
        </p:nvSpPr>
        <p:spPr>
          <a:xfrm>
            <a:off x="6707826" y="6506908"/>
            <a:ext cx="1958139" cy="421864"/>
          </a:xfrm>
          <a:prstGeom prst="rect">
            <a:avLst/>
          </a:prstGeom>
          <a:noFill/>
          <a:ln/>
        </p:spPr>
        <p:txBody>
          <a:bodyPr wrap="square" lIns="25400" tIns="25400" rIns="25400" bIns="25400" rtlCol="0" anchor="t">
            <a:normAutofit fontScale="92500"/>
          </a:bodyPr>
          <a:lstStyle/>
          <a:p>
            <a:pPr marL="0" indent="0" algn="l">
              <a:lnSpc>
                <a:spcPct val="128227"/>
              </a:lnSpc>
              <a:buNone/>
            </a:pPr>
            <a:r>
              <a:rPr lang="en-US" sz="2100" dirty="0">
                <a:solidFill>
                  <a:srgbClr val="F2F2F3">
                    <a:alpha val="90000"/>
                  </a:srgbClr>
                </a:solidFill>
                <a:latin typeface="Barlow" pitchFamily="34" charset="0"/>
                <a:ea typeface="Barlow" pitchFamily="34" charset="-122"/>
                <a:cs typeface="Barlow" pitchFamily="34" charset="-120"/>
              </a:rPr>
              <a:t>Value at Maturity</a:t>
            </a:r>
            <a:endParaRPr lang="en-US" sz="2100" dirty="0"/>
          </a:p>
        </p:txBody>
      </p:sp>
      <p:sp>
        <p:nvSpPr>
          <p:cNvPr id="36" name="Text 34"/>
          <p:cNvSpPr/>
          <p:nvPr/>
        </p:nvSpPr>
        <p:spPr>
          <a:xfrm>
            <a:off x="10240013" y="6393515"/>
            <a:ext cx="957900" cy="569487"/>
          </a:xfrm>
          <a:prstGeom prst="rect">
            <a:avLst/>
          </a:prstGeom>
          <a:noFill/>
          <a:ln/>
        </p:spPr>
        <p:txBody>
          <a:bodyPr wrap="none" lIns="25400" tIns="25400" rIns="25400" bIns="25400" rtlCol="0" anchor="t">
            <a:normAutofit/>
          </a:bodyPr>
          <a:lstStyle/>
          <a:p>
            <a:pPr marL="0" indent="0" algn="l">
              <a:lnSpc>
                <a:spcPct val="128769"/>
              </a:lnSpc>
              <a:buNone/>
            </a:pPr>
            <a:r>
              <a:rPr lang="en-US" sz="2700" dirty="0">
                <a:solidFill>
                  <a:srgbClr val="94BCE3"/>
                </a:solidFill>
                <a:latin typeface="Barlow Condensed" pitchFamily="34" charset="0"/>
                <a:ea typeface="Barlow Condensed" pitchFamily="34" charset="-122"/>
                <a:cs typeface="Barlow Condensed" pitchFamily="34" charset="-120"/>
              </a:rPr>
              <a:t>{{ssy_maturity_value}}</a:t>
            </a:r>
            <a:endParaRPr lang="en-US" sz="2700" dirty="0"/>
          </a:p>
        </p:txBody>
      </p:sp>
      <p:sp>
        <p:nvSpPr>
          <p:cNvPr id="37" name="Shape 35"/>
          <p:cNvSpPr/>
          <p:nvPr/>
        </p:nvSpPr>
        <p:spPr>
          <a:xfrm>
            <a:off x="914372" y="8008867"/>
            <a:ext cx="10540221" cy="9525"/>
          </a:xfrm>
          <a:prstGeom prst="rect">
            <a:avLst/>
          </a:prstGeom>
          <a:solidFill>
            <a:srgbClr val="1D1F20">
              <a:alpha val="18000"/>
            </a:srgbClr>
          </a:solidFill>
          <a:ln/>
        </p:spPr>
        <p:txBody>
          <a:bodyPr/>
          <a:lstStyle/>
          <a:p>
            <a:endParaRPr lang="en-US"/>
          </a:p>
        </p:txBody>
      </p:sp>
      <p:sp>
        <p:nvSpPr>
          <p:cNvPr id="38" name="Text 36"/>
          <p:cNvSpPr/>
          <p:nvPr/>
        </p:nvSpPr>
        <p:spPr>
          <a:xfrm>
            <a:off x="914372" y="8246539"/>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39" name="Text 37"/>
          <p:cNvSpPr/>
          <p:nvPr/>
        </p:nvSpPr>
        <p:spPr>
          <a:xfrm>
            <a:off x="3276487" y="8208439"/>
            <a:ext cx="8423449" cy="1133688"/>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{{ssy_comment}}</a:t>
            </a:r>
            <a:endParaRPr lang="en-US" sz="2100" dirty="0"/>
          </a:p>
        </p:txBody>
      </p:sp>
      <p:sp>
        <p:nvSpPr>
          <p:cNvPr id="40" name="Text 38"/>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1" name="Text 39"/>
          <p:cNvSpPr/>
          <p:nvPr/>
        </p:nvSpPr>
        <p:spPr>
          <a:xfrm>
            <a:off x="10832278" y="9475462"/>
            <a:ext cx="698514"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
        <p:nvSpPr>
          <p:cNvPr id="42" name="Shape 40"/>
          <p:cNvSpPr/>
          <p:nvPr/>
        </p:nvSpPr>
        <p:spPr>
          <a:xfrm>
            <a:off x="12064151" y="0"/>
            <a:ext cx="6223780" cy="10287001"/>
          </a:xfrm>
          <a:prstGeom prst="rect">
            <a:avLst/>
          </a:prstGeom>
          <a:solidFill>
            <a:srgbClr val="E7E7EA"/>
          </a:solidFill>
          <a:ln/>
        </p:spPr>
        <p:txBody>
          <a:bodyPr/>
          <a:lstStyle/>
          <a:p>
            <a:endParaRPr lang="en-US"/>
          </a:p>
        </p:txBody>
      </p:sp>
      <p:pic>
        <p:nvPicPr>
          <p:cNvPr id="43" name="Image 0" descr="preencoded.png"/>
          <p:cNvPicPr>
            <a:picLocks noChangeAspect="1"/>
          </p:cNvPicPr>
          <p:nvPr/>
        </p:nvPicPr>
        <p:blipFill>
          <a:blip r:embed="rId3"/>
          <a:srcRect l="29833" r="29833"/>
          <a:stretch/>
        </p:blipFill>
        <p:spPr>
          <a:xfrm>
            <a:off x="12064151" y="0"/>
            <a:ext cx="6223780" cy="10287001"/>
          </a:xfrm>
          <a:prstGeom prst="rect">
            <a:avLst/>
          </a:prstGeom>
        </p:spPr>
      </p:pic>
      <p:sp>
        <p:nvSpPr>
          <p:cNvPr id="44" name="Shape 41"/>
          <p:cNvSpPr/>
          <p:nvPr/>
        </p:nvSpPr>
        <p:spPr>
          <a:xfrm>
            <a:off x="12064151" y="0"/>
            <a:ext cx="6223780" cy="10287001"/>
          </a:xfrm>
          <a:prstGeom prst="rect">
            <a:avLst/>
          </a:prstGeom>
          <a:solidFill>
            <a:srgbClr val="26306F">
              <a:alpha val="30000"/>
            </a:srgbClr>
          </a:solidFill>
          <a:ln/>
        </p:spPr>
        <p:txBody>
          <a:bodyPr/>
          <a:lstStyle/>
          <a:p>
            <a:endParaRPr lang="en-US"/>
          </a:p>
        </p:txBody>
      </p:sp>
    </p:spTree>
    <p:extLst>
      <p:ext uri="{BB962C8B-B14F-4D97-AF65-F5344CB8AC3E}">
        <p14:creationId xmlns:p14="http://schemas.microsoft.com/office/powerpoint/2010/main" val="24976636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41A45"/>
        </a:solidFill>
        <a:effectLst/>
      </p:bgPr>
    </p:bg>
    <p:spTree>
      <p:nvGrpSpPr>
        <p:cNvPr id="1" name="">
          <a:extLst>
            <a:ext uri="{FF2B5EF4-FFF2-40B4-BE49-F238E27FC236}">
              <a16:creationId xmlns:a16="http://schemas.microsoft.com/office/drawing/2014/main" id="{F70221B6-491C-8DDD-E966-048362015B8C}"/>
            </a:ext>
          </a:extLst>
        </p:cNvPr>
        <p:cNvGrpSpPr/>
        <p:nvPr/>
      </p:nvGrpSpPr>
      <p:grpSpPr>
        <a:xfrm>
          <a:off x="0" y="0"/>
          <a:ext cx="0" cy="0"/>
          <a:chOff x="0" y="0"/>
          <a:chExt cx="0" cy="0"/>
        </a:xfrm>
      </p:grpSpPr>
      <p:sp>
        <p:nvSpPr>
          <p:cNvPr id="8" name="Google Shape;1121;p30">
            <a:extLst>
              <a:ext uri="{FF2B5EF4-FFF2-40B4-BE49-F238E27FC236}">
                <a16:creationId xmlns:a16="http://schemas.microsoft.com/office/drawing/2014/main" id="{F77B0D28-95B8-89E3-4696-8B79AAF96EDA}"/>
              </a:ext>
            </a:extLst>
          </p:cNvPr>
          <p:cNvSpPr/>
          <p:nvPr/>
        </p:nvSpPr>
        <p:spPr>
          <a:xfrm>
            <a:off x="914372" y="3025180"/>
            <a:ext cx="8844056" cy="2106102"/>
          </a:xfrm>
          <a:prstGeom prst="rect">
            <a:avLst/>
          </a:prstGeom>
          <a:noFill/>
          <a:ln>
            <a:noFill/>
          </a:ln>
        </p:spPr>
        <p:txBody>
          <a:bodyPr spcFirstLastPara="1" wrap="square" lIns="25400" tIns="25400" rIns="25400" bIns="25400" anchor="t" anchorCtr="0">
            <a:noAutofit/>
          </a:bodyPr>
          <a:lstStyle/>
          <a:p>
            <a:pPr marL="0" marR="0" lvl="0" indent="0" algn="l" rtl="0">
              <a:lnSpc>
                <a:spcPct val="76502"/>
              </a:lnSpc>
              <a:spcBef>
                <a:spcPts val="0"/>
              </a:spcBef>
              <a:spcAft>
                <a:spcPts val="0"/>
              </a:spcAft>
              <a:buClr>
                <a:srgbClr val="F2F2F3"/>
              </a:buClr>
              <a:buSzPts val="8850"/>
              <a:buFont typeface="Barlow Condensed"/>
              <a:buNone/>
            </a:pPr>
            <a:r>
              <a:rPr lang="en-US" sz="8850" b="1" i="0" u="none" strike="noStrike" cap="none">
                <a:solidFill>
                  <a:srgbClr val="F2F2F3"/>
                </a:solidFill>
                <a:latin typeface="Barlow Condensed"/>
                <a:ea typeface="Barlow Condensed"/>
                <a:cs typeface="Barlow Condensed"/>
                <a:sym typeface="Barlow Condensed"/>
              </a:rPr>
              <a:t>Retirement at {{retirement_age}}</a:t>
            </a:r>
            <a:endParaRPr sz="8850" b="0" i="0" u="none" strike="noStrike" cap="none">
              <a:solidFill>
                <a:schemeClr val="dk1"/>
              </a:solidFill>
              <a:latin typeface="Calibri"/>
              <a:ea typeface="Calibri"/>
              <a:cs typeface="Calibri"/>
              <a:sym typeface="Calibri"/>
            </a:endParaRPr>
          </a:p>
        </p:txBody>
      </p:sp>
      <p:sp>
        <p:nvSpPr>
          <p:cNvPr id="12" name="Google Shape;1122;p30">
            <a:extLst>
              <a:ext uri="{FF2B5EF4-FFF2-40B4-BE49-F238E27FC236}">
                <a16:creationId xmlns:a16="http://schemas.microsoft.com/office/drawing/2014/main" id="{F17A5216-EBDF-23B5-FD07-8A72D4A7AD1D}"/>
              </a:ext>
            </a:extLst>
          </p:cNvPr>
          <p:cNvSpPr/>
          <p:nvPr/>
        </p:nvSpPr>
        <p:spPr>
          <a:xfrm>
            <a:off x="914372" y="5474182"/>
            <a:ext cx="7238930" cy="9525"/>
          </a:xfrm>
          <a:prstGeom prst="rect">
            <a:avLst/>
          </a:prstGeom>
          <a:solidFill>
            <a:srgbClr val="F2F2F3">
              <a:alpha val="27843"/>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23;p30">
            <a:extLst>
              <a:ext uri="{FF2B5EF4-FFF2-40B4-BE49-F238E27FC236}">
                <a16:creationId xmlns:a16="http://schemas.microsoft.com/office/drawing/2014/main" id="{2A1F8FF2-16C8-864A-C9C1-025400AA00AA}"/>
              </a:ext>
            </a:extLst>
          </p:cNvPr>
          <p:cNvSpPr/>
          <p:nvPr/>
        </p:nvSpPr>
        <p:spPr>
          <a:xfrm>
            <a:off x="914372" y="5807486"/>
            <a:ext cx="8229628" cy="1446865"/>
          </a:xfrm>
          <a:prstGeom prst="rect">
            <a:avLst/>
          </a:prstGeom>
          <a:noFill/>
          <a:ln>
            <a:noFill/>
          </a:ln>
        </p:spPr>
        <p:txBody>
          <a:bodyPr spcFirstLastPara="1" wrap="square" lIns="25400" tIns="25400" rIns="25400" bIns="25400" anchor="t" anchorCtr="0">
            <a:noAutofit/>
          </a:bodyPr>
          <a:lstStyle/>
          <a:p>
            <a:pPr marL="0" marR="0" lvl="0" indent="0" algn="l" rtl="0">
              <a:lnSpc>
                <a:spcPct val="121800"/>
              </a:lnSpc>
              <a:spcBef>
                <a:spcPts val="0"/>
              </a:spcBef>
              <a:spcAft>
                <a:spcPts val="0"/>
              </a:spcAft>
              <a:buClr>
                <a:srgbClr val="F2F2F3"/>
              </a:buClr>
              <a:buSzPts val="2550"/>
              <a:buFont typeface="Barlow"/>
              <a:buNone/>
            </a:pPr>
            <a:r>
              <a:rPr lang="en-US" sz="2550" dirty="0">
                <a:solidFill>
                  <a:srgbClr val="F2F2F3"/>
                </a:solidFill>
                <a:latin typeface="Barlow"/>
                <a:ea typeface="Barlow"/>
                <a:cs typeface="Barlow"/>
                <a:sym typeface="Barlow"/>
              </a:rPr>
              <a:t>{{retirement_section_intro}}</a:t>
            </a:r>
            <a:r>
              <a:rPr lang="en-US" sz="2550" b="0" i="0" u="none" strike="noStrike" cap="none" dirty="0">
                <a:solidFill>
                  <a:srgbClr val="F2F2F3"/>
                </a:solidFill>
                <a:latin typeface="Barlow"/>
                <a:ea typeface="Barlow"/>
                <a:cs typeface="Barlow"/>
                <a:sym typeface="Barlow"/>
              </a:rPr>
              <a:t/>
            </a:r>
            <a:endParaRPr sz="2550" b="0" i="0" u="none" strike="noStrike" cap="none" dirty="0">
              <a:solidFill>
                <a:schemeClr val="dk1"/>
              </a:solidFill>
              <a:latin typeface="Calibri"/>
              <a:ea typeface="Calibri"/>
              <a:cs typeface="Calibri"/>
              <a:sym typeface="Calibri"/>
            </a:endParaRPr>
          </a:p>
        </p:txBody>
      </p:sp>
      <p:sp>
        <p:nvSpPr>
          <p:cNvPr id="19" name="Google Shape;1124;p30">
            <a:extLst>
              <a:ext uri="{FF2B5EF4-FFF2-40B4-BE49-F238E27FC236}">
                <a16:creationId xmlns:a16="http://schemas.microsoft.com/office/drawing/2014/main" id="{90439ADB-0B05-D937-E190-5E48AAF7517A}"/>
              </a:ext>
            </a:extLst>
          </p:cNvPr>
          <p:cNvSpPr/>
          <p:nvPr/>
        </p:nvSpPr>
        <p:spPr>
          <a:xfrm>
            <a:off x="914372" y="7749623"/>
            <a:ext cx="2640346"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CORPUS REQUIRED</a:t>
            </a:r>
            <a:endParaRPr sz="1800" b="0" i="0" u="none" strike="noStrike" cap="none">
              <a:solidFill>
                <a:schemeClr val="dk1"/>
              </a:solidFill>
              <a:latin typeface="Calibri"/>
              <a:ea typeface="Calibri"/>
              <a:cs typeface="Calibri"/>
              <a:sym typeface="Calibri"/>
            </a:endParaRPr>
          </a:p>
        </p:txBody>
      </p:sp>
      <p:sp>
        <p:nvSpPr>
          <p:cNvPr id="22" name="Google Shape;1125;p30">
            <a:extLst>
              <a:ext uri="{FF2B5EF4-FFF2-40B4-BE49-F238E27FC236}">
                <a16:creationId xmlns:a16="http://schemas.microsoft.com/office/drawing/2014/main" id="{BB512882-81F4-EA24-29CA-3BEF7D8AF749}"/>
              </a:ext>
            </a:extLst>
          </p:cNvPr>
          <p:cNvSpPr/>
          <p:nvPr/>
        </p:nvSpPr>
        <p:spPr>
          <a:xfrm>
            <a:off x="914372" y="8180161"/>
            <a:ext cx="2640346" cy="571472"/>
          </a:xfrm>
          <a:prstGeom prst="rect">
            <a:avLst/>
          </a:prstGeom>
          <a:noFill/>
          <a:ln>
            <a:noFill/>
          </a:ln>
        </p:spPr>
        <p:txBody>
          <a:bodyPr spcFirstLastPara="1" wrap="non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dirty="0">
                <a:solidFill>
                  <a:srgbClr val="94BCE3"/>
                </a:solidFill>
                <a:latin typeface="Barlow Condensed"/>
                <a:ea typeface="Barlow Condensed"/>
                <a:cs typeface="Barlow Condensed"/>
                <a:sym typeface="Barlow Condensed"/>
              </a:rPr>
              <a:t>{{corpus_required}}</a:t>
            </a:r>
            <a:r>
              <a:rPr lang="en-US" sz="4200" dirty="0">
                <a:solidFill>
                  <a:srgbClr val="94BCE3"/>
                </a:solidFill>
                <a:latin typeface="Barlow Condensed"/>
                <a:ea typeface="Barlow Condensed"/>
                <a:cs typeface="Barlow Condensed"/>
                <a:sym typeface="Barlow Condensed"/>
              </a:rPr>
              <a:t/>
            </a:r>
            <a:r>
              <a:rPr lang="en-US" sz="4200" b="0" i="0" u="none" strike="noStrike" cap="none" dirty="0">
                <a:solidFill>
                  <a:srgbClr val="94BCE3"/>
                </a:solidFill>
                <a:latin typeface="Barlow Condensed"/>
                <a:ea typeface="Barlow Condensed"/>
                <a:cs typeface="Barlow Condensed"/>
                <a:sym typeface="Barlow Condensed"/>
              </a:rPr>
              <a:t/>
            </a:r>
            <a:endParaRPr sz="4200" b="0" i="0" u="none" strike="noStrike" cap="none" dirty="0">
              <a:solidFill>
                <a:schemeClr val="dk1"/>
              </a:solidFill>
              <a:latin typeface="Calibri"/>
              <a:ea typeface="Calibri"/>
              <a:cs typeface="Calibri"/>
              <a:sym typeface="Calibri"/>
            </a:endParaRPr>
          </a:p>
        </p:txBody>
      </p:sp>
      <p:sp>
        <p:nvSpPr>
          <p:cNvPr id="24" name="Google Shape;1126;p30">
            <a:extLst>
              <a:ext uri="{FF2B5EF4-FFF2-40B4-BE49-F238E27FC236}">
                <a16:creationId xmlns:a16="http://schemas.microsoft.com/office/drawing/2014/main" id="{83566AC7-D31D-504B-5B22-7491CAB41C91}"/>
              </a:ext>
            </a:extLst>
          </p:cNvPr>
          <p:cNvSpPr/>
          <p:nvPr/>
        </p:nvSpPr>
        <p:spPr>
          <a:xfrm>
            <a:off x="3848058" y="7749623"/>
            <a:ext cx="2897840"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CORPUS PROJECTED</a:t>
            </a:r>
            <a:endParaRPr sz="1800" b="0" i="0" u="none" strike="noStrike" cap="none">
              <a:solidFill>
                <a:schemeClr val="dk1"/>
              </a:solidFill>
              <a:latin typeface="Calibri"/>
              <a:ea typeface="Calibri"/>
              <a:cs typeface="Calibri"/>
              <a:sym typeface="Calibri"/>
            </a:endParaRPr>
          </a:p>
        </p:txBody>
      </p:sp>
      <p:sp>
        <p:nvSpPr>
          <p:cNvPr id="27" name="Google Shape;1127;p30">
            <a:extLst>
              <a:ext uri="{FF2B5EF4-FFF2-40B4-BE49-F238E27FC236}">
                <a16:creationId xmlns:a16="http://schemas.microsoft.com/office/drawing/2014/main" id="{62B2CE7D-13EE-8327-3AF1-2A2BEAADEED8}"/>
              </a:ext>
            </a:extLst>
          </p:cNvPr>
          <p:cNvSpPr/>
          <p:nvPr/>
        </p:nvSpPr>
        <p:spPr>
          <a:xfrm>
            <a:off x="3848058" y="8180161"/>
            <a:ext cx="2897840" cy="571472"/>
          </a:xfrm>
          <a:prstGeom prst="rect">
            <a:avLst/>
          </a:prstGeom>
          <a:noFill/>
          <a:ln>
            <a:noFill/>
          </a:ln>
        </p:spPr>
        <p:txBody>
          <a:bodyPr spcFirstLastPara="1" wrap="none" lIns="25400" tIns="25400" rIns="25400" bIns="25400" anchor="t" anchorCtr="0">
            <a:noAutofit/>
          </a:bodyPr>
          <a:lstStyle/>
          <a:p>
            <a:pPr marL="0" marR="0" lvl="0" indent="0" algn="l" rtl="0">
              <a:lnSpc>
                <a:spcPct val="82817"/>
              </a:lnSpc>
              <a:spcBef>
                <a:spcPts val="0"/>
              </a:spcBef>
              <a:spcAft>
                <a:spcPts val="0"/>
              </a:spcAft>
              <a:buClr>
                <a:srgbClr val="94BCE3"/>
              </a:buClr>
              <a:buSzPts val="4200"/>
              <a:buFont typeface="Barlow Condensed"/>
              <a:buNone/>
            </a:pPr>
            <a:r>
              <a:rPr lang="en-US" sz="4200" b="0" i="0" u="none" strike="noStrike" cap="none" dirty="0">
                <a:solidFill>
                  <a:srgbClr val="94BCE3"/>
                </a:solidFill>
                <a:latin typeface="Barlow Condensed"/>
                <a:ea typeface="Barlow Condensed"/>
                <a:cs typeface="Barlow Condensed"/>
                <a:sym typeface="Barlow Condensed"/>
              </a:rPr>
              <a:t>{{corpus_projected}}</a:t>
            </a:r>
            <a:endParaRPr sz="4200" b="0" i="0" u="none" strike="noStrike" cap="none" dirty="0">
              <a:solidFill>
                <a:schemeClr val="dk1"/>
              </a:solidFill>
              <a:latin typeface="Calibri"/>
              <a:ea typeface="Calibri"/>
              <a:cs typeface="Calibri"/>
              <a:sym typeface="Calibri"/>
            </a:endParaRPr>
          </a:p>
        </p:txBody>
      </p:sp>
      <p:sp>
        <p:nvSpPr>
          <p:cNvPr id="30" name="Google Shape;1128;p30">
            <a:extLst>
              <a:ext uri="{FF2B5EF4-FFF2-40B4-BE49-F238E27FC236}">
                <a16:creationId xmlns:a16="http://schemas.microsoft.com/office/drawing/2014/main" id="{86E182BB-1641-AD41-FBD2-8FE3EE235DE4}"/>
              </a:ext>
            </a:extLst>
          </p:cNvPr>
          <p:cNvSpPr/>
          <p:nvPr/>
        </p:nvSpPr>
        <p:spPr>
          <a:xfrm>
            <a:off x="914372" y="9323090"/>
            <a:ext cx="9445108" cy="392453"/>
          </a:xfrm>
          <a:prstGeom prst="rect">
            <a:avLst/>
          </a:prstGeom>
          <a:noFill/>
          <a:ln>
            <a:noFill/>
          </a:ln>
        </p:spPr>
        <p:txBody>
          <a:bodyPr spcFirstLastPara="1" wrap="square" lIns="25400" tIns="25400" rIns="25400" bIns="25400" anchor="t" anchorCtr="0">
            <a:noAutofit/>
          </a:bodyPr>
          <a:lstStyle/>
          <a:p>
            <a:pPr marL="0" marR="0" lvl="0" indent="0" algn="l" rtl="0">
              <a:lnSpc>
                <a:spcPct val="130200"/>
              </a:lnSpc>
              <a:spcBef>
                <a:spcPts val="0"/>
              </a:spcBef>
              <a:spcAft>
                <a:spcPts val="0"/>
              </a:spcAft>
              <a:buClr>
                <a:srgbClr val="F2F2F3"/>
              </a:buClr>
              <a:buSzPts val="1800"/>
              <a:buFont typeface="Barlow"/>
              <a:buNone/>
            </a:pPr>
            <a:r>
              <a:rPr lang="en-US" sz="1800" b="0" i="0" u="none" strike="noStrike" cap="none">
                <a:solidFill>
                  <a:srgbClr val="F2F2F3"/>
                </a:solidFill>
                <a:latin typeface="Barlow"/>
                <a:ea typeface="Barlow"/>
                <a:cs typeface="Barlow"/>
                <a:sym typeface="Barlow"/>
              </a:rPr>
              <a:t>ARMSTRONG CAPITAL · GOAL BASED PLANNING</a:t>
            </a:r>
            <a:endParaRPr sz="1800" b="0" i="0" u="none" strike="noStrike" cap="none">
              <a:solidFill>
                <a:schemeClr val="dk1"/>
              </a:solidFill>
              <a:latin typeface="Calibri"/>
              <a:ea typeface="Calibri"/>
              <a:cs typeface="Calibri"/>
              <a:sym typeface="Calibri"/>
            </a:endParaRPr>
          </a:p>
        </p:txBody>
      </p:sp>
      <p:sp>
        <p:nvSpPr>
          <p:cNvPr id="32" name="Google Shape;1129;p30">
            <a:extLst>
              <a:ext uri="{FF2B5EF4-FFF2-40B4-BE49-F238E27FC236}">
                <a16:creationId xmlns:a16="http://schemas.microsoft.com/office/drawing/2014/main" id="{5216F8C7-8490-276C-22AC-6AEB26841D47}"/>
              </a:ext>
            </a:extLst>
          </p:cNvPr>
          <p:cNvSpPr/>
          <p:nvPr/>
        </p:nvSpPr>
        <p:spPr>
          <a:xfrm>
            <a:off x="10110391" y="0"/>
            <a:ext cx="8177539" cy="10287001"/>
          </a:xfrm>
          <a:prstGeom prst="rect">
            <a:avLst/>
          </a:prstGeom>
          <a:solidFill>
            <a:srgbClr val="2026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 name="Google Shape;1130;p30" descr="preencoded.png">
            <a:extLst>
              <a:ext uri="{FF2B5EF4-FFF2-40B4-BE49-F238E27FC236}">
                <a16:creationId xmlns:a16="http://schemas.microsoft.com/office/drawing/2014/main" id="{D7B4F135-A0D2-7898-50C3-B2FB35AD1026}"/>
              </a:ext>
            </a:extLst>
          </p:cNvPr>
          <p:cNvPicPr preferRelativeResize="0"/>
          <p:nvPr/>
        </p:nvPicPr>
        <p:blipFill rotWithShape="1">
          <a:blip r:embed="rId3">
            <a:alphaModFix amt="90000"/>
          </a:blip>
          <a:srcRect l="24265" r="24265"/>
          <a:stretch/>
        </p:blipFill>
        <p:spPr>
          <a:xfrm>
            <a:off x="10110391" y="0"/>
            <a:ext cx="8177539" cy="10287001"/>
          </a:xfrm>
          <a:prstGeom prst="rect">
            <a:avLst/>
          </a:prstGeom>
          <a:noFill/>
          <a:ln>
            <a:noFill/>
          </a:ln>
        </p:spPr>
      </p:pic>
      <p:sp>
        <p:nvSpPr>
          <p:cNvPr id="36" name="Google Shape;1131;p30">
            <a:extLst>
              <a:ext uri="{FF2B5EF4-FFF2-40B4-BE49-F238E27FC236}">
                <a16:creationId xmlns:a16="http://schemas.microsoft.com/office/drawing/2014/main" id="{CC91BC17-AAE2-A6B8-4572-3A6591746F75}"/>
              </a:ext>
            </a:extLst>
          </p:cNvPr>
          <p:cNvSpPr/>
          <p:nvPr/>
        </p:nvSpPr>
        <p:spPr>
          <a:xfrm>
            <a:off x="10110391" y="0"/>
            <a:ext cx="8177539" cy="10287001"/>
          </a:xfrm>
          <a:prstGeom prst="rect">
            <a:avLst/>
          </a:prstGeom>
          <a:solidFill>
            <a:srgbClr val="141A45">
              <a:alpha val="54902"/>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132;p30">
            <a:extLst>
              <a:ext uri="{FF2B5EF4-FFF2-40B4-BE49-F238E27FC236}">
                <a16:creationId xmlns:a16="http://schemas.microsoft.com/office/drawing/2014/main" id="{2BD2030A-82EB-37E8-CD99-E22F4CDD0368}"/>
              </a:ext>
            </a:extLst>
          </p:cNvPr>
          <p:cNvSpPr/>
          <p:nvPr/>
        </p:nvSpPr>
        <p:spPr>
          <a:xfrm>
            <a:off x="10110391" y="0"/>
            <a:ext cx="8177539" cy="10287001"/>
          </a:xfrm>
          <a:prstGeom prst="rect">
            <a:avLst/>
          </a:prstGeom>
          <a:gradFill>
            <a:gsLst>
              <a:gs pos="0">
                <a:srgbClr val="141A45"/>
              </a:gs>
              <a:gs pos="30000">
                <a:srgbClr val="141A45">
                  <a:alpha val="0"/>
                </a:srgbClr>
              </a:gs>
              <a:gs pos="100000">
                <a:srgbClr val="141A45">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38401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sp>
        <p:nvSpPr>
          <p:cNvPr id="1268" name="Google Shape;1268;p42"/>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70" name="Google Shape;1270;p42"/>
          <p:cNvSpPr txBox="1"/>
          <p:nvPr/>
        </p:nvSpPr>
        <p:spPr>
          <a:xfrm>
            <a:off x="863803" y="376292"/>
            <a:ext cx="3643214" cy="1063826"/>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50" b="0" i="0" u="none" strike="noStrike" kern="0" cap="none" spc="0" normalizeH="0" baseline="0" noProof="0">
                <a:ln>
                  <a:noFill/>
                </a:ln>
                <a:solidFill>
                  <a:srgbClr val="2A3480"/>
                </a:solidFill>
                <a:effectLst/>
                <a:uLnTx/>
                <a:uFillTx/>
                <a:latin typeface="Barlow"/>
                <a:ea typeface="Barlow"/>
                <a:cs typeface="Barlow"/>
                <a:sym typeface="Barlow"/>
              </a:rPr>
              <a:t>RETIREMENT ASSET · {{asset_horizon_year}}</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950" b="1"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Provident Fund</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pic>
        <p:nvPicPr>
          <p:cNvPr id="1271" name="Google Shape;1271;p42" descr="image.png"/>
          <p:cNvPicPr preferRelativeResize="0"/>
          <p:nvPr/>
        </p:nvPicPr>
        <p:blipFill rotWithShape="1">
          <a:blip r:embed="rId3">
            <a:alphaModFix/>
          </a:blip>
          <a:srcRect/>
          <a:stretch/>
        </p:blipFill>
        <p:spPr>
          <a:xfrm>
            <a:off x="15373350" y="304736"/>
            <a:ext cx="2076323" cy="590486"/>
          </a:xfrm>
          <a:prstGeom prst="rect">
            <a:avLst/>
          </a:prstGeom>
          <a:noFill/>
          <a:ln>
            <a:noFill/>
          </a:ln>
        </p:spPr>
      </p:pic>
      <p:sp>
        <p:nvSpPr>
          <p:cNvPr id="1272" name="Google Shape;1272;p42"/>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73" name="Google Shape;1273;p42"/>
          <p:cNvSpPr txBox="1"/>
          <p:nvPr/>
        </p:nvSpPr>
        <p:spPr>
          <a:xfrm>
            <a:off x="863803" y="1662064"/>
            <a:ext cx="13161032" cy="6979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20800"/>
              </a:lnSpc>
              <a:spcBef>
                <a:spcPts val="0"/>
              </a:spcBef>
              <a:spcAft>
                <a:spcPts val="0"/>
              </a:spcAft>
              <a:buClr>
                <a:srgbClr val="000000"/>
              </a:buClr>
              <a:buSzTx/>
              <a:buFont typeface="Arial"/>
              <a:buNone/>
              <a:tabLst/>
              <a:defRPr/>
            </a:pPr>
            <a:r>
              <a:rPr kumimoji="0" lang="en-US" sz="2050" b="0" i="0" u="none" strike="noStrike" kern="0" cap="none" spc="0" normalizeH="0" baseline="0" noProof="0">
                <a:ln>
                  <a:noFill/>
                </a:ln>
                <a:solidFill>
                  <a:srgbClr val="1D1F20"/>
                </a:solidFill>
                <a:effectLst/>
                <a:uLnTx/>
                <a:uFillTx/>
                <a:latin typeface="Barlow"/>
                <a:ea typeface="Barlow"/>
                <a:cs typeface="Barlow"/>
                <a:sym typeface="Barlow"/>
              </a:rPr>
              <a:t>{{pf_description}}</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74" name="Google Shape;1274;p42"/>
          <p:cNvSpPr/>
          <p:nvPr/>
        </p:nvSpPr>
        <p:spPr>
          <a:xfrm>
            <a:off x="838187" y="2539428"/>
            <a:ext cx="4038599"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75" name="Google Shape;1275;p42"/>
          <p:cNvSpPr txBox="1"/>
          <p:nvPr/>
        </p:nvSpPr>
        <p:spPr>
          <a:xfrm>
            <a:off x="1063142" y="2756280"/>
            <a:ext cx="2135288" cy="772353"/>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CURRENT BALANCE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{{pf_current_value}}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76" name="Google Shape;1276;p42"/>
          <p:cNvSpPr/>
          <p:nvPr/>
        </p:nvSpPr>
        <p:spPr>
          <a:xfrm>
            <a:off x="5029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77" name="Google Shape;1277;p42"/>
          <p:cNvSpPr txBox="1"/>
          <p:nvPr/>
        </p:nvSpPr>
        <p:spPr>
          <a:xfrm>
            <a:off x="5254497" y="2756280"/>
            <a:ext cx="2740351" cy="772353"/>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MONTHLY CONTRIBUTION</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{{pf_contribution}}</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78" name="Google Shape;1278;p42"/>
          <p:cNvSpPr/>
          <p:nvPr/>
        </p:nvSpPr>
        <p:spPr>
          <a:xfrm>
            <a:off x="9220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79" name="Google Shape;1279;p42"/>
          <p:cNvSpPr txBox="1"/>
          <p:nvPr/>
        </p:nvSpPr>
        <p:spPr>
          <a:xfrm>
            <a:off x="9445752" y="2756280"/>
            <a:ext cx="2070052" cy="772353"/>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STEP-UP ASSUMED</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{{pf_step_up}}</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0" name="Google Shape;1280;p42"/>
          <p:cNvSpPr/>
          <p:nvPr/>
        </p:nvSpPr>
        <p:spPr>
          <a:xfrm>
            <a:off x="13411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1" name="Google Shape;1281;p42"/>
          <p:cNvSpPr txBox="1"/>
          <p:nvPr/>
        </p:nvSpPr>
        <p:spPr>
          <a:xfrm>
            <a:off x="13637387" y="2756280"/>
            <a:ext cx="1711716" cy="772353"/>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INTEREST RATE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{{pf_roi}}</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2" name="Google Shape;1282;p42"/>
          <p:cNvSpPr txBox="1"/>
          <p:nvPr/>
        </p:nvSpPr>
        <p:spPr>
          <a:xfrm>
            <a:off x="863803" y="3913997"/>
            <a:ext cx="2727237" cy="2995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2A3480"/>
                </a:solidFill>
                <a:effectLst/>
                <a:uLnTx/>
                <a:uFillTx/>
                <a:latin typeface="Barlow"/>
                <a:ea typeface="Barlow"/>
                <a:cs typeface="Barlow"/>
                <a:sym typeface="Barlow"/>
              </a:rPr>
              <a:t>BALANCE TO APRIL {{asset_horizon_year}}</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3" name="Google Shape;1283;p42"/>
          <p:cNvSpPr txBox="1"/>
          <p:nvPr/>
        </p:nvSpPr>
        <p:spPr>
          <a:xfrm>
            <a:off x="863803" y="6349080"/>
            <a:ext cx="686836" cy="407090"/>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{{pf_bar_1_value}}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4" name="Google Shape;1284;p42"/>
          <p:cNvSpPr/>
          <p:nvPr/>
        </p:nvSpPr>
        <p:spPr>
          <a:xfrm>
            <a:off x="838187" y="6831596"/>
            <a:ext cx="2170175" cy="1088504"/>
          </a:xfrm>
          <a:prstGeom prst="rect">
            <a:avLst/>
          </a:prstGeom>
          <a:solidFill>
            <a:srgbClr val="B7B7B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5" name="Google Shape;1285;p42"/>
          <p:cNvSpPr txBox="1"/>
          <p:nvPr/>
        </p:nvSpPr>
        <p:spPr>
          <a:xfrm>
            <a:off x="863803" y="8090661"/>
            <a:ext cx="567232" cy="288035"/>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{{pf_bar_1_year}}</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6" name="Google Shape;1286;p42"/>
          <p:cNvSpPr txBox="1"/>
          <p:nvPr/>
        </p:nvSpPr>
        <p:spPr>
          <a:xfrm>
            <a:off x="3281426" y="5421599"/>
            <a:ext cx="952737" cy="407090"/>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{{pf_bar_2_value}}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7" name="Google Shape;1287;p42"/>
          <p:cNvSpPr/>
          <p:nvPr/>
        </p:nvSpPr>
        <p:spPr>
          <a:xfrm>
            <a:off x="3255898" y="5904357"/>
            <a:ext cx="2170176" cy="2015744"/>
          </a:xfrm>
          <a:prstGeom prst="rect">
            <a:avLst/>
          </a:prstGeom>
          <a:solidFill>
            <a:srgbClr val="5980A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88" name="Google Shape;1288;p42"/>
          <p:cNvSpPr txBox="1"/>
          <p:nvPr/>
        </p:nvSpPr>
        <p:spPr>
          <a:xfrm>
            <a:off x="3281426" y="8090661"/>
            <a:ext cx="525627" cy="288035"/>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{{pf_bar_2_year}}</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89" name="Google Shape;1289;p42"/>
          <p:cNvSpPr txBox="1"/>
          <p:nvPr/>
        </p:nvSpPr>
        <p:spPr>
          <a:xfrm>
            <a:off x="5699505" y="4453566"/>
            <a:ext cx="960851" cy="407474"/>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{{pf_bar_3_value}}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0" name="Google Shape;1290;p42"/>
          <p:cNvSpPr/>
          <p:nvPr/>
        </p:nvSpPr>
        <p:spPr>
          <a:xfrm>
            <a:off x="5673725" y="4936744"/>
            <a:ext cx="2170176" cy="2983357"/>
          </a:xfrm>
          <a:prstGeom prst="rect">
            <a:avLst/>
          </a:prstGeom>
          <a:solidFill>
            <a:srgbClr val="3A4595"/>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1" name="Google Shape;1291;p42"/>
          <p:cNvSpPr txBox="1"/>
          <p:nvPr/>
        </p:nvSpPr>
        <p:spPr>
          <a:xfrm>
            <a:off x="5699505" y="8090661"/>
            <a:ext cx="571576" cy="288035"/>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{{pf_bar_3_year}}</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2" name="Google Shape;1292;p42"/>
          <p:cNvSpPr txBox="1"/>
          <p:nvPr/>
        </p:nvSpPr>
        <p:spPr>
          <a:xfrm>
            <a:off x="8117458" y="4433412"/>
            <a:ext cx="1001524" cy="407090"/>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550" b="0" i="0" u="none" strike="noStrike" kern="0" cap="none" spc="0" normalizeH="0" baseline="0" noProof="0">
                <a:ln>
                  <a:noFill/>
                </a:ln>
                <a:solidFill>
                  <a:srgbClr val="2F7D3A"/>
                </a:solidFill>
                <a:effectLst/>
                <a:uLnTx/>
                <a:uFillTx/>
                <a:latin typeface="Barlow Condensed"/>
                <a:ea typeface="Barlow Condensed"/>
                <a:cs typeface="Barlow Condensed"/>
                <a:sym typeface="Barlow Condensed"/>
              </a:rPr>
              <a:t>{{pf_bar_4_value}}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3" name="Google Shape;1293;p42"/>
          <p:cNvSpPr/>
          <p:nvPr/>
        </p:nvSpPr>
        <p:spPr>
          <a:xfrm>
            <a:off x="8091423" y="4916296"/>
            <a:ext cx="2170176" cy="3003804"/>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4" name="Google Shape;1294;p42"/>
          <p:cNvSpPr txBox="1"/>
          <p:nvPr/>
        </p:nvSpPr>
        <p:spPr>
          <a:xfrm>
            <a:off x="8117458" y="8090661"/>
            <a:ext cx="553745" cy="288035"/>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{{pf_bar_4_year}}</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5" name="Google Shape;1295;p42"/>
          <p:cNvSpPr/>
          <p:nvPr/>
        </p:nvSpPr>
        <p:spPr>
          <a:xfrm>
            <a:off x="10718800" y="3835781"/>
            <a:ext cx="6730872" cy="1961514"/>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6" name="Google Shape;1296;p42"/>
          <p:cNvSpPr txBox="1"/>
          <p:nvPr/>
        </p:nvSpPr>
        <p:spPr>
          <a:xfrm>
            <a:off x="11011789" y="4120007"/>
            <a:ext cx="2890743" cy="108822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F2F2F3"/>
                </a:solidFill>
                <a:effectLst/>
                <a:uLnTx/>
                <a:uFillTx/>
                <a:latin typeface="Barlow"/>
                <a:ea typeface="Barlow"/>
                <a:cs typeface="Barlow"/>
                <a:sym typeface="Barlow"/>
              </a:rPr>
              <a:t>VALUE AT RETIREMENT</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0" i="0" u="none" strike="noStrike" kern="0" cap="none" spc="0" normalizeH="0" baseline="0" noProof="0">
                <a:ln>
                  <a:noFill/>
                </a:ln>
                <a:solidFill>
                  <a:srgbClr val="F2F2F3"/>
                </a:solidFill>
                <a:effectLst/>
                <a:uLnTx/>
                <a:uFillTx/>
                <a:latin typeface="Barlow Condensed"/>
                <a:ea typeface="Barlow Condensed"/>
                <a:cs typeface="Barlow Condensed"/>
                <a:sym typeface="Barlow Condensed"/>
              </a:rPr>
              <a:t>{{pf_value_at_retirement}}</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7" name="Google Shape;1297;p42"/>
          <p:cNvSpPr txBox="1"/>
          <p:nvPr/>
        </p:nvSpPr>
        <p:spPr>
          <a:xfrm>
            <a:off x="11011789" y="5297154"/>
            <a:ext cx="4441384" cy="2995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F2F2F3"/>
                </a:solidFill>
                <a:effectLst/>
                <a:uLnTx/>
                <a:uFillTx/>
                <a:latin typeface="Barlow"/>
                <a:ea typeface="Barlow"/>
                <a:cs typeface="Barlow"/>
                <a:sym typeface="Barlow"/>
              </a:rPr>
              <a:t>{{pf_value_note}}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298" name="Google Shape;1298;p42"/>
          <p:cNvSpPr/>
          <p:nvPr/>
        </p:nvSpPr>
        <p:spPr>
          <a:xfrm>
            <a:off x="10718800" y="5930645"/>
            <a:ext cx="6730872" cy="2439035"/>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99" name="Google Shape;1299;p42"/>
          <p:cNvSpPr txBox="1"/>
          <p:nvPr/>
        </p:nvSpPr>
        <p:spPr>
          <a:xfrm>
            <a:off x="10992611" y="6489303"/>
            <a:ext cx="2667765" cy="2995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2A3480"/>
                </a:solidFill>
                <a:effectLst/>
                <a:uLnTx/>
                <a:uFillTx/>
                <a:latin typeface="Barlow"/>
                <a:ea typeface="Barlow"/>
                <a:cs typeface="Barlow"/>
                <a:sym typeface="Barlow"/>
              </a:rPr>
              <a:t>OUR RECOMMENDATION</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0" name="Google Shape;1300;p42"/>
          <p:cNvSpPr txBox="1"/>
          <p:nvPr/>
        </p:nvSpPr>
        <p:spPr>
          <a:xfrm>
            <a:off x="10992611" y="6930883"/>
            <a:ext cx="6297182" cy="9853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202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{{pf_recommendation}}</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1" name="Google Shape;1301;p42"/>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02" name="Google Shape;1302;p42"/>
          <p:cNvSpPr txBox="1"/>
          <p:nvPr/>
        </p:nvSpPr>
        <p:spPr>
          <a:xfrm>
            <a:off x="1082344" y="8625586"/>
            <a:ext cx="15987175" cy="946048"/>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2A3480"/>
                </a:solidFill>
                <a:effectLst/>
                <a:uLnTx/>
                <a:uFillTx/>
                <a:latin typeface="Barlow"/>
                <a:ea typeface="Barlow"/>
                <a:cs typeface="Barlow"/>
                <a:sym typeface="Barlow"/>
              </a:rPr>
              <a:t>ADVISOR COMMENT</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a:p>
            <a:pPr marL="0" marR="0" lvl="0" indent="0" algn="l" defTabSz="914400" rtl="0" eaLnBrk="1" fontAlgn="auto" latinLnBrk="0" hangingPunct="1">
              <a:lnSpc>
                <a:spcPct val="110000"/>
              </a:lnSpc>
              <a:spcBef>
                <a:spcPts val="22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{{pf_comment}}</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3" name="Google Shape;1303;p42"/>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Armstrong Capital · Goal Based Planning</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1304" name="Google Shape;1304;p42"/>
          <p:cNvSpPr txBox="1"/>
          <p:nvPr/>
        </p:nvSpPr>
        <p:spPr>
          <a:xfrm>
            <a:off x="16587469" y="9779215"/>
            <a:ext cx="750555" cy="288420"/>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{{page_no}} / {{page_total}}</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08"/>
        <p:cNvGrpSpPr/>
        <p:nvPr/>
      </p:nvGrpSpPr>
      <p:grpSpPr>
        <a:xfrm>
          <a:off x="0" y="0"/>
          <a:ext cx="0" cy="0"/>
          <a:chOff x="0" y="0"/>
          <a:chExt cx="0" cy="0"/>
        </a:xfrm>
      </p:grpSpPr>
      <p:sp>
        <p:nvSpPr>
          <p:cNvPr id="1309" name="Google Shape;1309;p43"/>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1" name="Google Shape;1311;p43"/>
          <p:cNvSpPr txBox="1"/>
          <p:nvPr/>
        </p:nvSpPr>
        <p:spPr>
          <a:xfrm>
            <a:off x="863803" y="376292"/>
            <a:ext cx="5255226"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950" b="0" i="0" u="none" strike="noStrike" cap="none">
                <a:solidFill>
                  <a:srgbClr val="2A3480"/>
                </a:solidFill>
                <a:latin typeface="Barlow"/>
                <a:ea typeface="Barlow"/>
                <a:cs typeface="Barlow"/>
                <a:sym typeface="Barlow"/>
              </a:rPr>
              <a:t>RETIREMENT ASSET · {{asset_horizon_year}}</a:t>
            </a:r>
            <a:endParaRPr/>
          </a:p>
          <a:p>
            <a:pPr marL="0" marR="0" lvl="0" indent="0" algn="l" rtl="0">
              <a:lnSpc>
                <a:spcPct val="100000"/>
              </a:lnSpc>
              <a:spcBef>
                <a:spcPts val="0"/>
              </a:spcBef>
              <a:spcAft>
                <a:spcPts val="0"/>
              </a:spcAft>
              <a:buNone/>
            </a:pPr>
            <a:r>
              <a:rPr lang="en-US" sz="4950" b="1" i="0" u="none" strike="noStrike" cap="none">
                <a:solidFill>
                  <a:srgbClr val="1D1F20"/>
                </a:solidFill>
                <a:latin typeface="Barlow Condensed"/>
                <a:ea typeface="Barlow Condensed"/>
                <a:cs typeface="Barlow Condensed"/>
                <a:sym typeface="Barlow Condensed"/>
              </a:rPr>
              <a:t>Public Provident Fund</a:t>
            </a:r>
            <a:endParaRPr/>
          </a:p>
        </p:txBody>
      </p:sp>
      <p:pic>
        <p:nvPicPr>
          <p:cNvPr id="1312" name="Google Shape;1312;p43" descr="image.png"/>
          <p:cNvPicPr preferRelativeResize="0"/>
          <p:nvPr/>
        </p:nvPicPr>
        <p:blipFill rotWithShape="1">
          <a:blip r:embed="rId3">
            <a:alphaModFix/>
          </a:blip>
          <a:srcRect/>
          <a:stretch/>
        </p:blipFill>
        <p:spPr>
          <a:xfrm>
            <a:off x="15373350" y="304736"/>
            <a:ext cx="2076323" cy="590486"/>
          </a:xfrm>
          <a:prstGeom prst="rect">
            <a:avLst/>
          </a:prstGeom>
          <a:noFill/>
          <a:ln>
            <a:noFill/>
          </a:ln>
        </p:spPr>
      </p:pic>
      <p:sp>
        <p:nvSpPr>
          <p:cNvPr id="1313" name="Google Shape;1313;p43"/>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4" name="Google Shape;1314;p43"/>
          <p:cNvSpPr txBox="1"/>
          <p:nvPr/>
        </p:nvSpPr>
        <p:spPr>
          <a:xfrm>
            <a:off x="863803" y="1662064"/>
            <a:ext cx="13391684" cy="697900"/>
          </a:xfrm>
          <a:prstGeom prst="rect">
            <a:avLst/>
          </a:prstGeom>
          <a:noFill/>
          <a:ln>
            <a:noFill/>
          </a:ln>
        </p:spPr>
        <p:txBody>
          <a:bodyPr spcFirstLastPara="1" wrap="square" lIns="0" tIns="0" rIns="0" bIns="0" anchor="t" anchorCtr="0">
            <a:noAutofit/>
          </a:bodyPr>
          <a:lstStyle/>
          <a:p>
            <a:pPr marL="0" marR="0" lvl="0" indent="0" algn="l" rtl="0">
              <a:lnSpc>
                <a:spcPct val="120800"/>
              </a:lnSpc>
              <a:spcBef>
                <a:spcPts val="0"/>
              </a:spcBef>
              <a:spcAft>
                <a:spcPts val="0"/>
              </a:spcAft>
              <a:buNone/>
            </a:pPr>
            <a:r>
              <a:rPr lang="en-US" sz="2050" b="0" i="0" u="none" strike="noStrike" cap="none">
                <a:solidFill>
                  <a:srgbClr val="1D1F20"/>
                </a:solidFill>
                <a:latin typeface="Barlow"/>
                <a:ea typeface="Barlow"/>
                <a:cs typeface="Barlow"/>
                <a:sym typeface="Barlow"/>
              </a:rPr>
              <a:t>{{ppf_description}}</a:t>
            </a:r>
            <a:endParaRPr/>
          </a:p>
        </p:txBody>
      </p:sp>
      <p:sp>
        <p:nvSpPr>
          <p:cNvPr id="1315" name="Google Shape;1315;p43"/>
          <p:cNvSpPr/>
          <p:nvPr/>
        </p:nvSpPr>
        <p:spPr>
          <a:xfrm>
            <a:off x="838187" y="2539428"/>
            <a:ext cx="4038599"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6" name="Google Shape;1316;p43"/>
          <p:cNvSpPr txBox="1"/>
          <p:nvPr/>
        </p:nvSpPr>
        <p:spPr>
          <a:xfrm>
            <a:off x="1063142" y="2756280"/>
            <a:ext cx="2233910"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COMBINED BALANCE</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{{ppf_current_value}}</a:t>
            </a:r>
            <a:endParaRPr/>
          </a:p>
        </p:txBody>
      </p:sp>
      <p:sp>
        <p:nvSpPr>
          <p:cNvPr id="1317" name="Google Shape;1317;p43"/>
          <p:cNvSpPr/>
          <p:nvPr/>
        </p:nvSpPr>
        <p:spPr>
          <a:xfrm>
            <a:off x="5029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18" name="Google Shape;1318;p43"/>
          <p:cNvSpPr txBox="1"/>
          <p:nvPr/>
        </p:nvSpPr>
        <p:spPr>
          <a:xfrm>
            <a:off x="5254497" y="2756280"/>
            <a:ext cx="2595689"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ANNUAL CONTRIBUTION</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{{ppf_contribution}}</a:t>
            </a:r>
            <a:endParaRPr/>
          </a:p>
        </p:txBody>
      </p:sp>
      <p:sp>
        <p:nvSpPr>
          <p:cNvPr id="1319" name="Google Shape;1319;p43"/>
          <p:cNvSpPr/>
          <p:nvPr/>
        </p:nvSpPr>
        <p:spPr>
          <a:xfrm>
            <a:off x="9220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0" name="Google Shape;1320;p43"/>
          <p:cNvSpPr txBox="1"/>
          <p:nvPr/>
        </p:nvSpPr>
        <p:spPr>
          <a:xfrm>
            <a:off x="9445752" y="2756280"/>
            <a:ext cx="1711721"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INTEREST RATE</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{{ppf_roi}}</a:t>
            </a:r>
            <a:endParaRPr/>
          </a:p>
        </p:txBody>
      </p:sp>
      <p:sp>
        <p:nvSpPr>
          <p:cNvPr id="1321" name="Google Shape;1321;p43"/>
          <p:cNvSpPr/>
          <p:nvPr/>
        </p:nvSpPr>
        <p:spPr>
          <a:xfrm>
            <a:off x="13411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2" name="Google Shape;1322;p43"/>
          <p:cNvSpPr txBox="1"/>
          <p:nvPr/>
        </p:nvSpPr>
        <p:spPr>
          <a:xfrm>
            <a:off x="13637387" y="2756280"/>
            <a:ext cx="1831665"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ACCOUNTS HELD</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{{ppf_accounts}}</a:t>
            </a:r>
            <a:endParaRPr/>
          </a:p>
        </p:txBody>
      </p:sp>
      <p:sp>
        <p:nvSpPr>
          <p:cNvPr id="1323" name="Google Shape;1323;p43"/>
          <p:cNvSpPr txBox="1"/>
          <p:nvPr/>
        </p:nvSpPr>
        <p:spPr>
          <a:xfrm>
            <a:off x="863803" y="3913997"/>
            <a:ext cx="898095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BALANCE TO APRIL {{asset_horizon_year}} — CONTRIBUTIONS IN GREY, INTEREST EARNED IN NAVY</a:t>
            </a:r>
            <a:endParaRPr/>
          </a:p>
        </p:txBody>
      </p:sp>
      <p:sp>
        <p:nvSpPr>
          <p:cNvPr id="1324" name="Google Shape;1324;p43"/>
          <p:cNvSpPr/>
          <p:nvPr/>
        </p:nvSpPr>
        <p:spPr>
          <a:xfrm>
            <a:off x="10718800" y="3835781"/>
            <a:ext cx="6730872" cy="1961514"/>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5" name="Google Shape;1325;p43"/>
          <p:cNvSpPr txBox="1"/>
          <p:nvPr/>
        </p:nvSpPr>
        <p:spPr>
          <a:xfrm>
            <a:off x="11011789" y="4120007"/>
            <a:ext cx="2525174" cy="108822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VALUE AT RETIREMENT</a:t>
            </a:r>
            <a:endParaRPr/>
          </a:p>
          <a:p>
            <a:pPr marL="0" marR="0" lvl="0" indent="0" algn="l" rtl="0">
              <a:lnSpc>
                <a:spcPct val="100000"/>
              </a:lnSpc>
              <a:spcBef>
                <a:spcPts val="0"/>
              </a:spcBef>
              <a:spcAft>
                <a:spcPts val="0"/>
              </a:spcAft>
              <a:buNone/>
            </a:pPr>
            <a:r>
              <a:rPr lang="en-US" sz="5400" b="0" i="0" u="none" strike="noStrike" cap="none">
                <a:solidFill>
                  <a:srgbClr val="F2F2F3"/>
                </a:solidFill>
                <a:latin typeface="Barlow Condensed"/>
                <a:ea typeface="Barlow Condensed"/>
                <a:cs typeface="Barlow Condensed"/>
                <a:sym typeface="Barlow Condensed"/>
              </a:rPr>
              <a:t>{{ppf_value_at_retirement}}</a:t>
            </a:r>
            <a:endParaRPr/>
          </a:p>
        </p:txBody>
      </p:sp>
      <p:sp>
        <p:nvSpPr>
          <p:cNvPr id="1326" name="Google Shape;1326;p43"/>
          <p:cNvSpPr txBox="1"/>
          <p:nvPr/>
        </p:nvSpPr>
        <p:spPr>
          <a:xfrm>
            <a:off x="11011789" y="5297154"/>
            <a:ext cx="4275507"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F2F2F3"/>
                </a:solidFill>
                <a:latin typeface="Barlow"/>
                <a:ea typeface="Barlow"/>
                <a:cs typeface="Barlow"/>
                <a:sym typeface="Barlow"/>
              </a:rPr>
              <a:t>{{ppf_value_note}}</a:t>
            </a:r>
            <a:endParaRPr/>
          </a:p>
        </p:txBody>
      </p:sp>
      <p:sp>
        <p:nvSpPr>
          <p:cNvPr id="1327" name="Google Shape;1327;p43"/>
          <p:cNvSpPr/>
          <p:nvPr/>
        </p:nvSpPr>
        <p:spPr>
          <a:xfrm>
            <a:off x="10718800" y="5930645"/>
            <a:ext cx="6730872" cy="2439035"/>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28" name="Google Shape;1328;p43"/>
          <p:cNvSpPr txBox="1"/>
          <p:nvPr/>
        </p:nvSpPr>
        <p:spPr>
          <a:xfrm>
            <a:off x="10992611" y="6489303"/>
            <a:ext cx="2667765"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OUR RECOMMENDATION</a:t>
            </a:r>
            <a:endParaRPr/>
          </a:p>
        </p:txBody>
      </p:sp>
      <p:sp>
        <p:nvSpPr>
          <p:cNvPr id="1329" name="Google Shape;1329;p43"/>
          <p:cNvSpPr txBox="1"/>
          <p:nvPr/>
        </p:nvSpPr>
        <p:spPr>
          <a:xfrm>
            <a:off x="10992611" y="6930883"/>
            <a:ext cx="6193926" cy="985357"/>
          </a:xfrm>
          <a:prstGeom prst="rect">
            <a:avLst/>
          </a:prstGeom>
          <a:noFill/>
          <a:ln>
            <a:noFill/>
          </a:ln>
        </p:spPr>
        <p:txBody>
          <a:bodyPr spcFirstLastPara="1" wrap="square" lIns="0" tIns="0" rIns="0" bIns="0" anchor="t" anchorCtr="0">
            <a:noAutofit/>
          </a:bodyPr>
          <a:lstStyle/>
          <a:p>
            <a:pPr marL="0" marR="0" lvl="0" indent="0" algn="l" rtl="0">
              <a:lnSpc>
                <a:spcPct val="120200"/>
              </a:lnSpc>
              <a:spcBef>
                <a:spcPts val="0"/>
              </a:spcBef>
              <a:spcAft>
                <a:spcPts val="0"/>
              </a:spcAft>
              <a:buNone/>
            </a:pPr>
            <a:r>
              <a:rPr lang="en-US" sz="1850" b="0" i="0" u="none" strike="noStrike" cap="none">
                <a:solidFill>
                  <a:srgbClr val="1D1F20"/>
                </a:solidFill>
                <a:latin typeface="Barlow"/>
                <a:ea typeface="Barlow"/>
                <a:cs typeface="Barlow"/>
                <a:sym typeface="Barlow"/>
              </a:rPr>
              <a:t>{{ppf_recommendation}}</a:t>
            </a:r>
            <a:endParaRPr/>
          </a:p>
        </p:txBody>
      </p:sp>
      <p:sp>
        <p:nvSpPr>
          <p:cNvPr id="1330" name="Google Shape;1330;p43"/>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1" name="Google Shape;1331;p43"/>
          <p:cNvSpPr txBox="1"/>
          <p:nvPr/>
        </p:nvSpPr>
        <p:spPr>
          <a:xfrm>
            <a:off x="1082344" y="8625586"/>
            <a:ext cx="16028773"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{{ppf_comment}}</a:t>
            </a:r>
            <a:endParaRPr/>
          </a:p>
        </p:txBody>
      </p:sp>
      <p:sp>
        <p:nvSpPr>
          <p:cNvPr id="1332" name="Google Shape;1332;p43"/>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333" name="Google Shape;1333;p43"/>
          <p:cNvSpPr txBox="1"/>
          <p:nvPr/>
        </p:nvSpPr>
        <p:spPr>
          <a:xfrm>
            <a:off x="16587469" y="9779215"/>
            <a:ext cx="701110" cy="28842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{{page_no}} / {{page_total}}</a:t>
            </a:r>
            <a:endParaRPr/>
          </a:p>
        </p:txBody>
      </p:sp>
      <p:sp>
        <p:nvSpPr>
          <p:cNvPr id="1334" name="Google Shape;1334;p43"/>
          <p:cNvSpPr/>
          <p:nvPr/>
        </p:nvSpPr>
        <p:spPr>
          <a:xfrm>
            <a:off x="838200" y="4241800"/>
            <a:ext cx="9779000" cy="4013200"/>
          </a:xfrm>
          <a:prstGeom prst="rect">
            <a:avLst/>
          </a:prstGeom>
          <a:noFill/>
          <a:ln w="9525" cap="flat" cmpd="sng">
            <a:solidFill>
              <a:srgbClr val="000000">
                <a:alpha val="0"/>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5" name="Google Shape;1335;p43"/>
          <p:cNvSpPr/>
          <p:nvPr/>
        </p:nvSpPr>
        <p:spPr>
          <a:xfrm>
            <a:off x="1373124" y="6284976"/>
            <a:ext cx="8708135" cy="1413382"/>
          </a:xfrm>
          <a:custGeom>
            <a:avLst/>
            <a:gdLst/>
            <a:ahLst/>
            <a:cxnLst/>
            <a:rect l="l" t="t" r="r" b="b"/>
            <a:pathLst>
              <a:path w="8708135" h="1413382" extrusionOk="0">
                <a:moveTo>
                  <a:pt x="0" y="490728"/>
                </a:moveTo>
                <a:lnTo>
                  <a:pt x="1583436" y="490728"/>
                </a:lnTo>
                <a:lnTo>
                  <a:pt x="1583436" y="1413383"/>
                </a:lnTo>
                <a:lnTo>
                  <a:pt x="0" y="1413383"/>
                </a:lnTo>
                <a:close/>
                <a:moveTo>
                  <a:pt x="2375916" y="288036"/>
                </a:moveTo>
                <a:lnTo>
                  <a:pt x="3959352" y="288036"/>
                </a:lnTo>
                <a:lnTo>
                  <a:pt x="3959352" y="1413383"/>
                </a:lnTo>
                <a:lnTo>
                  <a:pt x="2375916" y="1413383"/>
                </a:lnTo>
                <a:close/>
                <a:moveTo>
                  <a:pt x="4750308" y="144780"/>
                </a:moveTo>
                <a:lnTo>
                  <a:pt x="6333744" y="144780"/>
                </a:lnTo>
                <a:lnTo>
                  <a:pt x="6333744" y="1413383"/>
                </a:lnTo>
                <a:lnTo>
                  <a:pt x="4750308" y="1413383"/>
                </a:lnTo>
                <a:close/>
                <a:moveTo>
                  <a:pt x="7124700" y="0"/>
                </a:moveTo>
                <a:lnTo>
                  <a:pt x="8708136" y="0"/>
                </a:lnTo>
                <a:lnTo>
                  <a:pt x="8708136" y="1413383"/>
                </a:lnTo>
                <a:lnTo>
                  <a:pt x="7124700" y="1413383"/>
                </a:lnTo>
                <a:close/>
              </a:path>
            </a:pathLst>
          </a:custGeom>
          <a:solidFill>
            <a:srgbClr val="D8D8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36" name="Google Shape;1336;p43"/>
          <p:cNvSpPr/>
          <p:nvPr/>
        </p:nvSpPr>
        <p:spPr>
          <a:xfrm>
            <a:off x="3749040" y="5044440"/>
            <a:ext cx="6332219" cy="1528571"/>
          </a:xfrm>
          <a:custGeom>
            <a:avLst/>
            <a:gdLst/>
            <a:ahLst/>
            <a:cxnLst/>
            <a:rect l="l" t="t" r="r" b="b"/>
            <a:pathLst>
              <a:path w="6332219" h="1528571" extrusionOk="0">
                <a:moveTo>
                  <a:pt x="0" y="1124712"/>
                </a:moveTo>
                <a:lnTo>
                  <a:pt x="1583436" y="1124712"/>
                </a:lnTo>
                <a:lnTo>
                  <a:pt x="1583436" y="1528572"/>
                </a:lnTo>
                <a:lnTo>
                  <a:pt x="0" y="1528572"/>
                </a:lnTo>
                <a:close/>
                <a:moveTo>
                  <a:pt x="2374392" y="606552"/>
                </a:moveTo>
                <a:lnTo>
                  <a:pt x="3957828" y="606552"/>
                </a:lnTo>
                <a:lnTo>
                  <a:pt x="3957828" y="1385316"/>
                </a:lnTo>
                <a:lnTo>
                  <a:pt x="2374392" y="1385316"/>
                </a:lnTo>
                <a:close/>
                <a:moveTo>
                  <a:pt x="4748784" y="0"/>
                </a:moveTo>
                <a:lnTo>
                  <a:pt x="6332220" y="0"/>
                </a:lnTo>
                <a:lnTo>
                  <a:pt x="6332220" y="1240536"/>
                </a:lnTo>
                <a:lnTo>
                  <a:pt x="4748784" y="1240536"/>
                </a:lnTo>
                <a:close/>
              </a:path>
            </a:pathLst>
          </a:cu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cxnSp>
        <p:nvCxnSpPr>
          <p:cNvPr id="1337" name="Google Shape;1337;p43"/>
          <p:cNvCxnSpPr/>
          <p:nvPr/>
        </p:nvCxnSpPr>
        <p:spPr>
          <a:xfrm>
            <a:off x="977900" y="7698358"/>
            <a:ext cx="9499600" cy="0"/>
          </a:xfrm>
          <a:prstGeom prst="straightConnector1">
            <a:avLst/>
          </a:prstGeom>
          <a:noFill/>
          <a:ln w="9525" cap="flat" cmpd="sng">
            <a:solidFill>
              <a:srgbClr val="3A3A3A"/>
            </a:solidFill>
            <a:prstDash val="solid"/>
            <a:round/>
            <a:headEnd type="none" w="sm" len="sm"/>
            <a:tailEnd type="none" w="sm" len="sm"/>
          </a:ln>
        </p:spPr>
      </p:cxnSp>
      <p:sp>
        <p:nvSpPr>
          <p:cNvPr id="1338" name="Google Shape;1338;p43"/>
          <p:cNvSpPr txBox="1"/>
          <p:nvPr/>
        </p:nvSpPr>
        <p:spPr>
          <a:xfrm>
            <a:off x="2030222" y="7095510"/>
            <a:ext cx="343680"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1F2760"/>
                </a:solidFill>
                <a:latin typeface="Barlow"/>
                <a:ea typeface="Barlow"/>
                <a:cs typeface="Barlow"/>
                <a:sym typeface="Barlow"/>
              </a:rPr>
              <a:t>{{ppf_bar_1_contrib}}</a:t>
            </a:r>
            <a:endParaRPr/>
          </a:p>
        </p:txBody>
      </p:sp>
      <p:sp>
        <p:nvSpPr>
          <p:cNvPr id="1339" name="Google Shape;1339;p43"/>
          <p:cNvSpPr txBox="1"/>
          <p:nvPr/>
        </p:nvSpPr>
        <p:spPr>
          <a:xfrm>
            <a:off x="4408678" y="6994672"/>
            <a:ext cx="339862"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1F2760"/>
                </a:solidFill>
                <a:latin typeface="Barlow"/>
                <a:ea typeface="Barlow"/>
                <a:cs typeface="Barlow"/>
                <a:sym typeface="Barlow"/>
              </a:rPr>
              <a:t>{{ppf_bar_2_contrib}}</a:t>
            </a:r>
            <a:endParaRPr/>
          </a:p>
        </p:txBody>
      </p:sp>
      <p:sp>
        <p:nvSpPr>
          <p:cNvPr id="1340" name="Google Shape;1340;p43"/>
          <p:cNvSpPr txBox="1"/>
          <p:nvPr/>
        </p:nvSpPr>
        <p:spPr>
          <a:xfrm>
            <a:off x="6774433" y="6922116"/>
            <a:ext cx="356809" cy="321064"/>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1F2760"/>
                </a:solidFill>
                <a:latin typeface="Barlow"/>
                <a:ea typeface="Barlow"/>
                <a:cs typeface="Barlow"/>
                <a:sym typeface="Barlow"/>
              </a:rPr>
              <a:t>{{ppf_bar_3_contrib}}</a:t>
            </a:r>
            <a:endParaRPr/>
          </a:p>
        </p:txBody>
      </p:sp>
      <p:sp>
        <p:nvSpPr>
          <p:cNvPr id="1341" name="Google Shape;1341;p43"/>
          <p:cNvSpPr txBox="1"/>
          <p:nvPr/>
        </p:nvSpPr>
        <p:spPr>
          <a:xfrm>
            <a:off x="9154032" y="6850527"/>
            <a:ext cx="349006"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1F2760"/>
                </a:solidFill>
                <a:latin typeface="Barlow"/>
                <a:ea typeface="Barlow"/>
                <a:cs typeface="Barlow"/>
                <a:sym typeface="Barlow"/>
              </a:rPr>
              <a:t>{{ppf_bar_4_contrib}}</a:t>
            </a:r>
            <a:endParaRPr/>
          </a:p>
        </p:txBody>
      </p:sp>
      <p:sp>
        <p:nvSpPr>
          <p:cNvPr id="1342" name="Google Shape;1342;p43"/>
          <p:cNvSpPr txBox="1"/>
          <p:nvPr/>
        </p:nvSpPr>
        <p:spPr>
          <a:xfrm>
            <a:off x="4425441" y="6230259"/>
            <a:ext cx="304825"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FFFFFF"/>
                </a:solidFill>
                <a:latin typeface="Barlow"/>
                <a:ea typeface="Barlow"/>
                <a:cs typeface="Barlow"/>
                <a:sym typeface="Barlow"/>
              </a:rPr>
              <a:t>{{ppf_bar_2_interest}}</a:t>
            </a:r>
            <a:endParaRPr/>
          </a:p>
        </p:txBody>
      </p:sp>
      <p:sp>
        <p:nvSpPr>
          <p:cNvPr id="1343" name="Google Shape;1343;p43"/>
          <p:cNvSpPr txBox="1"/>
          <p:nvPr/>
        </p:nvSpPr>
        <p:spPr>
          <a:xfrm>
            <a:off x="6786626" y="5898662"/>
            <a:ext cx="333743"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FFFFFF"/>
                </a:solidFill>
                <a:latin typeface="Barlow"/>
                <a:ea typeface="Barlow"/>
                <a:cs typeface="Barlow"/>
                <a:sym typeface="Barlow"/>
              </a:rPr>
              <a:t>{{ppf_bar_3_interest}}</a:t>
            </a:r>
            <a:endParaRPr/>
          </a:p>
        </p:txBody>
      </p:sp>
      <p:sp>
        <p:nvSpPr>
          <p:cNvPr id="1344" name="Google Shape;1344;p43"/>
          <p:cNvSpPr txBox="1"/>
          <p:nvPr/>
        </p:nvSpPr>
        <p:spPr>
          <a:xfrm>
            <a:off x="9154032" y="5523758"/>
            <a:ext cx="347479"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FFFFFF"/>
                </a:solidFill>
                <a:latin typeface="Barlow"/>
                <a:ea typeface="Barlow"/>
                <a:cs typeface="Barlow"/>
                <a:sym typeface="Barlow"/>
              </a:rPr>
              <a:t>{{ppf_bar_4_interest}}</a:t>
            </a:r>
            <a:endParaRPr/>
          </a:p>
        </p:txBody>
      </p:sp>
      <p:sp>
        <p:nvSpPr>
          <p:cNvPr id="1345" name="Google Shape;1345;p43"/>
          <p:cNvSpPr txBox="1"/>
          <p:nvPr/>
        </p:nvSpPr>
        <p:spPr>
          <a:xfrm>
            <a:off x="1886966" y="6420378"/>
            <a:ext cx="629753"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1" i="0" u="none" strike="noStrike" cap="none">
                <a:solidFill>
                  <a:srgbClr val="595959"/>
                </a:solidFill>
                <a:latin typeface="Barlow"/>
                <a:ea typeface="Barlow"/>
                <a:cs typeface="Barlow"/>
                <a:sym typeface="Barlow"/>
              </a:rPr>
              <a:t>{{ppf_bar_1_total}}</a:t>
            </a:r>
            <a:endParaRPr/>
          </a:p>
        </p:txBody>
      </p:sp>
      <p:sp>
        <p:nvSpPr>
          <p:cNvPr id="1346" name="Google Shape;1346;p43"/>
          <p:cNvSpPr txBox="1"/>
          <p:nvPr/>
        </p:nvSpPr>
        <p:spPr>
          <a:xfrm>
            <a:off x="4265421" y="5814842"/>
            <a:ext cx="624409"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1" i="0" u="none" strike="noStrike" cap="none">
                <a:solidFill>
                  <a:srgbClr val="595959"/>
                </a:solidFill>
                <a:latin typeface="Barlow"/>
                <a:ea typeface="Barlow"/>
                <a:cs typeface="Barlow"/>
                <a:sym typeface="Barlow"/>
              </a:rPr>
              <a:t>{{ppf_bar_2_total}}</a:t>
            </a:r>
            <a:endParaRPr/>
          </a:p>
        </p:txBody>
      </p:sp>
      <p:sp>
        <p:nvSpPr>
          <p:cNvPr id="1347" name="Google Shape;1347;p43"/>
          <p:cNvSpPr txBox="1"/>
          <p:nvPr/>
        </p:nvSpPr>
        <p:spPr>
          <a:xfrm>
            <a:off x="6669278" y="5295412"/>
            <a:ext cx="566125"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1" i="0" u="none" strike="noStrike" cap="none">
                <a:solidFill>
                  <a:srgbClr val="595959"/>
                </a:solidFill>
                <a:latin typeface="Barlow"/>
                <a:ea typeface="Barlow"/>
                <a:cs typeface="Barlow"/>
                <a:sym typeface="Barlow"/>
              </a:rPr>
              <a:t>{{ppf_bar_3_total}}</a:t>
            </a:r>
            <a:endParaRPr/>
          </a:p>
        </p:txBody>
      </p:sp>
      <p:sp>
        <p:nvSpPr>
          <p:cNvPr id="1348" name="Google Shape;1348;p43"/>
          <p:cNvSpPr txBox="1"/>
          <p:nvPr/>
        </p:nvSpPr>
        <p:spPr>
          <a:xfrm>
            <a:off x="9013825" y="4689749"/>
            <a:ext cx="628481"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1" i="0" u="none" strike="noStrike" cap="none">
                <a:solidFill>
                  <a:srgbClr val="595959"/>
                </a:solidFill>
                <a:latin typeface="Barlow"/>
                <a:ea typeface="Barlow"/>
                <a:cs typeface="Barlow"/>
                <a:sym typeface="Barlow"/>
              </a:rPr>
              <a:t>{{ppf_bar_4_total}}</a:t>
            </a:r>
            <a:endParaRPr/>
          </a:p>
        </p:txBody>
      </p:sp>
      <p:sp>
        <p:nvSpPr>
          <p:cNvPr id="1349" name="Google Shape;1349;p43"/>
          <p:cNvSpPr txBox="1"/>
          <p:nvPr/>
        </p:nvSpPr>
        <p:spPr>
          <a:xfrm>
            <a:off x="1892173" y="7878846"/>
            <a:ext cx="623137"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3A3A3A"/>
                </a:solidFill>
                <a:latin typeface="Barlow"/>
                <a:ea typeface="Barlow"/>
                <a:cs typeface="Barlow"/>
                <a:sym typeface="Barlow"/>
              </a:rPr>
              <a:t>{{ppf_bar_1_year}}</a:t>
            </a:r>
            <a:endParaRPr/>
          </a:p>
        </p:txBody>
      </p:sp>
      <p:sp>
        <p:nvSpPr>
          <p:cNvPr id="1350" name="Google Shape;1350;p43"/>
          <p:cNvSpPr txBox="1"/>
          <p:nvPr/>
        </p:nvSpPr>
        <p:spPr>
          <a:xfrm>
            <a:off x="4290948" y="7878846"/>
            <a:ext cx="575035"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3A3A3A"/>
                </a:solidFill>
                <a:latin typeface="Barlow"/>
                <a:ea typeface="Barlow"/>
                <a:cs typeface="Barlow"/>
                <a:sym typeface="Barlow"/>
              </a:rPr>
              <a:t>{{ppf_bar_2_year}}</a:t>
            </a:r>
            <a:endParaRPr/>
          </a:p>
        </p:txBody>
      </p:sp>
      <p:sp>
        <p:nvSpPr>
          <p:cNvPr id="1351" name="Google Shape;1351;p43"/>
          <p:cNvSpPr txBox="1"/>
          <p:nvPr/>
        </p:nvSpPr>
        <p:spPr>
          <a:xfrm>
            <a:off x="6640321" y="7878846"/>
            <a:ext cx="626192"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3A3A3A"/>
                </a:solidFill>
                <a:latin typeface="Barlow"/>
                <a:ea typeface="Barlow"/>
                <a:cs typeface="Barlow"/>
                <a:sym typeface="Barlow"/>
              </a:rPr>
              <a:t>{{ppf_bar_3_year}}</a:t>
            </a:r>
            <a:endParaRPr/>
          </a:p>
        </p:txBody>
      </p:sp>
      <p:sp>
        <p:nvSpPr>
          <p:cNvPr id="1352" name="Google Shape;1352;p43"/>
          <p:cNvSpPr txBox="1"/>
          <p:nvPr/>
        </p:nvSpPr>
        <p:spPr>
          <a:xfrm>
            <a:off x="9025381" y="7878846"/>
            <a:ext cx="606340" cy="32068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000" b="0" i="0" u="none" strike="noStrike" cap="none">
                <a:solidFill>
                  <a:srgbClr val="3A3A3A"/>
                </a:solidFill>
                <a:latin typeface="Barlow"/>
                <a:ea typeface="Barlow"/>
                <a:cs typeface="Barlow"/>
                <a:sym typeface="Barlow"/>
              </a:rPr>
              <a:t>{{ppf_bar_4_year}}</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93"/>
        <p:cNvGrpSpPr/>
        <p:nvPr/>
      </p:nvGrpSpPr>
      <p:grpSpPr>
        <a:xfrm>
          <a:off x="0" y="0"/>
          <a:ext cx="0" cy="0"/>
          <a:chOff x="0" y="0"/>
          <a:chExt cx="0" cy="0"/>
        </a:xfrm>
      </p:grpSpPr>
      <p:sp>
        <p:nvSpPr>
          <p:cNvPr id="1394" name="Google Shape;1394;p45"/>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96" name="Google Shape;1396;p45"/>
          <p:cNvSpPr txBox="1"/>
          <p:nvPr/>
        </p:nvSpPr>
        <p:spPr>
          <a:xfrm>
            <a:off x="863803" y="376292"/>
            <a:ext cx="3499650" cy="1063826"/>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100" b="1" i="0" u="none" strike="noStrike" kern="0" cap="none" spc="0" normalizeH="0" baseline="0" noProof="0" dirty="0">
                <a:ln>
                  <a:noFill/>
                </a:ln>
                <a:solidFill>
                  <a:srgbClr val="2A3480"/>
                </a:solidFill>
                <a:effectLst/>
                <a:uLnTx/>
                <a:uFillTx/>
                <a:latin typeface="Barlow"/>
                <a:ea typeface="Barlow"/>
                <a:cs typeface="Barlow"/>
                <a:sym typeface="Barlow"/>
              </a:rPr>
              <a:t>RETIREMENT ASSET · {{asset_horizon_year}}</a:t>
            </a:r>
            <a:endParaRPr kumimoji="0" sz="2100" b="1"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4950" b="1" i="0" u="none" strike="noStrike" kern="0" cap="none" spc="0" normalizeH="0" baseline="0" noProof="0" dirty="0">
                <a:ln>
                  <a:noFill/>
                </a:ln>
                <a:solidFill>
                  <a:srgbClr val="1D1F20"/>
                </a:solidFill>
                <a:effectLst/>
                <a:uLnTx/>
                <a:uFillTx/>
                <a:latin typeface="Barlow Condensed"/>
                <a:ea typeface="Barlow Condensed"/>
                <a:cs typeface="Barlow Condensed"/>
                <a:sym typeface="Barlow Condensed"/>
              </a:rPr>
              <a:t>Direct Equity</a:t>
            </a:r>
            <a:endParaRPr kumimoji="0" sz="1400" b="1" i="0" u="none" strike="noStrike" kern="0" cap="none" spc="0" normalizeH="0" baseline="0" noProof="0" dirty="0">
              <a:ln>
                <a:noFill/>
              </a:ln>
              <a:solidFill>
                <a:srgbClr val="000000"/>
              </a:solidFill>
              <a:effectLst/>
              <a:uLnTx/>
              <a:uFillTx/>
              <a:latin typeface="Arial"/>
              <a:cs typeface="Arial"/>
              <a:sym typeface="Arial"/>
            </a:endParaRPr>
          </a:p>
        </p:txBody>
      </p:sp>
      <p:pic>
        <p:nvPicPr>
          <p:cNvPr id="1397" name="Google Shape;1397;p45" descr="image.png"/>
          <p:cNvPicPr preferRelativeResize="0"/>
          <p:nvPr/>
        </p:nvPicPr>
        <p:blipFill rotWithShape="1">
          <a:blip r:embed="rId3">
            <a:alphaModFix/>
          </a:blip>
          <a:srcRect/>
          <a:stretch/>
        </p:blipFill>
        <p:spPr>
          <a:xfrm>
            <a:off x="15373350" y="304736"/>
            <a:ext cx="2076323" cy="590486"/>
          </a:xfrm>
          <a:prstGeom prst="rect">
            <a:avLst/>
          </a:prstGeom>
          <a:noFill/>
          <a:ln>
            <a:noFill/>
          </a:ln>
        </p:spPr>
      </p:pic>
      <p:sp>
        <p:nvSpPr>
          <p:cNvPr id="1398" name="Google Shape;1398;p45"/>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99" name="Google Shape;1399;p45"/>
          <p:cNvSpPr txBox="1"/>
          <p:nvPr/>
        </p:nvSpPr>
        <p:spPr>
          <a:xfrm>
            <a:off x="863803" y="1662064"/>
            <a:ext cx="13184244" cy="6979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20800"/>
              </a:lnSpc>
              <a:spcBef>
                <a:spcPts val="0"/>
              </a:spcBef>
              <a:spcAft>
                <a:spcPts val="0"/>
              </a:spcAft>
              <a:buClr>
                <a:srgbClr val="000000"/>
              </a:buClr>
              <a:buSzTx/>
              <a:buFont typeface="Arial"/>
              <a:buNone/>
              <a:tabLst/>
              <a:defRPr/>
            </a:pPr>
            <a:r>
              <a:rPr kumimoji="0" lang="en-US" sz="2050" b="0" i="0" u="none" strike="noStrike" kern="0" cap="none" spc="0" normalizeH="0" baseline="0" noProof="0">
                <a:ln>
                  <a:noFill/>
                </a:ln>
                <a:solidFill>
                  <a:srgbClr val="1D1F20"/>
                </a:solidFill>
                <a:effectLst/>
                <a:uLnTx/>
                <a:uFillTx/>
                <a:latin typeface="Barlow"/>
                <a:ea typeface="Barlow"/>
                <a:cs typeface="Barlow"/>
                <a:sym typeface="Barlow"/>
              </a:rPr>
              <a:t>{{equity_description}}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0" name="Google Shape;1400;p45"/>
          <p:cNvSpPr/>
          <p:nvPr/>
        </p:nvSpPr>
        <p:spPr>
          <a:xfrm>
            <a:off x="838187" y="2463228"/>
            <a:ext cx="4038599"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1" name="Google Shape;1401;p45"/>
          <p:cNvSpPr txBox="1"/>
          <p:nvPr/>
        </p:nvSpPr>
        <p:spPr>
          <a:xfrm>
            <a:off x="1063142" y="2680080"/>
            <a:ext cx="1825366" cy="77226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CURRENT VALUE</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{{equity_current_value}}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2" name="Google Shape;1402;p45"/>
          <p:cNvSpPr/>
          <p:nvPr/>
        </p:nvSpPr>
        <p:spPr>
          <a:xfrm>
            <a:off x="5029072" y="24632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3" name="Google Shape;1403;p45"/>
          <p:cNvSpPr txBox="1"/>
          <p:nvPr/>
        </p:nvSpPr>
        <p:spPr>
          <a:xfrm>
            <a:off x="5254497" y="2680080"/>
            <a:ext cx="1256992" cy="77226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HOLDINGS</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{{equity_holdings_count}} stocks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4" name="Google Shape;1404;p45"/>
          <p:cNvSpPr/>
          <p:nvPr/>
        </p:nvSpPr>
        <p:spPr>
          <a:xfrm>
            <a:off x="9220072" y="24632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5" name="Google Shape;1405;p45"/>
          <p:cNvSpPr txBox="1"/>
          <p:nvPr/>
        </p:nvSpPr>
        <p:spPr>
          <a:xfrm>
            <a:off x="9445752" y="2680080"/>
            <a:ext cx="1991835" cy="77226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TOP FOUR WEIGHT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{{equity_top_weight}}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6" name="Google Shape;1406;p45"/>
          <p:cNvSpPr/>
          <p:nvPr/>
        </p:nvSpPr>
        <p:spPr>
          <a:xfrm>
            <a:off x="13411072" y="24632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07" name="Google Shape;1407;p45"/>
          <p:cNvSpPr txBox="1"/>
          <p:nvPr/>
        </p:nvSpPr>
        <p:spPr>
          <a:xfrm>
            <a:off x="13637387" y="2680080"/>
            <a:ext cx="2004434" cy="77226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ASSUMED RETURN</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15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{{equity_roi}}</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8" name="Google Shape;1408;p45"/>
          <p:cNvSpPr txBox="1"/>
          <p:nvPr/>
        </p:nvSpPr>
        <p:spPr>
          <a:xfrm>
            <a:off x="863803" y="3761051"/>
            <a:ext cx="3094236" cy="29994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2A3480"/>
                </a:solidFill>
                <a:effectLst/>
                <a:uLnTx/>
                <a:uFillTx/>
                <a:latin typeface="Barlow"/>
                <a:ea typeface="Barlow"/>
                <a:cs typeface="Barlow"/>
                <a:sym typeface="Barlow"/>
              </a:rPr>
              <a:t>HOW THE {{equity_current_value_caps}} IS USED</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09" name="Google Shape;1409;p45"/>
          <p:cNvSpPr/>
          <p:nvPr/>
        </p:nvSpPr>
        <p:spPr>
          <a:xfrm>
            <a:off x="838187" y="4185665"/>
            <a:ext cx="2946654" cy="666750"/>
          </a:xfrm>
          <a:prstGeom prst="rect">
            <a:avLst/>
          </a:prstGeom>
          <a:solidFill>
            <a:srgbClr val="5980A6"/>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10" name="Google Shape;1410;p45"/>
          <p:cNvSpPr txBox="1"/>
          <p:nvPr/>
        </p:nvSpPr>
        <p:spPr>
          <a:xfrm>
            <a:off x="1035100" y="4373402"/>
            <a:ext cx="631746" cy="361005"/>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250" b="0" i="0" u="none" strike="noStrike" kern="0" cap="none" spc="0" normalizeH="0" baseline="0" noProof="0">
                <a:ln>
                  <a:noFill/>
                </a:ln>
                <a:solidFill>
                  <a:srgbClr val="F2F2F3"/>
                </a:solidFill>
                <a:effectLst/>
                <a:uLnTx/>
                <a:uFillTx/>
                <a:latin typeface="Barlow Condensed"/>
                <a:ea typeface="Barlow Condensed"/>
                <a:cs typeface="Barlow Condensed"/>
                <a:sym typeface="Barlow Condensed"/>
              </a:rPr>
              <a:t>{{equity_earmarked_value}}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1" name="Google Shape;1411;p45"/>
          <p:cNvSpPr/>
          <p:nvPr/>
        </p:nvSpPr>
        <p:spPr>
          <a:xfrm>
            <a:off x="3813428" y="4185665"/>
            <a:ext cx="5999353" cy="666750"/>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12" name="Google Shape;1412;p45"/>
          <p:cNvSpPr txBox="1"/>
          <p:nvPr/>
        </p:nvSpPr>
        <p:spPr>
          <a:xfrm>
            <a:off x="4010533" y="4373402"/>
            <a:ext cx="3018501" cy="361005"/>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250" b="0" i="0" u="none" strike="noStrike" kern="0" cap="none" spc="0" normalizeH="0" baseline="0" noProof="0">
                <a:ln>
                  <a:noFill/>
                </a:ln>
                <a:solidFill>
                  <a:srgbClr val="F2F2F3"/>
                </a:solidFill>
                <a:effectLst/>
                <a:uLnTx/>
                <a:uFillTx/>
                <a:latin typeface="Barlow Condensed"/>
                <a:ea typeface="Barlow Condensed"/>
                <a:cs typeface="Barlow Condensed"/>
                <a:sym typeface="Barlow Condensed"/>
              </a:rPr>
              <a:t>{{equity_retained_value}} retained for retirement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3" name="Google Shape;1413;p45"/>
          <p:cNvSpPr txBox="1"/>
          <p:nvPr/>
        </p:nvSpPr>
        <p:spPr>
          <a:xfrm>
            <a:off x="863803" y="5022469"/>
            <a:ext cx="2884288" cy="288035"/>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{{equity_earmarked_label}}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4" name="Google Shape;1414;p45"/>
          <p:cNvSpPr txBox="1"/>
          <p:nvPr/>
        </p:nvSpPr>
        <p:spPr>
          <a:xfrm>
            <a:off x="863803" y="5378792"/>
            <a:ext cx="563309" cy="288420"/>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{{equity_earmarked_year}}</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5" name="Google Shape;1415;p45"/>
          <p:cNvSpPr txBox="1"/>
          <p:nvPr/>
        </p:nvSpPr>
        <p:spPr>
          <a:xfrm>
            <a:off x="3887978" y="5022469"/>
            <a:ext cx="3098737" cy="288035"/>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{{equity_retained_note}}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6" name="Google Shape;1416;p45"/>
          <p:cNvSpPr/>
          <p:nvPr/>
        </p:nvSpPr>
        <p:spPr>
          <a:xfrm>
            <a:off x="838187" y="6509639"/>
            <a:ext cx="897458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17" name="Google Shape;1417;p45"/>
          <p:cNvSpPr txBox="1"/>
          <p:nvPr/>
        </p:nvSpPr>
        <p:spPr>
          <a:xfrm>
            <a:off x="863803" y="6029944"/>
            <a:ext cx="2235316" cy="2995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Retained book, {{equity_base_year}}</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8" name="Google Shape;1418;p45"/>
          <p:cNvSpPr txBox="1"/>
          <p:nvPr/>
        </p:nvSpPr>
        <p:spPr>
          <a:xfrm>
            <a:off x="9238742" y="6041478"/>
            <a:ext cx="658797" cy="384432"/>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{{equity_retained_value}}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19" name="Google Shape;1419;p45"/>
          <p:cNvSpPr/>
          <p:nvPr/>
        </p:nvSpPr>
        <p:spPr>
          <a:xfrm>
            <a:off x="838187" y="7257795"/>
            <a:ext cx="8974581" cy="9525"/>
          </a:xfrm>
          <a:prstGeom prst="rect">
            <a:avLst/>
          </a:prstGeom>
          <a:solidFill>
            <a:srgbClr val="1D1F20">
              <a:alpha val="14118"/>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20" name="Google Shape;1420;p45"/>
          <p:cNvSpPr txBox="1"/>
          <p:nvPr/>
        </p:nvSpPr>
        <p:spPr>
          <a:xfrm>
            <a:off x="863803" y="6778228"/>
            <a:ext cx="2367620" cy="299557"/>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Growth at {{equity_roi}} to {{asset_horizon_year}}</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1" name="Google Shape;1421;p45"/>
          <p:cNvSpPr txBox="1"/>
          <p:nvPr/>
        </p:nvSpPr>
        <p:spPr>
          <a:xfrm>
            <a:off x="9107678" y="6790055"/>
            <a:ext cx="789737" cy="384048"/>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1D1F20"/>
                </a:solidFill>
                <a:effectLst/>
                <a:uLnTx/>
                <a:uFillTx/>
                <a:latin typeface="Barlow Condensed"/>
                <a:ea typeface="Barlow Condensed"/>
                <a:cs typeface="Barlow Condensed"/>
                <a:sym typeface="Barlow Condensed"/>
              </a:rPr>
              <a:t>+{{equity_growth_value}}</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2" name="Google Shape;1422;p45"/>
          <p:cNvSpPr txBox="1"/>
          <p:nvPr/>
        </p:nvSpPr>
        <p:spPr>
          <a:xfrm>
            <a:off x="863803" y="7520843"/>
            <a:ext cx="2196851" cy="312999"/>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950" b="0" i="0" u="none" strike="noStrike" kern="0" cap="none" spc="0" normalizeH="0" baseline="0" noProof="0">
                <a:ln>
                  <a:noFill/>
                </a:ln>
                <a:solidFill>
                  <a:srgbClr val="1D1F20"/>
                </a:solidFill>
                <a:effectLst/>
                <a:uLnTx/>
                <a:uFillTx/>
                <a:latin typeface="Barlow"/>
                <a:ea typeface="Barlow"/>
                <a:cs typeface="Barlow"/>
                <a:sym typeface="Barlow"/>
              </a:rPr>
              <a:t>Value at retirement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3" name="Google Shape;1423;p45"/>
          <p:cNvSpPr txBox="1"/>
          <p:nvPr/>
        </p:nvSpPr>
        <p:spPr>
          <a:xfrm>
            <a:off x="8786114" y="7550531"/>
            <a:ext cx="1108329" cy="480059"/>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000" b="0" i="0" u="none" strike="noStrike" kern="0" cap="none" spc="0" normalizeH="0" baseline="0" noProof="0">
                <a:ln>
                  <a:noFill/>
                </a:ln>
                <a:solidFill>
                  <a:srgbClr val="2F7D3A"/>
                </a:solidFill>
                <a:effectLst/>
                <a:uLnTx/>
                <a:uFillTx/>
                <a:latin typeface="Barlow Condensed"/>
                <a:ea typeface="Barlow Condensed"/>
                <a:cs typeface="Barlow Condensed"/>
                <a:sym typeface="Barlow Condensed"/>
              </a:rPr>
              <a:t>{{equity_value_at_retirement}}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4" name="Google Shape;1424;p45"/>
          <p:cNvSpPr/>
          <p:nvPr/>
        </p:nvSpPr>
        <p:spPr>
          <a:xfrm>
            <a:off x="10269981" y="3683381"/>
            <a:ext cx="7179691" cy="1363852"/>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25" name="Google Shape;1425;p45"/>
          <p:cNvSpPr txBox="1"/>
          <p:nvPr/>
        </p:nvSpPr>
        <p:spPr>
          <a:xfrm>
            <a:off x="10543920" y="3891407"/>
            <a:ext cx="2777666" cy="1088136"/>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F2F2F3"/>
                </a:solidFill>
                <a:effectLst/>
                <a:uLnTx/>
                <a:uFillTx/>
                <a:latin typeface="Barlow"/>
                <a:ea typeface="Barlow"/>
                <a:cs typeface="Barlow"/>
                <a:sym typeface="Barlow"/>
              </a:rPr>
              <a:t>VALUE AT RETIREMENT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0" i="0" u="none" strike="noStrike" kern="0" cap="none" spc="0" normalizeH="0" baseline="0" noProof="0">
                <a:ln>
                  <a:noFill/>
                </a:ln>
                <a:solidFill>
                  <a:srgbClr val="F2F2F3"/>
                </a:solidFill>
                <a:effectLst/>
                <a:uLnTx/>
                <a:uFillTx/>
                <a:latin typeface="Barlow Condensed"/>
                <a:ea typeface="Barlow Condensed"/>
                <a:cs typeface="Barlow Condensed"/>
                <a:sym typeface="Barlow Condensed"/>
              </a:rPr>
              <a:t>{{equity_value_at_retirement_long}}</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6" name="Google Shape;1426;p45"/>
          <p:cNvSpPr/>
          <p:nvPr/>
        </p:nvSpPr>
        <p:spPr>
          <a:xfrm>
            <a:off x="10269981" y="5180457"/>
            <a:ext cx="7179691" cy="3189224"/>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27" name="Google Shape;1427;p45"/>
          <p:cNvSpPr txBox="1"/>
          <p:nvPr/>
        </p:nvSpPr>
        <p:spPr>
          <a:xfrm>
            <a:off x="10543920" y="6113726"/>
            <a:ext cx="2668156" cy="299941"/>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2A3480"/>
                </a:solidFill>
                <a:effectLst/>
                <a:uLnTx/>
                <a:uFillTx/>
                <a:latin typeface="Barlow"/>
                <a:ea typeface="Barlow"/>
                <a:cs typeface="Barlow"/>
                <a:sym typeface="Barlow"/>
              </a:rPr>
              <a:t>OUR RECOMMENDATION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8" name="Google Shape;1428;p45"/>
          <p:cNvSpPr txBox="1"/>
          <p:nvPr/>
        </p:nvSpPr>
        <p:spPr>
          <a:xfrm>
            <a:off x="10543920" y="6555725"/>
            <a:ext cx="6657008" cy="985356"/>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20200"/>
              </a:lnSpc>
              <a:spcBef>
                <a:spcPts val="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{{equity_recommendation}}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29" name="Google Shape;1429;p45"/>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30" name="Google Shape;1430;p45"/>
          <p:cNvSpPr txBox="1"/>
          <p:nvPr/>
        </p:nvSpPr>
        <p:spPr>
          <a:xfrm>
            <a:off x="1082344" y="8625586"/>
            <a:ext cx="16124983" cy="946048"/>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2A3480"/>
                </a:solidFill>
                <a:effectLst/>
                <a:uLnTx/>
                <a:uFillTx/>
                <a:latin typeface="Barlow"/>
                <a:ea typeface="Barlow"/>
                <a:cs typeface="Barlow"/>
                <a:sym typeface="Barlow"/>
              </a:rPr>
              <a:t>ADVISOR COMMENT</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10000"/>
              </a:lnSpc>
              <a:spcBef>
                <a:spcPts val="220"/>
              </a:spcBef>
              <a:spcAft>
                <a:spcPts val="0"/>
              </a:spcAft>
              <a:buClr>
                <a:srgbClr val="000000"/>
              </a:buClr>
              <a:buSzTx/>
              <a:buFont typeface="Arial"/>
              <a:buNone/>
              <a:tabLst/>
              <a:defRPr/>
            </a:pPr>
            <a:r>
              <a:rPr kumimoji="0" lang="en-US" sz="1850" b="0" i="0" u="none" strike="noStrike" kern="0" cap="none" spc="0" normalizeH="0" baseline="0" noProof="0">
                <a:ln>
                  <a:noFill/>
                </a:ln>
                <a:solidFill>
                  <a:srgbClr val="1D1F20"/>
                </a:solidFill>
                <a:effectLst/>
                <a:uLnTx/>
                <a:uFillTx/>
                <a:latin typeface="Barlow"/>
                <a:ea typeface="Barlow"/>
                <a:cs typeface="Barlow"/>
                <a:sym typeface="Barlow"/>
              </a:rPr>
              <a:t>{{equity_comment}}</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1" name="Google Shape;1431;p45"/>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Armstrong Capital · Goal Based Planning</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432" name="Google Shape;1432;p45"/>
          <p:cNvSpPr txBox="1"/>
          <p:nvPr/>
        </p:nvSpPr>
        <p:spPr>
          <a:xfrm>
            <a:off x="16587469" y="9779215"/>
            <a:ext cx="739109" cy="288420"/>
          </a:xfrm>
          <a:prstGeom prst="rect">
            <a:avLst/>
          </a:prstGeom>
          <a:noFill/>
          <a:ln>
            <a:noFill/>
          </a:ln>
        </p:spPr>
        <p:txBody>
          <a:bodyPr spcFirstLastPara="1" wrap="none" lIns="0" tIns="0" rIns="0" bIns="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1D1F20"/>
                </a:solidFill>
                <a:effectLst/>
                <a:uLnTx/>
                <a:uFillTx/>
                <a:latin typeface="Barlow"/>
                <a:ea typeface="Barlow"/>
                <a:cs typeface="Barlow"/>
                <a:sym typeface="Barlow"/>
              </a:rPr>
              <a:t>{{page_no}} / {{page_total}}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44"/>
          <p:cNvSpPr/>
          <p:nvPr/>
        </p:nvSpPr>
        <p:spPr>
          <a:xfrm>
            <a:off x="0" y="0"/>
            <a:ext cx="18288000" cy="10287000"/>
          </a:xfrm>
          <a:prstGeom prst="rect">
            <a:avLst/>
          </a:prstGeom>
          <a:solidFill>
            <a:srgbClr val="F2F2F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59" name="Google Shape;1359;p44"/>
          <p:cNvSpPr txBox="1"/>
          <p:nvPr/>
        </p:nvSpPr>
        <p:spPr>
          <a:xfrm>
            <a:off x="863803" y="376292"/>
            <a:ext cx="6106289" cy="1063826"/>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100" b="1" i="0" u="none" strike="noStrike" cap="none" dirty="0">
                <a:solidFill>
                  <a:srgbClr val="2A3480"/>
                </a:solidFill>
                <a:latin typeface="Barlow"/>
                <a:ea typeface="Barlow"/>
                <a:cs typeface="Barlow"/>
                <a:sym typeface="Barlow"/>
              </a:rPr>
              <a:t>RETIREMENT ASSET · {{nps_maturity_year}}</a:t>
            </a:r>
            <a:endParaRPr sz="2100" b="1" dirty="0"/>
          </a:p>
          <a:p>
            <a:pPr marL="0" marR="0" lvl="0" indent="0" algn="l" rtl="0">
              <a:lnSpc>
                <a:spcPct val="100000"/>
              </a:lnSpc>
              <a:spcBef>
                <a:spcPts val="0"/>
              </a:spcBef>
              <a:spcAft>
                <a:spcPts val="0"/>
              </a:spcAft>
              <a:buNone/>
            </a:pPr>
            <a:r>
              <a:rPr lang="en-US" sz="4950" b="1" i="0" u="none" strike="noStrike" cap="none" dirty="0">
                <a:solidFill>
                  <a:srgbClr val="1D1F20"/>
                </a:solidFill>
                <a:latin typeface="Barlow Condensed"/>
                <a:ea typeface="Barlow Condensed"/>
                <a:cs typeface="Barlow Condensed"/>
                <a:sym typeface="Barlow Condensed"/>
              </a:rPr>
              <a:t>National Pension Scheme</a:t>
            </a:r>
            <a:endParaRPr dirty="0"/>
          </a:p>
        </p:txBody>
      </p:sp>
      <p:pic>
        <p:nvPicPr>
          <p:cNvPr id="1360" name="Google Shape;1360;p44" descr="image.png"/>
          <p:cNvPicPr preferRelativeResize="0"/>
          <p:nvPr/>
        </p:nvPicPr>
        <p:blipFill rotWithShape="1">
          <a:blip r:embed="rId3">
            <a:alphaModFix/>
          </a:blip>
          <a:srcRect/>
          <a:stretch/>
        </p:blipFill>
        <p:spPr>
          <a:xfrm>
            <a:off x="15373350" y="304736"/>
            <a:ext cx="2076323" cy="590486"/>
          </a:xfrm>
          <a:prstGeom prst="rect">
            <a:avLst/>
          </a:prstGeom>
          <a:noFill/>
          <a:ln>
            <a:noFill/>
          </a:ln>
        </p:spPr>
      </p:pic>
      <p:sp>
        <p:nvSpPr>
          <p:cNvPr id="1361" name="Google Shape;1361;p44"/>
          <p:cNvSpPr/>
          <p:nvPr/>
        </p:nvSpPr>
        <p:spPr>
          <a:xfrm>
            <a:off x="838187" y="1479295"/>
            <a:ext cx="16611600" cy="9525"/>
          </a:xfrm>
          <a:prstGeom prst="rect">
            <a:avLst/>
          </a:prstGeom>
          <a:solidFill>
            <a:srgbClr val="1D1F20">
              <a:alpha val="18039"/>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2" name="Google Shape;1362;p44"/>
          <p:cNvSpPr txBox="1"/>
          <p:nvPr/>
        </p:nvSpPr>
        <p:spPr>
          <a:xfrm>
            <a:off x="863803" y="1662064"/>
            <a:ext cx="13668226" cy="697900"/>
          </a:xfrm>
          <a:prstGeom prst="rect">
            <a:avLst/>
          </a:prstGeom>
          <a:noFill/>
          <a:ln>
            <a:noFill/>
          </a:ln>
        </p:spPr>
        <p:txBody>
          <a:bodyPr spcFirstLastPara="1" wrap="square" lIns="0" tIns="0" rIns="0" bIns="0" anchor="t" anchorCtr="0">
            <a:noAutofit/>
          </a:bodyPr>
          <a:lstStyle/>
          <a:p>
            <a:pPr marL="0" marR="0" lvl="0" indent="0" algn="l" rtl="0">
              <a:lnSpc>
                <a:spcPct val="120800"/>
              </a:lnSpc>
              <a:spcBef>
                <a:spcPts val="0"/>
              </a:spcBef>
              <a:spcAft>
                <a:spcPts val="0"/>
              </a:spcAft>
              <a:buNone/>
            </a:pPr>
            <a:r>
              <a:rPr lang="en-US" sz="2050" b="0" i="0" u="none" strike="noStrike" cap="none">
                <a:solidFill>
                  <a:srgbClr val="1D1F20"/>
                </a:solidFill>
                <a:latin typeface="Barlow"/>
                <a:ea typeface="Barlow"/>
                <a:cs typeface="Barlow"/>
                <a:sym typeface="Barlow"/>
              </a:rPr>
              <a:t>{{nps_description}}</a:t>
            </a:r>
            <a:endParaRPr/>
          </a:p>
        </p:txBody>
      </p:sp>
      <p:sp>
        <p:nvSpPr>
          <p:cNvPr id="1363" name="Google Shape;1363;p44"/>
          <p:cNvSpPr/>
          <p:nvPr/>
        </p:nvSpPr>
        <p:spPr>
          <a:xfrm>
            <a:off x="838187" y="2539428"/>
            <a:ext cx="4038599"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4" name="Google Shape;1364;p44"/>
          <p:cNvSpPr txBox="1"/>
          <p:nvPr/>
        </p:nvSpPr>
        <p:spPr>
          <a:xfrm>
            <a:off x="1063142" y="2756280"/>
            <a:ext cx="1825366"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CURRENT VALUE</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{{nps_current_value}}</a:t>
            </a:r>
            <a:endParaRPr/>
          </a:p>
        </p:txBody>
      </p:sp>
      <p:sp>
        <p:nvSpPr>
          <p:cNvPr id="1365" name="Google Shape;1365;p44"/>
          <p:cNvSpPr/>
          <p:nvPr/>
        </p:nvSpPr>
        <p:spPr>
          <a:xfrm>
            <a:off x="5029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6" name="Google Shape;1366;p44"/>
          <p:cNvSpPr txBox="1"/>
          <p:nvPr/>
        </p:nvSpPr>
        <p:spPr>
          <a:xfrm>
            <a:off x="5254497" y="2756280"/>
            <a:ext cx="2740351"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MONTHLY CONTRIBUTION</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{{nps_contribution}}</a:t>
            </a:r>
            <a:endParaRPr/>
          </a:p>
        </p:txBody>
      </p:sp>
      <p:sp>
        <p:nvSpPr>
          <p:cNvPr id="1367" name="Google Shape;1367;p44"/>
          <p:cNvSpPr/>
          <p:nvPr/>
        </p:nvSpPr>
        <p:spPr>
          <a:xfrm>
            <a:off x="9220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68" name="Google Shape;1368;p44"/>
          <p:cNvSpPr txBox="1"/>
          <p:nvPr/>
        </p:nvSpPr>
        <p:spPr>
          <a:xfrm>
            <a:off x="9445752" y="2756280"/>
            <a:ext cx="1380474"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ALLOCATION</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{{nps_equity_allocation}}</a:t>
            </a:r>
            <a:endParaRPr/>
          </a:p>
        </p:txBody>
      </p:sp>
      <p:sp>
        <p:nvSpPr>
          <p:cNvPr id="1369" name="Google Shape;1369;p44"/>
          <p:cNvSpPr/>
          <p:nvPr/>
        </p:nvSpPr>
        <p:spPr>
          <a:xfrm>
            <a:off x="13411072" y="2539428"/>
            <a:ext cx="4038600" cy="1086802"/>
          </a:xfrm>
          <a:prstGeom prst="rect">
            <a:avLst/>
          </a:prstGeom>
          <a:noFill/>
          <a:ln w="9525" cap="flat" cmpd="sng">
            <a:solidFill>
              <a:srgbClr val="1F1F1F">
                <a:alpha val="16078"/>
              </a:srgb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0" name="Google Shape;1370;p44"/>
          <p:cNvSpPr txBox="1"/>
          <p:nvPr/>
        </p:nvSpPr>
        <p:spPr>
          <a:xfrm>
            <a:off x="13637387" y="2756280"/>
            <a:ext cx="2004434" cy="77235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ASSUMED RETURN</a:t>
            </a:r>
            <a:endParaRPr/>
          </a:p>
          <a:p>
            <a:pPr marL="0" marR="0" lvl="0" indent="0" algn="l" rtl="0">
              <a:lnSpc>
                <a:spcPct val="100000"/>
              </a:lnSpc>
              <a:spcBef>
                <a:spcPts val="0"/>
              </a:spcBef>
              <a:spcAft>
                <a:spcPts val="0"/>
              </a:spcAft>
              <a:buNone/>
            </a:pPr>
            <a:r>
              <a:rPr lang="en-US" sz="3150" b="0" i="0" u="none" strike="noStrike" cap="none">
                <a:solidFill>
                  <a:srgbClr val="1D1F20"/>
                </a:solidFill>
                <a:latin typeface="Barlow Condensed"/>
                <a:ea typeface="Barlow Condensed"/>
                <a:cs typeface="Barlow Condensed"/>
                <a:sym typeface="Barlow Condensed"/>
              </a:rPr>
              <a:t>{{nps_roi}}</a:t>
            </a:r>
            <a:endParaRPr/>
          </a:p>
        </p:txBody>
      </p:sp>
      <p:sp>
        <p:nvSpPr>
          <p:cNvPr id="1371" name="Google Shape;1371;p44"/>
          <p:cNvSpPr txBox="1"/>
          <p:nvPr/>
        </p:nvSpPr>
        <p:spPr>
          <a:xfrm>
            <a:off x="863803" y="3913997"/>
            <a:ext cx="2958329"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TWO DATES THAT MATTER</a:t>
            </a:r>
            <a:endParaRPr/>
          </a:p>
        </p:txBody>
      </p:sp>
      <p:sp>
        <p:nvSpPr>
          <p:cNvPr id="1372" name="Google Shape;1372;p44"/>
          <p:cNvSpPr txBox="1"/>
          <p:nvPr/>
        </p:nvSpPr>
        <p:spPr>
          <a:xfrm>
            <a:off x="863803" y="5546882"/>
            <a:ext cx="1056973" cy="457017"/>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1D1F20"/>
                </a:solidFill>
                <a:latin typeface="Barlow Condensed"/>
                <a:ea typeface="Barlow Condensed"/>
                <a:cs typeface="Barlow Condensed"/>
                <a:sym typeface="Barlow Condensed"/>
              </a:rPr>
              <a:t>{{nps_value_at_retirement}}</a:t>
            </a:r>
            <a:endParaRPr/>
          </a:p>
        </p:txBody>
      </p:sp>
      <p:sp>
        <p:nvSpPr>
          <p:cNvPr id="1373" name="Google Shape;1373;p44"/>
          <p:cNvSpPr/>
          <p:nvPr/>
        </p:nvSpPr>
        <p:spPr>
          <a:xfrm>
            <a:off x="838187" y="6096000"/>
            <a:ext cx="4521199" cy="1816100"/>
          </a:xfrm>
          <a:prstGeom prst="rect">
            <a:avLst/>
          </a:prstGeom>
          <a:solidFill>
            <a:srgbClr val="3A459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4" name="Google Shape;1374;p44"/>
          <p:cNvSpPr txBox="1"/>
          <p:nvPr/>
        </p:nvSpPr>
        <p:spPr>
          <a:xfrm>
            <a:off x="863803" y="8079343"/>
            <a:ext cx="3987205"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{{asset_horizon_year}} — you retire, contributions stop</a:t>
            </a:r>
            <a:endParaRPr/>
          </a:p>
        </p:txBody>
      </p:sp>
      <p:sp>
        <p:nvSpPr>
          <p:cNvPr id="1375" name="Google Shape;1375;p44"/>
          <p:cNvSpPr txBox="1"/>
          <p:nvPr/>
        </p:nvSpPr>
        <p:spPr>
          <a:xfrm>
            <a:off x="5766180" y="4436521"/>
            <a:ext cx="1119359" cy="457017"/>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2850" b="0" i="0" u="none" strike="noStrike" cap="none">
                <a:solidFill>
                  <a:srgbClr val="2F7D3A"/>
                </a:solidFill>
                <a:latin typeface="Barlow Condensed"/>
                <a:ea typeface="Barlow Condensed"/>
                <a:cs typeface="Barlow Condensed"/>
                <a:sym typeface="Barlow Condensed"/>
              </a:rPr>
              <a:t>{{nps_maturity_value}}</a:t>
            </a:r>
            <a:endParaRPr/>
          </a:p>
        </p:txBody>
      </p:sp>
      <p:sp>
        <p:nvSpPr>
          <p:cNvPr id="1376" name="Google Shape;1376;p44"/>
          <p:cNvSpPr/>
          <p:nvPr/>
        </p:nvSpPr>
        <p:spPr>
          <a:xfrm>
            <a:off x="5740400" y="4978400"/>
            <a:ext cx="4521200" cy="2933700"/>
          </a:xfrm>
          <a:prstGeom prst="rect">
            <a:avLst/>
          </a:prstGeom>
          <a:solidFill>
            <a:srgbClr val="2F7D3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7" name="Google Shape;1377;p44"/>
          <p:cNvSpPr txBox="1"/>
          <p:nvPr/>
        </p:nvSpPr>
        <p:spPr>
          <a:xfrm>
            <a:off x="5766180" y="8079724"/>
            <a:ext cx="3842791"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1D1F20"/>
                </a:solidFill>
                <a:latin typeface="Barlow"/>
                <a:ea typeface="Barlow"/>
                <a:cs typeface="Barlow"/>
                <a:sym typeface="Barlow"/>
              </a:rPr>
              <a:t>{{nps_maturity_year}} — maturity at 60, {{nps_gap_label}}</a:t>
            </a:r>
            <a:endParaRPr/>
          </a:p>
        </p:txBody>
      </p:sp>
      <p:sp>
        <p:nvSpPr>
          <p:cNvPr id="1378" name="Google Shape;1378;p44"/>
          <p:cNvSpPr/>
          <p:nvPr/>
        </p:nvSpPr>
        <p:spPr>
          <a:xfrm>
            <a:off x="10718800" y="3835780"/>
            <a:ext cx="6730872" cy="1623060"/>
          </a:xfrm>
          <a:prstGeom prst="rect">
            <a:avLst/>
          </a:prstGeom>
          <a:solidFill>
            <a:srgbClr val="26306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9" name="Google Shape;1379;p44"/>
          <p:cNvSpPr txBox="1"/>
          <p:nvPr/>
        </p:nvSpPr>
        <p:spPr>
          <a:xfrm>
            <a:off x="11011789" y="4101084"/>
            <a:ext cx="2287702" cy="86026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AT MATURITY IN {{nps_maturity_year}}</a:t>
            </a:r>
            <a:endParaRPr/>
          </a:p>
          <a:p>
            <a:pPr marL="0" marR="0" lvl="0" indent="0" algn="l" rtl="0">
              <a:lnSpc>
                <a:spcPct val="100000"/>
              </a:lnSpc>
              <a:spcBef>
                <a:spcPts val="0"/>
              </a:spcBef>
              <a:spcAft>
                <a:spcPts val="0"/>
              </a:spcAft>
              <a:buNone/>
            </a:pPr>
            <a:r>
              <a:rPr lang="en-US" sz="3600" b="0" i="0" u="none" strike="noStrike" cap="none">
                <a:solidFill>
                  <a:srgbClr val="F2F2F3"/>
                </a:solidFill>
                <a:latin typeface="Barlow Condensed"/>
                <a:ea typeface="Barlow Condensed"/>
                <a:cs typeface="Barlow Condensed"/>
                <a:sym typeface="Barlow Condensed"/>
              </a:rPr>
              <a:t>{{nps_lumpsum}}</a:t>
            </a:r>
            <a:endParaRPr/>
          </a:p>
        </p:txBody>
      </p:sp>
      <p:sp>
        <p:nvSpPr>
          <p:cNvPr id="1380" name="Google Shape;1380;p44"/>
          <p:cNvSpPr txBox="1"/>
          <p:nvPr/>
        </p:nvSpPr>
        <p:spPr>
          <a:xfrm>
            <a:off x="11011789" y="4988940"/>
            <a:ext cx="1592256"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lump sum, 60%</a:t>
            </a:r>
            <a:endParaRPr/>
          </a:p>
        </p:txBody>
      </p:sp>
      <p:sp>
        <p:nvSpPr>
          <p:cNvPr id="1381" name="Google Shape;1381;p44"/>
          <p:cNvSpPr txBox="1"/>
          <p:nvPr/>
        </p:nvSpPr>
        <p:spPr>
          <a:xfrm>
            <a:off x="12816205" y="4384890"/>
            <a:ext cx="954458" cy="576456"/>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3600" b="0" i="0" u="none" strike="noStrike" cap="none">
                <a:solidFill>
                  <a:srgbClr val="F2F2F3"/>
                </a:solidFill>
                <a:latin typeface="Barlow Condensed"/>
                <a:ea typeface="Barlow Condensed"/>
                <a:cs typeface="Barlow Condensed"/>
                <a:sym typeface="Barlow Condensed"/>
              </a:rPr>
              <a:t>{{nps_annuity}}</a:t>
            </a:r>
            <a:endParaRPr/>
          </a:p>
        </p:txBody>
      </p:sp>
      <p:sp>
        <p:nvSpPr>
          <p:cNvPr id="1382" name="Google Shape;1382;p44"/>
          <p:cNvSpPr txBox="1"/>
          <p:nvPr/>
        </p:nvSpPr>
        <p:spPr>
          <a:xfrm>
            <a:off x="12816205" y="4988940"/>
            <a:ext cx="1633935" cy="28803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F2F2F3"/>
                </a:solidFill>
                <a:latin typeface="Barlow"/>
                <a:ea typeface="Barlow"/>
                <a:cs typeface="Barlow"/>
                <a:sym typeface="Barlow"/>
              </a:rPr>
              <a:t>to annuity, 40%</a:t>
            </a:r>
            <a:endParaRPr/>
          </a:p>
        </p:txBody>
      </p:sp>
      <p:sp>
        <p:nvSpPr>
          <p:cNvPr id="1383" name="Google Shape;1383;p44"/>
          <p:cNvSpPr/>
          <p:nvPr/>
        </p:nvSpPr>
        <p:spPr>
          <a:xfrm>
            <a:off x="10718800" y="5592064"/>
            <a:ext cx="6730872" cy="2777617"/>
          </a:xfrm>
          <a:prstGeom prst="rect">
            <a:avLst/>
          </a:prstGeom>
          <a:solidFill>
            <a:srgbClr val="E7E7E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4" name="Google Shape;1384;p44"/>
          <p:cNvSpPr txBox="1"/>
          <p:nvPr/>
        </p:nvSpPr>
        <p:spPr>
          <a:xfrm>
            <a:off x="10992611" y="6320139"/>
            <a:ext cx="2667765" cy="29955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50" b="0" i="0" u="none" strike="noStrike" cap="none">
                <a:solidFill>
                  <a:srgbClr val="2A3480"/>
                </a:solidFill>
                <a:latin typeface="Barlow"/>
                <a:ea typeface="Barlow"/>
                <a:cs typeface="Barlow"/>
                <a:sym typeface="Barlow"/>
              </a:rPr>
              <a:t>OUR RECOMMENDATION</a:t>
            </a:r>
            <a:endParaRPr/>
          </a:p>
        </p:txBody>
      </p:sp>
      <p:sp>
        <p:nvSpPr>
          <p:cNvPr id="1385" name="Google Shape;1385;p44"/>
          <p:cNvSpPr txBox="1"/>
          <p:nvPr/>
        </p:nvSpPr>
        <p:spPr>
          <a:xfrm>
            <a:off x="10992611" y="6761464"/>
            <a:ext cx="6111421" cy="1328511"/>
          </a:xfrm>
          <a:prstGeom prst="rect">
            <a:avLst/>
          </a:prstGeom>
          <a:noFill/>
          <a:ln>
            <a:noFill/>
          </a:ln>
        </p:spPr>
        <p:txBody>
          <a:bodyPr spcFirstLastPara="1" wrap="square" lIns="0" tIns="0" rIns="0" bIns="0" anchor="t" anchorCtr="0">
            <a:noAutofit/>
          </a:bodyPr>
          <a:lstStyle/>
          <a:p>
            <a:pPr marL="0" marR="0" lvl="0" indent="0" algn="l" rtl="0">
              <a:lnSpc>
                <a:spcPct val="120300"/>
              </a:lnSpc>
              <a:spcBef>
                <a:spcPts val="0"/>
              </a:spcBef>
              <a:spcAft>
                <a:spcPts val="0"/>
              </a:spcAft>
              <a:buNone/>
            </a:pPr>
            <a:r>
              <a:rPr lang="en-US" sz="1850" b="0" i="0" u="none" strike="noStrike" cap="none">
                <a:solidFill>
                  <a:srgbClr val="1D1F20"/>
                </a:solidFill>
                <a:latin typeface="Barlow"/>
                <a:ea typeface="Barlow"/>
                <a:cs typeface="Barlow"/>
                <a:sym typeface="Barlow"/>
              </a:rPr>
              <a:t>{{nps_recommendation}}</a:t>
            </a:r>
            <a:endParaRPr/>
          </a:p>
        </p:txBody>
      </p:sp>
      <p:sp>
        <p:nvSpPr>
          <p:cNvPr id="1386" name="Google Shape;1386;p44"/>
          <p:cNvSpPr/>
          <p:nvPr/>
        </p:nvSpPr>
        <p:spPr>
          <a:xfrm>
            <a:off x="838187" y="8464918"/>
            <a:ext cx="16611600" cy="1162990"/>
          </a:xfrm>
          <a:prstGeom prst="rect">
            <a:avLst/>
          </a:prstGeom>
          <a:noFill/>
          <a:ln w="9525" cap="flat" cmpd="sng">
            <a:solidFill>
              <a:srgbClr val="1D1F20">
                <a:alpha val="34902"/>
              </a:srgbClr>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7" name="Google Shape;1387;p44"/>
          <p:cNvSpPr txBox="1"/>
          <p:nvPr/>
        </p:nvSpPr>
        <p:spPr>
          <a:xfrm>
            <a:off x="1082344" y="8625586"/>
            <a:ext cx="15782546" cy="94604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2A3480"/>
                </a:solidFill>
                <a:latin typeface="Barlow"/>
                <a:ea typeface="Barlow"/>
                <a:cs typeface="Barlow"/>
                <a:sym typeface="Barlow"/>
              </a:rPr>
              <a:t>ADVISOR COMMENT</a:t>
            </a:r>
            <a:endParaRPr/>
          </a:p>
          <a:p>
            <a:pPr marL="0" marR="0" lvl="0" indent="0" algn="l" rtl="0">
              <a:lnSpc>
                <a:spcPct val="110000"/>
              </a:lnSpc>
              <a:spcBef>
                <a:spcPts val="220"/>
              </a:spcBef>
              <a:spcAft>
                <a:spcPts val="0"/>
              </a:spcAft>
              <a:buNone/>
            </a:pPr>
            <a:r>
              <a:rPr lang="en-US" sz="1850" b="0" i="0" u="none" strike="noStrike" cap="none">
                <a:solidFill>
                  <a:srgbClr val="1D1F20"/>
                </a:solidFill>
                <a:latin typeface="Barlow"/>
                <a:ea typeface="Barlow"/>
                <a:cs typeface="Barlow"/>
                <a:sym typeface="Barlow"/>
              </a:rPr>
              <a:t>{{nps_comment}}</a:t>
            </a:r>
            <a:endParaRPr/>
          </a:p>
        </p:txBody>
      </p:sp>
      <p:sp>
        <p:nvSpPr>
          <p:cNvPr id="1388" name="Google Shape;1388;p44"/>
          <p:cNvSpPr txBox="1"/>
          <p:nvPr/>
        </p:nvSpPr>
        <p:spPr>
          <a:xfrm>
            <a:off x="863803" y="9779215"/>
            <a:ext cx="4167082" cy="2884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Armstrong Capital · Goal Based Planning</a:t>
            </a:r>
            <a:endParaRPr/>
          </a:p>
        </p:txBody>
      </p:sp>
      <p:sp>
        <p:nvSpPr>
          <p:cNvPr id="1389" name="Google Shape;1389;p44"/>
          <p:cNvSpPr txBox="1"/>
          <p:nvPr/>
        </p:nvSpPr>
        <p:spPr>
          <a:xfrm>
            <a:off x="16587469" y="9779215"/>
            <a:ext cx="743687" cy="288420"/>
          </a:xfrm>
          <a:prstGeom prst="rect">
            <a:avLst/>
          </a:prstGeom>
          <a:noFill/>
          <a:ln>
            <a:noFill/>
          </a:ln>
        </p:spPr>
        <p:txBody>
          <a:bodyPr spcFirstLastPara="1" wrap="none" lIns="0" tIns="0" rIns="0" bIns="0" anchor="t" anchorCtr="0">
            <a:noAutofit/>
          </a:bodyPr>
          <a:lstStyle/>
          <a:p>
            <a:pPr marL="0" marR="0" lvl="0" indent="0" algn="l" rtl="0">
              <a:lnSpc>
                <a:spcPct val="100000"/>
              </a:lnSpc>
              <a:spcBef>
                <a:spcPts val="0"/>
              </a:spcBef>
              <a:spcAft>
                <a:spcPts val="0"/>
              </a:spcAft>
              <a:buNone/>
            </a:pPr>
            <a:r>
              <a:rPr lang="en-US" sz="1800" b="0" i="0" u="none" strike="noStrike" cap="none">
                <a:solidFill>
                  <a:srgbClr val="1D1F20"/>
                </a:solidFill>
                <a:latin typeface="Barlow"/>
                <a:ea typeface="Barlow"/>
                <a:cs typeface="Barlow"/>
                <a:sym typeface="Barlow"/>
              </a:rPr>
              <a:t>{{page_no}} / {{page_total}}</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ACROSS EVERY GOAL · THE CASH-FLOW LADDER</a:t>
            </a:r>
          </a:p>
        </p:txBody>
      </p:sp>
      <p:sp>
        <p:nvSpPr>
          <p:cNvPr id="102" name="Text 102"/>
          <p:cNvSpPr txBox="1"/>
          <p:nvPr/>
        </p:nvSpPr>
        <p:spPr>
          <a:xfrm>
            <a:off x="914400" y="1092200"/>
            <a:ext cx="16002000" cy="774700"/>
          </a:xfrm>
          <a:prstGeom prst="rect">
            <a:avLst/>
          </a:prstGeom>
          <a:noFill/>
        </p:spPr>
        <p:txBody>
          <a:bodyPr wrap="square" lIns="7200" tIns="0" rIns="0" bIns="0" anchor="t">
            <a:normAutofit/>
          </a:bodyPr>
          <a:lstStyle/>
          <a:p>
            <a:pPr marL="0" indent="0" algn="l">
              <a:lnSpc>
                <a:spcPct val="80000"/>
              </a:lnSpc>
              <a:buNone/>
            </a:pPr>
            <a:r>
              <a:rPr lang="en-US" sz="4400" b="1" kern="0" spc="-80" dirty="0">
                <a:solidFill>
                  <a:srgbClr val="1D1F20"/>
                </a:solidFill>
                <a:latin typeface="Barlow Condensed"/>
                <a:cs typeface="Barlow Condensed"/>
              </a:rPr>
              <a:t>{{ladder_headline}}</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914400" y="2489200"/>
            <a:ext cx="11430000" cy="381000"/>
          </a:xfrm>
          <a:prstGeom prst="rect">
            <a:avLst/>
          </a:prstGeom>
          <a:noFill/>
        </p:spPr>
        <p:txBody>
          <a:bodyPr wrap="square" lIns="7200" tIns="0" rIns="0" bIns="0" anchor="t">
            <a:normAutofit/>
          </a:bodyPr>
          <a:lstStyle/>
          <a:p>
            <a:pPr marL="0" indent="0" algn="l">
              <a:buNone/>
            </a:pPr>
            <a:r>
              <a:rPr lang="en-US" sz="1800" b="0" kern="0" dirty="0">
                <a:solidFill>
                  <a:srgbClr val="1D1F20">
                    <a:alpha val="80000"/>
                  </a:srgbClr>
                </a:solidFill>
                <a:latin typeface="Barlow"/>
                <a:cs typeface="Barlow"/>
              </a:rPr>
              <a:t>Monthly amount invested for retirement, ₹ a month</a:t>
            </a:r>
          </a:p>
        </p:txBody>
      </p:sp>
      <p:sp>
        <p:nvSpPr>
          <p:cNvPr id="105" name="Shape 105"/>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06" name="Text 106"/>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07" name="Text 107"/>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{{ladder_comment}}</a:t>
            </a:r>
          </a:p>
        </p:txBody>
      </p:sp>
      <p:sp>
        <p:nvSpPr>
          <p:cNvPr id="108" name="Text 108"/>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09" name="Text 109"/>
          <p:cNvSpPr txBox="1"/>
          <p:nvPr/>
        </p:nvSpPr>
        <p:spPr>
          <a:xfrm>
            <a:off x="14833600" y="9474200"/>
            <a:ext cx="2540000" cy="393700"/>
          </a:xfrm>
          <a:prstGeom prst="rect">
            <a:avLst/>
          </a:prstGeom>
          <a:noFill/>
        </p:spPr>
        <p:txBody>
          <a:bodyPr wrap="none" lIns="7200" tIns="0" rIns="0" bIns="0" anchor="t">
            <a:normAutofit/>
          </a:bodyPr>
          <a:lstStyle/>
          <a:p>
            <a:pPr marL="0" indent="0" algn="r">
              <a:buNone/>
            </a:pPr>
            <a:r>
              <a:rPr lang="en-US" sz="1600" b="0" kern="0" dirty="0">
                <a:solidFill>
                  <a:srgbClr val="2A3480"/>
                </a:solidFill>
                <a:latin typeface="Barlow"/>
                <a:cs typeface="Barlow"/>
              </a:rPr>
              <a:t>{{page_no}} / {{page_total}}</a:t>
            </a:r>
          </a:p>
        </p:txBody>
      </p:sp>
      <p:graphicFrame>
        <p:nvGraphicFramePr>
          <p:cNvPr id="110" name="Chart"/>
          <p:cNvGraphicFramePr/>
          <p:nvPr/>
        </p:nvGraphicFramePr>
        <p:xfrm>
          <a:off x="914400" y="2921000"/>
          <a:ext cx="16459200" cy="4318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0621252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26">
    <p:bg>
      <p:bgPr>
        <a:solidFill>
          <a:srgbClr val="F2F2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
          </a:blip>
          <a:srcRect t="9578" b="9578"/>
          <a:stretch/>
        </p:blipFill>
        <p:spPr>
          <a:xfrm>
            <a:off x="0" y="0"/>
            <a:ext cx="18287930" cy="10287001"/>
          </a:xfrm>
          <a:prstGeom prst="rect">
            <a:avLst/>
          </a:prstGeom>
        </p:spPr>
      </p:pic>
      <p:sp>
        <p:nvSpPr>
          <p:cNvPr id="3" name="Text 0"/>
          <p:cNvSpPr/>
          <p:nvPr/>
        </p:nvSpPr>
        <p:spPr>
          <a:xfrm>
            <a:off x="914372" y="571429"/>
            <a:ext cx="741057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CONSOLIDATION</a:t>
            </a:r>
            <a:endParaRPr lang="en-US" sz="2100" b="1" dirty="0">
              <a:solidFill>
                <a:srgbClr val="2A3480"/>
              </a:solidFill>
              <a:latin typeface="Barlow"/>
            </a:endParaRPr>
          </a:p>
        </p:txBody>
      </p:sp>
      <p:sp>
        <p:nvSpPr>
          <p:cNvPr id="4" name="Text 1"/>
          <p:cNvSpPr/>
          <p:nvPr/>
        </p:nvSpPr>
        <p:spPr>
          <a:xfrm>
            <a:off x="914372" y="1239504"/>
            <a:ext cx="7410571"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Retirement Corpus — {{retirement_year}}</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7" name="Text 3"/>
          <p:cNvSpPr/>
          <p:nvPr/>
        </p:nvSpPr>
        <p:spPr>
          <a:xfrm>
            <a:off x="914372" y="2419945"/>
            <a:ext cx="8675355"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AVAILABLE AT RETIREMENT</a:t>
            </a:r>
            <a:endParaRPr lang="en-US" sz="2100" dirty="0"/>
          </a:p>
        </p:txBody>
      </p:sp>
      <p:sp>
        <p:nvSpPr>
          <p:cNvPr id="8" name="Shape 4"/>
          <p:cNvSpPr/>
          <p:nvPr/>
        </p:nvSpPr>
        <p:spPr>
          <a:xfrm>
            <a:off x="914372" y="3777045"/>
            <a:ext cx="7886687" cy="9525"/>
          </a:xfrm>
          <a:prstGeom prst="rect">
            <a:avLst/>
          </a:prstGeom>
          <a:solidFill>
            <a:srgbClr val="1D1F20">
              <a:alpha val="12000"/>
            </a:srgbClr>
          </a:solidFill>
          <a:ln/>
        </p:spPr>
        <p:txBody>
          <a:bodyPr/>
          <a:lstStyle/>
          <a:p>
            <a:endParaRPr lang="en-US"/>
          </a:p>
        </p:txBody>
      </p:sp>
      <p:sp>
        <p:nvSpPr>
          <p:cNvPr id="9" name="Text 5"/>
          <p:cNvSpPr/>
          <p:nvPr/>
        </p:nvSpPr>
        <p:spPr>
          <a:xfrm>
            <a:off x="914372" y="3181449"/>
            <a:ext cx="2651572"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{{corpus_now_1_label}}</a:t>
            </a:r>
            <a:endParaRPr lang="en-US" sz="2250" dirty="0"/>
          </a:p>
        </p:txBody>
      </p:sp>
      <p:sp>
        <p:nvSpPr>
          <p:cNvPr id="10" name="Text 6"/>
          <p:cNvSpPr/>
          <p:nvPr/>
        </p:nvSpPr>
        <p:spPr>
          <a:xfrm>
            <a:off x="7674146" y="3022700"/>
            <a:ext cx="1203112" cy="687699"/>
          </a:xfrm>
          <a:prstGeom prst="rect">
            <a:avLst/>
          </a:prstGeom>
          <a:noFill/>
          <a:ln/>
        </p:spPr>
        <p:txBody>
          <a:bodyPr wrap="non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{{corpus_now_1_value}}</a:t>
            </a:r>
            <a:endParaRPr lang="en-US" sz="3300" dirty="0"/>
          </a:p>
        </p:txBody>
      </p:sp>
      <p:sp>
        <p:nvSpPr>
          <p:cNvPr id="11" name="Shape 7"/>
          <p:cNvSpPr/>
          <p:nvPr/>
        </p:nvSpPr>
        <p:spPr>
          <a:xfrm>
            <a:off x="914372" y="4645210"/>
            <a:ext cx="7886687" cy="9525"/>
          </a:xfrm>
          <a:prstGeom prst="rect">
            <a:avLst/>
          </a:prstGeom>
          <a:solidFill>
            <a:srgbClr val="1D1F20">
              <a:alpha val="12000"/>
            </a:srgbClr>
          </a:solidFill>
          <a:ln/>
        </p:spPr>
        <p:txBody>
          <a:bodyPr/>
          <a:lstStyle/>
          <a:p>
            <a:endParaRPr lang="en-US"/>
          </a:p>
        </p:txBody>
      </p:sp>
      <p:sp>
        <p:nvSpPr>
          <p:cNvPr id="12" name="Text 8"/>
          <p:cNvSpPr/>
          <p:nvPr/>
        </p:nvSpPr>
        <p:spPr>
          <a:xfrm>
            <a:off x="914372" y="4049614"/>
            <a:ext cx="3742432"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{{corpus_now_2_label}}</a:t>
            </a:r>
            <a:endParaRPr lang="en-US" sz="2250" dirty="0"/>
          </a:p>
        </p:txBody>
      </p:sp>
      <p:sp>
        <p:nvSpPr>
          <p:cNvPr id="13" name="Text 9"/>
          <p:cNvSpPr/>
          <p:nvPr/>
        </p:nvSpPr>
        <p:spPr>
          <a:xfrm>
            <a:off x="7566422" y="3890864"/>
            <a:ext cx="1358099" cy="687699"/>
          </a:xfrm>
          <a:prstGeom prst="rect">
            <a:avLst/>
          </a:prstGeom>
          <a:noFill/>
          <a:ln/>
        </p:spPr>
        <p:txBody>
          <a:bodyPr wrap="non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{{corpus_now_2_value}}</a:t>
            </a:r>
            <a:endParaRPr lang="en-US" sz="3300" dirty="0"/>
          </a:p>
        </p:txBody>
      </p:sp>
      <p:sp>
        <p:nvSpPr>
          <p:cNvPr id="14" name="Shape 10"/>
          <p:cNvSpPr/>
          <p:nvPr/>
        </p:nvSpPr>
        <p:spPr>
          <a:xfrm>
            <a:off x="914372" y="5513374"/>
            <a:ext cx="7886687" cy="9525"/>
          </a:xfrm>
          <a:prstGeom prst="rect">
            <a:avLst/>
          </a:prstGeom>
          <a:solidFill>
            <a:srgbClr val="1D1F20">
              <a:alpha val="12000"/>
            </a:srgbClr>
          </a:solidFill>
          <a:ln/>
        </p:spPr>
        <p:txBody>
          <a:bodyPr/>
          <a:lstStyle/>
          <a:p>
            <a:endParaRPr lang="en-US"/>
          </a:p>
        </p:txBody>
      </p:sp>
      <p:sp>
        <p:nvSpPr>
          <p:cNvPr id="15" name="Text 11"/>
          <p:cNvSpPr/>
          <p:nvPr/>
        </p:nvSpPr>
        <p:spPr>
          <a:xfrm>
            <a:off x="914372" y="4917778"/>
            <a:ext cx="3373459"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{{corpus_now_3_label}}</a:t>
            </a:r>
            <a:endParaRPr lang="en-US" sz="2250" dirty="0"/>
          </a:p>
        </p:txBody>
      </p:sp>
      <p:sp>
        <p:nvSpPr>
          <p:cNvPr id="16" name="Text 12"/>
          <p:cNvSpPr/>
          <p:nvPr/>
        </p:nvSpPr>
        <p:spPr>
          <a:xfrm>
            <a:off x="7580668" y="4759028"/>
            <a:ext cx="1342430" cy="687699"/>
          </a:xfrm>
          <a:prstGeom prst="rect">
            <a:avLst/>
          </a:prstGeom>
          <a:noFill/>
          <a:ln/>
        </p:spPr>
        <p:txBody>
          <a:bodyPr wrap="non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{{corpus_now_3_value}}</a:t>
            </a:r>
            <a:endParaRPr lang="en-US" sz="3300" dirty="0"/>
          </a:p>
        </p:txBody>
      </p:sp>
      <p:sp>
        <p:nvSpPr>
          <p:cNvPr id="17" name="Shape 13"/>
          <p:cNvSpPr/>
          <p:nvPr/>
        </p:nvSpPr>
        <p:spPr>
          <a:xfrm>
            <a:off x="914372" y="6381538"/>
            <a:ext cx="7886687" cy="9525"/>
          </a:xfrm>
          <a:prstGeom prst="rect">
            <a:avLst/>
          </a:prstGeom>
          <a:solidFill>
            <a:srgbClr val="1D1F20">
              <a:alpha val="12000"/>
            </a:srgbClr>
          </a:solidFill>
          <a:ln/>
        </p:spPr>
        <p:txBody>
          <a:bodyPr/>
          <a:lstStyle/>
          <a:p>
            <a:endParaRPr lang="en-US"/>
          </a:p>
        </p:txBody>
      </p:sp>
      <p:sp>
        <p:nvSpPr>
          <p:cNvPr id="18" name="Text 14"/>
          <p:cNvSpPr/>
          <p:nvPr/>
        </p:nvSpPr>
        <p:spPr>
          <a:xfrm>
            <a:off x="914372" y="5785942"/>
            <a:ext cx="4774513"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{{corpus_now_4_label}}</a:t>
            </a:r>
            <a:endParaRPr lang="en-US" sz="2250" dirty="0"/>
          </a:p>
        </p:txBody>
      </p:sp>
      <p:sp>
        <p:nvSpPr>
          <p:cNvPr id="19" name="Text 15"/>
          <p:cNvSpPr/>
          <p:nvPr/>
        </p:nvSpPr>
        <p:spPr>
          <a:xfrm>
            <a:off x="7561391" y="5627192"/>
            <a:ext cx="1363634" cy="687699"/>
          </a:xfrm>
          <a:prstGeom prst="rect">
            <a:avLst/>
          </a:prstGeom>
          <a:noFill/>
          <a:ln/>
        </p:spPr>
        <p:txBody>
          <a:bodyPr wrap="non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{{corpus_now_4_value}}</a:t>
            </a:r>
            <a:endParaRPr lang="en-US" sz="3300" dirty="0"/>
          </a:p>
        </p:txBody>
      </p:sp>
      <p:sp>
        <p:nvSpPr>
          <p:cNvPr id="20" name="Shape 16"/>
          <p:cNvSpPr/>
          <p:nvPr/>
        </p:nvSpPr>
        <p:spPr>
          <a:xfrm>
            <a:off x="914372" y="7249702"/>
            <a:ext cx="7886687" cy="9525"/>
          </a:xfrm>
          <a:prstGeom prst="rect">
            <a:avLst/>
          </a:prstGeom>
          <a:solidFill>
            <a:srgbClr val="1D1F20">
              <a:alpha val="12000"/>
            </a:srgbClr>
          </a:solidFill>
          <a:ln/>
        </p:spPr>
        <p:txBody>
          <a:bodyPr/>
          <a:lstStyle/>
          <a:p>
            <a:endParaRPr lang="en-US"/>
          </a:p>
        </p:txBody>
      </p:sp>
      <p:sp>
        <p:nvSpPr>
          <p:cNvPr id="21" name="Text 17"/>
          <p:cNvSpPr/>
          <p:nvPr/>
        </p:nvSpPr>
        <p:spPr>
          <a:xfrm>
            <a:off x="914372" y="6654106"/>
            <a:ext cx="4117642"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{{corpus_now_5_label}}</a:t>
            </a:r>
            <a:endParaRPr lang="en-US" sz="2250" dirty="0"/>
          </a:p>
        </p:txBody>
      </p:sp>
      <p:sp>
        <p:nvSpPr>
          <p:cNvPr id="22" name="Text 18"/>
          <p:cNvSpPr/>
          <p:nvPr/>
        </p:nvSpPr>
        <p:spPr>
          <a:xfrm>
            <a:off x="7566847" y="6495356"/>
            <a:ext cx="1357631" cy="687699"/>
          </a:xfrm>
          <a:prstGeom prst="rect">
            <a:avLst/>
          </a:prstGeom>
          <a:noFill/>
          <a:ln/>
        </p:spPr>
        <p:txBody>
          <a:bodyPr wrap="non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{{corpus_now_5_value}}</a:t>
            </a:r>
            <a:endParaRPr lang="en-US" sz="3300" dirty="0"/>
          </a:p>
        </p:txBody>
      </p:sp>
      <p:sp>
        <p:nvSpPr>
          <p:cNvPr id="23" name="Shape 19"/>
          <p:cNvSpPr/>
          <p:nvPr/>
        </p:nvSpPr>
        <p:spPr>
          <a:xfrm>
            <a:off x="914372" y="8117866"/>
            <a:ext cx="7886687" cy="9525"/>
          </a:xfrm>
          <a:prstGeom prst="rect">
            <a:avLst/>
          </a:prstGeom>
          <a:solidFill>
            <a:srgbClr val="1D1F20">
              <a:alpha val="12000"/>
            </a:srgbClr>
          </a:solidFill>
          <a:ln/>
        </p:spPr>
        <p:txBody>
          <a:bodyPr/>
          <a:lstStyle/>
          <a:p>
            <a:endParaRPr lang="en-US"/>
          </a:p>
        </p:txBody>
      </p:sp>
      <p:sp>
        <p:nvSpPr>
          <p:cNvPr id="24" name="Text 20"/>
          <p:cNvSpPr/>
          <p:nvPr/>
        </p:nvSpPr>
        <p:spPr>
          <a:xfrm>
            <a:off x="914372" y="7522270"/>
            <a:ext cx="3064201"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{{corpus_now_6_label}}</a:t>
            </a:r>
            <a:endParaRPr lang="en-US" sz="2250" dirty="0"/>
          </a:p>
        </p:txBody>
      </p:sp>
      <p:sp>
        <p:nvSpPr>
          <p:cNvPr id="25" name="Text 21"/>
          <p:cNvSpPr/>
          <p:nvPr/>
        </p:nvSpPr>
        <p:spPr>
          <a:xfrm>
            <a:off x="7628009" y="7363520"/>
            <a:ext cx="1249249" cy="687699"/>
          </a:xfrm>
          <a:prstGeom prst="rect">
            <a:avLst/>
          </a:prstGeom>
          <a:noFill/>
          <a:ln/>
        </p:spPr>
        <p:txBody>
          <a:bodyPr wrap="non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{{corpus_now_6_value}}</a:t>
            </a:r>
            <a:endParaRPr lang="en-US" sz="3300" dirty="0"/>
          </a:p>
        </p:txBody>
      </p:sp>
      <p:sp>
        <p:nvSpPr>
          <p:cNvPr id="26" name="Text 22"/>
          <p:cNvSpPr/>
          <p:nvPr/>
        </p:nvSpPr>
        <p:spPr>
          <a:xfrm>
            <a:off x="914372" y="8390434"/>
            <a:ext cx="3828575"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{{corpus_now_7_label}}</a:t>
            </a:r>
            <a:endParaRPr lang="en-US" sz="2250" dirty="0"/>
          </a:p>
        </p:txBody>
      </p:sp>
      <p:sp>
        <p:nvSpPr>
          <p:cNvPr id="27" name="Text 23"/>
          <p:cNvSpPr/>
          <p:nvPr/>
        </p:nvSpPr>
        <p:spPr>
          <a:xfrm>
            <a:off x="7630985" y="8231684"/>
            <a:ext cx="1246273" cy="687699"/>
          </a:xfrm>
          <a:prstGeom prst="rect">
            <a:avLst/>
          </a:prstGeom>
          <a:noFill/>
          <a:ln/>
        </p:spPr>
        <p:txBody>
          <a:bodyPr wrap="none" lIns="25400" tIns="25400" rIns="25400" bIns="25400" rtlCol="0" anchor="t">
            <a:normAutofit/>
          </a:bodyPr>
          <a:lstStyle/>
          <a:p>
            <a:pPr marL="0" indent="0" algn="l">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{{corpus_now_7_value}}</a:t>
            </a:r>
            <a:endParaRPr lang="en-US" sz="3300" dirty="0"/>
          </a:p>
        </p:txBody>
      </p:sp>
      <p:sp>
        <p:nvSpPr>
          <p:cNvPr id="28" name="Text 24"/>
          <p:cNvSpPr/>
          <p:nvPr/>
        </p:nvSpPr>
        <p:spPr>
          <a:xfrm>
            <a:off x="9486801" y="2419945"/>
            <a:ext cx="8675433"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AVAILABLE LATER, OR ON A DECISION</a:t>
            </a:r>
            <a:endParaRPr lang="en-US" sz="2100" dirty="0"/>
          </a:p>
        </p:txBody>
      </p:sp>
      <p:sp>
        <p:nvSpPr>
          <p:cNvPr id="29" name="Shape 25"/>
          <p:cNvSpPr/>
          <p:nvPr/>
        </p:nvSpPr>
        <p:spPr>
          <a:xfrm>
            <a:off x="9486801" y="3777045"/>
            <a:ext cx="7886757" cy="9525"/>
          </a:xfrm>
          <a:prstGeom prst="rect">
            <a:avLst/>
          </a:prstGeom>
          <a:solidFill>
            <a:srgbClr val="1D1F20">
              <a:alpha val="12000"/>
            </a:srgbClr>
          </a:solidFill>
          <a:ln/>
        </p:spPr>
        <p:txBody>
          <a:bodyPr/>
          <a:lstStyle/>
          <a:p>
            <a:endParaRPr lang="en-US"/>
          </a:p>
        </p:txBody>
      </p:sp>
      <p:sp>
        <p:nvSpPr>
          <p:cNvPr id="30" name="Text 26"/>
          <p:cNvSpPr/>
          <p:nvPr/>
        </p:nvSpPr>
        <p:spPr>
          <a:xfrm>
            <a:off x="9486801" y="3181449"/>
            <a:ext cx="3734247"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{{corpus_later_1_label}}</a:t>
            </a:r>
            <a:endParaRPr lang="en-US" sz="2250" dirty="0"/>
          </a:p>
        </p:txBody>
      </p:sp>
      <p:sp>
        <p:nvSpPr>
          <p:cNvPr id="31" name="Text 27"/>
          <p:cNvSpPr/>
          <p:nvPr/>
        </p:nvSpPr>
        <p:spPr>
          <a:xfrm>
            <a:off x="14795813" y="3022700"/>
            <a:ext cx="2698360" cy="687699"/>
          </a:xfrm>
          <a:prstGeom prst="rect">
            <a:avLst/>
          </a:prstGeom>
          <a:noFill/>
          <a:ln/>
        </p:spPr>
        <p:txBody>
          <a:bodyPr wrap="none" lIns="25400" tIns="25400" rIns="25400" bIns="25400" rtlCol="0" anchor="t">
            <a:normAutofit/>
          </a:bodyPr>
          <a:lstStyle/>
          <a:p>
            <a:pPr marL="0" indent="0" algn="r">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{{corpus_later_1_value}}</a:t>
            </a:r>
            <a:endParaRPr lang="en-US" sz="3300" dirty="0"/>
          </a:p>
        </p:txBody>
      </p:sp>
      <p:sp>
        <p:nvSpPr>
          <p:cNvPr id="32" name="Shape 28"/>
          <p:cNvSpPr/>
          <p:nvPr/>
        </p:nvSpPr>
        <p:spPr>
          <a:xfrm>
            <a:off x="9486801" y="4645210"/>
            <a:ext cx="7886757" cy="9525"/>
          </a:xfrm>
          <a:prstGeom prst="rect">
            <a:avLst/>
          </a:prstGeom>
          <a:solidFill>
            <a:srgbClr val="1D1F20">
              <a:alpha val="12000"/>
            </a:srgbClr>
          </a:solidFill>
          <a:ln/>
        </p:spPr>
        <p:txBody>
          <a:bodyPr/>
          <a:lstStyle/>
          <a:p>
            <a:endParaRPr lang="en-US"/>
          </a:p>
        </p:txBody>
      </p:sp>
      <p:sp>
        <p:nvSpPr>
          <p:cNvPr id="33" name="Text 29"/>
          <p:cNvSpPr/>
          <p:nvPr/>
        </p:nvSpPr>
        <p:spPr>
          <a:xfrm>
            <a:off x="9486801" y="4049614"/>
            <a:ext cx="6719243"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solidFill>
                <a:latin typeface="Barlow" pitchFamily="34" charset="0"/>
                <a:ea typeface="Barlow" pitchFamily="34" charset="-122"/>
                <a:cs typeface="Barlow" pitchFamily="34" charset="-120"/>
              </a:rPr>
              <a:t>{{corpus_later_2_label}}</a:t>
            </a:r>
            <a:endParaRPr lang="en-US" sz="2250" dirty="0"/>
          </a:p>
        </p:txBody>
      </p:sp>
      <p:sp>
        <p:nvSpPr>
          <p:cNvPr id="34" name="Text 30"/>
          <p:cNvSpPr/>
          <p:nvPr/>
        </p:nvSpPr>
        <p:spPr>
          <a:xfrm>
            <a:off x="14752227" y="3890864"/>
            <a:ext cx="2746304" cy="687699"/>
          </a:xfrm>
          <a:prstGeom prst="rect">
            <a:avLst/>
          </a:prstGeom>
          <a:noFill/>
          <a:ln/>
        </p:spPr>
        <p:txBody>
          <a:bodyPr wrap="none" lIns="25400" tIns="25400" rIns="25400" bIns="25400" rtlCol="0" anchor="t">
            <a:normAutofit/>
          </a:bodyPr>
          <a:lstStyle/>
          <a:p>
            <a:pPr marL="0" indent="0" algn="r">
              <a:lnSpc>
                <a:spcPct val="130200"/>
              </a:lnSpc>
              <a:buNone/>
            </a:pPr>
            <a:r>
              <a:rPr lang="en-US" sz="3300" dirty="0">
                <a:solidFill>
                  <a:srgbClr val="1D1F20"/>
                </a:solidFill>
                <a:latin typeface="Barlow Condensed" pitchFamily="34" charset="0"/>
                <a:ea typeface="Barlow Condensed" pitchFamily="34" charset="-122"/>
                <a:cs typeface="Barlow Condensed" pitchFamily="34" charset="-120"/>
              </a:rPr>
              <a:t>{{corpus_later_2_value}}</a:t>
            </a:r>
            <a:endParaRPr lang="en-US" sz="3300" dirty="0"/>
          </a:p>
        </p:txBody>
      </p:sp>
      <p:sp>
        <p:nvSpPr>
          <p:cNvPr id="35" name="Shape 31"/>
          <p:cNvSpPr/>
          <p:nvPr/>
        </p:nvSpPr>
        <p:spPr>
          <a:xfrm>
            <a:off x="9486801" y="6599890"/>
            <a:ext cx="3924315" cy="2685072"/>
          </a:xfrm>
          <a:prstGeom prst="rect">
            <a:avLst/>
          </a:prstGeom>
          <a:solidFill>
            <a:srgbClr val="26306F"/>
          </a:solidFill>
          <a:ln/>
        </p:spPr>
        <p:txBody>
          <a:bodyPr/>
          <a:lstStyle/>
          <a:p>
            <a:endParaRPr lang="en-US"/>
          </a:p>
        </p:txBody>
      </p:sp>
      <p:sp>
        <p:nvSpPr>
          <p:cNvPr id="36" name="Text 32"/>
          <p:cNvSpPr/>
          <p:nvPr/>
        </p:nvSpPr>
        <p:spPr>
          <a:xfrm>
            <a:off x="9772480" y="6847512"/>
            <a:ext cx="3688252"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TOTAL WEALTH AT {{retirement_year}}</a:t>
            </a:r>
            <a:endParaRPr lang="en-US" sz="2100" dirty="0"/>
          </a:p>
        </p:txBody>
      </p:sp>
      <p:sp>
        <p:nvSpPr>
          <p:cNvPr id="37" name="Text 33"/>
          <p:cNvSpPr/>
          <p:nvPr/>
        </p:nvSpPr>
        <p:spPr>
          <a:xfrm>
            <a:off x="9772480" y="7278050"/>
            <a:ext cx="3688252" cy="628664"/>
          </a:xfrm>
          <a:prstGeom prst="rect">
            <a:avLst/>
          </a:prstGeom>
          <a:noFill/>
          <a:ln/>
        </p:spPr>
        <p:txBody>
          <a:bodyPr wrap="none" lIns="25400" tIns="25400" rIns="25400" bIns="25400" rtlCol="0" anchor="t">
            <a:normAutofit lnSpcReduction="10000"/>
          </a:bodyPr>
          <a:lstStyle/>
          <a:p>
            <a:pPr marL="0" indent="0" algn="l">
              <a:lnSpc>
                <a:spcPct val="83462"/>
              </a:lnSpc>
              <a:buNone/>
            </a:pPr>
            <a:r>
              <a:rPr lang="en-US" sz="4650" dirty="0">
                <a:solidFill>
                  <a:srgbClr val="F2F2F3"/>
                </a:solidFill>
                <a:latin typeface="Barlow Condensed" pitchFamily="34" charset="0"/>
                <a:ea typeface="Barlow Condensed" pitchFamily="34" charset="-122"/>
                <a:cs typeface="Barlow Condensed" pitchFamily="34" charset="-120"/>
              </a:rPr>
              <a:t>{{corpus_liquid_total}}</a:t>
            </a:r>
            <a:endParaRPr lang="en-US" sz="4650" dirty="0"/>
          </a:p>
        </p:txBody>
      </p:sp>
      <p:sp>
        <p:nvSpPr>
          <p:cNvPr id="38" name="Text 34"/>
          <p:cNvSpPr/>
          <p:nvPr/>
        </p:nvSpPr>
        <p:spPr>
          <a:xfrm>
            <a:off x="9772480" y="7944800"/>
            <a:ext cx="3688252"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dirty="0">
                <a:solidFill>
                  <a:srgbClr val="F2F2F3">
                    <a:alpha val="90000"/>
                  </a:srgbClr>
                </a:solidFill>
                <a:latin typeface="Barlow" pitchFamily="34" charset="0"/>
                <a:ea typeface="Barlow" pitchFamily="34" charset="-122"/>
                <a:cs typeface="Barlow" pitchFamily="34" charset="-120"/>
              </a:rPr>
              <a:t>liquid and drawable at age {{retirement_age}}</a:t>
            </a:r>
            <a:endParaRPr lang="en-US" sz="2100" dirty="0"/>
          </a:p>
        </p:txBody>
      </p:sp>
      <p:sp>
        <p:nvSpPr>
          <p:cNvPr id="39" name="Shape 35"/>
          <p:cNvSpPr/>
          <p:nvPr/>
        </p:nvSpPr>
        <p:spPr>
          <a:xfrm>
            <a:off x="13449173" y="6599890"/>
            <a:ext cx="3924385" cy="2685072"/>
          </a:xfrm>
          <a:prstGeom prst="rect">
            <a:avLst/>
          </a:prstGeom>
          <a:solidFill>
            <a:srgbClr val="141A45"/>
          </a:solidFill>
          <a:ln/>
        </p:spPr>
        <p:txBody>
          <a:bodyPr/>
          <a:lstStyle/>
          <a:p>
            <a:endParaRPr lang="en-US"/>
          </a:p>
        </p:txBody>
      </p:sp>
      <p:sp>
        <p:nvSpPr>
          <p:cNvPr id="40" name="Text 36"/>
          <p:cNvSpPr/>
          <p:nvPr/>
        </p:nvSpPr>
        <p:spPr>
          <a:xfrm>
            <a:off x="13734852" y="6847512"/>
            <a:ext cx="3453618" cy="746805"/>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INCLUDING NPS AND PROPERTY</a:t>
            </a:r>
            <a:endParaRPr lang="en-US" sz="2100" dirty="0"/>
          </a:p>
        </p:txBody>
      </p:sp>
      <p:sp>
        <p:nvSpPr>
          <p:cNvPr id="41" name="Text 37"/>
          <p:cNvSpPr/>
          <p:nvPr/>
        </p:nvSpPr>
        <p:spPr>
          <a:xfrm>
            <a:off x="13734852" y="7632403"/>
            <a:ext cx="3688330" cy="628664"/>
          </a:xfrm>
          <a:prstGeom prst="rect">
            <a:avLst/>
          </a:prstGeom>
          <a:noFill/>
          <a:ln/>
        </p:spPr>
        <p:txBody>
          <a:bodyPr wrap="none" lIns="25400" tIns="25400" rIns="25400" bIns="25400" rtlCol="0" anchor="t">
            <a:normAutofit lnSpcReduction="10000"/>
          </a:bodyPr>
          <a:lstStyle/>
          <a:p>
            <a:pPr marL="0" indent="0" algn="l">
              <a:lnSpc>
                <a:spcPct val="83462"/>
              </a:lnSpc>
              <a:buNone/>
            </a:pPr>
            <a:r>
              <a:rPr lang="en-US" sz="4650" dirty="0">
                <a:solidFill>
                  <a:srgbClr val="94BCE3"/>
                </a:solidFill>
                <a:latin typeface="Barlow Condensed" pitchFamily="34" charset="0"/>
                <a:ea typeface="Barlow Condensed" pitchFamily="34" charset="-122"/>
                <a:cs typeface="Barlow Condensed" pitchFamily="34" charset="-120"/>
              </a:rPr>
              <a:t>{{corpus_projected}}</a:t>
            </a:r>
            <a:endParaRPr lang="en-US" sz="4650" dirty="0"/>
          </a:p>
        </p:txBody>
      </p:sp>
      <p:sp>
        <p:nvSpPr>
          <p:cNvPr id="42" name="Text 38"/>
          <p:cNvSpPr/>
          <p:nvPr/>
        </p:nvSpPr>
        <p:spPr>
          <a:xfrm>
            <a:off x="13734852" y="8299153"/>
            <a:ext cx="3453618" cy="776288"/>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dirty="0">
                <a:solidFill>
                  <a:srgbClr val="F2F2F3">
                    <a:alpha val="90000"/>
                  </a:srgbClr>
                </a:solidFill>
                <a:latin typeface="Barlow" pitchFamily="34" charset="0"/>
                <a:ea typeface="Barlow" pitchFamily="34" charset="-122"/>
                <a:cs typeface="Barlow" pitchFamily="34" charset="-120"/>
              </a:rPr>
              <a:t>the figure the outlook is measured against</a:t>
            </a:r>
            <a:endParaRPr lang="en-US" sz="2100" dirty="0"/>
          </a:p>
        </p:txBody>
      </p:sp>
      <p:sp>
        <p:nvSpPr>
          <p:cNvPr id="43" name="Text 39"/>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4" name="Text 40"/>
          <p:cNvSpPr/>
          <p:nvPr/>
        </p:nvSpPr>
        <p:spPr>
          <a:xfrm>
            <a:off x="16710139" y="9475462"/>
            <a:ext cx="739619"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42078686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7">
    <p:bg>
      <p:bgPr>
        <a:solidFill>
          <a:srgbClr val="F2F2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
          </a:blip>
          <a:srcRect t="6561" b="6561"/>
          <a:stretch/>
        </p:blipFill>
        <p:spPr>
          <a:xfrm>
            <a:off x="0" y="0"/>
            <a:ext cx="18287930" cy="10287001"/>
          </a:xfrm>
          <a:prstGeom prst="rect">
            <a:avLst/>
          </a:prstGeom>
        </p:spPr>
      </p:pic>
      <p:sp>
        <p:nvSpPr>
          <p:cNvPr id="3" name="Text 0"/>
          <p:cNvSpPr/>
          <p:nvPr/>
        </p:nvSpPr>
        <p:spPr>
          <a:xfrm>
            <a:off x="914372" y="571429"/>
            <a:ext cx="5405580"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CONCLUSION</a:t>
            </a:r>
            <a:endParaRPr lang="en-US" sz="2100" b="1" dirty="0">
              <a:solidFill>
                <a:srgbClr val="2A3480"/>
              </a:solidFill>
              <a:latin typeface="Barlow"/>
            </a:endParaRPr>
          </a:p>
        </p:txBody>
      </p:sp>
      <p:sp>
        <p:nvSpPr>
          <p:cNvPr id="4" name="Text 1"/>
          <p:cNvSpPr/>
          <p:nvPr/>
        </p:nvSpPr>
        <p:spPr>
          <a:xfrm>
            <a:off x="914372" y="1088501"/>
            <a:ext cx="5405580"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Retirement Outlook</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7" name="Shape 3"/>
          <p:cNvSpPr/>
          <p:nvPr/>
        </p:nvSpPr>
        <p:spPr>
          <a:xfrm>
            <a:off x="914372" y="2381817"/>
            <a:ext cx="2748005" cy="1545899"/>
          </a:xfrm>
          <a:prstGeom prst="rect">
            <a:avLst/>
          </a:prstGeom>
          <a:ln w="9071">
            <a:solidFill>
              <a:srgbClr val="1F1F1F">
                <a:alpha val="16000"/>
              </a:srgbClr>
            </a:solidFill>
            <a:prstDash val="solid"/>
          </a:ln>
        </p:spPr>
        <p:txBody>
          <a:bodyPr/>
          <a:lstStyle/>
          <a:p>
            <a:endParaRPr lang="en-US"/>
          </a:p>
        </p:txBody>
      </p:sp>
      <p:sp>
        <p:nvSpPr>
          <p:cNvPr id="8" name="Text 4"/>
          <p:cNvSpPr/>
          <p:nvPr/>
        </p:nvSpPr>
        <p:spPr>
          <a:xfrm>
            <a:off x="1113943" y="2543260"/>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RETIREMENT YEAR</a:t>
            </a:r>
            <a:endParaRPr lang="en-US" sz="2100" dirty="0"/>
          </a:p>
        </p:txBody>
      </p:sp>
      <p:sp>
        <p:nvSpPr>
          <p:cNvPr id="9" name="Text 5"/>
          <p:cNvSpPr/>
          <p:nvPr/>
        </p:nvSpPr>
        <p:spPr>
          <a:xfrm>
            <a:off x="1113943" y="2973799"/>
            <a:ext cx="2583749"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{{retirement_year}}</a:t>
            </a:r>
            <a:endParaRPr lang="en-US" sz="3450" dirty="0"/>
          </a:p>
        </p:txBody>
      </p:sp>
      <p:sp>
        <p:nvSpPr>
          <p:cNvPr id="10" name="Shape 6"/>
          <p:cNvSpPr/>
          <p:nvPr/>
        </p:nvSpPr>
        <p:spPr>
          <a:xfrm>
            <a:off x="3814749" y="2381817"/>
            <a:ext cx="2748005" cy="1545899"/>
          </a:xfrm>
          <a:prstGeom prst="rect">
            <a:avLst/>
          </a:prstGeom>
          <a:ln w="9071">
            <a:solidFill>
              <a:srgbClr val="1F1F1F">
                <a:alpha val="16000"/>
              </a:srgbClr>
            </a:solidFill>
            <a:prstDash val="solid"/>
          </a:ln>
        </p:spPr>
        <p:txBody>
          <a:bodyPr/>
          <a:lstStyle/>
          <a:p>
            <a:endParaRPr lang="en-US"/>
          </a:p>
        </p:txBody>
      </p:sp>
      <p:sp>
        <p:nvSpPr>
          <p:cNvPr id="11" name="Text 7"/>
          <p:cNvSpPr/>
          <p:nvPr/>
        </p:nvSpPr>
        <p:spPr>
          <a:xfrm>
            <a:off x="4014320" y="2543260"/>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YEARS LEFT</a:t>
            </a:r>
            <a:endParaRPr lang="en-US" sz="2100" dirty="0"/>
          </a:p>
        </p:txBody>
      </p:sp>
      <p:sp>
        <p:nvSpPr>
          <p:cNvPr id="12" name="Text 8"/>
          <p:cNvSpPr/>
          <p:nvPr/>
        </p:nvSpPr>
        <p:spPr>
          <a:xfrm>
            <a:off x="4014320" y="2973799"/>
            <a:ext cx="2583749"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{{years_to_retirement}} years</a:t>
            </a:r>
            <a:endParaRPr lang="en-US" sz="3450" dirty="0"/>
          </a:p>
        </p:txBody>
      </p:sp>
      <p:sp>
        <p:nvSpPr>
          <p:cNvPr id="13" name="Shape 9"/>
          <p:cNvSpPr/>
          <p:nvPr/>
        </p:nvSpPr>
        <p:spPr>
          <a:xfrm>
            <a:off x="6715126" y="2381817"/>
            <a:ext cx="2748005" cy="1545899"/>
          </a:xfrm>
          <a:prstGeom prst="rect">
            <a:avLst/>
          </a:prstGeom>
          <a:ln w="9071">
            <a:solidFill>
              <a:srgbClr val="1F1F1F">
                <a:alpha val="16000"/>
              </a:srgbClr>
            </a:solidFill>
            <a:prstDash val="solid"/>
          </a:ln>
        </p:spPr>
        <p:txBody>
          <a:bodyPr/>
          <a:lstStyle/>
          <a:p>
            <a:endParaRPr lang="en-US"/>
          </a:p>
        </p:txBody>
      </p:sp>
      <p:sp>
        <p:nvSpPr>
          <p:cNvPr id="14" name="Text 10"/>
          <p:cNvSpPr/>
          <p:nvPr/>
        </p:nvSpPr>
        <p:spPr>
          <a:xfrm>
            <a:off x="6914697" y="2543260"/>
            <a:ext cx="2425062" cy="746805"/>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MONTHLY EXPENSE</a:t>
            </a:r>
            <a:endParaRPr lang="en-US" sz="2100" dirty="0"/>
          </a:p>
        </p:txBody>
      </p:sp>
      <p:sp>
        <p:nvSpPr>
          <p:cNvPr id="15" name="Text 11"/>
          <p:cNvSpPr/>
          <p:nvPr/>
        </p:nvSpPr>
        <p:spPr>
          <a:xfrm>
            <a:off x="6914697" y="3328152"/>
            <a:ext cx="2583749"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{{retirement_monthly_expense}}</a:t>
            </a:r>
            <a:endParaRPr lang="en-US" sz="3450" dirty="0"/>
          </a:p>
        </p:txBody>
      </p:sp>
      <p:sp>
        <p:nvSpPr>
          <p:cNvPr id="16" name="Shape 12"/>
          <p:cNvSpPr/>
          <p:nvPr/>
        </p:nvSpPr>
        <p:spPr>
          <a:xfrm>
            <a:off x="9615502" y="2381817"/>
            <a:ext cx="2748005" cy="1545899"/>
          </a:xfrm>
          <a:prstGeom prst="rect">
            <a:avLst/>
          </a:prstGeom>
          <a:ln w="9071">
            <a:solidFill>
              <a:srgbClr val="1F1F1F">
                <a:alpha val="16000"/>
              </a:srgbClr>
            </a:solidFill>
            <a:prstDash val="solid"/>
          </a:ln>
        </p:spPr>
        <p:txBody>
          <a:bodyPr/>
          <a:lstStyle/>
          <a:p>
            <a:endParaRPr lang="en-US"/>
          </a:p>
        </p:txBody>
      </p:sp>
      <p:sp>
        <p:nvSpPr>
          <p:cNvPr id="17" name="Text 13"/>
          <p:cNvSpPr/>
          <p:nvPr/>
        </p:nvSpPr>
        <p:spPr>
          <a:xfrm>
            <a:off x="9815074" y="2543260"/>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RENTAL INCOME</a:t>
            </a:r>
            <a:endParaRPr lang="en-US" sz="2100" dirty="0"/>
          </a:p>
        </p:txBody>
      </p:sp>
      <p:sp>
        <p:nvSpPr>
          <p:cNvPr id="18" name="Text 14"/>
          <p:cNvSpPr/>
          <p:nvPr/>
        </p:nvSpPr>
        <p:spPr>
          <a:xfrm>
            <a:off x="9815074" y="2973799"/>
            <a:ext cx="2583749"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{{rental_income}}</a:t>
            </a:r>
            <a:endParaRPr lang="en-US" sz="3450" dirty="0"/>
          </a:p>
        </p:txBody>
      </p:sp>
      <p:sp>
        <p:nvSpPr>
          <p:cNvPr id="19" name="Shape 15"/>
          <p:cNvSpPr/>
          <p:nvPr/>
        </p:nvSpPr>
        <p:spPr>
          <a:xfrm>
            <a:off x="914372" y="4080088"/>
            <a:ext cx="2748005" cy="1545899"/>
          </a:xfrm>
          <a:prstGeom prst="rect">
            <a:avLst/>
          </a:prstGeom>
          <a:ln w="9071">
            <a:solidFill>
              <a:srgbClr val="1F1F1F">
                <a:alpha val="16000"/>
              </a:srgbClr>
            </a:solidFill>
            <a:prstDash val="solid"/>
          </a:ln>
        </p:spPr>
        <p:txBody>
          <a:bodyPr/>
          <a:lstStyle/>
          <a:p>
            <a:endParaRPr lang="en-US"/>
          </a:p>
        </p:txBody>
      </p:sp>
      <p:sp>
        <p:nvSpPr>
          <p:cNvPr id="20" name="Text 16"/>
          <p:cNvSpPr/>
          <p:nvPr/>
        </p:nvSpPr>
        <p:spPr>
          <a:xfrm>
            <a:off x="1113943" y="4241531"/>
            <a:ext cx="2425062" cy="746805"/>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ANNUITY REQUIRED</a:t>
            </a:r>
            <a:endParaRPr lang="en-US" sz="2100" dirty="0"/>
          </a:p>
        </p:txBody>
      </p:sp>
      <p:sp>
        <p:nvSpPr>
          <p:cNvPr id="21" name="Text 17"/>
          <p:cNvSpPr/>
          <p:nvPr/>
        </p:nvSpPr>
        <p:spPr>
          <a:xfrm>
            <a:off x="1113943" y="5026422"/>
            <a:ext cx="2583749"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{{annuity_required}}</a:t>
            </a:r>
            <a:endParaRPr lang="en-US" sz="3450" dirty="0"/>
          </a:p>
        </p:txBody>
      </p:sp>
      <p:sp>
        <p:nvSpPr>
          <p:cNvPr id="22" name="Shape 18"/>
          <p:cNvSpPr/>
          <p:nvPr/>
        </p:nvSpPr>
        <p:spPr>
          <a:xfrm>
            <a:off x="3814749" y="4080088"/>
            <a:ext cx="2748005" cy="1545899"/>
          </a:xfrm>
          <a:prstGeom prst="rect">
            <a:avLst/>
          </a:prstGeom>
          <a:ln w="9071">
            <a:solidFill>
              <a:srgbClr val="1F1F1F">
                <a:alpha val="16000"/>
              </a:srgbClr>
            </a:solidFill>
            <a:prstDash val="solid"/>
          </a:ln>
        </p:spPr>
        <p:txBody>
          <a:bodyPr/>
          <a:lstStyle/>
          <a:p>
            <a:endParaRPr lang="en-US"/>
          </a:p>
        </p:txBody>
      </p:sp>
      <p:sp>
        <p:nvSpPr>
          <p:cNvPr id="23" name="Text 19"/>
          <p:cNvSpPr/>
          <p:nvPr/>
        </p:nvSpPr>
        <p:spPr>
          <a:xfrm>
            <a:off x="4014320" y="4241531"/>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1D1F20">
                    <a:alpha val="90000"/>
                  </a:srgbClr>
                </a:solidFill>
                <a:latin typeface="Barlow" pitchFamily="34" charset="0"/>
                <a:ea typeface="Barlow" pitchFamily="34" charset="-122"/>
                <a:cs typeface="Barlow" pitchFamily="34" charset="-120"/>
              </a:rPr>
              <a:t>INFLATION RATE</a:t>
            </a:r>
            <a:endParaRPr lang="en-US" sz="2100" dirty="0"/>
          </a:p>
        </p:txBody>
      </p:sp>
      <p:sp>
        <p:nvSpPr>
          <p:cNvPr id="24" name="Text 20"/>
          <p:cNvSpPr/>
          <p:nvPr/>
        </p:nvSpPr>
        <p:spPr>
          <a:xfrm>
            <a:off x="4014320" y="4672069"/>
            <a:ext cx="2583749"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1D1F20"/>
                </a:solidFill>
                <a:latin typeface="Barlow Condensed" pitchFamily="34" charset="0"/>
                <a:ea typeface="Barlow Condensed" pitchFamily="34" charset="-122"/>
                <a:cs typeface="Barlow Condensed" pitchFamily="34" charset="-120"/>
              </a:rPr>
              <a:t>~{{inflation_rate}}</a:t>
            </a:r>
            <a:endParaRPr lang="en-US" sz="3450" dirty="0"/>
          </a:p>
        </p:txBody>
      </p:sp>
      <p:sp>
        <p:nvSpPr>
          <p:cNvPr id="25" name="Shape 21"/>
          <p:cNvSpPr/>
          <p:nvPr/>
        </p:nvSpPr>
        <p:spPr>
          <a:xfrm>
            <a:off x="6715126" y="4080088"/>
            <a:ext cx="2748005" cy="1545899"/>
          </a:xfrm>
          <a:prstGeom prst="rect">
            <a:avLst/>
          </a:prstGeom>
          <a:solidFill>
            <a:srgbClr val="141A45"/>
          </a:solidFill>
          <a:ln w="9071">
            <a:solidFill>
              <a:srgbClr val="141A45"/>
            </a:solidFill>
            <a:prstDash val="solid"/>
          </a:ln>
        </p:spPr>
        <p:txBody>
          <a:bodyPr/>
          <a:lstStyle/>
          <a:p>
            <a:endParaRPr lang="en-US"/>
          </a:p>
        </p:txBody>
      </p:sp>
      <p:sp>
        <p:nvSpPr>
          <p:cNvPr id="26" name="Text 22"/>
          <p:cNvSpPr/>
          <p:nvPr/>
        </p:nvSpPr>
        <p:spPr>
          <a:xfrm>
            <a:off x="6914697" y="4241531"/>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F2F2F3">
                    <a:alpha val="90000"/>
                  </a:srgbClr>
                </a:solidFill>
                <a:latin typeface="Barlow" pitchFamily="34" charset="0"/>
                <a:ea typeface="Barlow" pitchFamily="34" charset="-122"/>
                <a:cs typeface="Barlow" pitchFamily="34" charset="-120"/>
              </a:rPr>
              <a:t>CORPUS REQUIRED</a:t>
            </a:r>
            <a:endParaRPr lang="en-US" sz="2100" dirty="0"/>
          </a:p>
        </p:txBody>
      </p:sp>
      <p:sp>
        <p:nvSpPr>
          <p:cNvPr id="27" name="Text 23"/>
          <p:cNvSpPr/>
          <p:nvPr/>
        </p:nvSpPr>
        <p:spPr>
          <a:xfrm>
            <a:off x="6914697" y="4672069"/>
            <a:ext cx="2583749"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F2F2F3"/>
                </a:solidFill>
                <a:latin typeface="Barlow Condensed" pitchFamily="34" charset="0"/>
                <a:ea typeface="Barlow Condensed" pitchFamily="34" charset="-122"/>
                <a:cs typeface="Barlow Condensed" pitchFamily="34" charset="-120"/>
              </a:rPr>
              <a:t>{{corpus_required}}</a:t>
            </a:r>
            <a:endParaRPr lang="en-US" sz="3450" dirty="0"/>
          </a:p>
        </p:txBody>
      </p:sp>
      <p:sp>
        <p:nvSpPr>
          <p:cNvPr id="28" name="Shape 24"/>
          <p:cNvSpPr/>
          <p:nvPr/>
        </p:nvSpPr>
        <p:spPr>
          <a:xfrm>
            <a:off x="9615502" y="4080088"/>
            <a:ext cx="2748005" cy="1545899"/>
          </a:xfrm>
          <a:prstGeom prst="rect">
            <a:avLst/>
          </a:prstGeom>
          <a:solidFill>
            <a:srgbClr val="26306F"/>
          </a:solidFill>
          <a:ln w="9071">
            <a:solidFill>
              <a:srgbClr val="26306F"/>
            </a:solidFill>
            <a:prstDash val="solid"/>
          </a:ln>
        </p:spPr>
        <p:txBody>
          <a:bodyPr/>
          <a:lstStyle/>
          <a:p>
            <a:endParaRPr lang="en-US"/>
          </a:p>
        </p:txBody>
      </p:sp>
      <p:sp>
        <p:nvSpPr>
          <p:cNvPr id="29" name="Text 25"/>
          <p:cNvSpPr/>
          <p:nvPr/>
        </p:nvSpPr>
        <p:spPr>
          <a:xfrm>
            <a:off x="9815074" y="4241531"/>
            <a:ext cx="2583749"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180" dirty="0">
                <a:solidFill>
                  <a:srgbClr val="F2F2F3">
                    <a:alpha val="90000"/>
                  </a:srgbClr>
                </a:solidFill>
                <a:latin typeface="Barlow" pitchFamily="34" charset="0"/>
                <a:ea typeface="Barlow" pitchFamily="34" charset="-122"/>
                <a:cs typeface="Barlow" pitchFamily="34" charset="-120"/>
              </a:rPr>
              <a:t>EXPECTED CORPUS</a:t>
            </a:r>
            <a:endParaRPr lang="en-US" sz="2100" dirty="0"/>
          </a:p>
        </p:txBody>
      </p:sp>
      <p:sp>
        <p:nvSpPr>
          <p:cNvPr id="30" name="Text 26"/>
          <p:cNvSpPr/>
          <p:nvPr/>
        </p:nvSpPr>
        <p:spPr>
          <a:xfrm>
            <a:off x="9815074" y="4672069"/>
            <a:ext cx="2583749" cy="476222"/>
          </a:xfrm>
          <a:prstGeom prst="rect">
            <a:avLst/>
          </a:prstGeom>
          <a:noFill/>
          <a:ln/>
        </p:spPr>
        <p:txBody>
          <a:bodyPr wrap="none" lIns="25400" tIns="25400" rIns="25400" bIns="25400" rtlCol="0" anchor="t">
            <a:normAutofit lnSpcReduction="10000"/>
          </a:bodyPr>
          <a:lstStyle/>
          <a:p>
            <a:pPr marL="0" indent="0" algn="l">
              <a:lnSpc>
                <a:spcPct val="83276"/>
              </a:lnSpc>
              <a:buNone/>
            </a:pPr>
            <a:r>
              <a:rPr lang="en-US" sz="3450" dirty="0">
                <a:solidFill>
                  <a:srgbClr val="94BCE3"/>
                </a:solidFill>
                <a:latin typeface="Barlow Condensed" pitchFamily="34" charset="0"/>
                <a:ea typeface="Barlow Condensed" pitchFamily="34" charset="-122"/>
                <a:cs typeface="Barlow Condensed" pitchFamily="34" charset="-120"/>
              </a:rPr>
              <a:t>{{corpus_projected}}</a:t>
            </a:r>
            <a:endParaRPr lang="en-US" sz="3450" dirty="0"/>
          </a:p>
        </p:txBody>
      </p:sp>
      <p:sp>
        <p:nvSpPr>
          <p:cNvPr id="31" name="Text 27"/>
          <p:cNvSpPr/>
          <p:nvPr/>
        </p:nvSpPr>
        <p:spPr>
          <a:xfrm>
            <a:off x="914372" y="5854544"/>
            <a:ext cx="12594050"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RETIREMENT SUMMARY</a:t>
            </a:r>
            <a:endParaRPr lang="en-US" sz="2100" dirty="0"/>
          </a:p>
        </p:txBody>
      </p:sp>
      <p:sp>
        <p:nvSpPr>
          <p:cNvPr id="32" name="Text 28"/>
          <p:cNvSpPr/>
          <p:nvPr/>
        </p:nvSpPr>
        <p:spPr>
          <a:xfrm>
            <a:off x="914372" y="6371616"/>
            <a:ext cx="11792610" cy="758145"/>
          </a:xfrm>
          <a:prstGeom prst="rect">
            <a:avLst/>
          </a:prstGeom>
          <a:noFill/>
          <a:ln/>
        </p:spPr>
        <p:txBody>
          <a:bodyPr wrap="square" lIns="25400" tIns="25400" rIns="25400" bIns="25400" rtlCol="0" anchor="t">
            <a:normAutofit lnSpcReduction="10000"/>
          </a:bodyPr>
          <a:lstStyle/>
          <a:p>
            <a:pPr marL="0" indent="0" algn="l">
              <a:lnSpc>
                <a:spcPct val="116735"/>
              </a:lnSpc>
              <a:buNone/>
            </a:pPr>
            <a:r>
              <a:rPr lang="en-US" sz="2100" dirty="0">
                <a:solidFill>
                  <a:srgbClr val="1D1F20">
                    <a:alpha val="90000"/>
                  </a:srgbClr>
                </a:solidFill>
                <a:latin typeface="Barlow" pitchFamily="34" charset="0"/>
                <a:ea typeface="Barlow" pitchFamily="34" charset="-122"/>
                <a:cs typeface="Barlow" pitchFamily="34" charset="-120"/>
              </a:rPr>
              <a:t>{{retirement_summary_1}}</a:t>
            </a:r>
            <a:endParaRPr lang="en-US" sz="2100" dirty="0"/>
          </a:p>
        </p:txBody>
      </p:sp>
      <p:sp>
        <p:nvSpPr>
          <p:cNvPr id="33" name="Text 29"/>
          <p:cNvSpPr/>
          <p:nvPr/>
        </p:nvSpPr>
        <p:spPr>
          <a:xfrm>
            <a:off x="914372" y="7224968"/>
            <a:ext cx="11792610" cy="1838212"/>
          </a:xfrm>
          <a:prstGeom prst="rect">
            <a:avLst/>
          </a:prstGeom>
          <a:noFill/>
          <a:ln/>
        </p:spPr>
        <p:txBody>
          <a:bodyPr wrap="square" lIns="25400" tIns="25400" rIns="25400" bIns="25400" rtlCol="0" anchor="t">
            <a:normAutofit lnSpcReduction="10000"/>
          </a:bodyPr>
          <a:lstStyle/>
          <a:p>
            <a:pPr marL="0" indent="0" algn="l">
              <a:lnSpc>
                <a:spcPct val="116735"/>
              </a:lnSpc>
              <a:buNone/>
            </a:pPr>
            <a:r>
              <a:rPr lang="en-US" sz="2100" dirty="0">
                <a:solidFill>
                  <a:srgbClr val="1D1F20">
                    <a:alpha val="90000"/>
                  </a:srgbClr>
                </a:solidFill>
                <a:latin typeface="Barlow" pitchFamily="34" charset="0"/>
                <a:ea typeface="Barlow" pitchFamily="34" charset="-122"/>
                <a:cs typeface="Barlow" pitchFamily="34" charset="-120"/>
              </a:rPr>
              <a:t>{{retirement_summary_2}}</a:t>
            </a:r>
            <a:endParaRPr lang="en-US" sz="2100" dirty="0"/>
          </a:p>
        </p:txBody>
      </p:sp>
      <p:sp>
        <p:nvSpPr>
          <p:cNvPr id="34" name="Shape 30"/>
          <p:cNvSpPr/>
          <p:nvPr/>
        </p:nvSpPr>
        <p:spPr>
          <a:xfrm>
            <a:off x="12896879" y="2381817"/>
            <a:ext cx="4476679" cy="6643263"/>
          </a:xfrm>
          <a:prstGeom prst="rect">
            <a:avLst/>
          </a:prstGeom>
          <a:solidFill>
            <a:srgbClr val="E7E7EA"/>
          </a:solidFill>
          <a:ln/>
        </p:spPr>
        <p:txBody>
          <a:bodyPr/>
          <a:lstStyle/>
          <a:p>
            <a:endParaRPr lang="en-US"/>
          </a:p>
        </p:txBody>
      </p:sp>
      <p:pic>
        <p:nvPicPr>
          <p:cNvPr id="35" name="Image 2" descr="preencoded.png"/>
          <p:cNvPicPr>
            <a:picLocks noChangeAspect="1"/>
          </p:cNvPicPr>
          <p:nvPr/>
        </p:nvPicPr>
        <p:blipFill>
          <a:blip r:embed="rId5"/>
          <a:srcRect l="31205" r="31205"/>
          <a:stretch/>
        </p:blipFill>
        <p:spPr>
          <a:xfrm>
            <a:off x="12896879" y="2381817"/>
            <a:ext cx="4476679" cy="6643263"/>
          </a:xfrm>
          <a:prstGeom prst="rect">
            <a:avLst/>
          </a:prstGeom>
        </p:spPr>
      </p:pic>
      <p:sp>
        <p:nvSpPr>
          <p:cNvPr id="36" name="Shape 31"/>
          <p:cNvSpPr/>
          <p:nvPr/>
        </p:nvSpPr>
        <p:spPr>
          <a:xfrm>
            <a:off x="12896879" y="2381817"/>
            <a:ext cx="4476679" cy="6643263"/>
          </a:xfrm>
          <a:prstGeom prst="rect">
            <a:avLst/>
          </a:prstGeom>
          <a:solidFill>
            <a:srgbClr val="26306F">
              <a:alpha val="30000"/>
            </a:srgbClr>
          </a:solidFill>
          <a:ln/>
        </p:spPr>
        <p:txBody>
          <a:bodyPr/>
          <a:lstStyle/>
          <a:p>
            <a:endParaRPr lang="en-US"/>
          </a:p>
        </p:txBody>
      </p:sp>
      <p:sp>
        <p:nvSpPr>
          <p:cNvPr id="37" name="Text 32"/>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8" name="Text 33"/>
          <p:cNvSpPr/>
          <p:nvPr/>
        </p:nvSpPr>
        <p:spPr>
          <a:xfrm>
            <a:off x="16719707" y="9475462"/>
            <a:ext cx="730052"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16592949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8">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5698934"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CORPUS &amp; ANNUITY</a:t>
            </a:r>
            <a:endParaRPr lang="en-US" sz="2100" b="1" dirty="0">
              <a:solidFill>
                <a:srgbClr val="2A3480"/>
              </a:solidFill>
              <a:latin typeface="Barlow"/>
            </a:endParaRPr>
          </a:p>
        </p:txBody>
      </p:sp>
      <p:sp>
        <p:nvSpPr>
          <p:cNvPr id="3" name="Text 1"/>
          <p:cNvSpPr/>
          <p:nvPr/>
        </p:nvSpPr>
        <p:spPr>
          <a:xfrm>
            <a:off x="914372" y="1088501"/>
            <a:ext cx="5698934"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Retirement Planning</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Text 3"/>
          <p:cNvSpPr/>
          <p:nvPr/>
        </p:nvSpPr>
        <p:spPr>
          <a:xfrm>
            <a:off x="914372" y="2381817"/>
            <a:ext cx="8675355"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CORPUS BREAK-UP USED FOR RETIREMENT</a:t>
            </a:r>
            <a:endParaRPr lang="en-US" sz="210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4372" y="4134091"/>
            <a:ext cx="3238429" cy="3238429"/>
          </a:xfrm>
          <a:prstGeom prst="rect">
            <a:avLst/>
          </a:prstGeom>
        </p:spPr>
      </p:pic>
      <p:sp>
        <p:nvSpPr>
          <p:cNvPr id="8" name="Shape 4"/>
          <p:cNvSpPr/>
          <p:nvPr/>
        </p:nvSpPr>
        <p:spPr>
          <a:xfrm>
            <a:off x="4533801" y="3618862"/>
            <a:ext cx="4267257" cy="9525"/>
          </a:xfrm>
          <a:prstGeom prst="rect">
            <a:avLst/>
          </a:prstGeom>
          <a:solidFill>
            <a:srgbClr val="1D1F20">
              <a:alpha val="10000"/>
            </a:srgbClr>
          </a:solidFill>
          <a:ln/>
        </p:spPr>
        <p:txBody>
          <a:bodyPr/>
          <a:lstStyle/>
          <a:p>
            <a:endParaRPr lang="en-US"/>
          </a:p>
        </p:txBody>
      </p:sp>
      <p:sp>
        <p:nvSpPr>
          <p:cNvPr id="9" name="Shape 5"/>
          <p:cNvSpPr/>
          <p:nvPr/>
        </p:nvSpPr>
        <p:spPr>
          <a:xfrm>
            <a:off x="4533801" y="3238146"/>
            <a:ext cx="152372" cy="152372"/>
          </a:xfrm>
          <a:prstGeom prst="rect">
            <a:avLst/>
          </a:prstGeom>
          <a:solidFill>
            <a:srgbClr val="2F7D3A"/>
          </a:solidFill>
          <a:ln/>
        </p:spPr>
        <p:txBody>
          <a:bodyPr/>
          <a:lstStyle/>
          <a:p>
            <a:endParaRPr lang="en-US"/>
          </a:p>
        </p:txBody>
      </p:sp>
      <p:sp>
        <p:nvSpPr>
          <p:cNvPr id="10" name="Text 6"/>
          <p:cNvSpPr/>
          <p:nvPr/>
        </p:nvSpPr>
        <p:spPr>
          <a:xfrm>
            <a:off x="4838544" y="3100232"/>
            <a:ext cx="3289655"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{{corpus_breakup_1_label}}</a:t>
            </a:r>
            <a:endParaRPr lang="en-US" sz="2100" dirty="0"/>
          </a:p>
        </p:txBody>
      </p:sp>
      <p:sp>
        <p:nvSpPr>
          <p:cNvPr id="11" name="Text 7"/>
          <p:cNvSpPr/>
          <p:nvPr/>
        </p:nvSpPr>
        <p:spPr>
          <a:xfrm>
            <a:off x="7981511" y="3032196"/>
            <a:ext cx="895747" cy="510523"/>
          </a:xfrm>
          <a:prstGeom prst="rect">
            <a:avLst/>
          </a:prstGeom>
          <a:noFill/>
          <a:ln/>
        </p:spPr>
        <p:txBody>
          <a:bodyPr wrap="non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{{corpus_breakup_1_value}}</a:t>
            </a:r>
            <a:endParaRPr lang="en-US" sz="2400" dirty="0"/>
          </a:p>
        </p:txBody>
      </p:sp>
      <p:sp>
        <p:nvSpPr>
          <p:cNvPr id="12" name="Shape 8"/>
          <p:cNvSpPr/>
          <p:nvPr/>
        </p:nvSpPr>
        <p:spPr>
          <a:xfrm>
            <a:off x="4533801" y="4328843"/>
            <a:ext cx="4267257" cy="9525"/>
          </a:xfrm>
          <a:prstGeom prst="rect">
            <a:avLst/>
          </a:prstGeom>
          <a:solidFill>
            <a:srgbClr val="1D1F20">
              <a:alpha val="10000"/>
            </a:srgbClr>
          </a:solidFill>
          <a:ln/>
        </p:spPr>
        <p:txBody>
          <a:bodyPr/>
          <a:lstStyle/>
          <a:p>
            <a:endParaRPr lang="en-US"/>
          </a:p>
        </p:txBody>
      </p:sp>
      <p:sp>
        <p:nvSpPr>
          <p:cNvPr id="13" name="Shape 9"/>
          <p:cNvSpPr/>
          <p:nvPr/>
        </p:nvSpPr>
        <p:spPr>
          <a:xfrm>
            <a:off x="4533801" y="3948127"/>
            <a:ext cx="152372" cy="152372"/>
          </a:xfrm>
          <a:prstGeom prst="rect">
            <a:avLst/>
          </a:prstGeom>
          <a:solidFill>
            <a:srgbClr val="26306F"/>
          </a:solidFill>
          <a:ln/>
        </p:spPr>
        <p:txBody>
          <a:bodyPr/>
          <a:lstStyle/>
          <a:p>
            <a:endParaRPr lang="en-US"/>
          </a:p>
        </p:txBody>
      </p:sp>
      <p:sp>
        <p:nvSpPr>
          <p:cNvPr id="14" name="Text 10"/>
          <p:cNvSpPr/>
          <p:nvPr/>
        </p:nvSpPr>
        <p:spPr>
          <a:xfrm>
            <a:off x="4838544" y="3810213"/>
            <a:ext cx="319711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{{corpus_breakup_2_label}}</a:t>
            </a:r>
            <a:endParaRPr lang="en-US" sz="2100" dirty="0"/>
          </a:p>
        </p:txBody>
      </p:sp>
      <p:sp>
        <p:nvSpPr>
          <p:cNvPr id="15" name="Text 11"/>
          <p:cNvSpPr/>
          <p:nvPr/>
        </p:nvSpPr>
        <p:spPr>
          <a:xfrm>
            <a:off x="7897388" y="3742177"/>
            <a:ext cx="979870" cy="510523"/>
          </a:xfrm>
          <a:prstGeom prst="rect">
            <a:avLst/>
          </a:prstGeom>
          <a:noFill/>
          <a:ln/>
        </p:spPr>
        <p:txBody>
          <a:bodyPr wrap="non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{{corpus_breakup_2_value}}</a:t>
            </a:r>
            <a:endParaRPr lang="en-US" sz="2400" dirty="0"/>
          </a:p>
        </p:txBody>
      </p:sp>
      <p:sp>
        <p:nvSpPr>
          <p:cNvPr id="16" name="Shape 12"/>
          <p:cNvSpPr/>
          <p:nvPr/>
        </p:nvSpPr>
        <p:spPr>
          <a:xfrm>
            <a:off x="4533801" y="5038825"/>
            <a:ext cx="4267257" cy="9525"/>
          </a:xfrm>
          <a:prstGeom prst="rect">
            <a:avLst/>
          </a:prstGeom>
          <a:solidFill>
            <a:srgbClr val="1D1F20">
              <a:alpha val="10000"/>
            </a:srgbClr>
          </a:solidFill>
          <a:ln/>
        </p:spPr>
        <p:txBody>
          <a:bodyPr/>
          <a:lstStyle/>
          <a:p>
            <a:endParaRPr lang="en-US"/>
          </a:p>
        </p:txBody>
      </p:sp>
      <p:sp>
        <p:nvSpPr>
          <p:cNvPr id="17" name="Shape 13"/>
          <p:cNvSpPr/>
          <p:nvPr/>
        </p:nvSpPr>
        <p:spPr>
          <a:xfrm>
            <a:off x="4533801" y="4658108"/>
            <a:ext cx="152372" cy="152372"/>
          </a:xfrm>
          <a:prstGeom prst="rect">
            <a:avLst/>
          </a:prstGeom>
          <a:solidFill>
            <a:srgbClr val="7BBD85"/>
          </a:solidFill>
          <a:ln/>
        </p:spPr>
        <p:txBody>
          <a:bodyPr/>
          <a:lstStyle/>
          <a:p>
            <a:endParaRPr lang="en-US"/>
          </a:p>
        </p:txBody>
      </p:sp>
      <p:sp>
        <p:nvSpPr>
          <p:cNvPr id="18" name="Text 14"/>
          <p:cNvSpPr/>
          <p:nvPr/>
        </p:nvSpPr>
        <p:spPr>
          <a:xfrm>
            <a:off x="4838544" y="4520194"/>
            <a:ext cx="3226275"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{{corpus_breakup_3_label}}</a:t>
            </a:r>
            <a:endParaRPr lang="en-US" sz="2100" dirty="0"/>
          </a:p>
        </p:txBody>
      </p:sp>
      <p:sp>
        <p:nvSpPr>
          <p:cNvPr id="19" name="Text 15"/>
          <p:cNvSpPr/>
          <p:nvPr/>
        </p:nvSpPr>
        <p:spPr>
          <a:xfrm>
            <a:off x="7923894" y="4452158"/>
            <a:ext cx="953365" cy="510523"/>
          </a:xfrm>
          <a:prstGeom prst="rect">
            <a:avLst/>
          </a:prstGeom>
          <a:noFill/>
          <a:ln/>
        </p:spPr>
        <p:txBody>
          <a:bodyPr wrap="non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{{corpus_breakup_3_value}}</a:t>
            </a:r>
            <a:endParaRPr lang="en-US" sz="2400" dirty="0"/>
          </a:p>
        </p:txBody>
      </p:sp>
      <p:sp>
        <p:nvSpPr>
          <p:cNvPr id="20" name="Shape 16"/>
          <p:cNvSpPr/>
          <p:nvPr/>
        </p:nvSpPr>
        <p:spPr>
          <a:xfrm>
            <a:off x="4533801" y="5748806"/>
            <a:ext cx="4267257" cy="9525"/>
          </a:xfrm>
          <a:prstGeom prst="rect">
            <a:avLst/>
          </a:prstGeom>
          <a:solidFill>
            <a:srgbClr val="1D1F20">
              <a:alpha val="10000"/>
            </a:srgbClr>
          </a:solidFill>
          <a:ln/>
        </p:spPr>
        <p:txBody>
          <a:bodyPr/>
          <a:lstStyle/>
          <a:p>
            <a:endParaRPr lang="en-US"/>
          </a:p>
        </p:txBody>
      </p:sp>
      <p:sp>
        <p:nvSpPr>
          <p:cNvPr id="21" name="Shape 17"/>
          <p:cNvSpPr/>
          <p:nvPr/>
        </p:nvSpPr>
        <p:spPr>
          <a:xfrm>
            <a:off x="4533801" y="5368089"/>
            <a:ext cx="152372" cy="152372"/>
          </a:xfrm>
          <a:prstGeom prst="rect">
            <a:avLst/>
          </a:prstGeom>
          <a:solidFill>
            <a:srgbClr val="4A9C55"/>
          </a:solidFill>
          <a:ln/>
        </p:spPr>
        <p:txBody>
          <a:bodyPr/>
          <a:lstStyle/>
          <a:p>
            <a:endParaRPr lang="en-US"/>
          </a:p>
        </p:txBody>
      </p:sp>
      <p:sp>
        <p:nvSpPr>
          <p:cNvPr id="22" name="Text 18"/>
          <p:cNvSpPr/>
          <p:nvPr/>
        </p:nvSpPr>
        <p:spPr>
          <a:xfrm>
            <a:off x="4838544" y="5230175"/>
            <a:ext cx="3203511"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{{corpus_breakup_4_label}}</a:t>
            </a:r>
            <a:endParaRPr lang="en-US" sz="2100" dirty="0"/>
          </a:p>
        </p:txBody>
      </p:sp>
      <p:sp>
        <p:nvSpPr>
          <p:cNvPr id="23" name="Text 19"/>
          <p:cNvSpPr/>
          <p:nvPr/>
        </p:nvSpPr>
        <p:spPr>
          <a:xfrm>
            <a:off x="7903199" y="5162140"/>
            <a:ext cx="974059" cy="510523"/>
          </a:xfrm>
          <a:prstGeom prst="rect">
            <a:avLst/>
          </a:prstGeom>
          <a:noFill/>
          <a:ln/>
        </p:spPr>
        <p:txBody>
          <a:bodyPr wrap="non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{{corpus_breakup_4_value}}</a:t>
            </a:r>
            <a:endParaRPr lang="en-US" sz="2400" dirty="0"/>
          </a:p>
        </p:txBody>
      </p:sp>
      <p:sp>
        <p:nvSpPr>
          <p:cNvPr id="24" name="Shape 20"/>
          <p:cNvSpPr/>
          <p:nvPr/>
        </p:nvSpPr>
        <p:spPr>
          <a:xfrm>
            <a:off x="4533801" y="6458787"/>
            <a:ext cx="4267257" cy="9525"/>
          </a:xfrm>
          <a:prstGeom prst="rect">
            <a:avLst/>
          </a:prstGeom>
          <a:solidFill>
            <a:srgbClr val="1D1F20">
              <a:alpha val="10000"/>
            </a:srgbClr>
          </a:solidFill>
          <a:ln/>
        </p:spPr>
        <p:txBody>
          <a:bodyPr/>
          <a:lstStyle/>
          <a:p>
            <a:endParaRPr lang="en-US"/>
          </a:p>
        </p:txBody>
      </p:sp>
      <p:sp>
        <p:nvSpPr>
          <p:cNvPr id="25" name="Shape 21"/>
          <p:cNvSpPr/>
          <p:nvPr/>
        </p:nvSpPr>
        <p:spPr>
          <a:xfrm>
            <a:off x="4533801" y="6078070"/>
            <a:ext cx="152372" cy="152372"/>
          </a:xfrm>
          <a:prstGeom prst="rect">
            <a:avLst/>
          </a:prstGeom>
          <a:solidFill>
            <a:srgbClr val="141A45"/>
          </a:solidFill>
          <a:ln/>
        </p:spPr>
        <p:txBody>
          <a:bodyPr/>
          <a:lstStyle/>
          <a:p>
            <a:endParaRPr lang="en-US"/>
          </a:p>
        </p:txBody>
      </p:sp>
      <p:sp>
        <p:nvSpPr>
          <p:cNvPr id="26" name="Text 22"/>
          <p:cNvSpPr/>
          <p:nvPr/>
        </p:nvSpPr>
        <p:spPr>
          <a:xfrm>
            <a:off x="4838544" y="5940156"/>
            <a:ext cx="3191428"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{{corpus_breakup_5_label}}</a:t>
            </a:r>
            <a:endParaRPr lang="en-US" sz="2100" dirty="0"/>
          </a:p>
        </p:txBody>
      </p:sp>
      <p:sp>
        <p:nvSpPr>
          <p:cNvPr id="27" name="Text 23"/>
          <p:cNvSpPr/>
          <p:nvPr/>
        </p:nvSpPr>
        <p:spPr>
          <a:xfrm>
            <a:off x="7892214" y="5872121"/>
            <a:ext cx="985044" cy="510523"/>
          </a:xfrm>
          <a:prstGeom prst="rect">
            <a:avLst/>
          </a:prstGeom>
          <a:noFill/>
          <a:ln/>
        </p:spPr>
        <p:txBody>
          <a:bodyPr wrap="non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{{corpus_breakup_5_value}}</a:t>
            </a:r>
            <a:endParaRPr lang="en-US" sz="2400" dirty="0"/>
          </a:p>
        </p:txBody>
      </p:sp>
      <p:sp>
        <p:nvSpPr>
          <p:cNvPr id="28" name="Shape 24"/>
          <p:cNvSpPr/>
          <p:nvPr/>
        </p:nvSpPr>
        <p:spPr>
          <a:xfrm>
            <a:off x="4533801" y="7168768"/>
            <a:ext cx="4267257" cy="9525"/>
          </a:xfrm>
          <a:prstGeom prst="rect">
            <a:avLst/>
          </a:prstGeom>
          <a:solidFill>
            <a:srgbClr val="1D1F20">
              <a:alpha val="10000"/>
            </a:srgbClr>
          </a:solidFill>
          <a:ln/>
        </p:spPr>
        <p:txBody>
          <a:bodyPr/>
          <a:lstStyle/>
          <a:p>
            <a:endParaRPr lang="en-US"/>
          </a:p>
        </p:txBody>
      </p:sp>
      <p:sp>
        <p:nvSpPr>
          <p:cNvPr id="29" name="Shape 25"/>
          <p:cNvSpPr/>
          <p:nvPr/>
        </p:nvSpPr>
        <p:spPr>
          <a:xfrm>
            <a:off x="4533801" y="6788051"/>
            <a:ext cx="152372" cy="152372"/>
          </a:xfrm>
          <a:prstGeom prst="rect">
            <a:avLst/>
          </a:prstGeom>
          <a:solidFill>
            <a:srgbClr val="1A7AB5"/>
          </a:solidFill>
          <a:ln/>
        </p:spPr>
        <p:txBody>
          <a:bodyPr/>
          <a:lstStyle/>
          <a:p>
            <a:endParaRPr lang="en-US"/>
          </a:p>
        </p:txBody>
      </p:sp>
      <p:sp>
        <p:nvSpPr>
          <p:cNvPr id="30" name="Text 26"/>
          <p:cNvSpPr/>
          <p:nvPr/>
        </p:nvSpPr>
        <p:spPr>
          <a:xfrm>
            <a:off x="4838544" y="6650137"/>
            <a:ext cx="3199458"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{{corpus_breakup_6_label}}</a:t>
            </a:r>
            <a:endParaRPr lang="en-US" sz="2100" dirty="0"/>
          </a:p>
        </p:txBody>
      </p:sp>
      <p:sp>
        <p:nvSpPr>
          <p:cNvPr id="31" name="Text 27"/>
          <p:cNvSpPr/>
          <p:nvPr/>
        </p:nvSpPr>
        <p:spPr>
          <a:xfrm>
            <a:off x="7899514" y="6582102"/>
            <a:ext cx="977744" cy="510523"/>
          </a:xfrm>
          <a:prstGeom prst="rect">
            <a:avLst/>
          </a:prstGeom>
          <a:noFill/>
          <a:ln/>
        </p:spPr>
        <p:txBody>
          <a:bodyPr wrap="non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{{corpus_breakup_6_value}}</a:t>
            </a:r>
            <a:endParaRPr lang="en-US" sz="2400" dirty="0"/>
          </a:p>
        </p:txBody>
      </p:sp>
      <p:sp>
        <p:nvSpPr>
          <p:cNvPr id="32" name="Shape 28"/>
          <p:cNvSpPr/>
          <p:nvPr/>
        </p:nvSpPr>
        <p:spPr>
          <a:xfrm>
            <a:off x="4533801" y="7878749"/>
            <a:ext cx="4267257" cy="9525"/>
          </a:xfrm>
          <a:prstGeom prst="rect">
            <a:avLst/>
          </a:prstGeom>
          <a:solidFill>
            <a:srgbClr val="1D1F20">
              <a:alpha val="10000"/>
            </a:srgbClr>
          </a:solidFill>
          <a:ln/>
        </p:spPr>
        <p:txBody>
          <a:bodyPr/>
          <a:lstStyle/>
          <a:p>
            <a:endParaRPr lang="en-US"/>
          </a:p>
        </p:txBody>
      </p:sp>
      <p:sp>
        <p:nvSpPr>
          <p:cNvPr id="33" name="Shape 29"/>
          <p:cNvSpPr/>
          <p:nvPr/>
        </p:nvSpPr>
        <p:spPr>
          <a:xfrm>
            <a:off x="4533801" y="7498032"/>
            <a:ext cx="152372" cy="152372"/>
          </a:xfrm>
          <a:prstGeom prst="rect">
            <a:avLst/>
          </a:prstGeom>
          <a:solidFill>
            <a:srgbClr val="5980A6"/>
          </a:solidFill>
          <a:ln/>
        </p:spPr>
        <p:txBody>
          <a:bodyPr/>
          <a:lstStyle/>
          <a:p>
            <a:endParaRPr lang="en-US"/>
          </a:p>
        </p:txBody>
      </p:sp>
      <p:sp>
        <p:nvSpPr>
          <p:cNvPr id="34" name="Text 30"/>
          <p:cNvSpPr/>
          <p:nvPr/>
        </p:nvSpPr>
        <p:spPr>
          <a:xfrm>
            <a:off x="4838544" y="7360118"/>
            <a:ext cx="3203823"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{{corpus_breakup_7_label}}</a:t>
            </a:r>
            <a:endParaRPr lang="en-US" sz="2100" dirty="0"/>
          </a:p>
        </p:txBody>
      </p:sp>
      <p:sp>
        <p:nvSpPr>
          <p:cNvPr id="35" name="Text 31"/>
          <p:cNvSpPr/>
          <p:nvPr/>
        </p:nvSpPr>
        <p:spPr>
          <a:xfrm>
            <a:off x="7903483" y="7292082"/>
            <a:ext cx="973775" cy="510523"/>
          </a:xfrm>
          <a:prstGeom prst="rect">
            <a:avLst/>
          </a:prstGeom>
          <a:noFill/>
          <a:ln/>
        </p:spPr>
        <p:txBody>
          <a:bodyPr wrap="non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{{corpus_breakup_7_value}}</a:t>
            </a:r>
            <a:endParaRPr lang="en-US" sz="2400" dirty="0"/>
          </a:p>
        </p:txBody>
      </p:sp>
      <p:sp>
        <p:nvSpPr>
          <p:cNvPr id="36" name="Shape 32"/>
          <p:cNvSpPr/>
          <p:nvPr/>
        </p:nvSpPr>
        <p:spPr>
          <a:xfrm>
            <a:off x="4533801" y="8208014"/>
            <a:ext cx="152372" cy="152372"/>
          </a:xfrm>
          <a:prstGeom prst="rect">
            <a:avLst/>
          </a:prstGeom>
          <a:solidFill>
            <a:srgbClr val="B7B7BA"/>
          </a:solidFill>
          <a:ln/>
        </p:spPr>
        <p:txBody>
          <a:bodyPr/>
          <a:lstStyle/>
          <a:p>
            <a:endParaRPr lang="en-US"/>
          </a:p>
        </p:txBody>
      </p:sp>
      <p:sp>
        <p:nvSpPr>
          <p:cNvPr id="37" name="Text 33"/>
          <p:cNvSpPr/>
          <p:nvPr/>
        </p:nvSpPr>
        <p:spPr>
          <a:xfrm>
            <a:off x="4838544" y="8070099"/>
            <a:ext cx="3255119"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dirty="0">
                <a:solidFill>
                  <a:srgbClr val="1D1F20"/>
                </a:solidFill>
                <a:latin typeface="Barlow" pitchFamily="34" charset="0"/>
                <a:ea typeface="Barlow" pitchFamily="34" charset="-122"/>
                <a:cs typeface="Barlow" pitchFamily="34" charset="-120"/>
              </a:rPr>
              <a:t>{{corpus_breakup_8_label}}</a:t>
            </a:r>
            <a:endParaRPr lang="en-US" sz="2100" dirty="0"/>
          </a:p>
        </p:txBody>
      </p:sp>
      <p:sp>
        <p:nvSpPr>
          <p:cNvPr id="38" name="Text 34"/>
          <p:cNvSpPr/>
          <p:nvPr/>
        </p:nvSpPr>
        <p:spPr>
          <a:xfrm>
            <a:off x="7950115" y="8002063"/>
            <a:ext cx="927143" cy="510523"/>
          </a:xfrm>
          <a:prstGeom prst="rect">
            <a:avLst/>
          </a:prstGeom>
          <a:noFill/>
          <a:ln/>
        </p:spPr>
        <p:txBody>
          <a:bodyPr wrap="none" lIns="25400" tIns="25400" rIns="25400" bIns="25400" rtlCol="0" anchor="t">
            <a:normAutofit/>
          </a:bodyPr>
          <a:lstStyle/>
          <a:p>
            <a:pPr marL="0" indent="0" algn="l">
              <a:lnSpc>
                <a:spcPct val="130200"/>
              </a:lnSpc>
              <a:buNone/>
            </a:pPr>
            <a:r>
              <a:rPr lang="en-US" sz="2400" dirty="0">
                <a:solidFill>
                  <a:srgbClr val="1D1F20"/>
                </a:solidFill>
                <a:latin typeface="Barlow Condensed" pitchFamily="34" charset="0"/>
                <a:ea typeface="Barlow Condensed" pitchFamily="34" charset="-122"/>
                <a:cs typeface="Barlow Condensed" pitchFamily="34" charset="-120"/>
              </a:rPr>
              <a:t>{{corpus_breakup_8_value}}</a:t>
            </a:r>
            <a:endParaRPr lang="en-US" sz="2400" dirty="0"/>
          </a:p>
        </p:txBody>
      </p:sp>
      <p:sp>
        <p:nvSpPr>
          <p:cNvPr id="39" name="Text 35"/>
          <p:cNvSpPr/>
          <p:nvPr/>
        </p:nvSpPr>
        <p:spPr>
          <a:xfrm>
            <a:off x="914372" y="8817287"/>
            <a:ext cx="8675355"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dirty="0">
                <a:solidFill>
                  <a:srgbClr val="1D1F20">
                    <a:alpha val="90000"/>
                  </a:srgbClr>
                </a:solidFill>
                <a:latin typeface="Barlow" pitchFamily="34" charset="0"/>
                <a:ea typeface="Barlow" pitchFamily="34" charset="-122"/>
                <a:cs typeface="Barlow" pitchFamily="34" charset="-120"/>
              </a:rPr>
              <a:t>Figures in ₹ crore.</a:t>
            </a:r>
            <a:endParaRPr lang="en-US" sz="2100" dirty="0"/>
          </a:p>
        </p:txBody>
      </p:sp>
      <p:sp>
        <p:nvSpPr>
          <p:cNvPr id="40" name="Text 36"/>
          <p:cNvSpPr/>
          <p:nvPr/>
        </p:nvSpPr>
        <p:spPr>
          <a:xfrm>
            <a:off x="9486801" y="2381817"/>
            <a:ext cx="8675433"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MONTHLY ANNUITY REQUIRED</a:t>
            </a:r>
            <a:endParaRPr lang="en-US" sz="2100" dirty="0"/>
          </a:p>
        </p:txBody>
      </p:sp>
      <p:pic>
        <p:nvPicPr>
          <p:cNvPr id="4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86801" y="2917953"/>
            <a:ext cx="7886757" cy="4150888"/>
          </a:xfrm>
          <a:prstGeom prst="rect">
            <a:avLst/>
          </a:prstGeom>
        </p:spPr>
      </p:pic>
      <p:sp>
        <p:nvSpPr>
          <p:cNvPr id="42" name="Text 37"/>
          <p:cNvSpPr/>
          <p:nvPr/>
        </p:nvSpPr>
        <p:spPr>
          <a:xfrm>
            <a:off x="9486801" y="7221212"/>
            <a:ext cx="8675433" cy="407194"/>
          </a:xfrm>
          <a:prstGeom prst="rect">
            <a:avLst/>
          </a:prstGeom>
          <a:noFill/>
          <a:ln/>
        </p:spPr>
        <p:txBody>
          <a:bodyPr wrap="square" lIns="25400" tIns="25400" rIns="25400" bIns="25400" rtlCol="0" anchor="t">
            <a:normAutofit fontScale="92500"/>
          </a:bodyPr>
          <a:lstStyle/>
          <a:p>
            <a:pPr marL="0" indent="0" algn="l">
              <a:lnSpc>
                <a:spcPct val="131250"/>
              </a:lnSpc>
              <a:buNone/>
            </a:pPr>
            <a:r>
              <a:rPr lang="en-US" sz="2100" dirty="0">
                <a:solidFill>
                  <a:srgbClr val="1D1F20">
                    <a:alpha val="90000"/>
                  </a:srgbClr>
                </a:solidFill>
                <a:latin typeface="Barlow" pitchFamily="34" charset="0"/>
                <a:ea typeface="Barlow" pitchFamily="34" charset="-122"/>
                <a:cs typeface="Barlow" pitchFamily="34" charset="-120"/>
              </a:rPr>
              <a:t>Figures in ₹ lakh per month, inflated at {{inflation_rate}}.</a:t>
            </a:r>
            <a:endParaRPr lang="en-US" sz="2100" dirty="0"/>
          </a:p>
        </p:txBody>
      </p:sp>
      <p:sp>
        <p:nvSpPr>
          <p:cNvPr id="43" name="Shape 38"/>
          <p:cNvSpPr/>
          <p:nvPr/>
        </p:nvSpPr>
        <p:spPr>
          <a:xfrm>
            <a:off x="9486801" y="7643671"/>
            <a:ext cx="7886757" cy="9525"/>
          </a:xfrm>
          <a:prstGeom prst="rect">
            <a:avLst/>
          </a:prstGeom>
          <a:solidFill>
            <a:srgbClr val="1D1F20">
              <a:alpha val="18000"/>
            </a:srgbClr>
          </a:solidFill>
          <a:ln/>
        </p:spPr>
        <p:txBody>
          <a:bodyPr/>
          <a:lstStyle/>
          <a:p>
            <a:endParaRPr lang="en-US"/>
          </a:p>
        </p:txBody>
      </p:sp>
      <p:sp>
        <p:nvSpPr>
          <p:cNvPr id="44" name="Text 39"/>
          <p:cNvSpPr/>
          <p:nvPr/>
        </p:nvSpPr>
        <p:spPr>
          <a:xfrm>
            <a:off x="9486801" y="7881343"/>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45" name="Text 40"/>
          <p:cNvSpPr/>
          <p:nvPr/>
        </p:nvSpPr>
        <p:spPr>
          <a:xfrm>
            <a:off x="11848916" y="7843243"/>
            <a:ext cx="5690381" cy="1498884"/>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{{annuity_comment}}</a:t>
            </a:r>
            <a:endParaRPr lang="en-US" sz="2100" dirty="0"/>
          </a:p>
        </p:txBody>
      </p:sp>
      <p:sp>
        <p:nvSpPr>
          <p:cNvPr id="46" name="Text 41"/>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47" name="Text 42"/>
          <p:cNvSpPr/>
          <p:nvPr/>
        </p:nvSpPr>
        <p:spPr>
          <a:xfrm>
            <a:off x="16708722" y="9475462"/>
            <a:ext cx="741037"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9264228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9">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7143176"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BEYOND THE CORPUS</a:t>
            </a:r>
            <a:endParaRPr lang="en-US" sz="2100" b="1" dirty="0">
              <a:solidFill>
                <a:srgbClr val="2A3480"/>
              </a:solidFill>
              <a:latin typeface="Barlow"/>
            </a:endParaRPr>
          </a:p>
        </p:txBody>
      </p:sp>
      <p:sp>
        <p:nvSpPr>
          <p:cNvPr id="3" name="Text 1"/>
          <p:cNvSpPr/>
          <p:nvPr/>
        </p:nvSpPr>
        <p:spPr>
          <a:xfrm>
            <a:off x="914372" y="1088501"/>
            <a:ext cx="7143176"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Legacy &amp; Estate Planning</a:t>
            </a:r>
            <a:endParaRPr lang="en-US" sz="6000" dirty="0"/>
          </a:p>
        </p:txBody>
      </p:sp>
      <p:pic>
        <p:nvPicPr>
          <p:cNvPr id="4"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5"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6" name="Shape 3"/>
          <p:cNvSpPr/>
          <p:nvPr/>
        </p:nvSpPr>
        <p:spPr>
          <a:xfrm>
            <a:off x="914372" y="2419945"/>
            <a:ext cx="5962693" cy="2218602"/>
          </a:xfrm>
          <a:prstGeom prst="rect">
            <a:avLst/>
          </a:prstGeom>
          <a:ln w="9071">
            <a:solidFill>
              <a:srgbClr val="1F1F1F">
                <a:alpha val="16000"/>
              </a:srgbClr>
            </a:solidFill>
            <a:prstDash val="solid"/>
          </a:ln>
        </p:spPr>
        <p:txBody>
          <a:bodyPr/>
          <a:lstStyle/>
          <a:p>
            <a:endParaRPr lang="en-US"/>
          </a:p>
        </p:txBody>
      </p:sp>
      <p:sp>
        <p:nvSpPr>
          <p:cNvPr id="7" name="Text 4"/>
          <p:cNvSpPr/>
          <p:nvPr/>
        </p:nvSpPr>
        <p:spPr>
          <a:xfrm>
            <a:off x="1190129" y="2676639"/>
            <a:ext cx="595229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01</a:t>
            </a:r>
            <a:endParaRPr lang="en-US" sz="2100" dirty="0"/>
          </a:p>
        </p:txBody>
      </p:sp>
      <p:sp>
        <p:nvSpPr>
          <p:cNvPr id="8" name="Text 5"/>
          <p:cNvSpPr/>
          <p:nvPr/>
        </p:nvSpPr>
        <p:spPr>
          <a:xfrm>
            <a:off x="1190129" y="3128013"/>
            <a:ext cx="5952296" cy="418108"/>
          </a:xfrm>
          <a:prstGeom prst="rect">
            <a:avLst/>
          </a:prstGeom>
          <a:noFill/>
          <a:ln/>
        </p:spPr>
        <p:txBody>
          <a:bodyPr wrap="square" lIns="25400" tIns="25400" rIns="25400" bIns="25400" rtlCol="0" anchor="t">
            <a:normAutofit lnSpcReduction="10000"/>
          </a:bodyPr>
          <a:lstStyle/>
          <a:p>
            <a:pPr marL="0" indent="0" algn="l">
              <a:lnSpc>
                <a:spcPct val="87281"/>
              </a:lnSpc>
              <a:buNone/>
            </a:pPr>
            <a:r>
              <a:rPr lang="en-US" sz="2850" dirty="0">
                <a:solidFill>
                  <a:srgbClr val="1D1F20"/>
                </a:solidFill>
                <a:latin typeface="Barlow Condensed" pitchFamily="34" charset="0"/>
                <a:ea typeface="Barlow Condensed" pitchFamily="34" charset="-122"/>
                <a:cs typeface="Barlow Condensed" pitchFamily="34" charset="-120"/>
              </a:rPr>
              <a:t>Will</a:t>
            </a:r>
            <a:endParaRPr lang="en-US" sz="2850" dirty="0"/>
          </a:p>
        </p:txBody>
      </p:sp>
      <p:sp>
        <p:nvSpPr>
          <p:cNvPr id="9" name="Text 6"/>
          <p:cNvSpPr/>
          <p:nvPr/>
        </p:nvSpPr>
        <p:spPr>
          <a:xfrm>
            <a:off x="1190129" y="3584207"/>
            <a:ext cx="5573514"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{{legacy_will_note}}</a:t>
            </a:r>
            <a:endParaRPr lang="en-US" sz="2100" dirty="0"/>
          </a:p>
        </p:txBody>
      </p:sp>
      <p:sp>
        <p:nvSpPr>
          <p:cNvPr id="10" name="Shape 7"/>
          <p:cNvSpPr/>
          <p:nvPr/>
        </p:nvSpPr>
        <p:spPr>
          <a:xfrm>
            <a:off x="914372" y="4867105"/>
            <a:ext cx="5962693" cy="2218602"/>
          </a:xfrm>
          <a:prstGeom prst="rect">
            <a:avLst/>
          </a:prstGeom>
          <a:ln w="9071">
            <a:solidFill>
              <a:srgbClr val="1F1F1F">
                <a:alpha val="16000"/>
              </a:srgbClr>
            </a:solidFill>
            <a:prstDash val="solid"/>
          </a:ln>
        </p:spPr>
        <p:txBody>
          <a:bodyPr/>
          <a:lstStyle/>
          <a:p>
            <a:endParaRPr lang="en-US"/>
          </a:p>
        </p:txBody>
      </p:sp>
      <p:sp>
        <p:nvSpPr>
          <p:cNvPr id="11" name="Text 8"/>
          <p:cNvSpPr/>
          <p:nvPr/>
        </p:nvSpPr>
        <p:spPr>
          <a:xfrm>
            <a:off x="1190129" y="5123798"/>
            <a:ext cx="595229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02</a:t>
            </a:r>
            <a:endParaRPr lang="en-US" sz="2100" dirty="0"/>
          </a:p>
        </p:txBody>
      </p:sp>
      <p:sp>
        <p:nvSpPr>
          <p:cNvPr id="12" name="Text 9"/>
          <p:cNvSpPr/>
          <p:nvPr/>
        </p:nvSpPr>
        <p:spPr>
          <a:xfrm>
            <a:off x="1190129" y="5575173"/>
            <a:ext cx="5952296" cy="418108"/>
          </a:xfrm>
          <a:prstGeom prst="rect">
            <a:avLst/>
          </a:prstGeom>
          <a:noFill/>
          <a:ln/>
        </p:spPr>
        <p:txBody>
          <a:bodyPr wrap="square" lIns="25400" tIns="25400" rIns="25400" bIns="25400" rtlCol="0" anchor="t">
            <a:normAutofit lnSpcReduction="10000"/>
          </a:bodyPr>
          <a:lstStyle/>
          <a:p>
            <a:pPr marL="0" indent="0" algn="l">
              <a:lnSpc>
                <a:spcPct val="87281"/>
              </a:lnSpc>
              <a:buNone/>
            </a:pPr>
            <a:r>
              <a:rPr lang="en-US" sz="2850" dirty="0">
                <a:solidFill>
                  <a:srgbClr val="1D1F20"/>
                </a:solidFill>
                <a:latin typeface="Barlow Condensed" pitchFamily="34" charset="0"/>
                <a:ea typeface="Barlow Condensed" pitchFamily="34" charset="-122"/>
                <a:cs typeface="Barlow Condensed" pitchFamily="34" charset="-120"/>
              </a:rPr>
              <a:t>Nominations</a:t>
            </a:r>
            <a:endParaRPr lang="en-US" sz="2850" dirty="0"/>
          </a:p>
        </p:txBody>
      </p:sp>
      <p:sp>
        <p:nvSpPr>
          <p:cNvPr id="13" name="Text 10"/>
          <p:cNvSpPr/>
          <p:nvPr/>
        </p:nvSpPr>
        <p:spPr>
          <a:xfrm>
            <a:off x="1190129" y="6031367"/>
            <a:ext cx="5573514"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{{legacy_nominations_note}}</a:t>
            </a:r>
            <a:endParaRPr lang="en-US" sz="2100" dirty="0"/>
          </a:p>
        </p:txBody>
      </p:sp>
      <p:sp>
        <p:nvSpPr>
          <p:cNvPr id="14" name="Shape 11"/>
          <p:cNvSpPr/>
          <p:nvPr/>
        </p:nvSpPr>
        <p:spPr>
          <a:xfrm>
            <a:off x="7143751" y="2419945"/>
            <a:ext cx="5962693" cy="2059073"/>
          </a:xfrm>
          <a:prstGeom prst="rect">
            <a:avLst/>
          </a:prstGeom>
          <a:ln w="9071">
            <a:solidFill>
              <a:srgbClr val="1F1F1F">
                <a:alpha val="16000"/>
              </a:srgbClr>
            </a:solidFill>
            <a:prstDash val="solid"/>
          </a:ln>
        </p:spPr>
        <p:txBody>
          <a:bodyPr/>
          <a:lstStyle/>
          <a:p>
            <a:endParaRPr lang="en-US"/>
          </a:p>
        </p:txBody>
      </p:sp>
      <p:sp>
        <p:nvSpPr>
          <p:cNvPr id="15" name="Text 12"/>
          <p:cNvSpPr/>
          <p:nvPr/>
        </p:nvSpPr>
        <p:spPr>
          <a:xfrm>
            <a:off x="7419508" y="2676639"/>
            <a:ext cx="595229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03</a:t>
            </a:r>
            <a:endParaRPr lang="en-US" sz="2100" dirty="0"/>
          </a:p>
        </p:txBody>
      </p:sp>
      <p:sp>
        <p:nvSpPr>
          <p:cNvPr id="16" name="Text 13"/>
          <p:cNvSpPr/>
          <p:nvPr/>
        </p:nvSpPr>
        <p:spPr>
          <a:xfrm>
            <a:off x="7419508" y="3128013"/>
            <a:ext cx="5952296" cy="418108"/>
          </a:xfrm>
          <a:prstGeom prst="rect">
            <a:avLst/>
          </a:prstGeom>
          <a:noFill/>
          <a:ln/>
        </p:spPr>
        <p:txBody>
          <a:bodyPr wrap="square" lIns="25400" tIns="25400" rIns="25400" bIns="25400" rtlCol="0" anchor="t">
            <a:normAutofit lnSpcReduction="10000"/>
          </a:bodyPr>
          <a:lstStyle/>
          <a:p>
            <a:pPr marL="0" indent="0" algn="l">
              <a:lnSpc>
                <a:spcPct val="87281"/>
              </a:lnSpc>
              <a:buNone/>
            </a:pPr>
            <a:r>
              <a:rPr lang="en-US" sz="2850" dirty="0">
                <a:solidFill>
                  <a:srgbClr val="1D1F20"/>
                </a:solidFill>
                <a:latin typeface="Barlow Condensed" pitchFamily="34" charset="0"/>
                <a:ea typeface="Barlow Condensed" pitchFamily="34" charset="-122"/>
                <a:cs typeface="Barlow Condensed" pitchFamily="34" charset="-120"/>
              </a:rPr>
              <a:t>NPS at 60</a:t>
            </a:r>
            <a:endParaRPr lang="en-US" sz="2850" dirty="0"/>
          </a:p>
        </p:txBody>
      </p:sp>
      <p:sp>
        <p:nvSpPr>
          <p:cNvPr id="17" name="Text 14"/>
          <p:cNvSpPr/>
          <p:nvPr/>
        </p:nvSpPr>
        <p:spPr>
          <a:xfrm>
            <a:off x="7419508" y="3584207"/>
            <a:ext cx="5573514"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{{legacy_nps_note}}</a:t>
            </a:r>
            <a:endParaRPr lang="en-US" sz="2100" dirty="0"/>
          </a:p>
        </p:txBody>
      </p:sp>
      <p:sp>
        <p:nvSpPr>
          <p:cNvPr id="18" name="Shape 15"/>
          <p:cNvSpPr/>
          <p:nvPr/>
        </p:nvSpPr>
        <p:spPr>
          <a:xfrm>
            <a:off x="7143751" y="4707576"/>
            <a:ext cx="5962693" cy="2378132"/>
          </a:xfrm>
          <a:prstGeom prst="rect">
            <a:avLst/>
          </a:prstGeom>
          <a:ln w="9071">
            <a:solidFill>
              <a:srgbClr val="1F1F1F">
                <a:alpha val="16000"/>
              </a:srgbClr>
            </a:solidFill>
            <a:prstDash val="solid"/>
          </a:ln>
        </p:spPr>
        <p:txBody>
          <a:bodyPr/>
          <a:lstStyle/>
          <a:p>
            <a:endParaRPr lang="en-US"/>
          </a:p>
        </p:txBody>
      </p:sp>
      <p:sp>
        <p:nvSpPr>
          <p:cNvPr id="19" name="Text 16"/>
          <p:cNvSpPr/>
          <p:nvPr/>
        </p:nvSpPr>
        <p:spPr>
          <a:xfrm>
            <a:off x="7419508" y="4964268"/>
            <a:ext cx="595229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04</a:t>
            </a:r>
            <a:endParaRPr lang="en-US" sz="2100" dirty="0"/>
          </a:p>
        </p:txBody>
      </p:sp>
      <p:sp>
        <p:nvSpPr>
          <p:cNvPr id="20" name="Text 17"/>
          <p:cNvSpPr/>
          <p:nvPr/>
        </p:nvSpPr>
        <p:spPr>
          <a:xfrm>
            <a:off x="7419508" y="5415643"/>
            <a:ext cx="5952296" cy="418108"/>
          </a:xfrm>
          <a:prstGeom prst="rect">
            <a:avLst/>
          </a:prstGeom>
          <a:noFill/>
          <a:ln/>
        </p:spPr>
        <p:txBody>
          <a:bodyPr wrap="square" lIns="25400" tIns="25400" rIns="25400" bIns="25400" rtlCol="0" anchor="t">
            <a:normAutofit lnSpcReduction="10000"/>
          </a:bodyPr>
          <a:lstStyle/>
          <a:p>
            <a:pPr marL="0" indent="0" algn="l">
              <a:lnSpc>
                <a:spcPct val="87281"/>
              </a:lnSpc>
              <a:buNone/>
            </a:pPr>
            <a:r>
              <a:rPr lang="en-US" sz="2850" dirty="0">
                <a:solidFill>
                  <a:srgbClr val="1D1F20"/>
                </a:solidFill>
                <a:latin typeface="Barlow Condensed" pitchFamily="34" charset="0"/>
                <a:ea typeface="Barlow Condensed" pitchFamily="34" charset="-122"/>
                <a:cs typeface="Barlow Condensed" pitchFamily="34" charset="-120"/>
              </a:rPr>
              <a:t>Records</a:t>
            </a:r>
            <a:endParaRPr lang="en-US" sz="2850" dirty="0"/>
          </a:p>
        </p:txBody>
      </p:sp>
      <p:sp>
        <p:nvSpPr>
          <p:cNvPr id="21" name="Text 18"/>
          <p:cNvSpPr/>
          <p:nvPr/>
        </p:nvSpPr>
        <p:spPr>
          <a:xfrm>
            <a:off x="7419508" y="5871837"/>
            <a:ext cx="5573514" cy="99527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{{legacy_records_note}}</a:t>
            </a:r>
            <a:endParaRPr lang="en-US" sz="2100" dirty="0"/>
          </a:p>
        </p:txBody>
      </p:sp>
      <p:sp>
        <p:nvSpPr>
          <p:cNvPr id="22" name="Shape 19"/>
          <p:cNvSpPr/>
          <p:nvPr/>
        </p:nvSpPr>
        <p:spPr>
          <a:xfrm>
            <a:off x="13373129" y="2419945"/>
            <a:ext cx="4000429" cy="4665762"/>
          </a:xfrm>
          <a:prstGeom prst="rect">
            <a:avLst/>
          </a:prstGeom>
          <a:solidFill>
            <a:srgbClr val="E7E7EA"/>
          </a:solidFill>
          <a:ln/>
        </p:spPr>
        <p:txBody>
          <a:bodyPr/>
          <a:lstStyle/>
          <a:p>
            <a:endParaRPr lang="en-US"/>
          </a:p>
        </p:txBody>
      </p:sp>
      <p:pic>
        <p:nvPicPr>
          <p:cNvPr id="23" name="Image 1" descr="preencoded.png"/>
          <p:cNvPicPr>
            <a:picLocks noChangeAspect="1"/>
          </p:cNvPicPr>
          <p:nvPr/>
        </p:nvPicPr>
        <p:blipFill>
          <a:blip r:embed="rId4"/>
          <a:srcRect l="23206" r="23206"/>
          <a:stretch/>
        </p:blipFill>
        <p:spPr>
          <a:xfrm>
            <a:off x="13373129" y="2419945"/>
            <a:ext cx="4000429" cy="4665762"/>
          </a:xfrm>
          <a:prstGeom prst="rect">
            <a:avLst/>
          </a:prstGeom>
        </p:spPr>
      </p:pic>
      <p:sp>
        <p:nvSpPr>
          <p:cNvPr id="24" name="Shape 20"/>
          <p:cNvSpPr/>
          <p:nvPr/>
        </p:nvSpPr>
        <p:spPr>
          <a:xfrm>
            <a:off x="13373129" y="2419945"/>
            <a:ext cx="4000429" cy="4665762"/>
          </a:xfrm>
          <a:prstGeom prst="rect">
            <a:avLst/>
          </a:prstGeom>
          <a:solidFill>
            <a:srgbClr val="26306F">
              <a:alpha val="30000"/>
            </a:srgbClr>
          </a:solidFill>
          <a:ln/>
        </p:spPr>
        <p:txBody>
          <a:bodyPr/>
          <a:lstStyle/>
          <a:p>
            <a:endParaRPr lang="en-US"/>
          </a:p>
        </p:txBody>
      </p:sp>
      <p:sp>
        <p:nvSpPr>
          <p:cNvPr id="25" name="Shape 21"/>
          <p:cNvSpPr/>
          <p:nvPr/>
        </p:nvSpPr>
        <p:spPr>
          <a:xfrm>
            <a:off x="914372" y="7729921"/>
            <a:ext cx="16459187" cy="9525"/>
          </a:xfrm>
          <a:prstGeom prst="rect">
            <a:avLst/>
          </a:prstGeom>
          <a:solidFill>
            <a:srgbClr val="1D1F20">
              <a:alpha val="18000"/>
            </a:srgbClr>
          </a:solidFill>
          <a:ln/>
        </p:spPr>
        <p:txBody>
          <a:bodyPr/>
          <a:lstStyle/>
          <a:p>
            <a:endParaRPr lang="en-US"/>
          </a:p>
        </p:txBody>
      </p:sp>
      <p:sp>
        <p:nvSpPr>
          <p:cNvPr id="26" name="Text 22"/>
          <p:cNvSpPr/>
          <p:nvPr/>
        </p:nvSpPr>
        <p:spPr>
          <a:xfrm>
            <a:off x="914372" y="7967592"/>
            <a:ext cx="1981129" cy="392410"/>
          </a:xfrm>
          <a:prstGeom prst="rect">
            <a:avLst/>
          </a:prstGeom>
          <a:noFill/>
          <a:ln/>
        </p:spPr>
        <p:txBody>
          <a:bodyPr wrap="square" lIns="25400" tIns="25400" rIns="25400" bIns="25400" rtlCol="0" anchor="t">
            <a:normAutofit fontScale="85000" lnSpcReduction="10000"/>
          </a:bodyPr>
          <a:lstStyle/>
          <a:p>
            <a:pPr marL="0" indent="0" algn="l">
              <a:lnSpc>
                <a:spcPct val="130200"/>
              </a:lnSpc>
              <a:buNone/>
            </a:pPr>
            <a:r>
              <a:rPr lang="en-US" sz="2100" kern="0" spc="324" dirty="0">
                <a:solidFill>
                  <a:srgbClr val="2A3480"/>
                </a:solidFill>
                <a:latin typeface="Barlow" pitchFamily="34" charset="0"/>
                <a:ea typeface="Barlow" pitchFamily="34" charset="-122"/>
                <a:cs typeface="Barlow" pitchFamily="34" charset="-120"/>
              </a:rPr>
              <a:t>COMMENTARY</a:t>
            </a:r>
            <a:endParaRPr lang="en-US" sz="2100" dirty="0"/>
          </a:p>
        </p:txBody>
      </p:sp>
      <p:sp>
        <p:nvSpPr>
          <p:cNvPr id="27" name="Text 23"/>
          <p:cNvSpPr/>
          <p:nvPr/>
        </p:nvSpPr>
        <p:spPr>
          <a:xfrm>
            <a:off x="3276487" y="7929492"/>
            <a:ext cx="13244441" cy="768492"/>
          </a:xfrm>
          <a:prstGeom prst="rect">
            <a:avLst/>
          </a:prstGeom>
          <a:noFill/>
          <a:ln/>
        </p:spPr>
        <p:txBody>
          <a:bodyPr wrap="square" lIns="25400" tIns="25400" rIns="25400" bIns="25400" rtlCol="0" anchor="t">
            <a:normAutofit lnSpcReduction="10000"/>
          </a:bodyPr>
          <a:lstStyle/>
          <a:p>
            <a:pPr marL="0" indent="0" algn="l">
              <a:lnSpc>
                <a:spcPct val="118403"/>
              </a:lnSpc>
              <a:buNone/>
            </a:pPr>
            <a:r>
              <a:rPr lang="en-US" sz="2100" dirty="0">
                <a:solidFill>
                  <a:srgbClr val="1D1F20">
                    <a:alpha val="90000"/>
                  </a:srgbClr>
                </a:solidFill>
                <a:latin typeface="Barlow" pitchFamily="34" charset="0"/>
                <a:ea typeface="Barlow" pitchFamily="34" charset="-122"/>
                <a:cs typeface="Barlow" pitchFamily="34" charset="-120"/>
              </a:rPr>
              <a:t>{{legacy_comment}}</a:t>
            </a:r>
            <a:endParaRPr lang="en-US" sz="2100" dirty="0"/>
          </a:p>
        </p:txBody>
      </p:sp>
      <p:sp>
        <p:nvSpPr>
          <p:cNvPr id="28" name="Text 24"/>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29" name="Text 25"/>
          <p:cNvSpPr/>
          <p:nvPr/>
        </p:nvSpPr>
        <p:spPr>
          <a:xfrm>
            <a:off x="16708722" y="9475462"/>
            <a:ext cx="741037"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843642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0">
    <p:bg>
      <p:bgPr>
        <a:solidFill>
          <a:srgbClr val="F2F2F3"/>
        </a:solidFill>
        <a:effectLst/>
      </p:bgPr>
    </p:bg>
    <p:spTree>
      <p:nvGrpSpPr>
        <p:cNvPr id="1" name=""/>
        <p:cNvGrpSpPr/>
        <p:nvPr/>
      </p:nvGrpSpPr>
      <p:grpSpPr>
        <a:xfrm>
          <a:off x="0" y="0"/>
          <a:ext cx="0" cy="0"/>
          <a:chOff x="0" y="0"/>
          <a:chExt cx="0" cy="0"/>
        </a:xfrm>
      </p:grpSpPr>
      <p:sp>
        <p:nvSpPr>
          <p:cNvPr id="2" name="Text 0"/>
          <p:cNvSpPr/>
          <p:nvPr/>
        </p:nvSpPr>
        <p:spPr>
          <a:xfrm>
            <a:off x="914372" y="571429"/>
            <a:ext cx="543263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NEXT STEPS</a:t>
            </a:r>
            <a:endParaRPr lang="en-US" sz="2100" b="1" dirty="0">
              <a:solidFill>
                <a:srgbClr val="2A3480"/>
              </a:solidFill>
              <a:latin typeface="Barlow"/>
            </a:endParaRPr>
          </a:p>
        </p:txBody>
      </p:sp>
      <p:sp>
        <p:nvSpPr>
          <p:cNvPr id="3" name="Text 1"/>
          <p:cNvSpPr/>
          <p:nvPr/>
        </p:nvSpPr>
        <p:spPr>
          <a:xfrm>
            <a:off x="914372" y="1088501"/>
            <a:ext cx="5432631"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Action Plan</a:t>
            </a:r>
            <a:endParaRPr lang="en-US" sz="6000" dirty="0"/>
          </a:p>
        </p:txBody>
      </p:sp>
      <p:sp>
        <p:nvSpPr>
          <p:cNvPr id="4" name="Text 2"/>
          <p:cNvSpPr/>
          <p:nvPr/>
        </p:nvSpPr>
        <p:spPr>
          <a:xfrm>
            <a:off x="914372" y="1953263"/>
            <a:ext cx="5432631" cy="480970"/>
          </a:xfrm>
          <a:prstGeom prst="rect">
            <a:avLst/>
          </a:prstGeom>
          <a:noFill/>
          <a:ln/>
        </p:spPr>
        <p:txBody>
          <a:bodyPr wrap="square" lIns="25400" tIns="25400" rIns="25400" bIns="25400" rtlCol="0" anchor="t">
            <a:normAutofit/>
          </a:bodyPr>
          <a:lstStyle/>
          <a:p>
            <a:pPr marL="0" indent="0" algn="l">
              <a:lnSpc>
                <a:spcPct val="128487"/>
              </a:lnSpc>
              <a:buNone/>
            </a:pPr>
            <a:r>
              <a:rPr lang="en-US" sz="2250" dirty="0">
                <a:solidFill>
                  <a:srgbClr val="1D1F20">
                    <a:alpha val="90000"/>
                  </a:srgbClr>
                </a:solidFill>
                <a:latin typeface="Barlow" pitchFamily="34" charset="0"/>
                <a:ea typeface="Barlow" pitchFamily="34" charset="-122"/>
                <a:cs typeface="Barlow" pitchFamily="34" charset="-120"/>
              </a:rPr>
              <a:t>Steps to make better financial decisions</a:t>
            </a:r>
            <a:endParaRPr lang="en-US" sz="2250" dirty="0"/>
          </a:p>
        </p:txBody>
      </p:sp>
      <p:pic>
        <p:nvPicPr>
          <p:cNvPr id="5" name="Image 0" descr="preencoded.png"/>
          <p:cNvPicPr>
            <a:picLocks noChangeAspect="1"/>
          </p:cNvPicPr>
          <p:nvPr/>
        </p:nvPicPr>
        <p:blipFill>
          <a:blip r:embed="rId3"/>
          <a:stretch>
            <a:fillRect/>
          </a:stretch>
        </p:blipFill>
        <p:spPr>
          <a:xfrm>
            <a:off x="15297193" y="571429"/>
            <a:ext cx="2076365" cy="590493"/>
          </a:xfrm>
          <a:prstGeom prst="rect">
            <a:avLst/>
          </a:prstGeom>
        </p:spPr>
      </p:pic>
      <p:sp>
        <p:nvSpPr>
          <p:cNvPr id="6" name="Shape 3"/>
          <p:cNvSpPr/>
          <p:nvPr/>
        </p:nvSpPr>
        <p:spPr>
          <a:xfrm>
            <a:off x="914372" y="2643755"/>
            <a:ext cx="16459187" cy="9525"/>
          </a:xfrm>
          <a:prstGeom prst="rect">
            <a:avLst/>
          </a:prstGeom>
          <a:solidFill>
            <a:srgbClr val="1D1F20">
              <a:alpha val="18000"/>
            </a:srgbClr>
          </a:solidFill>
          <a:ln/>
        </p:spPr>
        <p:txBody>
          <a:bodyPr/>
          <a:lstStyle/>
          <a:p>
            <a:endParaRPr lang="en-US"/>
          </a:p>
        </p:txBody>
      </p:sp>
      <p:sp>
        <p:nvSpPr>
          <p:cNvPr id="7" name="Shape 4"/>
          <p:cNvSpPr/>
          <p:nvPr/>
        </p:nvSpPr>
        <p:spPr>
          <a:xfrm>
            <a:off x="914372" y="2938930"/>
            <a:ext cx="5905501" cy="1848516"/>
          </a:xfrm>
          <a:prstGeom prst="rect">
            <a:avLst/>
          </a:prstGeom>
          <a:ln w="9071">
            <a:solidFill>
              <a:srgbClr val="1F1F1F">
                <a:alpha val="16000"/>
              </a:srgbClr>
            </a:solidFill>
            <a:prstDash val="solid"/>
          </a:ln>
        </p:spPr>
        <p:txBody>
          <a:bodyPr/>
          <a:lstStyle/>
          <a:p>
            <a:endParaRPr lang="en-US"/>
          </a:p>
        </p:txBody>
      </p:sp>
      <p:sp>
        <p:nvSpPr>
          <p:cNvPr id="8" name="Text 5"/>
          <p:cNvSpPr/>
          <p:nvPr/>
        </p:nvSpPr>
        <p:spPr>
          <a:xfrm>
            <a:off x="1132936" y="3100374"/>
            <a:ext cx="601520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01</a:t>
            </a:r>
            <a:endParaRPr lang="en-US" sz="2100" dirty="0"/>
          </a:p>
        </p:txBody>
      </p:sp>
      <p:sp>
        <p:nvSpPr>
          <p:cNvPr id="9" name="Text 6"/>
          <p:cNvSpPr/>
          <p:nvPr/>
        </p:nvSpPr>
        <p:spPr>
          <a:xfrm>
            <a:off x="1132936" y="3551748"/>
            <a:ext cx="6015208"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{{action_1_title}}</a:t>
            </a:r>
            <a:endParaRPr lang="en-US" sz="2700" dirty="0"/>
          </a:p>
        </p:txBody>
      </p:sp>
      <p:sp>
        <p:nvSpPr>
          <p:cNvPr id="10" name="Text 7"/>
          <p:cNvSpPr/>
          <p:nvPr/>
        </p:nvSpPr>
        <p:spPr>
          <a:xfrm>
            <a:off x="1132936" y="3987885"/>
            <a:ext cx="5632422"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{{action_1_desc}}</a:t>
            </a:r>
            <a:endParaRPr lang="en-US" sz="2100" dirty="0"/>
          </a:p>
        </p:txBody>
      </p:sp>
      <p:sp>
        <p:nvSpPr>
          <p:cNvPr id="11" name="Shape 8"/>
          <p:cNvSpPr/>
          <p:nvPr/>
        </p:nvSpPr>
        <p:spPr>
          <a:xfrm>
            <a:off x="7010372" y="2938930"/>
            <a:ext cx="5905572" cy="1848516"/>
          </a:xfrm>
          <a:prstGeom prst="rect">
            <a:avLst/>
          </a:prstGeom>
          <a:ln w="9071">
            <a:solidFill>
              <a:srgbClr val="1F1F1F">
                <a:alpha val="16000"/>
              </a:srgbClr>
            </a:solidFill>
            <a:prstDash val="solid"/>
          </a:ln>
        </p:spPr>
        <p:txBody>
          <a:bodyPr/>
          <a:lstStyle/>
          <a:p>
            <a:endParaRPr lang="en-US"/>
          </a:p>
        </p:txBody>
      </p:sp>
      <p:sp>
        <p:nvSpPr>
          <p:cNvPr id="12" name="Text 9"/>
          <p:cNvSpPr/>
          <p:nvPr/>
        </p:nvSpPr>
        <p:spPr>
          <a:xfrm>
            <a:off x="7228937" y="3100374"/>
            <a:ext cx="601528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02</a:t>
            </a:r>
            <a:endParaRPr lang="en-US" sz="2100" dirty="0"/>
          </a:p>
        </p:txBody>
      </p:sp>
      <p:sp>
        <p:nvSpPr>
          <p:cNvPr id="13" name="Text 10"/>
          <p:cNvSpPr/>
          <p:nvPr/>
        </p:nvSpPr>
        <p:spPr>
          <a:xfrm>
            <a:off x="7228937" y="3551748"/>
            <a:ext cx="6015286"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{{action_2_title}}</a:t>
            </a:r>
            <a:endParaRPr lang="en-US" sz="2700" dirty="0"/>
          </a:p>
        </p:txBody>
      </p:sp>
      <p:sp>
        <p:nvSpPr>
          <p:cNvPr id="14" name="Text 11"/>
          <p:cNvSpPr/>
          <p:nvPr/>
        </p:nvSpPr>
        <p:spPr>
          <a:xfrm>
            <a:off x="7228937" y="3987885"/>
            <a:ext cx="5632495"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{{action_2_desc}}</a:t>
            </a:r>
            <a:endParaRPr lang="en-US" sz="2100" dirty="0"/>
          </a:p>
        </p:txBody>
      </p:sp>
      <p:sp>
        <p:nvSpPr>
          <p:cNvPr id="15" name="Shape 12"/>
          <p:cNvSpPr/>
          <p:nvPr/>
        </p:nvSpPr>
        <p:spPr>
          <a:xfrm>
            <a:off x="914372" y="4977947"/>
            <a:ext cx="5905501" cy="1848516"/>
          </a:xfrm>
          <a:prstGeom prst="rect">
            <a:avLst/>
          </a:prstGeom>
          <a:ln w="9071">
            <a:solidFill>
              <a:srgbClr val="1F1F1F">
                <a:alpha val="16000"/>
              </a:srgbClr>
            </a:solidFill>
            <a:prstDash val="solid"/>
          </a:ln>
        </p:spPr>
        <p:txBody>
          <a:bodyPr/>
          <a:lstStyle/>
          <a:p>
            <a:endParaRPr lang="en-US"/>
          </a:p>
        </p:txBody>
      </p:sp>
      <p:sp>
        <p:nvSpPr>
          <p:cNvPr id="16" name="Text 13"/>
          <p:cNvSpPr/>
          <p:nvPr/>
        </p:nvSpPr>
        <p:spPr>
          <a:xfrm>
            <a:off x="1132936" y="5139390"/>
            <a:ext cx="601520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03</a:t>
            </a:r>
            <a:endParaRPr lang="en-US" sz="2100" dirty="0"/>
          </a:p>
        </p:txBody>
      </p:sp>
      <p:sp>
        <p:nvSpPr>
          <p:cNvPr id="17" name="Text 14"/>
          <p:cNvSpPr/>
          <p:nvPr/>
        </p:nvSpPr>
        <p:spPr>
          <a:xfrm>
            <a:off x="1132936" y="5590765"/>
            <a:ext cx="6015208"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{{action_3_title}}</a:t>
            </a:r>
            <a:endParaRPr lang="en-US" sz="2700" dirty="0"/>
          </a:p>
        </p:txBody>
      </p:sp>
      <p:sp>
        <p:nvSpPr>
          <p:cNvPr id="18" name="Text 15"/>
          <p:cNvSpPr/>
          <p:nvPr/>
        </p:nvSpPr>
        <p:spPr>
          <a:xfrm>
            <a:off x="1132936" y="6026902"/>
            <a:ext cx="5632422"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{{action_3_desc}}</a:t>
            </a:r>
            <a:endParaRPr lang="en-US" sz="2100" dirty="0"/>
          </a:p>
        </p:txBody>
      </p:sp>
      <p:sp>
        <p:nvSpPr>
          <p:cNvPr id="19" name="Shape 16"/>
          <p:cNvSpPr/>
          <p:nvPr/>
        </p:nvSpPr>
        <p:spPr>
          <a:xfrm>
            <a:off x="7010372" y="4977947"/>
            <a:ext cx="5905572" cy="1848516"/>
          </a:xfrm>
          <a:prstGeom prst="rect">
            <a:avLst/>
          </a:prstGeom>
          <a:ln w="9071">
            <a:solidFill>
              <a:srgbClr val="1F1F1F">
                <a:alpha val="16000"/>
              </a:srgbClr>
            </a:solidFill>
            <a:prstDash val="solid"/>
          </a:ln>
        </p:spPr>
        <p:txBody>
          <a:bodyPr/>
          <a:lstStyle/>
          <a:p>
            <a:endParaRPr lang="en-US"/>
          </a:p>
        </p:txBody>
      </p:sp>
      <p:sp>
        <p:nvSpPr>
          <p:cNvPr id="20" name="Text 17"/>
          <p:cNvSpPr/>
          <p:nvPr/>
        </p:nvSpPr>
        <p:spPr>
          <a:xfrm>
            <a:off x="7228937" y="5139390"/>
            <a:ext cx="601528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04</a:t>
            </a:r>
            <a:endParaRPr lang="en-US" sz="2100" dirty="0"/>
          </a:p>
        </p:txBody>
      </p:sp>
      <p:sp>
        <p:nvSpPr>
          <p:cNvPr id="21" name="Text 18"/>
          <p:cNvSpPr/>
          <p:nvPr/>
        </p:nvSpPr>
        <p:spPr>
          <a:xfrm>
            <a:off x="7228937" y="5590765"/>
            <a:ext cx="6015286"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{{action_4_title}}</a:t>
            </a:r>
            <a:endParaRPr lang="en-US" sz="2700" dirty="0"/>
          </a:p>
        </p:txBody>
      </p:sp>
      <p:sp>
        <p:nvSpPr>
          <p:cNvPr id="22" name="Text 19"/>
          <p:cNvSpPr/>
          <p:nvPr/>
        </p:nvSpPr>
        <p:spPr>
          <a:xfrm>
            <a:off x="7228937" y="6026902"/>
            <a:ext cx="5632495"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{{action_4_desc}}</a:t>
            </a:r>
            <a:endParaRPr lang="en-US" sz="2100" dirty="0"/>
          </a:p>
        </p:txBody>
      </p:sp>
      <p:sp>
        <p:nvSpPr>
          <p:cNvPr id="23" name="Shape 20"/>
          <p:cNvSpPr/>
          <p:nvPr/>
        </p:nvSpPr>
        <p:spPr>
          <a:xfrm>
            <a:off x="914372" y="7016963"/>
            <a:ext cx="5905501" cy="1848516"/>
          </a:xfrm>
          <a:prstGeom prst="rect">
            <a:avLst/>
          </a:prstGeom>
          <a:ln w="9071">
            <a:solidFill>
              <a:srgbClr val="1F1F1F">
                <a:alpha val="16000"/>
              </a:srgbClr>
            </a:solidFill>
            <a:prstDash val="solid"/>
          </a:ln>
        </p:spPr>
        <p:txBody>
          <a:bodyPr/>
          <a:lstStyle/>
          <a:p>
            <a:endParaRPr lang="en-US"/>
          </a:p>
        </p:txBody>
      </p:sp>
      <p:sp>
        <p:nvSpPr>
          <p:cNvPr id="24" name="Text 21"/>
          <p:cNvSpPr/>
          <p:nvPr/>
        </p:nvSpPr>
        <p:spPr>
          <a:xfrm>
            <a:off x="1132936" y="7178406"/>
            <a:ext cx="6015208"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05</a:t>
            </a:r>
            <a:endParaRPr lang="en-US" sz="2100" dirty="0"/>
          </a:p>
        </p:txBody>
      </p:sp>
      <p:sp>
        <p:nvSpPr>
          <p:cNvPr id="25" name="Text 22"/>
          <p:cNvSpPr/>
          <p:nvPr/>
        </p:nvSpPr>
        <p:spPr>
          <a:xfrm>
            <a:off x="1132936" y="7629781"/>
            <a:ext cx="6015208"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{{action_5_title}}</a:t>
            </a:r>
            <a:endParaRPr lang="en-US" sz="2700" dirty="0"/>
          </a:p>
        </p:txBody>
      </p:sp>
      <p:sp>
        <p:nvSpPr>
          <p:cNvPr id="26" name="Text 23"/>
          <p:cNvSpPr/>
          <p:nvPr/>
        </p:nvSpPr>
        <p:spPr>
          <a:xfrm>
            <a:off x="1132936" y="8065918"/>
            <a:ext cx="5632422"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{{action_5_desc}}</a:t>
            </a:r>
            <a:endParaRPr lang="en-US" sz="2100" dirty="0"/>
          </a:p>
        </p:txBody>
      </p:sp>
      <p:sp>
        <p:nvSpPr>
          <p:cNvPr id="27" name="Shape 24"/>
          <p:cNvSpPr/>
          <p:nvPr/>
        </p:nvSpPr>
        <p:spPr>
          <a:xfrm>
            <a:off x="7010372" y="7016963"/>
            <a:ext cx="5905572" cy="1848516"/>
          </a:xfrm>
          <a:prstGeom prst="rect">
            <a:avLst/>
          </a:prstGeom>
          <a:ln w="9071">
            <a:solidFill>
              <a:srgbClr val="1F1F1F">
                <a:alpha val="16000"/>
              </a:srgbClr>
            </a:solidFill>
            <a:prstDash val="solid"/>
          </a:ln>
        </p:spPr>
        <p:txBody>
          <a:bodyPr/>
          <a:lstStyle/>
          <a:p>
            <a:endParaRPr lang="en-US"/>
          </a:p>
        </p:txBody>
      </p:sp>
      <p:sp>
        <p:nvSpPr>
          <p:cNvPr id="28" name="Text 25"/>
          <p:cNvSpPr/>
          <p:nvPr/>
        </p:nvSpPr>
        <p:spPr>
          <a:xfrm>
            <a:off x="7228937" y="7178406"/>
            <a:ext cx="6015286" cy="451417"/>
          </a:xfrm>
          <a:prstGeom prst="rect">
            <a:avLst/>
          </a:prstGeom>
          <a:noFill/>
          <a:ln/>
        </p:spPr>
        <p:txBody>
          <a:bodyPr wrap="square" lIns="25400" tIns="25400" rIns="25400" bIns="25400" rtlCol="0" anchor="t">
            <a:normAutofit/>
          </a:bodyPr>
          <a:lstStyle/>
          <a:p>
            <a:pPr marL="0" indent="0" algn="l">
              <a:lnSpc>
                <a:spcPct val="128366"/>
              </a:lnSpc>
              <a:buNone/>
            </a:pPr>
            <a:r>
              <a:rPr lang="en-US" sz="2100" dirty="0">
                <a:solidFill>
                  <a:srgbClr val="2A3480"/>
                </a:solidFill>
                <a:latin typeface="Barlow Condensed" pitchFamily="34" charset="0"/>
                <a:ea typeface="Barlow Condensed" pitchFamily="34" charset="-122"/>
                <a:cs typeface="Barlow Condensed" pitchFamily="34" charset="-120"/>
              </a:rPr>
              <a:t>06</a:t>
            </a:r>
            <a:endParaRPr lang="en-US" sz="2100" dirty="0"/>
          </a:p>
        </p:txBody>
      </p:sp>
      <p:sp>
        <p:nvSpPr>
          <p:cNvPr id="29" name="Text 26"/>
          <p:cNvSpPr/>
          <p:nvPr/>
        </p:nvSpPr>
        <p:spPr>
          <a:xfrm>
            <a:off x="7228937" y="7629781"/>
            <a:ext cx="6015286" cy="398051"/>
          </a:xfrm>
          <a:prstGeom prst="rect">
            <a:avLst/>
          </a:prstGeom>
          <a:noFill/>
          <a:ln/>
        </p:spPr>
        <p:txBody>
          <a:bodyPr wrap="square" lIns="25400" tIns="25400" rIns="25400" bIns="25400" rtlCol="0" anchor="t">
            <a:normAutofit lnSpcReduction="10000"/>
          </a:bodyPr>
          <a:lstStyle/>
          <a:p>
            <a:pPr marL="0" indent="0" algn="l">
              <a:lnSpc>
                <a:spcPct val="87231"/>
              </a:lnSpc>
              <a:buNone/>
            </a:pPr>
            <a:r>
              <a:rPr lang="en-US" sz="2700" dirty="0">
                <a:solidFill>
                  <a:srgbClr val="1D1F20"/>
                </a:solidFill>
                <a:latin typeface="Barlow Condensed" pitchFamily="34" charset="0"/>
                <a:ea typeface="Barlow Condensed" pitchFamily="34" charset="-122"/>
                <a:cs typeface="Barlow Condensed" pitchFamily="34" charset="-120"/>
              </a:rPr>
              <a:t>{{action_6_title}}</a:t>
            </a:r>
            <a:endParaRPr lang="en-US" sz="2700" dirty="0"/>
          </a:p>
        </p:txBody>
      </p:sp>
      <p:sp>
        <p:nvSpPr>
          <p:cNvPr id="30" name="Text 27"/>
          <p:cNvSpPr/>
          <p:nvPr/>
        </p:nvSpPr>
        <p:spPr>
          <a:xfrm>
            <a:off x="7228937" y="8065918"/>
            <a:ext cx="5632495" cy="676218"/>
          </a:xfrm>
          <a:prstGeom prst="rect">
            <a:avLst/>
          </a:prstGeom>
          <a:noFill/>
          <a:ln/>
        </p:spPr>
        <p:txBody>
          <a:bodyPr wrap="square" lIns="25400" tIns="25400" rIns="25400" bIns="25400" rtlCol="0" anchor="t">
            <a:normAutofit fontScale="92500" lnSpcReduction="10000"/>
          </a:bodyPr>
          <a:lstStyle/>
          <a:p>
            <a:pPr marL="0" indent="0" algn="l">
              <a:lnSpc>
                <a:spcPct val="113468"/>
              </a:lnSpc>
              <a:buNone/>
            </a:pPr>
            <a:r>
              <a:rPr lang="en-US" sz="2100" dirty="0">
                <a:solidFill>
                  <a:srgbClr val="1D1F20">
                    <a:alpha val="90000"/>
                  </a:srgbClr>
                </a:solidFill>
                <a:latin typeface="Barlow" pitchFamily="34" charset="0"/>
                <a:ea typeface="Barlow" pitchFamily="34" charset="-122"/>
                <a:cs typeface="Barlow" pitchFamily="34" charset="-120"/>
              </a:rPr>
              <a:t>{{action_6_desc}}</a:t>
            </a:r>
            <a:endParaRPr lang="en-US" sz="2100" dirty="0"/>
          </a:p>
        </p:txBody>
      </p:sp>
      <p:sp>
        <p:nvSpPr>
          <p:cNvPr id="31" name="Shape 28"/>
          <p:cNvSpPr/>
          <p:nvPr/>
        </p:nvSpPr>
        <p:spPr>
          <a:xfrm>
            <a:off x="13373129" y="2938930"/>
            <a:ext cx="4000429" cy="5926549"/>
          </a:xfrm>
          <a:prstGeom prst="rect">
            <a:avLst/>
          </a:prstGeom>
          <a:solidFill>
            <a:srgbClr val="E7E7EA"/>
          </a:solidFill>
          <a:ln/>
        </p:spPr>
        <p:txBody>
          <a:bodyPr/>
          <a:lstStyle/>
          <a:p>
            <a:endParaRPr lang="en-US"/>
          </a:p>
        </p:txBody>
      </p:sp>
      <p:pic>
        <p:nvPicPr>
          <p:cNvPr id="32" name="Image 1" descr="preencoded.png"/>
          <p:cNvPicPr>
            <a:picLocks noChangeAspect="1"/>
          </p:cNvPicPr>
          <p:nvPr/>
        </p:nvPicPr>
        <p:blipFill>
          <a:blip r:embed="rId4"/>
          <a:srcRect l="28906" r="28906"/>
          <a:stretch/>
        </p:blipFill>
        <p:spPr>
          <a:xfrm>
            <a:off x="13373129" y="2938930"/>
            <a:ext cx="4000429" cy="5926549"/>
          </a:xfrm>
          <a:prstGeom prst="rect">
            <a:avLst/>
          </a:prstGeom>
        </p:spPr>
      </p:pic>
      <p:sp>
        <p:nvSpPr>
          <p:cNvPr id="33" name="Shape 29"/>
          <p:cNvSpPr/>
          <p:nvPr/>
        </p:nvSpPr>
        <p:spPr>
          <a:xfrm>
            <a:off x="13373129" y="2938930"/>
            <a:ext cx="4000429" cy="5926549"/>
          </a:xfrm>
          <a:prstGeom prst="rect">
            <a:avLst/>
          </a:prstGeom>
          <a:solidFill>
            <a:srgbClr val="26306F">
              <a:alpha val="30000"/>
            </a:srgbClr>
          </a:solidFill>
          <a:ln/>
        </p:spPr>
        <p:txBody>
          <a:bodyPr/>
          <a:lstStyle/>
          <a:p>
            <a:endParaRPr lang="en-US"/>
          </a:p>
        </p:txBody>
      </p:sp>
      <p:sp>
        <p:nvSpPr>
          <p:cNvPr id="34" name="Text 30"/>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5" name="Text 31"/>
          <p:cNvSpPr/>
          <p:nvPr/>
        </p:nvSpPr>
        <p:spPr>
          <a:xfrm>
            <a:off x="16703478" y="9475462"/>
            <a:ext cx="746281"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25614605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8890000" cy="419100"/>
          </a:xfrm>
          <a:prstGeom prst="rect">
            <a:avLst/>
          </a:prstGeom>
          <a:noFill/>
        </p:spPr>
        <p:txBody>
          <a:bodyPr wrap="square" lIns="0" tIns="0" rIns="0" bIns="0" anchor="t">
            <a:normAutofit/>
          </a:bodyPr>
          <a:lstStyle/>
          <a:p>
            <a:pPr marL="0" indent="0" algn="l">
              <a:buNone/>
            </a:pPr>
            <a:r>
              <a:rPr lang="en-US" sz="2100" b="1" kern="0" spc="390" dirty="0">
                <a:solidFill>
                  <a:srgbClr val="2A3480"/>
                </a:solidFill>
                <a:latin typeface="Barlow"/>
                <a:cs typeface="Barlow"/>
              </a:rPr>
              <a:t>EXECUTIVE SUMMARY</a:t>
            </a:r>
          </a:p>
        </p:txBody>
      </p:sp>
      <p:sp>
        <p:nvSpPr>
          <p:cNvPr id="102" name="Text 102"/>
          <p:cNvSpPr txBox="1"/>
          <p:nvPr/>
        </p:nvSpPr>
        <p:spPr>
          <a:xfrm>
            <a:off x="914400" y="1092200"/>
            <a:ext cx="11430000" cy="774700"/>
          </a:xfrm>
          <a:prstGeom prst="rect">
            <a:avLst/>
          </a:prstGeom>
          <a:noFill/>
        </p:spPr>
        <p:txBody>
          <a:bodyPr wrap="square" lIns="0" tIns="0" rIns="0" bIns="0" anchor="t">
            <a:normAutofit/>
          </a:bodyPr>
          <a:lstStyle/>
          <a:p>
            <a:pPr marL="0" indent="0" algn="l">
              <a:lnSpc>
                <a:spcPct val="80000"/>
              </a:lnSpc>
              <a:buNone/>
            </a:pPr>
            <a:r>
              <a:rPr lang="en-US" sz="6000" b="1" kern="0" spc="-120" dirty="0">
                <a:solidFill>
                  <a:srgbClr val="1D1F20"/>
                </a:solidFill>
                <a:latin typeface="Barlow Condensed"/>
                <a:cs typeface="Barlow Condensed"/>
              </a:rPr>
              <a:t>What We Are Suggesting</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Shape 104"/>
          <p:cNvSpPr/>
          <p:nvPr/>
        </p:nvSpPr>
        <p:spPr>
          <a:xfrm>
            <a:off x="914400" y="2540000"/>
            <a:ext cx="5283200" cy="4572000"/>
          </a:xfrm>
          <a:prstGeom prst="rect">
            <a:avLst/>
          </a:prstGeom>
          <a:noFill/>
          <a:ln w="9525">
            <a:solidFill>
              <a:srgbClr val="1D1F20">
                <a:alpha val="22000"/>
              </a:srgbClr>
            </a:solidFill>
          </a:ln>
        </p:spPr>
        <p:txBody>
          <a:bodyPr/>
          <a:lstStyle/>
          <a:p>
            <a:endParaRPr/>
          </a:p>
        </p:txBody>
      </p:sp>
      <p:sp>
        <p:nvSpPr>
          <p:cNvPr id="105" name="Shape 105"/>
          <p:cNvSpPr/>
          <p:nvPr/>
        </p:nvSpPr>
        <p:spPr>
          <a:xfrm>
            <a:off x="914400" y="2540000"/>
            <a:ext cx="5283200" cy="63500"/>
          </a:xfrm>
          <a:prstGeom prst="rect">
            <a:avLst/>
          </a:prstGeom>
          <a:solidFill>
            <a:srgbClr val="26306F"/>
          </a:solidFill>
          <a:ln>
            <a:noFill/>
          </a:ln>
        </p:spPr>
        <p:txBody>
          <a:bodyPr/>
          <a:lstStyle/>
          <a:p>
            <a:endParaRPr/>
          </a:p>
        </p:txBody>
      </p:sp>
      <p:sp>
        <p:nvSpPr>
          <p:cNvPr id="106" name="Text 106"/>
          <p:cNvSpPr txBox="1"/>
          <p:nvPr/>
        </p:nvSpPr>
        <p:spPr>
          <a:xfrm>
            <a:off x="1270000" y="2946400"/>
            <a:ext cx="1524000" cy="558800"/>
          </a:xfrm>
          <a:prstGeom prst="rect">
            <a:avLst/>
          </a:prstGeom>
          <a:noFill/>
        </p:spPr>
        <p:txBody>
          <a:bodyPr wrap="square" lIns="0" tIns="0" rIns="0" bIns="0" anchor="t">
            <a:normAutofit/>
          </a:bodyPr>
          <a:lstStyle/>
          <a:p>
            <a:pPr marL="0" indent="0" algn="l">
              <a:buNone/>
            </a:pPr>
            <a:r>
              <a:rPr lang="en-US" sz="3600" b="1" kern="0" dirty="0">
                <a:solidFill>
                  <a:srgbClr val="26306F"/>
                </a:solidFill>
                <a:latin typeface="Barlow Condensed"/>
                <a:cs typeface="Barlow Condensed"/>
              </a:rPr>
              <a:t>01</a:t>
            </a:r>
          </a:p>
        </p:txBody>
      </p:sp>
      <p:sp>
        <p:nvSpPr>
          <p:cNvPr id="107" name="Text 107"/>
          <p:cNvSpPr txBox="1"/>
          <p:nvPr/>
        </p:nvSpPr>
        <p:spPr>
          <a:xfrm>
            <a:off x="1270000" y="3683000"/>
            <a:ext cx="4572000" cy="889000"/>
          </a:xfrm>
          <a:prstGeom prst="rect">
            <a:avLst/>
          </a:prstGeom>
          <a:noFill/>
        </p:spPr>
        <p:txBody>
          <a:bodyPr wrap="square" lIns="0" tIns="0" rIns="0" bIns="0" anchor="t">
            <a:normAutofit/>
          </a:bodyPr>
          <a:lstStyle/>
          <a:p>
            <a:pPr marL="0" indent="0" algn="l">
              <a:lnSpc>
                <a:spcPct val="90000"/>
              </a:lnSpc>
              <a:buNone/>
            </a:pPr>
            <a:r>
              <a:rPr lang="en-US" sz="3200" b="1" kern="0" spc="-40" dirty="0">
                <a:solidFill>
                  <a:srgbClr val="1D1F20"/>
                </a:solidFill>
                <a:latin typeface="Barlow Condensed"/>
                <a:cs typeface="Barlow Condensed"/>
              </a:rPr>
              <a:t>{{suggestion_1_title}}</a:t>
            </a:r>
          </a:p>
        </p:txBody>
      </p:sp>
      <p:sp>
        <p:nvSpPr>
          <p:cNvPr id="108" name="Text 108"/>
          <p:cNvSpPr txBox="1"/>
          <p:nvPr/>
        </p:nvSpPr>
        <p:spPr>
          <a:xfrm>
            <a:off x="1270000" y="4673600"/>
            <a:ext cx="4572000" cy="1778000"/>
          </a:xfrm>
          <a:prstGeom prst="rect">
            <a:avLst/>
          </a:prstGeom>
          <a:noFill/>
        </p:spPr>
        <p:txBody>
          <a:bodyPr wrap="square" lIns="0" tIns="0" rIns="0" bIns="0" anchor="t">
            <a:normAutofit/>
          </a:bodyPr>
          <a:lstStyle/>
          <a:p>
            <a:pPr marL="0" indent="0" algn="l">
              <a:lnSpc>
                <a:spcPct val="128000"/>
              </a:lnSpc>
              <a:buNone/>
            </a:pPr>
            <a:r>
              <a:rPr lang="en-US" sz="1800" b="0" kern="0" dirty="0">
                <a:solidFill>
                  <a:srgbClr val="1D1F20">
                    <a:alpha val="88000"/>
                  </a:srgbClr>
                </a:solidFill>
                <a:latin typeface="Barlow"/>
                <a:cs typeface="Barlow"/>
              </a:rPr>
              <a:t>{{suggestion_1_desc}}</a:t>
            </a:r>
          </a:p>
        </p:txBody>
      </p:sp>
      <p:sp>
        <p:nvSpPr>
          <p:cNvPr id="109" name="Shape 109"/>
          <p:cNvSpPr/>
          <p:nvPr/>
        </p:nvSpPr>
        <p:spPr>
          <a:xfrm>
            <a:off x="1270000" y="6273800"/>
            <a:ext cx="4572000" cy="12700"/>
          </a:xfrm>
          <a:prstGeom prst="rect">
            <a:avLst/>
          </a:prstGeom>
          <a:solidFill>
            <a:srgbClr val="1D1F20">
              <a:alpha val="25000"/>
            </a:srgbClr>
          </a:solidFill>
          <a:ln>
            <a:noFill/>
          </a:ln>
        </p:spPr>
        <p:txBody>
          <a:bodyPr/>
          <a:lstStyle/>
          <a:p>
            <a:endParaRPr/>
          </a:p>
        </p:txBody>
      </p:sp>
      <p:sp>
        <p:nvSpPr>
          <p:cNvPr id="110" name="Text 110"/>
          <p:cNvSpPr txBox="1"/>
          <p:nvPr/>
        </p:nvSpPr>
        <p:spPr>
          <a:xfrm>
            <a:off x="1270000" y="6502400"/>
            <a:ext cx="4572000" cy="431800"/>
          </a:xfrm>
          <a:prstGeom prst="rect">
            <a:avLst/>
          </a:prstGeom>
          <a:noFill/>
        </p:spPr>
        <p:txBody>
          <a:bodyPr wrap="square" lIns="0" tIns="0" rIns="0" bIns="0" anchor="t">
            <a:normAutofit/>
          </a:bodyPr>
          <a:lstStyle/>
          <a:p>
            <a:pPr marL="0" indent="0" algn="l">
              <a:buNone/>
            </a:pPr>
            <a:r>
              <a:rPr lang="en-US" sz="1800" b="1" kern="0" dirty="0">
                <a:solidFill>
                  <a:srgbClr val="2F7D3A"/>
                </a:solidFill>
                <a:latin typeface="Barlow"/>
                <a:cs typeface="Barlow"/>
              </a:rPr>
              <a:t>{{suggestion_1_outcome}}</a:t>
            </a:r>
          </a:p>
        </p:txBody>
      </p:sp>
      <p:sp>
        <p:nvSpPr>
          <p:cNvPr id="111" name="Shape 111"/>
          <p:cNvSpPr/>
          <p:nvPr/>
        </p:nvSpPr>
        <p:spPr>
          <a:xfrm>
            <a:off x="6502400" y="2540000"/>
            <a:ext cx="5283200" cy="4572000"/>
          </a:xfrm>
          <a:prstGeom prst="rect">
            <a:avLst/>
          </a:prstGeom>
          <a:noFill/>
          <a:ln w="9525">
            <a:solidFill>
              <a:srgbClr val="1D1F20">
                <a:alpha val="22000"/>
              </a:srgbClr>
            </a:solidFill>
          </a:ln>
        </p:spPr>
        <p:txBody>
          <a:bodyPr/>
          <a:lstStyle/>
          <a:p>
            <a:endParaRPr/>
          </a:p>
        </p:txBody>
      </p:sp>
      <p:sp>
        <p:nvSpPr>
          <p:cNvPr id="112" name="Shape 112"/>
          <p:cNvSpPr/>
          <p:nvPr/>
        </p:nvSpPr>
        <p:spPr>
          <a:xfrm>
            <a:off x="6502400" y="2540000"/>
            <a:ext cx="5283200" cy="63500"/>
          </a:xfrm>
          <a:prstGeom prst="rect">
            <a:avLst/>
          </a:prstGeom>
          <a:solidFill>
            <a:srgbClr val="26306F"/>
          </a:solidFill>
          <a:ln>
            <a:noFill/>
          </a:ln>
        </p:spPr>
        <p:txBody>
          <a:bodyPr/>
          <a:lstStyle/>
          <a:p>
            <a:endParaRPr/>
          </a:p>
        </p:txBody>
      </p:sp>
      <p:sp>
        <p:nvSpPr>
          <p:cNvPr id="113" name="Text 113"/>
          <p:cNvSpPr txBox="1"/>
          <p:nvPr/>
        </p:nvSpPr>
        <p:spPr>
          <a:xfrm>
            <a:off x="6858000" y="2946400"/>
            <a:ext cx="1524000" cy="558800"/>
          </a:xfrm>
          <a:prstGeom prst="rect">
            <a:avLst/>
          </a:prstGeom>
          <a:noFill/>
        </p:spPr>
        <p:txBody>
          <a:bodyPr wrap="square" lIns="0" tIns="0" rIns="0" bIns="0" anchor="t">
            <a:normAutofit/>
          </a:bodyPr>
          <a:lstStyle/>
          <a:p>
            <a:pPr marL="0" indent="0" algn="l">
              <a:buNone/>
            </a:pPr>
            <a:r>
              <a:rPr lang="en-US" sz="3600" b="1" kern="0" dirty="0">
                <a:solidFill>
                  <a:srgbClr val="26306F"/>
                </a:solidFill>
                <a:latin typeface="Barlow Condensed"/>
                <a:cs typeface="Barlow Condensed"/>
              </a:rPr>
              <a:t>02</a:t>
            </a:r>
          </a:p>
        </p:txBody>
      </p:sp>
      <p:sp>
        <p:nvSpPr>
          <p:cNvPr id="114" name="Text 114"/>
          <p:cNvSpPr txBox="1"/>
          <p:nvPr/>
        </p:nvSpPr>
        <p:spPr>
          <a:xfrm>
            <a:off x="6858000" y="3683000"/>
            <a:ext cx="4572000" cy="889000"/>
          </a:xfrm>
          <a:prstGeom prst="rect">
            <a:avLst/>
          </a:prstGeom>
          <a:noFill/>
        </p:spPr>
        <p:txBody>
          <a:bodyPr wrap="square" lIns="0" tIns="0" rIns="0" bIns="0" anchor="t">
            <a:normAutofit/>
          </a:bodyPr>
          <a:lstStyle/>
          <a:p>
            <a:pPr marL="0" indent="0" algn="l">
              <a:lnSpc>
                <a:spcPct val="90000"/>
              </a:lnSpc>
              <a:buNone/>
            </a:pPr>
            <a:r>
              <a:rPr lang="en-US" sz="3200" b="1" kern="0" spc="-40" dirty="0">
                <a:solidFill>
                  <a:srgbClr val="1D1F20"/>
                </a:solidFill>
                <a:latin typeface="Barlow Condensed"/>
                <a:cs typeface="Barlow Condensed"/>
              </a:rPr>
              <a:t>{{suggestion_2_title}}</a:t>
            </a:r>
          </a:p>
        </p:txBody>
      </p:sp>
      <p:sp>
        <p:nvSpPr>
          <p:cNvPr id="115" name="Text 115"/>
          <p:cNvSpPr txBox="1"/>
          <p:nvPr/>
        </p:nvSpPr>
        <p:spPr>
          <a:xfrm>
            <a:off x="6858000" y="4673600"/>
            <a:ext cx="4572000" cy="1778000"/>
          </a:xfrm>
          <a:prstGeom prst="rect">
            <a:avLst/>
          </a:prstGeom>
          <a:noFill/>
        </p:spPr>
        <p:txBody>
          <a:bodyPr wrap="square" lIns="0" tIns="0" rIns="0" bIns="0" anchor="t">
            <a:normAutofit/>
          </a:bodyPr>
          <a:lstStyle/>
          <a:p>
            <a:pPr marL="0" indent="0" algn="l">
              <a:lnSpc>
                <a:spcPct val="128000"/>
              </a:lnSpc>
              <a:buNone/>
            </a:pPr>
            <a:r>
              <a:rPr lang="en-US" sz="1800" b="0" kern="0" dirty="0">
                <a:solidFill>
                  <a:srgbClr val="1D1F20">
                    <a:alpha val="88000"/>
                  </a:srgbClr>
                </a:solidFill>
                <a:latin typeface="Barlow"/>
                <a:cs typeface="Barlow"/>
              </a:rPr>
              <a:t>{{suggestion_2_desc}}</a:t>
            </a:r>
          </a:p>
        </p:txBody>
      </p:sp>
      <p:sp>
        <p:nvSpPr>
          <p:cNvPr id="116" name="Shape 116"/>
          <p:cNvSpPr/>
          <p:nvPr/>
        </p:nvSpPr>
        <p:spPr>
          <a:xfrm>
            <a:off x="6858000" y="6273800"/>
            <a:ext cx="4572000" cy="12700"/>
          </a:xfrm>
          <a:prstGeom prst="rect">
            <a:avLst/>
          </a:prstGeom>
          <a:solidFill>
            <a:srgbClr val="1D1F20">
              <a:alpha val="25000"/>
            </a:srgbClr>
          </a:solidFill>
          <a:ln>
            <a:noFill/>
          </a:ln>
        </p:spPr>
        <p:txBody>
          <a:bodyPr/>
          <a:lstStyle/>
          <a:p>
            <a:endParaRPr/>
          </a:p>
        </p:txBody>
      </p:sp>
      <p:sp>
        <p:nvSpPr>
          <p:cNvPr id="117" name="Text 117"/>
          <p:cNvSpPr txBox="1"/>
          <p:nvPr/>
        </p:nvSpPr>
        <p:spPr>
          <a:xfrm>
            <a:off x="6858000" y="6502400"/>
            <a:ext cx="4572000" cy="431800"/>
          </a:xfrm>
          <a:prstGeom prst="rect">
            <a:avLst/>
          </a:prstGeom>
          <a:noFill/>
        </p:spPr>
        <p:txBody>
          <a:bodyPr wrap="square" lIns="0" tIns="0" rIns="0" bIns="0" anchor="t">
            <a:normAutofit/>
          </a:bodyPr>
          <a:lstStyle/>
          <a:p>
            <a:pPr marL="0" indent="0" algn="l">
              <a:buNone/>
            </a:pPr>
            <a:r>
              <a:rPr lang="en-US" sz="1800" b="1" kern="0" dirty="0">
                <a:solidFill>
                  <a:srgbClr val="2F7D3A"/>
                </a:solidFill>
                <a:latin typeface="Barlow"/>
                <a:cs typeface="Barlow"/>
              </a:rPr>
              <a:t>{{suggestion_2_outcome}}</a:t>
            </a:r>
          </a:p>
        </p:txBody>
      </p:sp>
      <p:sp>
        <p:nvSpPr>
          <p:cNvPr id="118" name="Shape 118"/>
          <p:cNvSpPr/>
          <p:nvPr/>
        </p:nvSpPr>
        <p:spPr>
          <a:xfrm>
            <a:off x="12090400" y="2540000"/>
            <a:ext cx="5283200" cy="4572000"/>
          </a:xfrm>
          <a:prstGeom prst="rect">
            <a:avLst/>
          </a:prstGeom>
          <a:noFill/>
          <a:ln w="9525">
            <a:solidFill>
              <a:srgbClr val="1D1F20">
                <a:alpha val="22000"/>
              </a:srgbClr>
            </a:solidFill>
          </a:ln>
        </p:spPr>
        <p:txBody>
          <a:bodyPr/>
          <a:lstStyle/>
          <a:p>
            <a:endParaRPr/>
          </a:p>
        </p:txBody>
      </p:sp>
      <p:sp>
        <p:nvSpPr>
          <p:cNvPr id="119" name="Shape 119"/>
          <p:cNvSpPr/>
          <p:nvPr/>
        </p:nvSpPr>
        <p:spPr>
          <a:xfrm>
            <a:off x="12090400" y="2540000"/>
            <a:ext cx="5283200" cy="63500"/>
          </a:xfrm>
          <a:prstGeom prst="rect">
            <a:avLst/>
          </a:prstGeom>
          <a:solidFill>
            <a:srgbClr val="26306F"/>
          </a:solidFill>
          <a:ln>
            <a:noFill/>
          </a:ln>
        </p:spPr>
        <p:txBody>
          <a:bodyPr/>
          <a:lstStyle/>
          <a:p>
            <a:endParaRPr/>
          </a:p>
        </p:txBody>
      </p:sp>
      <p:sp>
        <p:nvSpPr>
          <p:cNvPr id="120" name="Text 120"/>
          <p:cNvSpPr txBox="1"/>
          <p:nvPr/>
        </p:nvSpPr>
        <p:spPr>
          <a:xfrm>
            <a:off x="12446000" y="2946400"/>
            <a:ext cx="1524000" cy="558800"/>
          </a:xfrm>
          <a:prstGeom prst="rect">
            <a:avLst/>
          </a:prstGeom>
          <a:noFill/>
        </p:spPr>
        <p:txBody>
          <a:bodyPr wrap="square" lIns="0" tIns="0" rIns="0" bIns="0" anchor="t">
            <a:normAutofit/>
          </a:bodyPr>
          <a:lstStyle/>
          <a:p>
            <a:pPr marL="0" indent="0" algn="l">
              <a:buNone/>
            </a:pPr>
            <a:r>
              <a:rPr lang="en-US" sz="3600" b="1" kern="0" dirty="0">
                <a:solidFill>
                  <a:srgbClr val="26306F"/>
                </a:solidFill>
                <a:latin typeface="Barlow Condensed"/>
                <a:cs typeface="Barlow Condensed"/>
              </a:rPr>
              <a:t>03</a:t>
            </a:r>
          </a:p>
        </p:txBody>
      </p:sp>
      <p:sp>
        <p:nvSpPr>
          <p:cNvPr id="121" name="Text 121"/>
          <p:cNvSpPr txBox="1"/>
          <p:nvPr/>
        </p:nvSpPr>
        <p:spPr>
          <a:xfrm>
            <a:off x="12446000" y="3683000"/>
            <a:ext cx="4572000" cy="889000"/>
          </a:xfrm>
          <a:prstGeom prst="rect">
            <a:avLst/>
          </a:prstGeom>
          <a:noFill/>
        </p:spPr>
        <p:txBody>
          <a:bodyPr wrap="square" lIns="0" tIns="0" rIns="0" bIns="0" anchor="t">
            <a:normAutofit/>
          </a:bodyPr>
          <a:lstStyle/>
          <a:p>
            <a:pPr marL="0" indent="0" algn="l">
              <a:lnSpc>
                <a:spcPct val="90000"/>
              </a:lnSpc>
              <a:buNone/>
            </a:pPr>
            <a:r>
              <a:rPr lang="en-US" sz="3200" b="1" kern="0" spc="-40" dirty="0">
                <a:solidFill>
                  <a:srgbClr val="1D1F20"/>
                </a:solidFill>
                <a:latin typeface="Barlow Condensed"/>
                <a:cs typeface="Barlow Condensed"/>
              </a:rPr>
              <a:t>{{suggestion_3_title}}</a:t>
            </a:r>
          </a:p>
        </p:txBody>
      </p:sp>
      <p:sp>
        <p:nvSpPr>
          <p:cNvPr id="122" name="Text 122"/>
          <p:cNvSpPr txBox="1"/>
          <p:nvPr/>
        </p:nvSpPr>
        <p:spPr>
          <a:xfrm>
            <a:off x="12446000" y="4673600"/>
            <a:ext cx="4572000" cy="1778000"/>
          </a:xfrm>
          <a:prstGeom prst="rect">
            <a:avLst/>
          </a:prstGeom>
          <a:noFill/>
        </p:spPr>
        <p:txBody>
          <a:bodyPr wrap="square" lIns="0" tIns="0" rIns="0" bIns="0" anchor="t">
            <a:normAutofit/>
          </a:bodyPr>
          <a:lstStyle/>
          <a:p>
            <a:pPr marL="0" indent="0" algn="l">
              <a:lnSpc>
                <a:spcPct val="128000"/>
              </a:lnSpc>
              <a:buNone/>
            </a:pPr>
            <a:r>
              <a:rPr lang="en-US" sz="1800" b="0" kern="0" dirty="0">
                <a:solidFill>
                  <a:srgbClr val="1D1F20">
                    <a:alpha val="88000"/>
                  </a:srgbClr>
                </a:solidFill>
                <a:latin typeface="Barlow"/>
                <a:cs typeface="Barlow"/>
              </a:rPr>
              <a:t>{{suggestion_3_desc}}</a:t>
            </a:r>
          </a:p>
        </p:txBody>
      </p:sp>
      <p:sp>
        <p:nvSpPr>
          <p:cNvPr id="123" name="Shape 123"/>
          <p:cNvSpPr/>
          <p:nvPr/>
        </p:nvSpPr>
        <p:spPr>
          <a:xfrm>
            <a:off x="12446000" y="6273800"/>
            <a:ext cx="4572000" cy="12700"/>
          </a:xfrm>
          <a:prstGeom prst="rect">
            <a:avLst/>
          </a:prstGeom>
          <a:solidFill>
            <a:srgbClr val="1D1F20">
              <a:alpha val="25000"/>
            </a:srgbClr>
          </a:solidFill>
          <a:ln>
            <a:noFill/>
          </a:ln>
        </p:spPr>
        <p:txBody>
          <a:bodyPr/>
          <a:lstStyle/>
          <a:p>
            <a:endParaRPr/>
          </a:p>
        </p:txBody>
      </p:sp>
      <p:sp>
        <p:nvSpPr>
          <p:cNvPr id="124" name="Text 124"/>
          <p:cNvSpPr txBox="1"/>
          <p:nvPr/>
        </p:nvSpPr>
        <p:spPr>
          <a:xfrm>
            <a:off x="12446000" y="6502400"/>
            <a:ext cx="4572000" cy="431800"/>
          </a:xfrm>
          <a:prstGeom prst="rect">
            <a:avLst/>
          </a:prstGeom>
          <a:noFill/>
        </p:spPr>
        <p:txBody>
          <a:bodyPr wrap="square" lIns="0" tIns="0" rIns="0" bIns="0" anchor="t">
            <a:normAutofit/>
          </a:bodyPr>
          <a:lstStyle/>
          <a:p>
            <a:pPr marL="0" indent="0" algn="l">
              <a:buNone/>
            </a:pPr>
            <a:r>
              <a:rPr lang="en-US" sz="1800" b="1" kern="0" dirty="0">
                <a:solidFill>
                  <a:srgbClr val="2F7D3A"/>
                </a:solidFill>
                <a:latin typeface="Barlow"/>
                <a:cs typeface="Barlow"/>
              </a:rPr>
              <a:t>{{suggestion_3_outcome}}</a:t>
            </a:r>
          </a:p>
        </p:txBody>
      </p:sp>
      <p:sp>
        <p:nvSpPr>
          <p:cNvPr id="125" name="Shape 125"/>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26" name="Text 126"/>
          <p:cNvSpPr txBox="1"/>
          <p:nvPr/>
        </p:nvSpPr>
        <p:spPr>
          <a:xfrm>
            <a:off x="914400" y="7696200"/>
            <a:ext cx="2159000" cy="393700"/>
          </a:xfrm>
          <a:prstGeom prst="rect">
            <a:avLst/>
          </a:prstGeom>
          <a:noFill/>
        </p:spPr>
        <p:txBody>
          <a:bodyPr wrap="square" lIns="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27" name="Text 127"/>
          <p:cNvSpPr txBox="1"/>
          <p:nvPr/>
        </p:nvSpPr>
        <p:spPr>
          <a:xfrm>
            <a:off x="3276600" y="7658100"/>
            <a:ext cx="13246100" cy="774700"/>
          </a:xfrm>
          <a:prstGeom prst="rect">
            <a:avLst/>
          </a:prstGeom>
          <a:noFill/>
        </p:spPr>
        <p:txBody>
          <a:bodyPr wrap="square" lIns="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{{suggestions_comment}}</a:t>
            </a:r>
          </a:p>
        </p:txBody>
      </p:sp>
      <p:sp>
        <p:nvSpPr>
          <p:cNvPr id="128" name="Text 128"/>
          <p:cNvSpPr txBox="1"/>
          <p:nvPr/>
        </p:nvSpPr>
        <p:spPr>
          <a:xfrm>
            <a:off x="914400" y="9474200"/>
            <a:ext cx="5080000" cy="393700"/>
          </a:xfrm>
          <a:prstGeom prst="rect">
            <a:avLst/>
          </a:prstGeom>
          <a:noFill/>
        </p:spPr>
        <p:txBody>
          <a:bodyPr wrap="square" lIns="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9" name="Text 129"/>
          <p:cNvSpPr txBox="1"/>
          <p:nvPr/>
        </p:nvSpPr>
        <p:spPr>
          <a:xfrm>
            <a:off x="14833600" y="9474200"/>
            <a:ext cx="2540000" cy="393700"/>
          </a:xfrm>
          <a:prstGeom prst="rect">
            <a:avLst/>
          </a:prstGeom>
          <a:noFill/>
        </p:spPr>
        <p:txBody>
          <a:bodyPr wrap="none" lIns="0" tIns="0" rIns="0" bIns="0" anchor="t">
            <a:normAutofit/>
          </a:bodyPr>
          <a:lstStyle/>
          <a:p>
            <a:pPr marL="0" indent="0" algn="r">
              <a:buNone/>
            </a:pPr>
            <a:r>
              <a:rPr lang="en-US" sz="1600" b="0" kern="0" dirty="0">
                <a:solidFill>
                  <a:srgbClr val="2A3480"/>
                </a:solidFill>
                <a:latin typeface="Barlow"/>
                <a:cs typeface="Barlow"/>
              </a:rPr>
              <a:t>{{page_no}} / {{page_total}}</a:t>
            </a:r>
          </a:p>
        </p:txBody>
      </p:sp>
    </p:spTree>
    <p:extLst>
      <p:ext uri="{BB962C8B-B14F-4D97-AF65-F5344CB8AC3E}">
        <p14:creationId xmlns:p14="http://schemas.microsoft.com/office/powerpoint/2010/main" val="24041457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2F2F2">
            <a:alpha val="100000"/>
          </a:srgbClr>
        </a:solidFill>
        <a:effectLst/>
      </p:bgPr>
    </p:bg>
    <p:spTree>
      <p:nvGrpSpPr>
        <p:cNvPr id="1" name=""/>
        <p:cNvGrpSpPr/>
        <p:nvPr/>
      </p:nvGrpSpPr>
      <p:grpSpPr>
        <a:xfrm>
          <a:off x="0" y="0"/>
          <a:ext cx="0" cy="0"/>
          <a:chOff x="0" y="0"/>
          <a:chExt cx="0" cy="0"/>
        </a:xfrm>
      </p:grpSpPr>
      <p:sp>
        <p:nvSpPr>
          <p:cNvPr id="101" name="Text 101"/>
          <p:cNvSpPr txBox="1"/>
          <p:nvPr/>
        </p:nvSpPr>
        <p:spPr>
          <a:xfrm>
            <a:off x="914400" y="571500"/>
            <a:ext cx="11430000" cy="419100"/>
          </a:xfrm>
          <a:prstGeom prst="rect">
            <a:avLst/>
          </a:prstGeom>
          <a:noFill/>
        </p:spPr>
        <p:txBody>
          <a:bodyPr wrap="square" lIns="7200" tIns="0" rIns="0" bIns="0" anchor="t">
            <a:normAutofit/>
          </a:bodyPr>
          <a:lstStyle/>
          <a:p>
            <a:pPr marL="0" indent="0" algn="l">
              <a:buNone/>
            </a:pPr>
            <a:r>
              <a:rPr lang="en-US" sz="2100" b="1" kern="0" spc="390" dirty="0">
                <a:solidFill>
                  <a:srgbClr val="2A3480"/>
                </a:solidFill>
                <a:latin typeface="Barlow"/>
                <a:cs typeface="Barlow"/>
              </a:rPr>
              <a:t>CLIENT OUTCOMES</a:t>
            </a:r>
          </a:p>
        </p:txBody>
      </p:sp>
      <p:sp>
        <p:nvSpPr>
          <p:cNvPr id="102" name="Text 102"/>
          <p:cNvSpPr txBox="1"/>
          <p:nvPr/>
        </p:nvSpPr>
        <p:spPr>
          <a:xfrm>
            <a:off x="914400" y="1092200"/>
            <a:ext cx="16002000" cy="774700"/>
          </a:xfrm>
          <a:prstGeom prst="rect">
            <a:avLst/>
          </a:prstGeom>
          <a:noFill/>
        </p:spPr>
        <p:txBody>
          <a:bodyPr wrap="square" lIns="7200" tIns="0" rIns="0" bIns="0" anchor="t">
            <a:normAutofit fontScale="92500"/>
          </a:bodyPr>
          <a:lstStyle/>
          <a:p>
            <a:pPr marL="0" indent="0" algn="l">
              <a:lnSpc>
                <a:spcPct val="80000"/>
              </a:lnSpc>
              <a:buNone/>
            </a:pPr>
            <a:r>
              <a:rPr lang="en-US" sz="4400" b="1" kern="0" spc="-80" dirty="0">
                <a:solidFill>
                  <a:srgbClr val="1D1F20"/>
                </a:solidFill>
                <a:latin typeface="Barlow Condensed"/>
                <a:cs typeface="Barlow Condensed"/>
              </a:rPr>
              <a:t>{{outcomes_headline}}</a:t>
            </a:r>
          </a:p>
        </p:txBody>
      </p:sp>
      <p:sp>
        <p:nvSpPr>
          <p:cNvPr id="103" name="Shape 103"/>
          <p:cNvSpPr/>
          <p:nvPr/>
        </p:nvSpPr>
        <p:spPr>
          <a:xfrm>
            <a:off x="914400" y="2082800"/>
            <a:ext cx="16459200" cy="12700"/>
          </a:xfrm>
          <a:prstGeom prst="rect">
            <a:avLst/>
          </a:prstGeom>
          <a:solidFill>
            <a:srgbClr val="1D1F20">
              <a:alpha val="25000"/>
            </a:srgbClr>
          </a:solidFill>
          <a:ln>
            <a:noFill/>
          </a:ln>
        </p:spPr>
        <p:txBody>
          <a:bodyPr/>
          <a:lstStyle/>
          <a:p>
            <a:endParaRPr/>
          </a:p>
        </p:txBody>
      </p:sp>
      <p:sp>
        <p:nvSpPr>
          <p:cNvPr id="104" name="Text 104"/>
          <p:cNvSpPr txBox="1"/>
          <p:nvPr/>
        </p:nvSpPr>
        <p:spPr>
          <a:xfrm>
            <a:off x="914400" y="2489200"/>
            <a:ext cx="8890000" cy="381000"/>
          </a:xfrm>
          <a:prstGeom prst="rect">
            <a:avLst/>
          </a:prstGeom>
          <a:noFill/>
        </p:spPr>
        <p:txBody>
          <a:bodyPr wrap="square" lIns="7200" tIns="0" rIns="0" bIns="0" anchor="t">
            <a:normAutofit/>
          </a:bodyPr>
          <a:lstStyle/>
          <a:p>
            <a:pPr marL="0" indent="0" algn="l">
              <a:buNone/>
            </a:pPr>
            <a:r>
              <a:rPr lang="en-US" sz="1800" b="0" kern="0" dirty="0">
                <a:solidFill>
                  <a:srgbClr val="1D1F20">
                    <a:alpha val="80000"/>
                  </a:srgbClr>
                </a:solidFill>
                <a:latin typeface="Barlow"/>
                <a:cs typeface="Barlow"/>
              </a:rPr>
              <a:t>Retirement corpus at {{retirement_year}}, ₹ crore</a:t>
            </a:r>
          </a:p>
        </p:txBody>
      </p:sp>
      <p:sp>
        <p:nvSpPr>
          <p:cNvPr id="105" name="Shape 105"/>
          <p:cNvSpPr/>
          <p:nvPr/>
        </p:nvSpPr>
        <p:spPr>
          <a:xfrm>
            <a:off x="10363200" y="2489200"/>
            <a:ext cx="7010400" cy="4622800"/>
          </a:xfrm>
          <a:prstGeom prst="rect">
            <a:avLst/>
          </a:prstGeom>
          <a:noFill/>
          <a:ln w="9525">
            <a:solidFill>
              <a:srgbClr val="1D1F20">
                <a:alpha val="22000"/>
              </a:srgbClr>
            </a:solidFill>
          </a:ln>
        </p:spPr>
        <p:txBody>
          <a:bodyPr/>
          <a:lstStyle/>
          <a:p>
            <a:endParaRPr/>
          </a:p>
        </p:txBody>
      </p:sp>
      <p:sp>
        <p:nvSpPr>
          <p:cNvPr id="106" name="Shape 106"/>
          <p:cNvSpPr/>
          <p:nvPr/>
        </p:nvSpPr>
        <p:spPr>
          <a:xfrm>
            <a:off x="10363200" y="2489200"/>
            <a:ext cx="7010400" cy="63500"/>
          </a:xfrm>
          <a:prstGeom prst="rect">
            <a:avLst/>
          </a:prstGeom>
          <a:solidFill>
            <a:srgbClr val="2F7D3A"/>
          </a:solidFill>
          <a:ln>
            <a:noFill/>
          </a:ln>
        </p:spPr>
        <p:txBody>
          <a:bodyPr/>
          <a:lstStyle/>
          <a:p>
            <a:endParaRPr/>
          </a:p>
        </p:txBody>
      </p:sp>
      <p:sp>
        <p:nvSpPr>
          <p:cNvPr id="107" name="Text 107"/>
          <p:cNvSpPr txBox="1"/>
          <p:nvPr/>
        </p:nvSpPr>
        <p:spPr>
          <a:xfrm>
            <a:off x="10769600" y="2844800"/>
            <a:ext cx="6096000" cy="406400"/>
          </a:xfrm>
          <a:prstGeom prst="rect">
            <a:avLst/>
          </a:prstGeom>
          <a:noFill/>
        </p:spPr>
        <p:txBody>
          <a:bodyPr wrap="square" lIns="7200" tIns="0" rIns="0" bIns="0" anchor="t">
            <a:normAutofit/>
          </a:bodyPr>
          <a:lstStyle/>
          <a:p>
            <a:pPr marL="0" indent="0" algn="l">
              <a:buNone/>
            </a:pPr>
            <a:r>
              <a:rPr lang="en-US" sz="1700" b="1" kern="0" spc="300" dirty="0">
                <a:solidFill>
                  <a:srgbClr val="2A3480"/>
                </a:solidFill>
                <a:latin typeface="Barlow"/>
                <a:cs typeface="Barlow"/>
              </a:rPr>
              <a:t>WHAT CHANGES FOR THE FAMILY</a:t>
            </a:r>
          </a:p>
        </p:txBody>
      </p:sp>
      <p:sp>
        <p:nvSpPr>
          <p:cNvPr id="108" name="Shape 108"/>
          <p:cNvSpPr/>
          <p:nvPr/>
        </p:nvSpPr>
        <p:spPr>
          <a:xfrm>
            <a:off x="10769600" y="3556000"/>
            <a:ext cx="50800" cy="254000"/>
          </a:xfrm>
          <a:prstGeom prst="rect">
            <a:avLst/>
          </a:prstGeom>
          <a:solidFill>
            <a:srgbClr val="2F7D3A"/>
          </a:solidFill>
          <a:ln>
            <a:noFill/>
          </a:ln>
        </p:spPr>
        <p:txBody>
          <a:bodyPr/>
          <a:lstStyle/>
          <a:p>
            <a:endParaRPr/>
          </a:p>
        </p:txBody>
      </p:sp>
      <p:sp>
        <p:nvSpPr>
          <p:cNvPr id="109" name="Text 109"/>
          <p:cNvSpPr txBox="1"/>
          <p:nvPr/>
        </p:nvSpPr>
        <p:spPr>
          <a:xfrm>
            <a:off x="11023600" y="3454400"/>
            <a:ext cx="5842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Loan burden</a:t>
            </a:r>
          </a:p>
        </p:txBody>
      </p:sp>
      <p:sp>
        <p:nvSpPr>
          <p:cNvPr id="110" name="Text 110"/>
          <p:cNvSpPr txBox="1"/>
          <p:nvPr/>
        </p:nvSpPr>
        <p:spPr>
          <a:xfrm>
            <a:off x="11023600" y="3860800"/>
            <a:ext cx="5943600" cy="914400"/>
          </a:xfrm>
          <a:prstGeom prst="rect">
            <a:avLst/>
          </a:prstGeom>
          <a:noFill/>
        </p:spPr>
        <p:txBody>
          <a:bodyPr wrap="square" lIns="7200" tIns="0" rIns="0" bIns="0" anchor="t">
            <a:normAutofit/>
          </a:bodyPr>
          <a:lstStyle/>
          <a:p>
            <a:pPr marL="0" indent="0" algn="l">
              <a:lnSpc>
                <a:spcPct val="124000"/>
              </a:lnSpc>
              <a:buNone/>
            </a:pPr>
            <a:r>
              <a:rPr lang="en-US" sz="1700" b="0" kern="0" dirty="0">
                <a:solidFill>
                  <a:srgbClr val="1D1F20">
                    <a:alpha val="86000"/>
                  </a:srgbClr>
                </a:solidFill>
                <a:latin typeface="Barlow"/>
                <a:cs typeface="Barlow"/>
              </a:rPr>
              <a:t>{{outcome_loan_note}}</a:t>
            </a:r>
          </a:p>
        </p:txBody>
      </p:sp>
      <p:sp>
        <p:nvSpPr>
          <p:cNvPr id="111" name="Shape 111"/>
          <p:cNvSpPr/>
          <p:nvPr/>
        </p:nvSpPr>
        <p:spPr>
          <a:xfrm>
            <a:off x="10769600" y="4800600"/>
            <a:ext cx="50800" cy="254000"/>
          </a:xfrm>
          <a:prstGeom prst="rect">
            <a:avLst/>
          </a:prstGeom>
          <a:solidFill>
            <a:srgbClr val="2F7D3A"/>
          </a:solidFill>
          <a:ln>
            <a:noFill/>
          </a:ln>
        </p:spPr>
        <p:txBody>
          <a:bodyPr/>
          <a:lstStyle/>
          <a:p>
            <a:endParaRPr/>
          </a:p>
        </p:txBody>
      </p:sp>
      <p:sp>
        <p:nvSpPr>
          <p:cNvPr id="112" name="Text 112"/>
          <p:cNvSpPr txBox="1"/>
          <p:nvPr/>
        </p:nvSpPr>
        <p:spPr>
          <a:xfrm>
            <a:off x="11023600" y="4699000"/>
            <a:ext cx="5842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Protection</a:t>
            </a:r>
          </a:p>
        </p:txBody>
      </p:sp>
      <p:sp>
        <p:nvSpPr>
          <p:cNvPr id="113" name="Text 113"/>
          <p:cNvSpPr txBox="1"/>
          <p:nvPr/>
        </p:nvSpPr>
        <p:spPr>
          <a:xfrm>
            <a:off x="11023600" y="5105400"/>
            <a:ext cx="5943600" cy="914400"/>
          </a:xfrm>
          <a:prstGeom prst="rect">
            <a:avLst/>
          </a:prstGeom>
          <a:noFill/>
        </p:spPr>
        <p:txBody>
          <a:bodyPr wrap="square" lIns="7200" tIns="0" rIns="0" bIns="0" anchor="t">
            <a:normAutofit/>
          </a:bodyPr>
          <a:lstStyle/>
          <a:p>
            <a:pPr marL="0" indent="0" algn="l">
              <a:lnSpc>
                <a:spcPct val="124000"/>
              </a:lnSpc>
              <a:buNone/>
            </a:pPr>
            <a:r>
              <a:rPr lang="en-US" sz="1700" b="0" kern="0" dirty="0">
                <a:solidFill>
                  <a:srgbClr val="1D1F20">
                    <a:alpha val="86000"/>
                  </a:srgbClr>
                </a:solidFill>
                <a:latin typeface="Barlow"/>
                <a:cs typeface="Barlow"/>
              </a:rPr>
              <a:t>{{outcome_protection_note}}</a:t>
            </a:r>
          </a:p>
        </p:txBody>
      </p:sp>
      <p:sp>
        <p:nvSpPr>
          <p:cNvPr id="114" name="Shape 114"/>
          <p:cNvSpPr/>
          <p:nvPr/>
        </p:nvSpPr>
        <p:spPr>
          <a:xfrm>
            <a:off x="10769600" y="6045200"/>
            <a:ext cx="50800" cy="254000"/>
          </a:xfrm>
          <a:prstGeom prst="rect">
            <a:avLst/>
          </a:prstGeom>
          <a:solidFill>
            <a:srgbClr val="2F7D3A"/>
          </a:solidFill>
          <a:ln>
            <a:noFill/>
          </a:ln>
        </p:spPr>
        <p:txBody>
          <a:bodyPr/>
          <a:lstStyle/>
          <a:p>
            <a:endParaRPr/>
          </a:p>
        </p:txBody>
      </p:sp>
      <p:sp>
        <p:nvSpPr>
          <p:cNvPr id="115" name="Text 115"/>
          <p:cNvSpPr txBox="1"/>
          <p:nvPr/>
        </p:nvSpPr>
        <p:spPr>
          <a:xfrm>
            <a:off x="11023600" y="5943600"/>
            <a:ext cx="5842000" cy="381000"/>
          </a:xfrm>
          <a:prstGeom prst="rect">
            <a:avLst/>
          </a:prstGeom>
          <a:noFill/>
        </p:spPr>
        <p:txBody>
          <a:bodyPr wrap="square" lIns="7200" tIns="0" rIns="0" bIns="0" anchor="t">
            <a:normAutofit/>
          </a:bodyPr>
          <a:lstStyle/>
          <a:p>
            <a:pPr marL="0" indent="0" algn="l">
              <a:buNone/>
            </a:pPr>
            <a:r>
              <a:rPr lang="en-US" sz="2100" b="1" kern="0" dirty="0">
                <a:solidFill>
                  <a:srgbClr val="1D1F20"/>
                </a:solidFill>
                <a:latin typeface="Barlow"/>
                <a:cs typeface="Barlow"/>
              </a:rPr>
              <a:t>Goal alignment</a:t>
            </a:r>
          </a:p>
        </p:txBody>
      </p:sp>
      <p:sp>
        <p:nvSpPr>
          <p:cNvPr id="116" name="Text 116"/>
          <p:cNvSpPr txBox="1"/>
          <p:nvPr/>
        </p:nvSpPr>
        <p:spPr>
          <a:xfrm>
            <a:off x="11023600" y="6350000"/>
            <a:ext cx="5943600" cy="914400"/>
          </a:xfrm>
          <a:prstGeom prst="rect">
            <a:avLst/>
          </a:prstGeom>
          <a:noFill/>
        </p:spPr>
        <p:txBody>
          <a:bodyPr wrap="square" lIns="7200" tIns="0" rIns="0" bIns="0" anchor="t">
            <a:normAutofit/>
          </a:bodyPr>
          <a:lstStyle/>
          <a:p>
            <a:pPr marL="0" indent="0" algn="l">
              <a:lnSpc>
                <a:spcPct val="124000"/>
              </a:lnSpc>
              <a:buNone/>
            </a:pPr>
            <a:r>
              <a:rPr lang="en-US" sz="1700" b="0" kern="0" dirty="0">
                <a:solidFill>
                  <a:srgbClr val="1D1F20">
                    <a:alpha val="86000"/>
                  </a:srgbClr>
                </a:solidFill>
                <a:latin typeface="Barlow"/>
                <a:cs typeface="Barlow"/>
              </a:rPr>
              <a:t>{{outcome_goals_note}}</a:t>
            </a:r>
          </a:p>
        </p:txBody>
      </p:sp>
      <p:sp>
        <p:nvSpPr>
          <p:cNvPr id="117" name="Shape 117"/>
          <p:cNvSpPr/>
          <p:nvPr/>
        </p:nvSpPr>
        <p:spPr>
          <a:xfrm>
            <a:off x="914400" y="7454900"/>
            <a:ext cx="16459200" cy="12700"/>
          </a:xfrm>
          <a:prstGeom prst="rect">
            <a:avLst/>
          </a:prstGeom>
          <a:solidFill>
            <a:srgbClr val="1D1F20">
              <a:alpha val="25000"/>
            </a:srgbClr>
          </a:solidFill>
          <a:ln>
            <a:noFill/>
          </a:ln>
        </p:spPr>
        <p:txBody>
          <a:bodyPr/>
          <a:lstStyle/>
          <a:p>
            <a:endParaRPr/>
          </a:p>
        </p:txBody>
      </p:sp>
      <p:sp>
        <p:nvSpPr>
          <p:cNvPr id="118" name="Text 118"/>
          <p:cNvSpPr txBox="1"/>
          <p:nvPr/>
        </p:nvSpPr>
        <p:spPr>
          <a:xfrm>
            <a:off x="914400" y="7696200"/>
            <a:ext cx="2159000" cy="393700"/>
          </a:xfrm>
          <a:prstGeom prst="rect">
            <a:avLst/>
          </a:prstGeom>
          <a:noFill/>
        </p:spPr>
        <p:txBody>
          <a:bodyPr wrap="square" lIns="7200" tIns="0" rIns="0" bIns="0" anchor="t">
            <a:normAutofit/>
          </a:bodyPr>
          <a:lstStyle/>
          <a:p>
            <a:pPr marL="0" indent="0" algn="l">
              <a:buNone/>
            </a:pPr>
            <a:r>
              <a:rPr lang="en-US" sz="1600" b="1" kern="0" spc="300" dirty="0">
                <a:solidFill>
                  <a:srgbClr val="2A3480"/>
                </a:solidFill>
                <a:latin typeface="Barlow"/>
                <a:cs typeface="Barlow"/>
              </a:rPr>
              <a:t>COMMENTARY</a:t>
            </a:r>
          </a:p>
        </p:txBody>
      </p:sp>
      <p:sp>
        <p:nvSpPr>
          <p:cNvPr id="119" name="Text 119"/>
          <p:cNvSpPr txBox="1"/>
          <p:nvPr/>
        </p:nvSpPr>
        <p:spPr>
          <a:xfrm>
            <a:off x="3276600" y="7658100"/>
            <a:ext cx="13246100" cy="7747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1D1F20">
                    <a:alpha val="90000"/>
                  </a:srgbClr>
                </a:solidFill>
                <a:latin typeface="Barlow"/>
                <a:cs typeface="Barlow"/>
              </a:rPr>
              <a:t>{{outcomes_comment}}</a:t>
            </a:r>
          </a:p>
        </p:txBody>
      </p:sp>
      <p:sp>
        <p:nvSpPr>
          <p:cNvPr id="120" name="Text 120"/>
          <p:cNvSpPr txBox="1"/>
          <p:nvPr/>
        </p:nvSpPr>
        <p:spPr>
          <a:xfrm>
            <a:off x="914400" y="9474200"/>
            <a:ext cx="5080000" cy="393700"/>
          </a:xfrm>
          <a:prstGeom prst="rect">
            <a:avLst/>
          </a:prstGeom>
          <a:noFill/>
        </p:spPr>
        <p:txBody>
          <a:bodyPr wrap="square" lIns="7200" tIns="0" rIns="0" bIns="0" anchor="t">
            <a:normAutofit/>
          </a:bodyPr>
          <a:lstStyle/>
          <a:p>
            <a:pPr marL="0" indent="0" algn="l">
              <a:buNone/>
            </a:pPr>
            <a:r>
              <a:rPr lang="en-US" sz="1600" b="0" kern="0" dirty="0">
                <a:solidFill>
                  <a:srgbClr val="1D1F20">
                    <a:alpha val="70000"/>
                  </a:srgbClr>
                </a:solidFill>
                <a:latin typeface="Barlow"/>
                <a:cs typeface="Barlow"/>
              </a:rPr>
              <a:t>Armstrong Capital · Goal Based Planning</a:t>
            </a:r>
          </a:p>
        </p:txBody>
      </p:sp>
      <p:sp>
        <p:nvSpPr>
          <p:cNvPr id="121" name="Text 121"/>
          <p:cNvSpPr txBox="1"/>
          <p:nvPr/>
        </p:nvSpPr>
        <p:spPr>
          <a:xfrm>
            <a:off x="14833600" y="9474200"/>
            <a:ext cx="2540000" cy="393700"/>
          </a:xfrm>
          <a:prstGeom prst="rect">
            <a:avLst/>
          </a:prstGeom>
          <a:noFill/>
        </p:spPr>
        <p:txBody>
          <a:bodyPr wrap="none" lIns="7200" tIns="0" rIns="0" bIns="0" anchor="t">
            <a:normAutofit/>
          </a:bodyPr>
          <a:lstStyle/>
          <a:p>
            <a:pPr marL="0" indent="0" algn="r">
              <a:buNone/>
            </a:pPr>
            <a:r>
              <a:rPr lang="en-US" sz="1600" b="0" kern="0" dirty="0">
                <a:solidFill>
                  <a:srgbClr val="2A3480"/>
                </a:solidFill>
                <a:latin typeface="Barlow"/>
                <a:cs typeface="Barlow"/>
              </a:rPr>
              <a:t>{{page_no}} / {{page_total}}</a:t>
            </a:r>
          </a:p>
        </p:txBody>
      </p:sp>
      <p:graphicFrame>
        <p:nvGraphicFramePr>
          <p:cNvPr id="122" name="Chart"/>
          <p:cNvGraphicFramePr/>
          <p:nvPr/>
        </p:nvGraphicFramePr>
        <p:xfrm>
          <a:off x="914400" y="2921000"/>
          <a:ext cx="8763000" cy="447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499732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41A45"/>
        </a:solidFill>
        <a:effectLst/>
      </p:bgPr>
    </p:bg>
    <p:spTree>
      <p:nvGrpSpPr>
        <p:cNvPr id="1" name="">
          <a:extLst>
            <a:ext uri="{FF2B5EF4-FFF2-40B4-BE49-F238E27FC236}">
              <a16:creationId xmlns:a16="http://schemas.microsoft.com/office/drawing/2014/main" id="{96ECB30C-F497-991A-CE9F-D1B0C2F5B9CD}"/>
            </a:ext>
          </a:extLst>
        </p:cNvPr>
        <p:cNvGrpSpPr/>
        <p:nvPr/>
      </p:nvGrpSpPr>
      <p:grpSpPr>
        <a:xfrm>
          <a:off x="0" y="0"/>
          <a:ext cx="0" cy="0"/>
          <a:chOff x="0" y="0"/>
          <a:chExt cx="0" cy="0"/>
        </a:xfrm>
      </p:grpSpPr>
      <p:sp>
        <p:nvSpPr>
          <p:cNvPr id="3" name="Text 103">
            <a:extLst>
              <a:ext uri="{FF2B5EF4-FFF2-40B4-BE49-F238E27FC236}">
                <a16:creationId xmlns:a16="http://schemas.microsoft.com/office/drawing/2014/main" id="{58AD2B26-CCBA-108D-BC42-7F0190C5C4BD}"/>
              </a:ext>
            </a:extLst>
          </p:cNvPr>
          <p:cNvSpPr txBox="1"/>
          <p:nvPr/>
        </p:nvSpPr>
        <p:spPr>
          <a:xfrm>
            <a:off x="1676400" y="914400"/>
            <a:ext cx="8890000" cy="419100"/>
          </a:xfrm>
          <a:prstGeom prst="rect">
            <a:avLst/>
          </a:prstGeom>
          <a:noFill/>
        </p:spPr>
        <p:txBody>
          <a:bodyPr wrap="square" lIns="7200" tIns="0" rIns="0" bIns="0" anchor="t">
            <a:normAutofit/>
          </a:bodyPr>
          <a:lstStyle/>
          <a:p>
            <a:pPr marL="0" indent="0" algn="l">
              <a:buNone/>
            </a:pPr>
            <a:r>
              <a:rPr lang="en-US" sz="2100" b="1" kern="0" spc="390" dirty="0">
                <a:solidFill>
                  <a:srgbClr val="55B37A"/>
                </a:solidFill>
                <a:latin typeface="Barlow"/>
                <a:cs typeface="Barlow"/>
              </a:rPr>
              <a:t>IN SUMMARY</a:t>
            </a:r>
          </a:p>
        </p:txBody>
      </p:sp>
      <p:sp>
        <p:nvSpPr>
          <p:cNvPr id="5" name="Text 104">
            <a:extLst>
              <a:ext uri="{FF2B5EF4-FFF2-40B4-BE49-F238E27FC236}">
                <a16:creationId xmlns:a16="http://schemas.microsoft.com/office/drawing/2014/main" id="{B8C9FDC0-C7FC-6E0B-5210-DAFDA37A39EC}"/>
              </a:ext>
            </a:extLst>
          </p:cNvPr>
          <p:cNvSpPr txBox="1"/>
          <p:nvPr/>
        </p:nvSpPr>
        <p:spPr>
          <a:xfrm>
            <a:off x="1676400" y="1422400"/>
            <a:ext cx="11430000" cy="889000"/>
          </a:xfrm>
          <a:prstGeom prst="rect">
            <a:avLst/>
          </a:prstGeom>
          <a:noFill/>
        </p:spPr>
        <p:txBody>
          <a:bodyPr wrap="square" lIns="7200" tIns="0" rIns="0" bIns="0" anchor="t">
            <a:normAutofit/>
          </a:bodyPr>
          <a:lstStyle/>
          <a:p>
            <a:pPr marL="0" indent="0" algn="l">
              <a:lnSpc>
                <a:spcPct val="80000"/>
              </a:lnSpc>
              <a:buNone/>
            </a:pPr>
            <a:r>
              <a:rPr lang="en-US" sz="6000" b="1" kern="0" spc="-120" dirty="0">
                <a:solidFill>
                  <a:srgbClr val="FFFFFF"/>
                </a:solidFill>
                <a:latin typeface="Barlow Condensed"/>
                <a:cs typeface="Barlow Condensed"/>
              </a:rPr>
              <a:t>Key Takeaways</a:t>
            </a:r>
          </a:p>
        </p:txBody>
      </p:sp>
      <p:sp>
        <p:nvSpPr>
          <p:cNvPr id="7" name="Shape 105">
            <a:extLst>
              <a:ext uri="{FF2B5EF4-FFF2-40B4-BE49-F238E27FC236}">
                <a16:creationId xmlns:a16="http://schemas.microsoft.com/office/drawing/2014/main" id="{847115A2-8A25-E221-A3D6-158AFB49BDD9}"/>
              </a:ext>
            </a:extLst>
          </p:cNvPr>
          <p:cNvSpPr/>
          <p:nvPr/>
        </p:nvSpPr>
        <p:spPr>
          <a:xfrm>
            <a:off x="1676400" y="2641600"/>
            <a:ext cx="14935200" cy="12700"/>
          </a:xfrm>
          <a:prstGeom prst="rect">
            <a:avLst/>
          </a:prstGeom>
          <a:solidFill>
            <a:srgbClr val="FFFFFF">
              <a:alpha val="28000"/>
            </a:srgbClr>
          </a:solidFill>
          <a:ln>
            <a:noFill/>
          </a:ln>
        </p:spPr>
        <p:txBody>
          <a:bodyPr/>
          <a:lstStyle/>
          <a:p>
            <a:endParaRPr/>
          </a:p>
        </p:txBody>
      </p:sp>
      <p:sp>
        <p:nvSpPr>
          <p:cNvPr id="10" name="Text 106">
            <a:extLst>
              <a:ext uri="{FF2B5EF4-FFF2-40B4-BE49-F238E27FC236}">
                <a16:creationId xmlns:a16="http://schemas.microsoft.com/office/drawing/2014/main" id="{86DBC6E7-673E-99C0-D264-4E0159EB8B6B}"/>
              </a:ext>
            </a:extLst>
          </p:cNvPr>
          <p:cNvSpPr txBox="1"/>
          <p:nvPr/>
        </p:nvSpPr>
        <p:spPr>
          <a:xfrm>
            <a:off x="1676400" y="3200400"/>
            <a:ext cx="889000" cy="558800"/>
          </a:xfrm>
          <a:prstGeom prst="rect">
            <a:avLst/>
          </a:prstGeom>
          <a:noFill/>
        </p:spPr>
        <p:txBody>
          <a:bodyPr wrap="square" lIns="7200" tIns="0" rIns="0" bIns="0" anchor="t">
            <a:normAutofit/>
          </a:bodyPr>
          <a:lstStyle/>
          <a:p>
            <a:pPr marL="0" indent="0" algn="l">
              <a:buNone/>
            </a:pPr>
            <a:r>
              <a:rPr lang="en-US" sz="3000" b="1" kern="0" dirty="0">
                <a:solidFill>
                  <a:srgbClr val="55B37A"/>
                </a:solidFill>
                <a:latin typeface="Barlow Condensed"/>
                <a:cs typeface="Barlow Condensed"/>
              </a:rPr>
              <a:t>01</a:t>
            </a:r>
          </a:p>
        </p:txBody>
      </p:sp>
      <p:sp>
        <p:nvSpPr>
          <p:cNvPr id="13" name="Text 107">
            <a:extLst>
              <a:ext uri="{FF2B5EF4-FFF2-40B4-BE49-F238E27FC236}">
                <a16:creationId xmlns:a16="http://schemas.microsoft.com/office/drawing/2014/main" id="{EF778F97-C29B-0EFD-330A-3B2CB7971A7B}"/>
              </a:ext>
            </a:extLst>
          </p:cNvPr>
          <p:cNvSpPr txBox="1"/>
          <p:nvPr/>
        </p:nvSpPr>
        <p:spPr>
          <a:xfrm>
            <a:off x="2743200" y="3149600"/>
            <a:ext cx="13970000" cy="482600"/>
          </a:xfrm>
          <a:prstGeom prst="rect">
            <a:avLst/>
          </a:prstGeom>
          <a:noFill/>
        </p:spPr>
        <p:txBody>
          <a:bodyPr wrap="square" lIns="7200" tIns="0" rIns="0" bIns="0" anchor="t">
            <a:normAutofit/>
          </a:bodyPr>
          <a:lstStyle/>
          <a:p>
            <a:pPr marL="0" indent="0" algn="l">
              <a:buNone/>
            </a:pPr>
            <a:r>
              <a:rPr lang="en-US" sz="2800" b="1" kern="0" spc="-20" dirty="0">
                <a:solidFill>
                  <a:srgbClr val="FFFFFF"/>
                </a:solidFill>
                <a:latin typeface="Barlow Condensed"/>
                <a:cs typeface="Barlow Condensed"/>
              </a:rPr>
              <a:t>{{takeaway_1_title}}</a:t>
            </a:r>
          </a:p>
        </p:txBody>
      </p:sp>
      <p:sp>
        <p:nvSpPr>
          <p:cNvPr id="15" name="Text 108">
            <a:extLst>
              <a:ext uri="{FF2B5EF4-FFF2-40B4-BE49-F238E27FC236}">
                <a16:creationId xmlns:a16="http://schemas.microsoft.com/office/drawing/2014/main" id="{BDAB55E0-2B27-68BB-2E63-ED14DFF52BA5}"/>
              </a:ext>
            </a:extLst>
          </p:cNvPr>
          <p:cNvSpPr txBox="1"/>
          <p:nvPr/>
        </p:nvSpPr>
        <p:spPr>
          <a:xfrm>
            <a:off x="2743200" y="3657600"/>
            <a:ext cx="13970000" cy="406400"/>
          </a:xfrm>
          <a:prstGeom prst="rect">
            <a:avLst/>
          </a:prstGeom>
          <a:noFill/>
        </p:spPr>
        <p:txBody>
          <a:bodyPr wrap="square" lIns="7200" tIns="0" rIns="0" bIns="0" anchor="t">
            <a:normAutofit/>
          </a:bodyPr>
          <a:lstStyle/>
          <a:p>
            <a:pPr marL="0" indent="0" algn="l">
              <a:buNone/>
            </a:pPr>
            <a:r>
              <a:rPr lang="en-US" sz="1900" b="0" kern="0" dirty="0">
                <a:solidFill>
                  <a:srgbClr val="B9C0DF"/>
                </a:solidFill>
                <a:latin typeface="Barlow"/>
                <a:cs typeface="Barlow"/>
              </a:rPr>
              <a:t>{{takeaway_1_desc}}</a:t>
            </a:r>
          </a:p>
        </p:txBody>
      </p:sp>
      <p:sp>
        <p:nvSpPr>
          <p:cNvPr id="18" name="Text 109">
            <a:extLst>
              <a:ext uri="{FF2B5EF4-FFF2-40B4-BE49-F238E27FC236}">
                <a16:creationId xmlns:a16="http://schemas.microsoft.com/office/drawing/2014/main" id="{26A47108-334E-A4E1-8808-5E4C5EF5FB0E}"/>
              </a:ext>
            </a:extLst>
          </p:cNvPr>
          <p:cNvSpPr txBox="1"/>
          <p:nvPr/>
        </p:nvSpPr>
        <p:spPr>
          <a:xfrm>
            <a:off x="1676400" y="4419600"/>
            <a:ext cx="889000" cy="558800"/>
          </a:xfrm>
          <a:prstGeom prst="rect">
            <a:avLst/>
          </a:prstGeom>
          <a:noFill/>
        </p:spPr>
        <p:txBody>
          <a:bodyPr wrap="square" lIns="7200" tIns="0" rIns="0" bIns="0" anchor="t">
            <a:normAutofit/>
          </a:bodyPr>
          <a:lstStyle/>
          <a:p>
            <a:pPr marL="0" indent="0" algn="l">
              <a:buNone/>
            </a:pPr>
            <a:r>
              <a:rPr lang="en-US" sz="3000" b="1" kern="0" dirty="0">
                <a:solidFill>
                  <a:srgbClr val="55B37A"/>
                </a:solidFill>
                <a:latin typeface="Barlow Condensed"/>
                <a:cs typeface="Barlow Condensed"/>
              </a:rPr>
              <a:t>02</a:t>
            </a:r>
          </a:p>
        </p:txBody>
      </p:sp>
      <p:sp>
        <p:nvSpPr>
          <p:cNvPr id="21" name="Text 110">
            <a:extLst>
              <a:ext uri="{FF2B5EF4-FFF2-40B4-BE49-F238E27FC236}">
                <a16:creationId xmlns:a16="http://schemas.microsoft.com/office/drawing/2014/main" id="{B61899B0-C96D-D3C7-BC7D-0F4D1E9ADEB0}"/>
              </a:ext>
            </a:extLst>
          </p:cNvPr>
          <p:cNvSpPr txBox="1"/>
          <p:nvPr/>
        </p:nvSpPr>
        <p:spPr>
          <a:xfrm>
            <a:off x="2743200" y="4368800"/>
            <a:ext cx="13970000" cy="482600"/>
          </a:xfrm>
          <a:prstGeom prst="rect">
            <a:avLst/>
          </a:prstGeom>
          <a:noFill/>
        </p:spPr>
        <p:txBody>
          <a:bodyPr wrap="square" lIns="7200" tIns="0" rIns="0" bIns="0" anchor="t">
            <a:normAutofit/>
          </a:bodyPr>
          <a:lstStyle/>
          <a:p>
            <a:pPr marL="0" indent="0" algn="l">
              <a:buNone/>
            </a:pPr>
            <a:r>
              <a:rPr lang="en-US" sz="2800" b="1" kern="0" spc="-20" dirty="0">
                <a:solidFill>
                  <a:srgbClr val="FFFFFF"/>
                </a:solidFill>
                <a:latin typeface="Barlow Condensed"/>
                <a:cs typeface="Barlow Condensed"/>
              </a:rPr>
              <a:t>{{takeaway_2_title}}</a:t>
            </a:r>
          </a:p>
        </p:txBody>
      </p:sp>
      <p:sp>
        <p:nvSpPr>
          <p:cNvPr id="25" name="Text 111">
            <a:extLst>
              <a:ext uri="{FF2B5EF4-FFF2-40B4-BE49-F238E27FC236}">
                <a16:creationId xmlns:a16="http://schemas.microsoft.com/office/drawing/2014/main" id="{F73B943F-06A9-BA6C-E6CE-0D5A1DF5CFA7}"/>
              </a:ext>
            </a:extLst>
          </p:cNvPr>
          <p:cNvSpPr txBox="1"/>
          <p:nvPr/>
        </p:nvSpPr>
        <p:spPr>
          <a:xfrm>
            <a:off x="2743200" y="4876800"/>
            <a:ext cx="13970000" cy="406400"/>
          </a:xfrm>
          <a:prstGeom prst="rect">
            <a:avLst/>
          </a:prstGeom>
          <a:noFill/>
        </p:spPr>
        <p:txBody>
          <a:bodyPr wrap="square" lIns="7200" tIns="0" rIns="0" bIns="0" anchor="t">
            <a:normAutofit/>
          </a:bodyPr>
          <a:lstStyle/>
          <a:p>
            <a:pPr marL="0" indent="0" algn="l">
              <a:buNone/>
            </a:pPr>
            <a:r>
              <a:rPr lang="en-US" sz="1900" b="0" kern="0" dirty="0">
                <a:solidFill>
                  <a:srgbClr val="B9C0DF"/>
                </a:solidFill>
                <a:latin typeface="Barlow"/>
                <a:cs typeface="Barlow"/>
              </a:rPr>
              <a:t>{{takeaway_2_desc}}</a:t>
            </a:r>
          </a:p>
        </p:txBody>
      </p:sp>
      <p:sp>
        <p:nvSpPr>
          <p:cNvPr id="28" name="Text 112">
            <a:extLst>
              <a:ext uri="{FF2B5EF4-FFF2-40B4-BE49-F238E27FC236}">
                <a16:creationId xmlns:a16="http://schemas.microsoft.com/office/drawing/2014/main" id="{1E3A19F4-963E-E14B-A068-06C44DA2EDC8}"/>
              </a:ext>
            </a:extLst>
          </p:cNvPr>
          <p:cNvSpPr txBox="1"/>
          <p:nvPr/>
        </p:nvSpPr>
        <p:spPr>
          <a:xfrm>
            <a:off x="1676400" y="5638800"/>
            <a:ext cx="889000" cy="558800"/>
          </a:xfrm>
          <a:prstGeom prst="rect">
            <a:avLst/>
          </a:prstGeom>
          <a:noFill/>
        </p:spPr>
        <p:txBody>
          <a:bodyPr wrap="square" lIns="7200" tIns="0" rIns="0" bIns="0" anchor="t">
            <a:normAutofit/>
          </a:bodyPr>
          <a:lstStyle/>
          <a:p>
            <a:pPr marL="0" indent="0" algn="l">
              <a:buNone/>
            </a:pPr>
            <a:r>
              <a:rPr lang="en-US" sz="3000" b="1" kern="0" dirty="0">
                <a:solidFill>
                  <a:srgbClr val="55B37A"/>
                </a:solidFill>
                <a:latin typeface="Barlow Condensed"/>
                <a:cs typeface="Barlow Condensed"/>
              </a:rPr>
              <a:t>03</a:t>
            </a:r>
          </a:p>
        </p:txBody>
      </p:sp>
      <p:sp>
        <p:nvSpPr>
          <p:cNvPr id="31" name="Text 113">
            <a:extLst>
              <a:ext uri="{FF2B5EF4-FFF2-40B4-BE49-F238E27FC236}">
                <a16:creationId xmlns:a16="http://schemas.microsoft.com/office/drawing/2014/main" id="{30A2A8C3-33A7-5FCD-FB85-D1879E6FFCEB}"/>
              </a:ext>
            </a:extLst>
          </p:cNvPr>
          <p:cNvSpPr txBox="1"/>
          <p:nvPr/>
        </p:nvSpPr>
        <p:spPr>
          <a:xfrm>
            <a:off x="2743200" y="5588000"/>
            <a:ext cx="13970000" cy="482600"/>
          </a:xfrm>
          <a:prstGeom prst="rect">
            <a:avLst/>
          </a:prstGeom>
          <a:noFill/>
        </p:spPr>
        <p:txBody>
          <a:bodyPr wrap="square" lIns="7200" tIns="0" rIns="0" bIns="0" anchor="t">
            <a:normAutofit/>
          </a:bodyPr>
          <a:lstStyle/>
          <a:p>
            <a:pPr marL="0" indent="0" algn="l">
              <a:buNone/>
            </a:pPr>
            <a:r>
              <a:rPr lang="en-US" sz="2800" b="1" kern="0" spc="-20" dirty="0">
                <a:solidFill>
                  <a:srgbClr val="FFFFFF"/>
                </a:solidFill>
                <a:latin typeface="Barlow Condensed"/>
                <a:cs typeface="Barlow Condensed"/>
              </a:rPr>
              <a:t>{{takeaway_3_title}}</a:t>
            </a:r>
          </a:p>
        </p:txBody>
      </p:sp>
      <p:sp>
        <p:nvSpPr>
          <p:cNvPr id="35" name="Text 114">
            <a:extLst>
              <a:ext uri="{FF2B5EF4-FFF2-40B4-BE49-F238E27FC236}">
                <a16:creationId xmlns:a16="http://schemas.microsoft.com/office/drawing/2014/main" id="{7B772C38-BC2E-C5A6-DFE6-D5EB9FA52037}"/>
              </a:ext>
            </a:extLst>
          </p:cNvPr>
          <p:cNvSpPr txBox="1"/>
          <p:nvPr/>
        </p:nvSpPr>
        <p:spPr>
          <a:xfrm>
            <a:off x="2743200" y="6096000"/>
            <a:ext cx="13970000" cy="406400"/>
          </a:xfrm>
          <a:prstGeom prst="rect">
            <a:avLst/>
          </a:prstGeom>
          <a:noFill/>
        </p:spPr>
        <p:txBody>
          <a:bodyPr wrap="square" lIns="7200" tIns="0" rIns="0" bIns="0" anchor="t">
            <a:normAutofit/>
          </a:bodyPr>
          <a:lstStyle/>
          <a:p>
            <a:pPr marL="0" indent="0" algn="l">
              <a:buNone/>
            </a:pPr>
            <a:r>
              <a:rPr lang="en-US" sz="1900" b="0" kern="0" dirty="0">
                <a:solidFill>
                  <a:srgbClr val="B9C0DF"/>
                </a:solidFill>
                <a:latin typeface="Barlow"/>
                <a:cs typeface="Barlow"/>
              </a:rPr>
              <a:t>{{takeaway_3_desc}}</a:t>
            </a:r>
          </a:p>
        </p:txBody>
      </p:sp>
      <p:sp>
        <p:nvSpPr>
          <p:cNvPr id="39" name="Text 115">
            <a:extLst>
              <a:ext uri="{FF2B5EF4-FFF2-40B4-BE49-F238E27FC236}">
                <a16:creationId xmlns:a16="http://schemas.microsoft.com/office/drawing/2014/main" id="{77C86B58-0179-A829-9C65-076F356E9CA7}"/>
              </a:ext>
            </a:extLst>
          </p:cNvPr>
          <p:cNvSpPr txBox="1"/>
          <p:nvPr/>
        </p:nvSpPr>
        <p:spPr>
          <a:xfrm>
            <a:off x="1676400" y="6858000"/>
            <a:ext cx="889000" cy="558800"/>
          </a:xfrm>
          <a:prstGeom prst="rect">
            <a:avLst/>
          </a:prstGeom>
          <a:noFill/>
        </p:spPr>
        <p:txBody>
          <a:bodyPr wrap="square" lIns="7200" tIns="0" rIns="0" bIns="0" anchor="t">
            <a:normAutofit/>
          </a:bodyPr>
          <a:lstStyle/>
          <a:p>
            <a:pPr marL="0" indent="0" algn="l">
              <a:buNone/>
            </a:pPr>
            <a:r>
              <a:rPr lang="en-US" sz="3000" b="1" kern="0" dirty="0">
                <a:solidFill>
                  <a:srgbClr val="55B37A"/>
                </a:solidFill>
                <a:latin typeface="Barlow Condensed"/>
                <a:cs typeface="Barlow Condensed"/>
              </a:rPr>
              <a:t>04</a:t>
            </a:r>
          </a:p>
        </p:txBody>
      </p:sp>
      <p:sp>
        <p:nvSpPr>
          <p:cNvPr id="41" name="Text 116">
            <a:extLst>
              <a:ext uri="{FF2B5EF4-FFF2-40B4-BE49-F238E27FC236}">
                <a16:creationId xmlns:a16="http://schemas.microsoft.com/office/drawing/2014/main" id="{8F79C2F8-22F6-3F5D-95DF-B3F1B10855BB}"/>
              </a:ext>
            </a:extLst>
          </p:cNvPr>
          <p:cNvSpPr txBox="1"/>
          <p:nvPr/>
        </p:nvSpPr>
        <p:spPr>
          <a:xfrm>
            <a:off x="2743200" y="6807200"/>
            <a:ext cx="13970000" cy="482600"/>
          </a:xfrm>
          <a:prstGeom prst="rect">
            <a:avLst/>
          </a:prstGeom>
          <a:noFill/>
        </p:spPr>
        <p:txBody>
          <a:bodyPr wrap="square" lIns="7200" tIns="0" rIns="0" bIns="0" anchor="t">
            <a:normAutofit/>
          </a:bodyPr>
          <a:lstStyle/>
          <a:p>
            <a:pPr marL="0" indent="0" algn="l">
              <a:buNone/>
            </a:pPr>
            <a:r>
              <a:rPr lang="en-US" sz="2800" b="1" kern="0" spc="-20" dirty="0">
                <a:solidFill>
                  <a:srgbClr val="FFFFFF"/>
                </a:solidFill>
                <a:latin typeface="Barlow Condensed"/>
                <a:cs typeface="Barlow Condensed"/>
              </a:rPr>
              <a:t>{{takeaway_4_title}}</a:t>
            </a:r>
          </a:p>
        </p:txBody>
      </p:sp>
      <p:sp>
        <p:nvSpPr>
          <p:cNvPr id="43" name="Text 117">
            <a:extLst>
              <a:ext uri="{FF2B5EF4-FFF2-40B4-BE49-F238E27FC236}">
                <a16:creationId xmlns:a16="http://schemas.microsoft.com/office/drawing/2014/main" id="{6CE2CD2D-2195-ACBC-B97C-DE49B3AC7482}"/>
              </a:ext>
            </a:extLst>
          </p:cNvPr>
          <p:cNvSpPr txBox="1"/>
          <p:nvPr/>
        </p:nvSpPr>
        <p:spPr>
          <a:xfrm>
            <a:off x="2743200" y="7315200"/>
            <a:ext cx="13970000" cy="406400"/>
          </a:xfrm>
          <a:prstGeom prst="rect">
            <a:avLst/>
          </a:prstGeom>
          <a:noFill/>
        </p:spPr>
        <p:txBody>
          <a:bodyPr wrap="square" lIns="7200" tIns="0" rIns="0" bIns="0" anchor="t">
            <a:normAutofit/>
          </a:bodyPr>
          <a:lstStyle/>
          <a:p>
            <a:pPr marL="0" indent="0" algn="l">
              <a:buNone/>
            </a:pPr>
            <a:r>
              <a:rPr lang="en-US" sz="1900" b="0" kern="0" dirty="0">
                <a:solidFill>
                  <a:srgbClr val="B9C0DF"/>
                </a:solidFill>
                <a:latin typeface="Barlow"/>
                <a:cs typeface="Barlow"/>
              </a:rPr>
              <a:t>{{takeaway_4_desc}}</a:t>
            </a:r>
          </a:p>
        </p:txBody>
      </p:sp>
      <p:sp>
        <p:nvSpPr>
          <p:cNvPr id="45" name="Shape 118">
            <a:extLst>
              <a:ext uri="{FF2B5EF4-FFF2-40B4-BE49-F238E27FC236}">
                <a16:creationId xmlns:a16="http://schemas.microsoft.com/office/drawing/2014/main" id="{72F016F2-C2F5-76E5-1365-62380E4D8970}"/>
              </a:ext>
            </a:extLst>
          </p:cNvPr>
          <p:cNvSpPr/>
          <p:nvPr/>
        </p:nvSpPr>
        <p:spPr>
          <a:xfrm>
            <a:off x="1676400" y="8229600"/>
            <a:ext cx="14935200" cy="12700"/>
          </a:xfrm>
          <a:prstGeom prst="rect">
            <a:avLst/>
          </a:prstGeom>
          <a:solidFill>
            <a:srgbClr val="FFFFFF">
              <a:alpha val="28000"/>
            </a:srgbClr>
          </a:solidFill>
          <a:ln>
            <a:noFill/>
          </a:ln>
        </p:spPr>
        <p:txBody>
          <a:bodyPr/>
          <a:lstStyle/>
          <a:p>
            <a:endParaRPr/>
          </a:p>
        </p:txBody>
      </p:sp>
      <p:sp>
        <p:nvSpPr>
          <p:cNvPr id="47" name="Text 119">
            <a:extLst>
              <a:ext uri="{FF2B5EF4-FFF2-40B4-BE49-F238E27FC236}">
                <a16:creationId xmlns:a16="http://schemas.microsoft.com/office/drawing/2014/main" id="{2D36D719-7539-7F45-15CC-EAA40EB10E2E}"/>
              </a:ext>
            </a:extLst>
          </p:cNvPr>
          <p:cNvSpPr txBox="1"/>
          <p:nvPr/>
        </p:nvSpPr>
        <p:spPr>
          <a:xfrm>
            <a:off x="1676400" y="8559800"/>
            <a:ext cx="3048000" cy="381000"/>
          </a:xfrm>
          <a:prstGeom prst="rect">
            <a:avLst/>
          </a:prstGeom>
          <a:noFill/>
        </p:spPr>
        <p:txBody>
          <a:bodyPr wrap="square" lIns="7200" tIns="0" rIns="0" bIns="0" anchor="t">
            <a:normAutofit/>
          </a:bodyPr>
          <a:lstStyle/>
          <a:p>
            <a:pPr marL="0" indent="0" algn="l">
              <a:buNone/>
            </a:pPr>
            <a:r>
              <a:rPr lang="en-US" sz="1600" b="1" kern="0" spc="300" dirty="0">
                <a:solidFill>
                  <a:srgbClr val="55B37A"/>
                </a:solidFill>
                <a:latin typeface="Barlow"/>
                <a:cs typeface="Barlow"/>
              </a:rPr>
              <a:t>NEXT STEP</a:t>
            </a:r>
          </a:p>
        </p:txBody>
      </p:sp>
      <p:sp>
        <p:nvSpPr>
          <p:cNvPr id="49" name="Text 120">
            <a:extLst>
              <a:ext uri="{FF2B5EF4-FFF2-40B4-BE49-F238E27FC236}">
                <a16:creationId xmlns:a16="http://schemas.microsoft.com/office/drawing/2014/main" id="{081ADC75-030A-484E-2AC3-DDA003FA725C}"/>
              </a:ext>
            </a:extLst>
          </p:cNvPr>
          <p:cNvSpPr txBox="1"/>
          <p:nvPr/>
        </p:nvSpPr>
        <p:spPr>
          <a:xfrm>
            <a:off x="5080000" y="8509000"/>
            <a:ext cx="11531600" cy="762000"/>
          </a:xfrm>
          <a:prstGeom prst="rect">
            <a:avLst/>
          </a:prstGeom>
          <a:noFill/>
        </p:spPr>
        <p:txBody>
          <a:bodyPr wrap="square" lIns="7200" tIns="0" rIns="0" bIns="0" anchor="t">
            <a:normAutofit/>
          </a:bodyPr>
          <a:lstStyle/>
          <a:p>
            <a:pPr marL="0" indent="0" algn="l">
              <a:lnSpc>
                <a:spcPct val="118000"/>
              </a:lnSpc>
              <a:buNone/>
            </a:pPr>
            <a:r>
              <a:rPr lang="en-US" sz="2100" b="0" kern="0" dirty="0">
                <a:solidFill>
                  <a:srgbClr val="FFFFFF">
                    <a:alpha val="92000"/>
                  </a:srgbClr>
                </a:solidFill>
                <a:latin typeface="Barlow"/>
                <a:cs typeface="Barlow"/>
              </a:rPr>
              <a:t>{{next_step}}</a:t>
            </a:r>
          </a:p>
        </p:txBody>
      </p:sp>
      <p:sp>
        <p:nvSpPr>
          <p:cNvPr id="51" name="Text 121">
            <a:extLst>
              <a:ext uri="{FF2B5EF4-FFF2-40B4-BE49-F238E27FC236}">
                <a16:creationId xmlns:a16="http://schemas.microsoft.com/office/drawing/2014/main" id="{6BD9E740-E00E-74FB-1DDE-144441026DE8}"/>
              </a:ext>
            </a:extLst>
          </p:cNvPr>
          <p:cNvSpPr txBox="1"/>
          <p:nvPr/>
        </p:nvSpPr>
        <p:spPr>
          <a:xfrm>
            <a:off x="14478000" y="9550400"/>
            <a:ext cx="2133600" cy="393700"/>
          </a:xfrm>
          <a:prstGeom prst="rect">
            <a:avLst/>
          </a:prstGeom>
          <a:noFill/>
        </p:spPr>
        <p:txBody>
          <a:bodyPr wrap="none" lIns="7200" tIns="0" rIns="0" bIns="0" anchor="t">
            <a:normAutofit/>
          </a:bodyPr>
          <a:lstStyle/>
          <a:p>
            <a:pPr marL="0" indent="0" algn="r">
              <a:buNone/>
            </a:pPr>
            <a:r>
              <a:rPr lang="en-US" sz="1600" b="0" kern="0" dirty="0">
                <a:solidFill>
                  <a:srgbClr val="B9C0DF"/>
                </a:solidFill>
                <a:latin typeface="Barlow"/>
                <a:cs typeface="Barlow"/>
              </a:rPr>
              <a:t>{{page_no}} / {{page_total}}</a:t>
            </a:r>
          </a:p>
        </p:txBody>
      </p:sp>
    </p:spTree>
    <p:extLst>
      <p:ext uri="{BB962C8B-B14F-4D97-AF65-F5344CB8AC3E}">
        <p14:creationId xmlns:p14="http://schemas.microsoft.com/office/powerpoint/2010/main" val="1324598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1">
    <p:bg>
      <p:bgPr>
        <a:solidFill>
          <a:srgbClr val="F2F2F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7000"/>
          </a:blip>
          <a:srcRect t="19" b="19"/>
          <a:stretch/>
        </p:blipFill>
        <p:spPr>
          <a:xfrm>
            <a:off x="0" y="0"/>
            <a:ext cx="18287930" cy="10287001"/>
          </a:xfrm>
          <a:prstGeom prst="rect">
            <a:avLst/>
          </a:prstGeom>
        </p:spPr>
      </p:pic>
      <p:sp>
        <p:nvSpPr>
          <p:cNvPr id="3" name="Text 0"/>
          <p:cNvSpPr/>
          <p:nvPr/>
        </p:nvSpPr>
        <p:spPr>
          <a:xfrm>
            <a:off x="914372" y="571429"/>
            <a:ext cx="3425691"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390" dirty="0">
                <a:solidFill>
                  <a:srgbClr val="2A3480"/>
                </a:solidFill>
                <a:latin typeface="Barlow"/>
                <a:ea typeface="Barlow" pitchFamily="34" charset="-122"/>
                <a:cs typeface="Barlow" pitchFamily="34" charset="-120"/>
              </a:rPr>
              <a:t>BASIS OF THIS PLAN</a:t>
            </a:r>
            <a:endParaRPr lang="en-US" sz="2100" b="1" dirty="0">
              <a:solidFill>
                <a:srgbClr val="2A3480"/>
              </a:solidFill>
              <a:latin typeface="Barlow"/>
            </a:endParaRPr>
          </a:p>
        </p:txBody>
      </p:sp>
      <p:sp>
        <p:nvSpPr>
          <p:cNvPr id="4" name="Text 1"/>
          <p:cNvSpPr/>
          <p:nvPr/>
        </p:nvSpPr>
        <p:spPr>
          <a:xfrm>
            <a:off x="914372" y="1088501"/>
            <a:ext cx="3425691" cy="769555"/>
          </a:xfrm>
          <a:prstGeom prst="rect">
            <a:avLst/>
          </a:prstGeom>
          <a:noFill/>
          <a:ln/>
        </p:spPr>
        <p:txBody>
          <a:bodyPr wrap="square" lIns="25400" tIns="25400" rIns="25400" bIns="25400" rtlCol="0" anchor="t">
            <a:normAutofit lnSpcReduction="10000"/>
          </a:bodyPr>
          <a:lstStyle/>
          <a:p>
            <a:pPr marL="0" indent="0" algn="l">
              <a:lnSpc>
                <a:spcPct val="79842"/>
              </a:lnSpc>
              <a:buNone/>
            </a:pPr>
            <a:r>
              <a:rPr lang="en-US" sz="6000" b="1" kern="0" spc="-120" dirty="0">
                <a:solidFill>
                  <a:srgbClr val="1D1F20"/>
                </a:solidFill>
                <a:latin typeface="Barlow Condensed" pitchFamily="34" charset="0"/>
                <a:ea typeface="Barlow Condensed" pitchFamily="34" charset="-122"/>
                <a:cs typeface="Barlow Condensed" pitchFamily="34" charset="-120"/>
              </a:rPr>
              <a:t>Disclaimer</a:t>
            </a:r>
            <a:endParaRPr lang="en-US" sz="6000" dirty="0"/>
          </a:p>
        </p:txBody>
      </p:sp>
      <p:pic>
        <p:nvPicPr>
          <p:cNvPr id="5" name="Image 1" descr="preencoded.png"/>
          <p:cNvPicPr>
            <a:picLocks noChangeAspect="1"/>
          </p:cNvPicPr>
          <p:nvPr/>
        </p:nvPicPr>
        <p:blipFill>
          <a:blip r:embed="rId4"/>
          <a:stretch>
            <a:fillRect/>
          </a:stretch>
        </p:blipFill>
        <p:spPr>
          <a:xfrm>
            <a:off x="15297193" y="571429"/>
            <a:ext cx="2076365" cy="590493"/>
          </a:xfrm>
          <a:prstGeom prst="rect">
            <a:avLst/>
          </a:prstGeom>
        </p:spPr>
      </p:pic>
      <p:sp>
        <p:nvSpPr>
          <p:cNvPr id="6" name="Shape 2"/>
          <p:cNvSpPr/>
          <p:nvPr/>
        </p:nvSpPr>
        <p:spPr>
          <a:xfrm>
            <a:off x="914372" y="2086641"/>
            <a:ext cx="16459187" cy="9525"/>
          </a:xfrm>
          <a:prstGeom prst="rect">
            <a:avLst/>
          </a:prstGeom>
          <a:solidFill>
            <a:srgbClr val="1D1F20">
              <a:alpha val="18000"/>
            </a:srgbClr>
          </a:solidFill>
          <a:ln/>
        </p:spPr>
        <p:txBody>
          <a:bodyPr/>
          <a:lstStyle/>
          <a:p>
            <a:endParaRPr lang="en-US"/>
          </a:p>
        </p:txBody>
      </p:sp>
      <p:sp>
        <p:nvSpPr>
          <p:cNvPr id="7" name="Text 3"/>
          <p:cNvSpPr/>
          <p:nvPr/>
        </p:nvSpPr>
        <p:spPr>
          <a:xfrm>
            <a:off x="914372" y="2439010"/>
            <a:ext cx="9288022" cy="2178745"/>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The information provided in this financial plan is based on current market conditions, assumed rates of return, and other underlying assumptions that may not reflect future performance. The returns mentioned are for illustrative purposes only and are not guaranteed. Past performance of mutual funds or any financial instruments does not indicate future results.</a:t>
            </a:r>
            <a:endParaRPr lang="en-US" sz="2175" dirty="0"/>
          </a:p>
        </p:txBody>
      </p:sp>
      <p:sp>
        <p:nvSpPr>
          <p:cNvPr id="8" name="Text 4"/>
          <p:cNvSpPr/>
          <p:nvPr/>
        </p:nvSpPr>
        <p:spPr>
          <a:xfrm>
            <a:off x="914372" y="4846340"/>
            <a:ext cx="9288022" cy="1750616"/>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Investments in mutual funds and other financial products are subject to market risks, including the risk of loss of principal. The actual performance may vary due to changes in market conditions, interest rates, tax laws, or other unforeseen factors.</a:t>
            </a:r>
            <a:endParaRPr lang="en-US" sz="2175" dirty="0"/>
          </a:p>
        </p:txBody>
      </p:sp>
      <p:sp>
        <p:nvSpPr>
          <p:cNvPr id="9" name="Text 5"/>
          <p:cNvSpPr/>
          <p:nvPr/>
        </p:nvSpPr>
        <p:spPr>
          <a:xfrm>
            <a:off x="914372" y="6825542"/>
            <a:ext cx="9288022" cy="1322487"/>
          </a:xfrm>
          <a:prstGeom prst="rect">
            <a:avLst/>
          </a:prstGeom>
          <a:noFill/>
          <a:ln/>
        </p:spPr>
        <p:txBody>
          <a:bodyPr wrap="square" lIns="25400" tIns="25400" rIns="25400" bIns="25400" rtlCol="0" anchor="t">
            <a:normAutofit/>
          </a:bodyPr>
          <a:lstStyle/>
          <a:p>
            <a:pPr marL="0" indent="0" algn="l">
              <a:lnSpc>
                <a:spcPct val="129308"/>
              </a:lnSpc>
              <a:buNone/>
            </a:pPr>
            <a:r>
              <a:rPr lang="en-US" sz="2175" dirty="0">
                <a:solidFill>
                  <a:srgbClr val="1D1F20">
                    <a:alpha val="90000"/>
                  </a:srgbClr>
                </a:solidFill>
                <a:latin typeface="Barlow" pitchFamily="34" charset="0"/>
                <a:ea typeface="Barlow" pitchFamily="34" charset="-122"/>
                <a:cs typeface="Barlow" pitchFamily="34" charset="-120"/>
              </a:rPr>
              <a:t>Assumptions regarding inflation, interest rates, and market performance are estimates based on historical data and should not be relied upon as guarantees of future results.</a:t>
            </a:r>
            <a:endParaRPr lang="en-US" sz="2175" dirty="0"/>
          </a:p>
        </p:txBody>
      </p:sp>
      <p:sp>
        <p:nvSpPr>
          <p:cNvPr id="10" name="Shape 6"/>
          <p:cNvSpPr/>
          <p:nvPr/>
        </p:nvSpPr>
        <p:spPr>
          <a:xfrm>
            <a:off x="10693868" y="2439010"/>
            <a:ext cx="6679690" cy="6730717"/>
          </a:xfrm>
          <a:prstGeom prst="rect">
            <a:avLst/>
          </a:prstGeom>
          <a:ln w="9071">
            <a:solidFill>
              <a:srgbClr val="1F1F1F">
                <a:alpha val="16000"/>
              </a:srgbClr>
            </a:solidFill>
            <a:prstDash val="solid"/>
          </a:ln>
        </p:spPr>
        <p:txBody>
          <a:bodyPr/>
          <a:lstStyle/>
          <a:p>
            <a:endParaRPr lang="en-US"/>
          </a:p>
        </p:txBody>
      </p:sp>
      <p:sp>
        <p:nvSpPr>
          <p:cNvPr id="11" name="Text 7"/>
          <p:cNvSpPr/>
          <p:nvPr/>
        </p:nvSpPr>
        <p:spPr>
          <a:xfrm>
            <a:off x="11064876" y="2790953"/>
            <a:ext cx="6531443" cy="421864"/>
          </a:xfrm>
          <a:prstGeom prst="rect">
            <a:avLst/>
          </a:prstGeom>
          <a:noFill/>
          <a:ln/>
        </p:spPr>
        <p:txBody>
          <a:bodyPr wrap="square" lIns="25400" tIns="25400" rIns="25400" bIns="25400" rtlCol="0" anchor="t">
            <a:normAutofit lnSpcReduction="10000"/>
          </a:bodyPr>
          <a:lstStyle/>
          <a:p>
            <a:pPr marL="0" indent="0" algn="l">
              <a:lnSpc>
                <a:spcPct val="128227"/>
              </a:lnSpc>
              <a:buNone/>
            </a:pPr>
            <a:r>
              <a:rPr lang="en-US" sz="2100" kern="0" spc="351" dirty="0">
                <a:solidFill>
                  <a:srgbClr val="2A3480"/>
                </a:solidFill>
                <a:latin typeface="Barlow" pitchFamily="34" charset="0"/>
                <a:ea typeface="Barlow" pitchFamily="34" charset="-122"/>
                <a:cs typeface="Barlow" pitchFamily="34" charset="-120"/>
              </a:rPr>
              <a:t>ASSUMPTIONS USED</a:t>
            </a:r>
            <a:endParaRPr lang="en-US" sz="2100" dirty="0"/>
          </a:p>
        </p:txBody>
      </p:sp>
      <p:sp>
        <p:nvSpPr>
          <p:cNvPr id="12" name="Shape 8"/>
          <p:cNvSpPr/>
          <p:nvPr/>
        </p:nvSpPr>
        <p:spPr>
          <a:xfrm>
            <a:off x="11064876" y="4125091"/>
            <a:ext cx="5937675" cy="9525"/>
          </a:xfrm>
          <a:prstGeom prst="rect">
            <a:avLst/>
          </a:prstGeom>
          <a:solidFill>
            <a:srgbClr val="1D1F20">
              <a:alpha val="12000"/>
            </a:srgbClr>
          </a:solidFill>
          <a:ln/>
        </p:spPr>
        <p:txBody>
          <a:bodyPr/>
          <a:lstStyle/>
          <a:p>
            <a:endParaRPr lang="en-US"/>
          </a:p>
        </p:txBody>
      </p:sp>
      <p:sp>
        <p:nvSpPr>
          <p:cNvPr id="13" name="Text 9"/>
          <p:cNvSpPr/>
          <p:nvPr/>
        </p:nvSpPr>
        <p:spPr>
          <a:xfrm>
            <a:off x="11064876" y="3593278"/>
            <a:ext cx="1601249"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Equity return</a:t>
            </a:r>
            <a:endParaRPr lang="en-US" sz="2100" dirty="0"/>
          </a:p>
        </p:txBody>
      </p:sp>
      <p:sp>
        <p:nvSpPr>
          <p:cNvPr id="14" name="Text 10"/>
          <p:cNvSpPr/>
          <p:nvPr/>
        </p:nvSpPr>
        <p:spPr>
          <a:xfrm>
            <a:off x="15137125" y="3488957"/>
            <a:ext cx="1941626"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{{assumption_equity_return}}</a:t>
            </a:r>
            <a:endParaRPr lang="en-US" sz="2700" dirty="0"/>
          </a:p>
        </p:txBody>
      </p:sp>
      <p:sp>
        <p:nvSpPr>
          <p:cNvPr id="15" name="Shape 11"/>
          <p:cNvSpPr/>
          <p:nvPr/>
        </p:nvSpPr>
        <p:spPr>
          <a:xfrm>
            <a:off x="11064876" y="4875043"/>
            <a:ext cx="5937675" cy="9525"/>
          </a:xfrm>
          <a:prstGeom prst="rect">
            <a:avLst/>
          </a:prstGeom>
          <a:solidFill>
            <a:srgbClr val="1D1F20">
              <a:alpha val="12000"/>
            </a:srgbClr>
          </a:solidFill>
          <a:ln/>
        </p:spPr>
        <p:txBody>
          <a:bodyPr/>
          <a:lstStyle/>
          <a:p>
            <a:endParaRPr lang="en-US"/>
          </a:p>
        </p:txBody>
      </p:sp>
      <p:sp>
        <p:nvSpPr>
          <p:cNvPr id="16" name="Text 12"/>
          <p:cNvSpPr/>
          <p:nvPr/>
        </p:nvSpPr>
        <p:spPr>
          <a:xfrm>
            <a:off x="11064876" y="4343230"/>
            <a:ext cx="1399807"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Debt return</a:t>
            </a:r>
            <a:endParaRPr lang="en-US" sz="2100" dirty="0"/>
          </a:p>
        </p:txBody>
      </p:sp>
      <p:sp>
        <p:nvSpPr>
          <p:cNvPr id="17" name="Text 13"/>
          <p:cNvSpPr/>
          <p:nvPr/>
        </p:nvSpPr>
        <p:spPr>
          <a:xfrm>
            <a:off x="15237620" y="4238909"/>
            <a:ext cx="1841132"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{{assumption_debt_return}}</a:t>
            </a:r>
            <a:endParaRPr lang="en-US" sz="2700" dirty="0"/>
          </a:p>
        </p:txBody>
      </p:sp>
      <p:sp>
        <p:nvSpPr>
          <p:cNvPr id="18" name="Shape 14"/>
          <p:cNvSpPr/>
          <p:nvPr/>
        </p:nvSpPr>
        <p:spPr>
          <a:xfrm>
            <a:off x="11064876" y="5624995"/>
            <a:ext cx="5937675" cy="9525"/>
          </a:xfrm>
          <a:prstGeom prst="rect">
            <a:avLst/>
          </a:prstGeom>
          <a:solidFill>
            <a:srgbClr val="1D1F20">
              <a:alpha val="12000"/>
            </a:srgbClr>
          </a:solidFill>
          <a:ln/>
        </p:spPr>
        <p:txBody>
          <a:bodyPr/>
          <a:lstStyle/>
          <a:p>
            <a:endParaRPr lang="en-US"/>
          </a:p>
        </p:txBody>
      </p:sp>
      <p:sp>
        <p:nvSpPr>
          <p:cNvPr id="19" name="Text 15"/>
          <p:cNvSpPr/>
          <p:nvPr/>
        </p:nvSpPr>
        <p:spPr>
          <a:xfrm>
            <a:off x="11064876" y="5093182"/>
            <a:ext cx="2009045"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General inflation</a:t>
            </a:r>
            <a:endParaRPr lang="en-US" sz="2100" dirty="0"/>
          </a:p>
        </p:txBody>
      </p:sp>
      <p:sp>
        <p:nvSpPr>
          <p:cNvPr id="20" name="Text 16"/>
          <p:cNvSpPr/>
          <p:nvPr/>
        </p:nvSpPr>
        <p:spPr>
          <a:xfrm>
            <a:off x="15222524" y="4988861"/>
            <a:ext cx="1856227"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{{inflation_rate}}</a:t>
            </a:r>
            <a:endParaRPr lang="en-US" sz="2700" dirty="0"/>
          </a:p>
        </p:txBody>
      </p:sp>
      <p:sp>
        <p:nvSpPr>
          <p:cNvPr id="21" name="Shape 17"/>
          <p:cNvSpPr/>
          <p:nvPr/>
        </p:nvSpPr>
        <p:spPr>
          <a:xfrm>
            <a:off x="11064876" y="6374947"/>
            <a:ext cx="5937675" cy="9525"/>
          </a:xfrm>
          <a:prstGeom prst="rect">
            <a:avLst/>
          </a:prstGeom>
          <a:solidFill>
            <a:srgbClr val="1D1F20">
              <a:alpha val="12000"/>
            </a:srgbClr>
          </a:solidFill>
          <a:ln/>
        </p:spPr>
        <p:txBody>
          <a:bodyPr/>
          <a:lstStyle/>
          <a:p>
            <a:endParaRPr lang="en-US"/>
          </a:p>
        </p:txBody>
      </p:sp>
      <p:sp>
        <p:nvSpPr>
          <p:cNvPr id="22" name="Text 18"/>
          <p:cNvSpPr/>
          <p:nvPr/>
        </p:nvSpPr>
        <p:spPr>
          <a:xfrm>
            <a:off x="11064876" y="5843134"/>
            <a:ext cx="2321343"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Education inflation</a:t>
            </a:r>
            <a:endParaRPr lang="en-US" sz="2100" dirty="0"/>
          </a:p>
        </p:txBody>
      </p:sp>
      <p:sp>
        <p:nvSpPr>
          <p:cNvPr id="23" name="Text 19"/>
          <p:cNvSpPr/>
          <p:nvPr/>
        </p:nvSpPr>
        <p:spPr>
          <a:xfrm>
            <a:off x="15123093" y="5738813"/>
            <a:ext cx="1955658"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{{assumption_education_inflation}}</a:t>
            </a:r>
            <a:endParaRPr lang="en-US" sz="2700" dirty="0"/>
          </a:p>
        </p:txBody>
      </p:sp>
      <p:sp>
        <p:nvSpPr>
          <p:cNvPr id="24" name="Shape 20"/>
          <p:cNvSpPr/>
          <p:nvPr/>
        </p:nvSpPr>
        <p:spPr>
          <a:xfrm>
            <a:off x="11064876" y="7124899"/>
            <a:ext cx="5937675" cy="9525"/>
          </a:xfrm>
          <a:prstGeom prst="rect">
            <a:avLst/>
          </a:prstGeom>
          <a:solidFill>
            <a:srgbClr val="1D1F20">
              <a:alpha val="12000"/>
            </a:srgbClr>
          </a:solidFill>
          <a:ln/>
        </p:spPr>
        <p:txBody>
          <a:bodyPr/>
          <a:lstStyle/>
          <a:p>
            <a:endParaRPr lang="en-US"/>
          </a:p>
        </p:txBody>
      </p:sp>
      <p:sp>
        <p:nvSpPr>
          <p:cNvPr id="25" name="Text 21"/>
          <p:cNvSpPr/>
          <p:nvPr/>
        </p:nvSpPr>
        <p:spPr>
          <a:xfrm>
            <a:off x="11064876" y="6593087"/>
            <a:ext cx="2795092"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Post-retirement return</a:t>
            </a:r>
            <a:endParaRPr lang="en-US" sz="2100" dirty="0"/>
          </a:p>
        </p:txBody>
      </p:sp>
      <p:sp>
        <p:nvSpPr>
          <p:cNvPr id="26" name="Text 22"/>
          <p:cNvSpPr/>
          <p:nvPr/>
        </p:nvSpPr>
        <p:spPr>
          <a:xfrm>
            <a:off x="15218414" y="6488765"/>
            <a:ext cx="1860337"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{{assumption_post_retirement_return}}</a:t>
            </a:r>
            <a:endParaRPr lang="en-US" sz="2700" dirty="0"/>
          </a:p>
        </p:txBody>
      </p:sp>
      <p:sp>
        <p:nvSpPr>
          <p:cNvPr id="27" name="Text 23"/>
          <p:cNvSpPr/>
          <p:nvPr/>
        </p:nvSpPr>
        <p:spPr>
          <a:xfrm>
            <a:off x="11064876" y="7343038"/>
            <a:ext cx="1935219" cy="436676"/>
          </a:xfrm>
          <a:prstGeom prst="rect">
            <a:avLst/>
          </a:prstGeom>
          <a:noFill/>
          <a:ln/>
        </p:spPr>
        <p:txBody>
          <a:bodyPr wrap="square" lIns="25400" tIns="25400" rIns="25400" bIns="25400" rtlCol="0" anchor="t">
            <a:normAutofit/>
          </a:bodyPr>
          <a:lstStyle/>
          <a:p>
            <a:pPr marL="0" indent="0" algn="l">
              <a:lnSpc>
                <a:spcPct val="129243"/>
              </a:lnSpc>
              <a:buNone/>
            </a:pPr>
            <a:r>
              <a:rPr lang="en-US" sz="2100" dirty="0">
                <a:solidFill>
                  <a:srgbClr val="1D1F20">
                    <a:alpha val="90000"/>
                  </a:srgbClr>
                </a:solidFill>
                <a:latin typeface="Barlow" pitchFamily="34" charset="0"/>
                <a:ea typeface="Barlow" pitchFamily="34" charset="-122"/>
                <a:cs typeface="Barlow" pitchFamily="34" charset="-120"/>
              </a:rPr>
              <a:t>Life expectancy</a:t>
            </a:r>
            <a:endParaRPr lang="en-US" sz="2100" dirty="0"/>
          </a:p>
        </p:txBody>
      </p:sp>
      <p:sp>
        <p:nvSpPr>
          <p:cNvPr id="28" name="Text 24"/>
          <p:cNvSpPr/>
          <p:nvPr/>
        </p:nvSpPr>
        <p:spPr>
          <a:xfrm>
            <a:off x="14639968" y="7238717"/>
            <a:ext cx="2438783" cy="569487"/>
          </a:xfrm>
          <a:prstGeom prst="rect">
            <a:avLst/>
          </a:prstGeom>
          <a:noFill/>
          <a:ln/>
        </p:spPr>
        <p:txBody>
          <a:bodyPr wrap="none" lIns="25400" tIns="25400" rIns="25400" bIns="25400" rtlCol="0" anchor="t">
            <a:normAutofit/>
          </a:bodyPr>
          <a:lstStyle/>
          <a:p>
            <a:pPr marL="0" indent="0" algn="r">
              <a:lnSpc>
                <a:spcPct val="128769"/>
              </a:lnSpc>
              <a:buNone/>
            </a:pPr>
            <a:r>
              <a:rPr lang="en-US" sz="2700" dirty="0">
                <a:solidFill>
                  <a:srgbClr val="1D1F20"/>
                </a:solidFill>
                <a:latin typeface="Barlow Condensed" pitchFamily="34" charset="0"/>
                <a:ea typeface="Barlow Condensed" pitchFamily="34" charset="-122"/>
                <a:cs typeface="Barlow Condensed" pitchFamily="34" charset="-120"/>
              </a:rPr>
              <a:t>{{life_expectancy}} years</a:t>
            </a:r>
            <a:endParaRPr lang="en-US" sz="2700" dirty="0"/>
          </a:p>
        </p:txBody>
      </p:sp>
      <p:sp>
        <p:nvSpPr>
          <p:cNvPr id="29" name="Text 25"/>
          <p:cNvSpPr/>
          <p:nvPr/>
        </p:nvSpPr>
        <p:spPr>
          <a:xfrm>
            <a:off x="11064876" y="8103408"/>
            <a:ext cx="6115806" cy="752475"/>
          </a:xfrm>
          <a:prstGeom prst="rect">
            <a:avLst/>
          </a:prstGeom>
          <a:noFill/>
          <a:ln/>
        </p:spPr>
        <p:txBody>
          <a:bodyPr wrap="square" lIns="25400" tIns="25400" rIns="25400" bIns="25400" rtlCol="0" anchor="t">
            <a:normAutofit fontScale="92500" lnSpcReduction="10000"/>
          </a:bodyPr>
          <a:lstStyle/>
          <a:p>
            <a:pPr marL="0" indent="0" algn="l">
              <a:lnSpc>
                <a:spcPct val="127016"/>
              </a:lnSpc>
              <a:buNone/>
            </a:pPr>
            <a:r>
              <a:rPr lang="en-US" sz="2100" dirty="0">
                <a:solidFill>
                  <a:srgbClr val="1D1F20">
                    <a:alpha val="90000"/>
                  </a:srgbClr>
                </a:solidFill>
                <a:latin typeface="Barlow" pitchFamily="34" charset="0"/>
                <a:ea typeface="Barlow" pitchFamily="34" charset="-122"/>
                <a:cs typeface="Barlow" pitchFamily="34" charset="-120"/>
              </a:rPr>
              <a:t>Client details and holdings here are illustrative, to be replaced with the figures confirmed at review.</a:t>
            </a:r>
            <a:endParaRPr lang="en-US" sz="2100" dirty="0"/>
          </a:p>
        </p:txBody>
      </p:sp>
      <p:sp>
        <p:nvSpPr>
          <p:cNvPr id="30" name="Text 26"/>
          <p:cNvSpPr/>
          <p:nvPr/>
        </p:nvSpPr>
        <p:spPr>
          <a:xfrm>
            <a:off x="914372" y="9475462"/>
            <a:ext cx="4320878"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Armstrong Capital · Goal Based Planning</a:t>
            </a:r>
            <a:endParaRPr lang="en-US" sz="2100" dirty="0"/>
          </a:p>
        </p:txBody>
      </p:sp>
      <p:sp>
        <p:nvSpPr>
          <p:cNvPr id="31" name="Text 27"/>
          <p:cNvSpPr/>
          <p:nvPr/>
        </p:nvSpPr>
        <p:spPr>
          <a:xfrm>
            <a:off x="16754222" y="9475462"/>
            <a:ext cx="695538"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dirty="0">
                <a:solidFill>
                  <a:srgbClr val="1D1F20">
                    <a:alpha val="90000"/>
                  </a:srgbClr>
                </a:solidFill>
                <a:latin typeface="Barlow" pitchFamily="34" charset="0"/>
                <a:ea typeface="Barlow" pitchFamily="34" charset="-122"/>
                <a:cs typeface="Barlow" pitchFamily="34" charset="-120"/>
              </a:rPr>
              <a:t>{{page_no}} / {{page_total}}</a:t>
            </a:r>
            <a:endParaRPr lang="en-US" sz="2100" dirty="0"/>
          </a:p>
        </p:txBody>
      </p:sp>
    </p:spTree>
    <p:extLst>
      <p:ext uri="{BB962C8B-B14F-4D97-AF65-F5344CB8AC3E}">
        <p14:creationId xmlns:p14="http://schemas.microsoft.com/office/powerpoint/2010/main" val="32856180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2">
    <p:bg>
      <p:bgPr>
        <a:solidFill>
          <a:srgbClr val="141A45"/>
        </a:solidFill>
        <a:effectLst/>
      </p:bgPr>
    </p:bg>
    <p:spTree>
      <p:nvGrpSpPr>
        <p:cNvPr id="1" name=""/>
        <p:cNvGrpSpPr/>
        <p:nvPr/>
      </p:nvGrpSpPr>
      <p:grpSpPr>
        <a:xfrm>
          <a:off x="0" y="0"/>
          <a:ext cx="0" cy="0"/>
          <a:chOff x="0" y="0"/>
          <a:chExt cx="0" cy="0"/>
        </a:xfrm>
      </p:grpSpPr>
      <p:sp>
        <p:nvSpPr>
          <p:cNvPr id="2" name="Text 0"/>
          <p:cNvSpPr/>
          <p:nvPr/>
        </p:nvSpPr>
        <p:spPr>
          <a:xfrm>
            <a:off x="914372" y="838186"/>
            <a:ext cx="9615368" cy="421864"/>
          </a:xfrm>
          <a:prstGeom prst="rect">
            <a:avLst/>
          </a:prstGeom>
          <a:noFill/>
          <a:ln/>
        </p:spPr>
        <p:txBody>
          <a:bodyPr wrap="square" lIns="25400" tIns="25400" rIns="25400" bIns="25400" rtlCol="0" anchor="t">
            <a:noAutofit/>
          </a:bodyPr>
          <a:lstStyle/>
          <a:p>
            <a:pPr marL="0" indent="0" algn="l">
              <a:lnSpc>
                <a:spcPct val="128227"/>
              </a:lnSpc>
              <a:buNone/>
            </a:pPr>
            <a:r>
              <a:rPr lang="en-US" sz="2100" b="1" kern="0" spc="429" dirty="0">
                <a:solidFill>
                  <a:srgbClr val="8B96D2"/>
                </a:solidFill>
                <a:latin typeface="Barlow"/>
                <a:ea typeface="Barlow" pitchFamily="34" charset="-122"/>
                <a:cs typeface="Barlow" pitchFamily="34" charset="-120"/>
              </a:rPr>
              <a:t>CONTACT US TO KNOW MORE</a:t>
            </a:r>
            <a:endParaRPr lang="en-US" sz="2100" b="1" dirty="0">
              <a:latin typeface="Barlow"/>
            </a:endParaRPr>
          </a:p>
        </p:txBody>
      </p:sp>
      <p:sp>
        <p:nvSpPr>
          <p:cNvPr id="3" name="Text 1"/>
          <p:cNvSpPr/>
          <p:nvPr/>
        </p:nvSpPr>
        <p:spPr>
          <a:xfrm>
            <a:off x="914372" y="1488636"/>
            <a:ext cx="9615368" cy="1169619"/>
          </a:xfrm>
          <a:prstGeom prst="rect">
            <a:avLst/>
          </a:prstGeom>
          <a:noFill/>
          <a:ln/>
        </p:spPr>
        <p:txBody>
          <a:bodyPr wrap="square" lIns="25400" tIns="25400" rIns="25400" bIns="25400" rtlCol="0" anchor="t">
            <a:normAutofit lnSpcReduction="10000"/>
          </a:bodyPr>
          <a:lstStyle/>
          <a:p>
            <a:pPr marL="0" indent="0" algn="l">
              <a:lnSpc>
                <a:spcPct val="75145"/>
              </a:lnSpc>
              <a:buNone/>
            </a:pPr>
            <a:r>
              <a:rPr lang="en-US" sz="9900" b="1" kern="0" spc="-247" dirty="0">
                <a:solidFill>
                  <a:srgbClr val="F2F2F3"/>
                </a:solidFill>
                <a:latin typeface="Barlow Condensed" pitchFamily="34" charset="0"/>
                <a:ea typeface="Barlow Condensed" pitchFamily="34" charset="-122"/>
                <a:cs typeface="Barlow Condensed" pitchFamily="34" charset="-120"/>
              </a:rPr>
              <a:t>Thank You</a:t>
            </a:r>
            <a:endParaRPr lang="en-US" sz="9900" dirty="0"/>
          </a:p>
        </p:txBody>
      </p:sp>
      <p:sp>
        <p:nvSpPr>
          <p:cNvPr id="4" name="Shape 2"/>
          <p:cNvSpPr/>
          <p:nvPr/>
        </p:nvSpPr>
        <p:spPr>
          <a:xfrm>
            <a:off x="914372" y="3077341"/>
            <a:ext cx="7238930" cy="9525"/>
          </a:xfrm>
          <a:prstGeom prst="rect">
            <a:avLst/>
          </a:prstGeom>
          <a:solidFill>
            <a:srgbClr val="F2F2F3">
              <a:alpha val="24000"/>
            </a:srgbClr>
          </a:solidFill>
          <a:ln/>
        </p:spPr>
        <p:txBody>
          <a:bodyPr/>
          <a:lstStyle/>
          <a:p>
            <a:endParaRPr lang="en-US"/>
          </a:p>
        </p:txBody>
      </p:sp>
      <p:sp>
        <p:nvSpPr>
          <p:cNvPr id="5" name="Text 3"/>
          <p:cNvSpPr/>
          <p:nvPr/>
        </p:nvSpPr>
        <p:spPr>
          <a:xfrm>
            <a:off x="914372" y="3505895"/>
            <a:ext cx="396048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ADVISOR</a:t>
            </a:r>
            <a:endParaRPr lang="en-US" sz="2100" dirty="0"/>
          </a:p>
        </p:txBody>
      </p:sp>
      <p:sp>
        <p:nvSpPr>
          <p:cNvPr id="6" name="Text 4"/>
          <p:cNvSpPr/>
          <p:nvPr/>
        </p:nvSpPr>
        <p:spPr>
          <a:xfrm>
            <a:off x="914372" y="3936433"/>
            <a:ext cx="3960480"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{{advisor_name}}</a:t>
            </a:r>
            <a:endParaRPr lang="en-US" sz="3300" dirty="0"/>
          </a:p>
        </p:txBody>
      </p:sp>
      <p:sp>
        <p:nvSpPr>
          <p:cNvPr id="7" name="Text 5"/>
          <p:cNvSpPr/>
          <p:nvPr/>
        </p:nvSpPr>
        <p:spPr>
          <a:xfrm>
            <a:off x="5124365" y="3505895"/>
            <a:ext cx="396048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DESIGNATION</a:t>
            </a:r>
            <a:endParaRPr lang="en-US" sz="2100" dirty="0"/>
          </a:p>
        </p:txBody>
      </p:sp>
      <p:sp>
        <p:nvSpPr>
          <p:cNvPr id="8" name="Text 6"/>
          <p:cNvSpPr/>
          <p:nvPr/>
        </p:nvSpPr>
        <p:spPr>
          <a:xfrm>
            <a:off x="5124365" y="3936433"/>
            <a:ext cx="3960480"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{{advisor_designation}}</a:t>
            </a:r>
            <a:endParaRPr lang="en-US" sz="3300" dirty="0"/>
          </a:p>
        </p:txBody>
      </p:sp>
      <p:sp>
        <p:nvSpPr>
          <p:cNvPr id="9" name="Text 7"/>
          <p:cNvSpPr/>
          <p:nvPr/>
        </p:nvSpPr>
        <p:spPr>
          <a:xfrm>
            <a:off x="914372" y="4967033"/>
            <a:ext cx="396048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EMAIL</a:t>
            </a:r>
            <a:endParaRPr lang="en-US" sz="2100" dirty="0"/>
          </a:p>
        </p:txBody>
      </p:sp>
      <p:sp>
        <p:nvSpPr>
          <p:cNvPr id="10" name="Text 8"/>
          <p:cNvSpPr/>
          <p:nvPr/>
        </p:nvSpPr>
        <p:spPr>
          <a:xfrm>
            <a:off x="914372" y="5397571"/>
            <a:ext cx="3960480" cy="6876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{{advisor_email}}</a:t>
            </a:r>
            <a:endParaRPr lang="en-US" sz="3300" dirty="0"/>
          </a:p>
        </p:txBody>
      </p:sp>
      <p:sp>
        <p:nvSpPr>
          <p:cNvPr id="11" name="Text 9"/>
          <p:cNvSpPr/>
          <p:nvPr/>
        </p:nvSpPr>
        <p:spPr>
          <a:xfrm>
            <a:off x="5124365" y="4967033"/>
            <a:ext cx="3960480"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252" dirty="0">
                <a:solidFill>
                  <a:srgbClr val="F2F2F3">
                    <a:alpha val="90000"/>
                  </a:srgbClr>
                </a:solidFill>
                <a:latin typeface="Barlow" pitchFamily="34" charset="0"/>
                <a:ea typeface="Barlow" pitchFamily="34" charset="-122"/>
                <a:cs typeface="Barlow" pitchFamily="34" charset="-120"/>
              </a:rPr>
              <a:t>WEBSITE</a:t>
            </a:r>
            <a:endParaRPr lang="en-US" sz="2100" dirty="0"/>
          </a:p>
        </p:txBody>
      </p:sp>
      <p:sp>
        <p:nvSpPr>
          <p:cNvPr id="12" name="Text 10"/>
          <p:cNvSpPr/>
          <p:nvPr/>
        </p:nvSpPr>
        <p:spPr>
          <a:xfrm>
            <a:off x="5124365" y="5397571"/>
            <a:ext cx="3708449" cy="1337299"/>
          </a:xfrm>
          <a:prstGeom prst="rect">
            <a:avLst/>
          </a:prstGeom>
          <a:noFill/>
          <a:ln/>
        </p:spPr>
        <p:txBody>
          <a:bodyPr wrap="square" lIns="25400" tIns="25400" rIns="25400" bIns="25400" rtlCol="0" anchor="t">
            <a:normAutofit/>
          </a:bodyPr>
          <a:lstStyle/>
          <a:p>
            <a:pPr marL="0" indent="0" algn="l">
              <a:lnSpc>
                <a:spcPct val="130200"/>
              </a:lnSpc>
              <a:buNone/>
            </a:pPr>
            <a:r>
              <a:rPr lang="en-US" sz="3300" dirty="0">
                <a:solidFill>
                  <a:srgbClr val="F2F2F3"/>
                </a:solidFill>
                <a:latin typeface="Barlow Condensed" pitchFamily="34" charset="0"/>
                <a:ea typeface="Barlow Condensed" pitchFamily="34" charset="-122"/>
                <a:cs typeface="Barlow Condensed" pitchFamily="34" charset="-120"/>
              </a:rPr>
              <a:t>www.armstrong-cap.com</a:t>
            </a:r>
            <a:endParaRPr lang="en-US" sz="3300" dirty="0"/>
          </a:p>
        </p:txBody>
      </p:sp>
      <p:sp>
        <p:nvSpPr>
          <p:cNvPr id="13" name="Text 11"/>
          <p:cNvSpPr/>
          <p:nvPr/>
        </p:nvSpPr>
        <p:spPr>
          <a:xfrm>
            <a:off x="914372" y="9323090"/>
            <a:ext cx="2682131" cy="392453"/>
          </a:xfrm>
          <a:prstGeom prst="rect">
            <a:avLst/>
          </a:prstGeom>
          <a:noFill/>
          <a:ln/>
        </p:spPr>
        <p:txBody>
          <a:bodyPr wrap="square" lIns="25400" tIns="25400" rIns="25400" bIns="25400" rtlCol="0" anchor="t">
            <a:normAutofit fontScale="92500" lnSpcReduction="10000"/>
          </a:bodyPr>
          <a:lstStyle/>
          <a:p>
            <a:pPr marL="0" indent="0" algn="l">
              <a:lnSpc>
                <a:spcPct val="130200"/>
              </a:lnSpc>
              <a:buNone/>
            </a:pPr>
            <a:r>
              <a:rPr lang="en-US" sz="2100" kern="0" spc="360" dirty="0">
                <a:solidFill>
                  <a:srgbClr val="F2F2F3">
                    <a:alpha val="90000"/>
                  </a:srgbClr>
                </a:solidFill>
                <a:latin typeface="Barlow" pitchFamily="34" charset="0"/>
                <a:ea typeface="Barlow" pitchFamily="34" charset="-122"/>
                <a:cs typeface="Barlow" pitchFamily="34" charset="-120"/>
              </a:rPr>
              <a:t>{{review_date_caps}}</a:t>
            </a:r>
            <a:endParaRPr lang="en-US" sz="2100" dirty="0"/>
          </a:p>
        </p:txBody>
      </p:sp>
      <p:sp>
        <p:nvSpPr>
          <p:cNvPr id="14" name="Text 12"/>
          <p:cNvSpPr/>
          <p:nvPr/>
        </p:nvSpPr>
        <p:spPr>
          <a:xfrm>
            <a:off x="8672144" y="9323090"/>
            <a:ext cx="1059670" cy="392453"/>
          </a:xfrm>
          <a:prstGeom prst="rect">
            <a:avLst/>
          </a:prstGeom>
          <a:noFill/>
          <a:ln/>
        </p:spPr>
        <p:txBody>
          <a:bodyPr wrap="none" lIns="25400" tIns="25400" rIns="25400" bIns="25400" rtlCol="0" anchor="t">
            <a:normAutofit fontScale="85000" lnSpcReduction="10000"/>
          </a:bodyPr>
          <a:lstStyle/>
          <a:p>
            <a:pPr marL="0" indent="0" algn="l">
              <a:lnSpc>
                <a:spcPct val="130200"/>
              </a:lnSpc>
              <a:buNone/>
            </a:pPr>
            <a:r>
              <a:rPr lang="en-US" sz="2100" kern="0" spc="360" dirty="0">
                <a:solidFill>
                  <a:srgbClr val="F2F2F3">
                    <a:alpha val="90000"/>
                  </a:srgbClr>
                </a:solidFill>
                <a:latin typeface="Barlow" pitchFamily="34" charset="0"/>
                <a:ea typeface="Barlow" pitchFamily="34" charset="-122"/>
                <a:cs typeface="Barlow" pitchFamily="34" charset="-120"/>
              </a:rPr>
              <a:t>{{page_no}} / {{page_total}}</a:t>
            </a:r>
            <a:endParaRPr lang="en-US" sz="2100" dirty="0"/>
          </a:p>
        </p:txBody>
      </p:sp>
      <p:pic>
        <p:nvPicPr>
          <p:cNvPr id="15" name="Image 0" descr="preencoded.png"/>
          <p:cNvPicPr>
            <a:picLocks noChangeAspect="1"/>
          </p:cNvPicPr>
          <p:nvPr/>
        </p:nvPicPr>
        <p:blipFill>
          <a:blip r:embed="rId3">
            <a:alphaModFix amt="55000"/>
          </a:blip>
          <a:srcRect l="11376" r="11376"/>
          <a:stretch/>
        </p:blipFill>
        <p:spPr>
          <a:xfrm>
            <a:off x="10341358" y="0"/>
            <a:ext cx="7946572" cy="10287001"/>
          </a:xfrm>
          <a:prstGeom prst="rect">
            <a:avLst/>
          </a:prstGeom>
        </p:spPr>
      </p:pic>
      <p:sp>
        <p:nvSpPr>
          <p:cNvPr id="16" name="Shape 13"/>
          <p:cNvSpPr/>
          <p:nvPr/>
        </p:nvSpPr>
        <p:spPr>
          <a:xfrm>
            <a:off x="10341358" y="0"/>
            <a:ext cx="7946572" cy="10287001"/>
          </a:xfrm>
          <a:prstGeom prst="rect">
            <a:avLst/>
          </a:prstGeom>
          <a:gradFill rotWithShape="1">
            <a:gsLst>
              <a:gs pos="0">
                <a:srgbClr val="141A45">
                  <a:alpha val="100000"/>
                </a:srgbClr>
              </a:gs>
              <a:gs pos="40000">
                <a:srgbClr val="141A45">
                  <a:alpha val="45000"/>
                </a:srgbClr>
              </a:gs>
              <a:gs pos="100000">
                <a:srgbClr val="141A45">
                  <a:alpha val="20000"/>
                </a:srgbClr>
              </a:gs>
            </a:gsLst>
            <a:lin ang="0" scaled="0"/>
          </a:gradFill>
          <a:ln/>
        </p:spPr>
        <p:txBody>
          <a:bodyPr/>
          <a:lstStyle/>
          <a:p>
            <a:endParaRPr lang="en-US"/>
          </a:p>
        </p:txBody>
      </p:sp>
    </p:spTree>
    <p:extLst>
      <p:ext uri="{BB962C8B-B14F-4D97-AF65-F5344CB8AC3E}">
        <p14:creationId xmlns:p14="http://schemas.microsoft.com/office/powerpoint/2010/main" val="1832893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5B6E277-FD27-4D9E-B578-15240295E7BC}">
  <we:reference id="WA200010001" version="1.0.0.1" store="Omex" storeType="OMEX"/>
  <we:alternateReferences>
    <we:reference id="WA200010001" version="1.0.0.1" store="WA200010001" storeType="OMEX"/>
  </we:alternateReferences>
  <we:properties>
    <we:property name="claude.fileId" value="&quot;3e865f9c-442b-4dc4-aa19-1187785769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767</TotalTime>
  <Words>7286</Words>
  <Application>Microsoft Office PowerPoint</Application>
  <PresentationFormat>Custom</PresentationFormat>
  <Paragraphs>1215</Paragraphs>
  <Slides>49</Slides>
  <Notes>38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49</vt:i4>
      </vt:variant>
    </vt:vector>
  </HeadingPairs>
  <TitlesOfParts>
    <vt:vector size="55" baseType="lpstr">
      <vt:lpstr>Arial</vt:lpstr>
      <vt:lpstr>Barlow</vt:lpstr>
      <vt:lpstr>Barlow Condensed</vt:lpstr>
      <vt:lpstr>Calibri</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Divyanshu</cp:lastModifiedBy>
  <cp:revision>19</cp:revision>
  <dcterms:created xsi:type="dcterms:W3CDTF">2026-09-09T11:30:46Z</dcterms:created>
  <dcterms:modified xsi:type="dcterms:W3CDTF">2026-09-27T09:38:34Z</dcterms:modified>
</cp:coreProperties>
</file>