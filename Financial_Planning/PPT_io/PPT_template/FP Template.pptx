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5" d="100"/>
          <a:sy n="55" d="100"/>
        </p:scale>
        <p:origin x="106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357A0-526B-45E7-9CBF-A370849E0ACA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B0F48-5484-41B2-9CF0-6A68F061E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51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0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90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79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41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8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03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8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43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0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41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571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70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25E9C-265B-42FF-A358-4E173FB35FB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22026-9137-44A8-980A-34BFCD644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73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6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EFEFEF"/>
          </a:solidFill>
        </p:spPr>
      </p:sp>
      <p:sp>
        <p:nvSpPr>
          <p:cNvPr id="3" name="Freeform 3"/>
          <p:cNvSpPr/>
          <p:nvPr/>
        </p:nvSpPr>
        <p:spPr>
          <a:xfrm>
            <a:off x="7305002" y="-1"/>
            <a:ext cx="4886998" cy="6858001"/>
          </a:xfrm>
          <a:custGeom>
            <a:avLst/>
            <a:gdLst/>
            <a:ahLst/>
            <a:cxnLst/>
            <a:rect l="l" t="t" r="r" b="b"/>
            <a:pathLst>
              <a:path w="7330497" h="10439400">
                <a:moveTo>
                  <a:pt x="0" y="0"/>
                </a:moveTo>
                <a:lnTo>
                  <a:pt x="7330497" y="0"/>
                </a:lnTo>
                <a:lnTo>
                  <a:pt x="7330497" y="10439400"/>
                </a:lnTo>
                <a:lnTo>
                  <a:pt x="0" y="1043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564" r="-27845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"/>
            <a:ext cx="7305002" cy="6858000"/>
          </a:xfrm>
          <a:prstGeom prst="rect">
            <a:avLst/>
          </a:prstGeom>
          <a:solidFill>
            <a:srgbClr val="D9D9D9">
              <a:alpha val="81961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3464920" y="3940478"/>
            <a:ext cx="783712" cy="917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Box 6"/>
          <p:cNvSpPr txBox="1"/>
          <p:nvPr/>
        </p:nvSpPr>
        <p:spPr>
          <a:xfrm>
            <a:off x="-1553424" y="2046061"/>
            <a:ext cx="10820400" cy="166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3"/>
              </a:lnSpc>
            </a:pPr>
            <a:r>
              <a:rPr lang="en-US" sz="4666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Personalized </a:t>
            </a:r>
          </a:p>
          <a:p>
            <a:pPr algn="ctr">
              <a:lnSpc>
                <a:spcPts val="6533"/>
              </a:lnSpc>
            </a:pPr>
            <a:r>
              <a:rPr lang="en-US" sz="4666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Savings 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5003800"/>
            <a:ext cx="5766261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2937997" y="291477"/>
            <a:ext cx="3158003" cy="1843484"/>
          </a:xfrm>
          <a:custGeom>
            <a:avLst/>
            <a:gdLst/>
            <a:ahLst/>
            <a:cxnLst/>
            <a:rect l="l" t="t" r="r" b="b"/>
            <a:pathLst>
              <a:path w="4737005" h="2765226">
                <a:moveTo>
                  <a:pt x="0" y="0"/>
                </a:moveTo>
                <a:lnTo>
                  <a:pt x="4737005" y="0"/>
                </a:lnTo>
                <a:lnTo>
                  <a:pt x="4737005" y="2765226"/>
                </a:lnTo>
                <a:lnTo>
                  <a:pt x="0" y="2765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0849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0" y="1205365"/>
            <a:ext cx="6990024" cy="926119"/>
          </a:xfrm>
          <a:custGeom>
            <a:avLst/>
            <a:gdLst/>
            <a:ahLst/>
            <a:cxnLst/>
            <a:rect l="l" t="t" r="r" b="b"/>
            <a:pathLst>
              <a:path w="10485036" h="1389179">
                <a:moveTo>
                  <a:pt x="0" y="0"/>
                </a:moveTo>
                <a:lnTo>
                  <a:pt x="10485036" y="0"/>
                </a:lnTo>
                <a:lnTo>
                  <a:pt x="10485036" y="1389178"/>
                </a:lnTo>
                <a:lnTo>
                  <a:pt x="0" y="1389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236" r="-41783" b="-58873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8514" y="622301"/>
            <a:ext cx="7921532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914446"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Client </a:t>
            </a:r>
          </a:p>
          <a:p>
            <a:pPr algn="just" defTabSz="914446"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Personal Details</a:t>
            </a:r>
          </a:p>
        </p:txBody>
      </p:sp>
      <p:sp>
        <p:nvSpPr>
          <p:cNvPr id="14" name="Freeform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430875" h="10287000">
                <a:moveTo>
                  <a:pt x="0" y="0"/>
                </a:moveTo>
                <a:lnTo>
                  <a:pt x="18430875" y="0"/>
                </a:lnTo>
                <a:lnTo>
                  <a:pt x="18430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112" t="-31831" b="-22289"/>
            </a:stretch>
          </a:blipFill>
        </p:spPr>
        <p:txBody>
          <a:bodyPr/>
          <a:lstStyle/>
          <a:p>
            <a:pPr defTabSz="914446"/>
            <a:endParaRPr lang="en-US" dirty="0">
              <a:solidFill>
                <a:prstClr val="black"/>
              </a:solidFill>
              <a:latin typeface="Calibri"/>
            </a:endParaRPr>
          </a:p>
          <a:p>
            <a:pPr defTabSz="914446"/>
            <a:endParaRPr lang="en-IN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908853" y="1"/>
            <a:ext cx="5283147" cy="6857999"/>
          </a:xfrm>
          <a:prstGeom prst="rect">
            <a:avLst/>
          </a:prstGeom>
        </p:spPr>
      </p:pic>
      <p:sp>
        <p:nvSpPr>
          <p:cNvPr id="20" name="Shape 6"/>
          <p:cNvSpPr/>
          <p:nvPr/>
        </p:nvSpPr>
        <p:spPr>
          <a:xfrm>
            <a:off x="2532920" y="2753784"/>
            <a:ext cx="2191481" cy="411557"/>
          </a:xfrm>
          <a:prstGeom prst="rect">
            <a:avLst/>
          </a:prstGeom>
          <a:solidFill>
            <a:srgbClr val="00C2CB"/>
          </a:solidFill>
          <a:ln w="38100">
            <a:solidFill>
              <a:schemeClr val="tx1"/>
            </a:solidFill>
          </a:ln>
        </p:spPr>
      </p:sp>
      <p:sp>
        <p:nvSpPr>
          <p:cNvPr id="22" name="Shape 6"/>
          <p:cNvSpPr/>
          <p:nvPr/>
        </p:nvSpPr>
        <p:spPr>
          <a:xfrm>
            <a:off x="341439" y="2753784"/>
            <a:ext cx="2191481" cy="411557"/>
          </a:xfrm>
          <a:prstGeom prst="rect">
            <a:avLst/>
          </a:prstGeom>
          <a:solidFill>
            <a:srgbClr val="00C2CB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 flipH="1">
            <a:off x="386429" y="2786443"/>
            <a:ext cx="212393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46"/>
            <a:r>
              <a:rPr lang="en-IN" sz="2133" b="1" dirty="0">
                <a:solidFill>
                  <a:prstClr val="black"/>
                </a:solidFill>
                <a:latin typeface="Calibri"/>
              </a:rPr>
              <a:t>Particulars</a:t>
            </a:r>
          </a:p>
        </p:txBody>
      </p:sp>
      <p:sp>
        <p:nvSpPr>
          <p:cNvPr id="24" name="TextBox 23"/>
          <p:cNvSpPr txBox="1"/>
          <p:nvPr/>
        </p:nvSpPr>
        <p:spPr>
          <a:xfrm flipH="1">
            <a:off x="2649786" y="2768874"/>
            <a:ext cx="195072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46"/>
            <a:r>
              <a:rPr lang="en-IN" sz="2133" b="1" dirty="0">
                <a:solidFill>
                  <a:prstClr val="black"/>
                </a:solidFill>
                <a:latin typeface="Calibri"/>
              </a:rPr>
              <a:t>Details</a:t>
            </a:r>
          </a:p>
        </p:txBody>
      </p:sp>
      <p:sp>
        <p:nvSpPr>
          <p:cNvPr id="31" name="Shape 6"/>
          <p:cNvSpPr/>
          <p:nvPr/>
        </p:nvSpPr>
        <p:spPr>
          <a:xfrm>
            <a:off x="341439" y="3173808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33" name="Shape 6"/>
          <p:cNvSpPr/>
          <p:nvPr/>
        </p:nvSpPr>
        <p:spPr>
          <a:xfrm>
            <a:off x="2532920" y="3173808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34" name="Shape 6"/>
          <p:cNvSpPr/>
          <p:nvPr/>
        </p:nvSpPr>
        <p:spPr>
          <a:xfrm>
            <a:off x="2540740" y="3581863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35" name="Shape 6"/>
          <p:cNvSpPr/>
          <p:nvPr/>
        </p:nvSpPr>
        <p:spPr>
          <a:xfrm>
            <a:off x="348466" y="3581863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36" name="Shape 6"/>
          <p:cNvSpPr/>
          <p:nvPr/>
        </p:nvSpPr>
        <p:spPr>
          <a:xfrm>
            <a:off x="348466" y="3998250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0" name="Shape 6"/>
          <p:cNvSpPr/>
          <p:nvPr/>
        </p:nvSpPr>
        <p:spPr>
          <a:xfrm>
            <a:off x="2540740" y="3998250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2" name="Shape 6"/>
          <p:cNvSpPr/>
          <p:nvPr/>
        </p:nvSpPr>
        <p:spPr>
          <a:xfrm>
            <a:off x="357975" y="4414636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3" name="Shape 6"/>
          <p:cNvSpPr/>
          <p:nvPr/>
        </p:nvSpPr>
        <p:spPr>
          <a:xfrm>
            <a:off x="2540740" y="4414636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4" name="Shape 6"/>
          <p:cNvSpPr/>
          <p:nvPr/>
        </p:nvSpPr>
        <p:spPr>
          <a:xfrm>
            <a:off x="2540740" y="4827021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5" name="Shape 6"/>
          <p:cNvSpPr/>
          <p:nvPr/>
        </p:nvSpPr>
        <p:spPr>
          <a:xfrm>
            <a:off x="357974" y="4827021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6" name="Shape 6"/>
          <p:cNvSpPr/>
          <p:nvPr/>
        </p:nvSpPr>
        <p:spPr>
          <a:xfrm>
            <a:off x="358372" y="5243408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7" name="Shape 6"/>
          <p:cNvSpPr/>
          <p:nvPr/>
        </p:nvSpPr>
        <p:spPr>
          <a:xfrm>
            <a:off x="2549455" y="5243408"/>
            <a:ext cx="2191481" cy="41155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50" name="TextBox 49"/>
          <p:cNvSpPr txBox="1"/>
          <p:nvPr/>
        </p:nvSpPr>
        <p:spPr>
          <a:xfrm>
            <a:off x="357974" y="3231006"/>
            <a:ext cx="2191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46"/>
            <a:r>
              <a:rPr lang="en-IN" sz="1600" b="1" dirty="0">
                <a:solidFill>
                  <a:prstClr val="black"/>
                </a:solidFill>
                <a:latin typeface="Calibri"/>
              </a:rPr>
              <a:t>Client Name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853" y="3624373"/>
            <a:ext cx="2255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46"/>
            <a:r>
              <a:rPr lang="en-IN" sz="1600" b="1" dirty="0">
                <a:solidFill>
                  <a:prstClr val="black"/>
                </a:solidFill>
                <a:latin typeface="Calibri"/>
              </a:rPr>
              <a:t>Desired Retirement 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416" y="4081661"/>
            <a:ext cx="2181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46"/>
            <a:r>
              <a:rPr lang="en-IN" sz="1600" b="1" dirty="0">
                <a:solidFill>
                  <a:prstClr val="black"/>
                </a:solidFill>
                <a:latin typeface="Calibri"/>
              </a:rPr>
              <a:t>Investment Horizon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9419" y="4489716"/>
            <a:ext cx="2148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46"/>
            <a:r>
              <a:rPr lang="en-IN" sz="1600" b="1" dirty="0">
                <a:solidFill>
                  <a:prstClr val="black"/>
                </a:solidFill>
                <a:latin typeface="Calibri"/>
              </a:rPr>
              <a:t>Risk Appetite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7974" y="4874360"/>
            <a:ext cx="2208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46"/>
            <a:r>
              <a:rPr lang="en-IN" sz="1600" b="1" dirty="0">
                <a:solidFill>
                  <a:prstClr val="black"/>
                </a:solidFill>
                <a:latin typeface="Calibri"/>
              </a:rPr>
              <a:t>Annual Expenses</a:t>
            </a:r>
          </a:p>
        </p:txBody>
      </p:sp>
    </p:spTree>
    <p:extLst>
      <p:ext uri="{BB962C8B-B14F-4D97-AF65-F5344CB8AC3E}">
        <p14:creationId xmlns:p14="http://schemas.microsoft.com/office/powerpoint/2010/main" val="55650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1000" y="742951"/>
            <a:ext cx="1973232" cy="718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901" b="1" dirty="0">
                <a:solidFill>
                  <a:srgbClr val="000000"/>
                </a:solidFill>
              </a:rPr>
              <a:t>Current</a:t>
            </a:r>
            <a:endParaRPr lang="en-US" sz="4901" dirty="0"/>
          </a:p>
        </p:txBody>
      </p:sp>
      <p:sp>
        <p:nvSpPr>
          <p:cNvPr id="5" name="Shape 1"/>
          <p:cNvSpPr/>
          <p:nvPr/>
        </p:nvSpPr>
        <p:spPr>
          <a:xfrm>
            <a:off x="381001" y="1491109"/>
            <a:ext cx="5786252" cy="862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609601" y="1567310"/>
            <a:ext cx="4182235" cy="718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901" b="1" dirty="0">
                <a:solidFill>
                  <a:srgbClr val="000000"/>
                </a:solidFill>
              </a:rPr>
              <a:t>Financial Health</a:t>
            </a:r>
            <a:endParaRPr lang="en-US" sz="4901" dirty="0"/>
          </a:p>
        </p:txBody>
      </p:sp>
      <p:sp>
        <p:nvSpPr>
          <p:cNvPr id="7" name="Shape 3"/>
          <p:cNvSpPr/>
          <p:nvPr/>
        </p:nvSpPr>
        <p:spPr>
          <a:xfrm>
            <a:off x="381000" y="2584662"/>
            <a:ext cx="6540475" cy="3794559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8" name="Shape 4"/>
          <p:cNvSpPr/>
          <p:nvPr/>
        </p:nvSpPr>
        <p:spPr>
          <a:xfrm>
            <a:off x="381000" y="2584662"/>
            <a:ext cx="76200" cy="3794559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5"/>
          <p:cNvSpPr/>
          <p:nvPr/>
        </p:nvSpPr>
        <p:spPr>
          <a:xfrm>
            <a:off x="609600" y="2813261"/>
            <a:ext cx="6083275" cy="64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591" b="1" dirty="0">
                <a:solidFill>
                  <a:srgbClr val="000000"/>
                </a:solidFill>
              </a:rPr>
              <a:t>Your spending behavior shows a high expense ratio of </a:t>
            </a:r>
            <a:r>
              <a:rPr lang="en-US" sz="1591" b="1" dirty="0">
                <a:solidFill>
                  <a:srgbClr val="00C2CB"/>
                </a:solidFill>
              </a:rPr>
              <a:t>78.57%</a:t>
            </a:r>
            <a:r>
              <a:rPr lang="en-US" sz="1591" b="1" dirty="0">
                <a:solidFill>
                  <a:srgbClr val="000000"/>
                </a:solidFill>
              </a:rPr>
              <a:t>, a critical red flag for long-term wealth creation.</a:t>
            </a:r>
            <a:endParaRPr lang="en-US" sz="1591" dirty="0"/>
          </a:p>
        </p:txBody>
      </p:sp>
      <p:sp>
        <p:nvSpPr>
          <p:cNvPr id="10" name="Shape 6"/>
          <p:cNvSpPr/>
          <p:nvPr/>
        </p:nvSpPr>
        <p:spPr>
          <a:xfrm>
            <a:off x="609600" y="3963813"/>
            <a:ext cx="304800" cy="3048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Text 7"/>
          <p:cNvSpPr/>
          <p:nvPr/>
        </p:nvSpPr>
        <p:spPr>
          <a:xfrm>
            <a:off x="728337" y="3994385"/>
            <a:ext cx="67326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045" b="1" dirty="0">
                <a:solidFill>
                  <a:srgbClr val="000000"/>
                </a:solidFill>
              </a:rPr>
              <a:t>1</a:t>
            </a:r>
            <a:endParaRPr lang="en-US" sz="1045" dirty="0"/>
          </a:p>
        </p:txBody>
      </p:sp>
      <p:sp>
        <p:nvSpPr>
          <p:cNvPr id="12" name="Text 8"/>
          <p:cNvSpPr/>
          <p:nvPr/>
        </p:nvSpPr>
        <p:spPr>
          <a:xfrm>
            <a:off x="1066800" y="3925714"/>
            <a:ext cx="5626075" cy="64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591" b="1" dirty="0">
                <a:solidFill>
                  <a:srgbClr val="000000"/>
                </a:solidFill>
              </a:rPr>
              <a:t>Liquidity Ratio: 0.70</a:t>
            </a:r>
            <a:r>
              <a:rPr lang="en-US" sz="1692" dirty="0">
                <a:solidFill>
                  <a:srgbClr val="000000"/>
                </a:solidFill>
              </a:rPr>
              <a:t> You maintain a healthy buffer for emergencies.</a:t>
            </a:r>
            <a:endParaRPr lang="en-US" sz="1591" dirty="0"/>
          </a:p>
        </p:txBody>
      </p:sp>
      <p:sp>
        <p:nvSpPr>
          <p:cNvPr id="13" name="Shape 9"/>
          <p:cNvSpPr/>
          <p:nvPr/>
        </p:nvSpPr>
        <p:spPr>
          <a:xfrm>
            <a:off x="609600" y="4756249"/>
            <a:ext cx="304800" cy="3048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4" name="Text 10"/>
          <p:cNvSpPr/>
          <p:nvPr/>
        </p:nvSpPr>
        <p:spPr>
          <a:xfrm>
            <a:off x="728337" y="4786821"/>
            <a:ext cx="67326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045" b="1" dirty="0">
                <a:solidFill>
                  <a:srgbClr val="000000"/>
                </a:solidFill>
              </a:rPr>
              <a:t>2</a:t>
            </a:r>
            <a:endParaRPr lang="en-US" sz="1045" dirty="0"/>
          </a:p>
        </p:txBody>
      </p:sp>
      <p:sp>
        <p:nvSpPr>
          <p:cNvPr id="15" name="Text 11"/>
          <p:cNvSpPr/>
          <p:nvPr/>
        </p:nvSpPr>
        <p:spPr>
          <a:xfrm>
            <a:off x="1066800" y="4718150"/>
            <a:ext cx="5626075" cy="64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591" b="1" dirty="0">
                <a:solidFill>
                  <a:srgbClr val="000000"/>
                </a:solidFill>
              </a:rPr>
              <a:t>Saving Ratio: 21.43%</a:t>
            </a:r>
            <a:r>
              <a:rPr lang="en-US" sz="1692" dirty="0">
                <a:solidFill>
                  <a:srgbClr val="000000"/>
                </a:solidFill>
              </a:rPr>
              <a:t>. Increasing this to 30%+ is recommended to accelerate goals.</a:t>
            </a:r>
            <a:endParaRPr lang="en-US" sz="1591" dirty="0"/>
          </a:p>
        </p:txBody>
      </p:sp>
      <p:sp>
        <p:nvSpPr>
          <p:cNvPr id="16" name="Shape 12"/>
          <p:cNvSpPr/>
          <p:nvPr/>
        </p:nvSpPr>
        <p:spPr>
          <a:xfrm>
            <a:off x="609600" y="5548684"/>
            <a:ext cx="304800" cy="3048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3"/>
          <p:cNvSpPr/>
          <p:nvPr/>
        </p:nvSpPr>
        <p:spPr>
          <a:xfrm>
            <a:off x="728337" y="5579256"/>
            <a:ext cx="67326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045" b="1" dirty="0">
                <a:solidFill>
                  <a:srgbClr val="000000"/>
                </a:solidFill>
              </a:rPr>
              <a:t>3</a:t>
            </a:r>
            <a:endParaRPr lang="en-US" sz="1045" dirty="0"/>
          </a:p>
        </p:txBody>
      </p:sp>
      <p:sp>
        <p:nvSpPr>
          <p:cNvPr id="18" name="Text 14"/>
          <p:cNvSpPr/>
          <p:nvPr/>
        </p:nvSpPr>
        <p:spPr>
          <a:xfrm>
            <a:off x="1066800" y="5510585"/>
            <a:ext cx="5626075" cy="64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591" b="1" dirty="0">
                <a:solidFill>
                  <a:srgbClr val="000000"/>
                </a:solidFill>
              </a:rPr>
              <a:t>Flexibility: Medium to High</a:t>
            </a:r>
            <a:r>
              <a:rPr lang="en-US" sz="1692" dirty="0">
                <a:solidFill>
                  <a:srgbClr val="000000"/>
                </a:solidFill>
              </a:rPr>
              <a:t>. Tactical reallocation can optimize growth potential.</a:t>
            </a:r>
            <a:endParaRPr lang="en-US" sz="1591" dirty="0"/>
          </a:p>
        </p:txBody>
      </p:sp>
      <p:sp>
        <p:nvSpPr>
          <p:cNvPr id="22" name="Text 17"/>
          <p:cNvSpPr/>
          <p:nvPr/>
        </p:nvSpPr>
        <p:spPr>
          <a:xfrm>
            <a:off x="8961425" y="5474663"/>
            <a:ext cx="363881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045" b="1" dirty="0">
                <a:solidFill>
                  <a:srgbClr val="000000"/>
                </a:solidFill>
              </a:rPr>
              <a:t>Saving</a:t>
            </a:r>
            <a:endParaRPr lang="en-US" sz="1045" dirty="0"/>
          </a:p>
        </p:txBody>
      </p:sp>
      <p:sp>
        <p:nvSpPr>
          <p:cNvPr id="23" name="Text 18"/>
          <p:cNvSpPr/>
          <p:nvPr/>
        </p:nvSpPr>
        <p:spPr>
          <a:xfrm>
            <a:off x="9925851" y="5474663"/>
            <a:ext cx="458459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045" b="1" dirty="0">
                <a:solidFill>
                  <a:srgbClr val="000000"/>
                </a:solidFill>
              </a:rPr>
              <a:t>Expense</a:t>
            </a:r>
            <a:endParaRPr lang="en-US" sz="1045" dirty="0"/>
          </a:p>
        </p:txBody>
      </p:sp>
      <p:sp>
        <p:nvSpPr>
          <p:cNvPr id="24" name="Freeform 4"/>
          <p:cNvSpPr/>
          <p:nvPr/>
        </p:nvSpPr>
        <p:spPr>
          <a:xfrm>
            <a:off x="-31750" y="0"/>
            <a:ext cx="12223750" cy="6858000"/>
          </a:xfrm>
          <a:custGeom>
            <a:avLst/>
            <a:gdLst/>
            <a:ahLst/>
            <a:cxnLst/>
            <a:rect l="l" t="t" r="r" b="b"/>
            <a:pathLst>
              <a:path w="18430875" h="10287000">
                <a:moveTo>
                  <a:pt x="0" y="0"/>
                </a:moveTo>
                <a:lnTo>
                  <a:pt x="18430875" y="0"/>
                </a:lnTo>
                <a:lnTo>
                  <a:pt x="18430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112" t="-31831" b="-22289"/>
            </a:stretch>
          </a:blipFill>
        </p:spPr>
      </p:sp>
      <p:sp>
        <p:nvSpPr>
          <p:cNvPr id="3" name="Rectangle 2"/>
          <p:cNvSpPr/>
          <p:nvPr/>
        </p:nvSpPr>
        <p:spPr>
          <a:xfrm>
            <a:off x="7636378" y="2237492"/>
            <a:ext cx="3495554" cy="31218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36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/>
          </a:solidFill>
        </p:spPr>
      </p:sp>
      <p:sp>
        <p:nvSpPr>
          <p:cNvPr id="3" name="AutoShape 3"/>
          <p:cNvSpPr/>
          <p:nvPr/>
        </p:nvSpPr>
        <p:spPr>
          <a:xfrm>
            <a:off x="685800" y="2977272"/>
            <a:ext cx="783712" cy="917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Freeform 4"/>
          <p:cNvSpPr/>
          <p:nvPr/>
        </p:nvSpPr>
        <p:spPr>
          <a:xfrm>
            <a:off x="0" y="1205365"/>
            <a:ext cx="12192000" cy="3867769"/>
          </a:xfrm>
          <a:custGeom>
            <a:avLst/>
            <a:gdLst/>
            <a:ahLst/>
            <a:cxnLst/>
            <a:rect l="l" t="t" r="r" b="b"/>
            <a:pathLst>
              <a:path w="18288000" h="5801654">
                <a:moveTo>
                  <a:pt x="0" y="0"/>
                </a:moveTo>
                <a:lnTo>
                  <a:pt x="18288000" y="0"/>
                </a:lnTo>
                <a:lnTo>
                  <a:pt x="18288000" y="5801653"/>
                </a:lnTo>
                <a:lnTo>
                  <a:pt x="0" y="5801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96" b="-83579"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0" y="12370"/>
            <a:ext cx="12192000" cy="6918222"/>
          </a:xfrm>
          <a:prstGeom prst="rect">
            <a:avLst/>
          </a:prstGeom>
          <a:solidFill>
            <a:srgbClr val="D9D9D9">
              <a:alpha val="81961"/>
            </a:srgbClr>
          </a:solidFill>
        </p:spPr>
      </p:sp>
      <p:sp>
        <p:nvSpPr>
          <p:cNvPr id="6" name="Freeform 6"/>
          <p:cNvSpPr/>
          <p:nvPr/>
        </p:nvSpPr>
        <p:spPr>
          <a:xfrm>
            <a:off x="0" y="1205365"/>
            <a:ext cx="6990024" cy="926119"/>
          </a:xfrm>
          <a:custGeom>
            <a:avLst/>
            <a:gdLst/>
            <a:ahLst/>
            <a:cxnLst/>
            <a:rect l="l" t="t" r="r" b="b"/>
            <a:pathLst>
              <a:path w="10485036" h="1389179">
                <a:moveTo>
                  <a:pt x="0" y="0"/>
                </a:moveTo>
                <a:lnTo>
                  <a:pt x="10485036" y="0"/>
                </a:lnTo>
                <a:lnTo>
                  <a:pt x="10485036" y="1389178"/>
                </a:lnTo>
                <a:lnTo>
                  <a:pt x="0" y="138917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7" name="TextBox 7"/>
          <p:cNvSpPr txBox="1"/>
          <p:nvPr/>
        </p:nvSpPr>
        <p:spPr>
          <a:xfrm>
            <a:off x="158514" y="622301"/>
            <a:ext cx="7921532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</a:t>
            </a:r>
          </a:p>
          <a:p>
            <a:pPr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Assets &amp; Liabilities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77656" y="5049321"/>
            <a:ext cx="9795994" cy="1881271"/>
            <a:chOff x="0" y="-47625"/>
            <a:chExt cx="19591988" cy="376254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739743"/>
              <a:ext cx="19591988" cy="2975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98"/>
                </a:lnSpc>
              </a:pPr>
              <a:r>
                <a:rPr lang="en-US" sz="1932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Your asset allocation is more than just a combination of stocks and bonds. It’s the single most important factor determining your long-term investment success.</a:t>
              </a:r>
            </a:p>
            <a:p>
              <a:pPr>
                <a:lnSpc>
                  <a:spcPts val="2898"/>
                </a:lnSpc>
              </a:pPr>
              <a:r>
                <a:rPr lang="en-US" sz="1932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                                                                                                        -</a:t>
              </a:r>
              <a:r>
                <a:rPr lang="en-US" sz="1932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William Bernstein</a:t>
              </a:r>
            </a:p>
            <a:p>
              <a:pPr>
                <a:lnSpc>
                  <a:spcPts val="2898"/>
                </a:lnSpc>
              </a:pPr>
              <a:endPara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9591988" cy="615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43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383389" y="-269441"/>
            <a:ext cx="1821311" cy="1063191"/>
          </a:xfrm>
          <a:custGeom>
            <a:avLst/>
            <a:gdLst/>
            <a:ahLst/>
            <a:cxnLst/>
            <a:rect l="l" t="t" r="r" b="b"/>
            <a:pathLst>
              <a:path w="2731967" h="1594786">
                <a:moveTo>
                  <a:pt x="0" y="0"/>
                </a:moveTo>
                <a:lnTo>
                  <a:pt x="2731967" y="0"/>
                </a:lnTo>
                <a:lnTo>
                  <a:pt x="2731967" y="1594786"/>
                </a:lnTo>
                <a:lnTo>
                  <a:pt x="0" y="159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187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50" y="4024"/>
            <a:ext cx="4641850" cy="6853976"/>
          </a:xfrm>
          <a:custGeom>
            <a:avLst/>
            <a:gdLst/>
            <a:ahLst/>
            <a:cxnLst/>
            <a:rect l="l" t="t" r="r" b="b"/>
            <a:pathLst>
              <a:path w="6654703" h="9595977">
                <a:moveTo>
                  <a:pt x="0" y="0"/>
                </a:moveTo>
                <a:lnTo>
                  <a:pt x="6654703" y="0"/>
                </a:lnTo>
                <a:lnTo>
                  <a:pt x="6654703" y="9595977"/>
                </a:lnTo>
                <a:lnTo>
                  <a:pt x="0" y="9595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86" t="-24891" r="-84832" b="-743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050" y="483705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8307050" h="10287000">
                <a:moveTo>
                  <a:pt x="0" y="0"/>
                </a:moveTo>
                <a:lnTo>
                  <a:pt x="18307050" y="0"/>
                </a:lnTo>
                <a:lnTo>
                  <a:pt x="183070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985" t="-31831" b="-2228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2731" y="1659206"/>
            <a:ext cx="12223750" cy="6858000"/>
          </a:xfrm>
          <a:custGeom>
            <a:avLst/>
            <a:gdLst/>
            <a:ahLst/>
            <a:cxnLst/>
            <a:rect l="l" t="t" r="r" b="b"/>
            <a:pathLst>
              <a:path w="18430875" h="10287000">
                <a:moveTo>
                  <a:pt x="0" y="0"/>
                </a:moveTo>
                <a:lnTo>
                  <a:pt x="18430875" y="0"/>
                </a:lnTo>
                <a:lnTo>
                  <a:pt x="18430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112" t="-31831" b="-22289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685800" y="4305300"/>
            <a:ext cx="783712" cy="917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Freeform 7"/>
          <p:cNvSpPr/>
          <p:nvPr/>
        </p:nvSpPr>
        <p:spPr>
          <a:xfrm>
            <a:off x="-6350" y="2502959"/>
            <a:ext cx="3655314" cy="1653117"/>
          </a:xfrm>
          <a:custGeom>
            <a:avLst/>
            <a:gdLst/>
            <a:ahLst/>
            <a:cxnLst/>
            <a:rect l="l" t="t" r="r" b="b"/>
            <a:pathLst>
              <a:path w="5482971" h="2479675">
                <a:moveTo>
                  <a:pt x="0" y="0"/>
                </a:moveTo>
                <a:lnTo>
                  <a:pt x="5482971" y="0"/>
                </a:lnTo>
                <a:lnTo>
                  <a:pt x="5482971" y="2479675"/>
                </a:lnTo>
                <a:lnTo>
                  <a:pt x="0" y="2479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188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5800" y="2597151"/>
            <a:ext cx="4633133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</a:t>
            </a:r>
          </a:p>
          <a:p>
            <a:pPr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Assets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2731" y="4953554"/>
            <a:ext cx="4303738" cy="1418590"/>
            <a:chOff x="0" y="-47625"/>
            <a:chExt cx="8607476" cy="283717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35119"/>
              <a:ext cx="8607476" cy="2154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Both in Go and investment strategy, flexibility and careful positioning lead to success—adjusting your investments to seize opportunities while managing risks effectively.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607476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383389" y="-269441"/>
            <a:ext cx="1821311" cy="1063191"/>
          </a:xfrm>
          <a:custGeom>
            <a:avLst/>
            <a:gdLst/>
            <a:ahLst/>
            <a:cxnLst/>
            <a:rect l="l" t="t" r="r" b="b"/>
            <a:pathLst>
              <a:path w="2731967" h="1594786">
                <a:moveTo>
                  <a:pt x="0" y="0"/>
                </a:moveTo>
                <a:lnTo>
                  <a:pt x="2731967" y="0"/>
                </a:lnTo>
                <a:lnTo>
                  <a:pt x="2731967" y="1594786"/>
                </a:lnTo>
                <a:lnTo>
                  <a:pt x="0" y="15947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0501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05365"/>
            <a:ext cx="12192000" cy="3867769"/>
          </a:xfrm>
          <a:custGeom>
            <a:avLst/>
            <a:gdLst/>
            <a:ahLst/>
            <a:cxnLst/>
            <a:rect l="l" t="t" r="r" b="b"/>
            <a:pathLst>
              <a:path w="18288000" h="5801654">
                <a:moveTo>
                  <a:pt x="0" y="0"/>
                </a:moveTo>
                <a:lnTo>
                  <a:pt x="18288000" y="0"/>
                </a:lnTo>
                <a:lnTo>
                  <a:pt x="18288000" y="5801653"/>
                </a:lnTo>
                <a:lnTo>
                  <a:pt x="0" y="5801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96" b="-83579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0"/>
            <a:ext cx="12192000" cy="6918222"/>
          </a:xfrm>
          <a:prstGeom prst="rect">
            <a:avLst/>
          </a:prstGeom>
          <a:solidFill>
            <a:srgbClr val="D9D9D9">
              <a:alpha val="81961"/>
            </a:srgbClr>
          </a:solidFill>
        </p:spPr>
      </p:sp>
      <p:sp>
        <p:nvSpPr>
          <p:cNvPr id="5" name="TextBox 5"/>
          <p:cNvSpPr txBox="1"/>
          <p:nvPr/>
        </p:nvSpPr>
        <p:spPr>
          <a:xfrm>
            <a:off x="685800" y="1658927"/>
            <a:ext cx="9817809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7"/>
              </a:lnSpc>
            </a:pPr>
            <a:r>
              <a:rPr lang="en-US" sz="533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Classification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5800" y="3778085"/>
            <a:ext cx="3306362" cy="1756778"/>
            <a:chOff x="0" y="-47625"/>
            <a:chExt cx="6612725" cy="3513554"/>
          </a:xfrm>
        </p:grpSpPr>
        <p:sp>
          <p:nvSpPr>
            <p:cNvPr id="7" name="TextBox 7"/>
            <p:cNvSpPr txBox="1"/>
            <p:nvPr/>
          </p:nvSpPr>
          <p:spPr>
            <a:xfrm>
              <a:off x="0" y="644645"/>
              <a:ext cx="6612725" cy="2821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99"/>
                </a:lnSpc>
              </a:pPr>
              <a:r>
                <a:rPr lang="en-US" sz="1466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Residential and other real estate, are considered Fixed assets. Having a large allocation in these assets limits the portfolio's flexibility and growth potential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12725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Fixed Assets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85800" y="2482990"/>
            <a:ext cx="783712" cy="91773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10" name="Group 10"/>
          <p:cNvGrpSpPr/>
          <p:nvPr/>
        </p:nvGrpSpPr>
        <p:grpSpPr>
          <a:xfrm>
            <a:off x="11327497" y="5709700"/>
            <a:ext cx="178703" cy="233807"/>
            <a:chOff x="0" y="0"/>
            <a:chExt cx="357406" cy="467614"/>
          </a:xfrm>
        </p:grpSpPr>
        <p:sp>
          <p:nvSpPr>
            <p:cNvPr id="11" name="Freeform 11"/>
            <p:cNvSpPr/>
            <p:nvPr/>
          </p:nvSpPr>
          <p:spPr>
            <a:xfrm rot="-5400000">
              <a:off x="40597" y="150806"/>
              <a:ext cx="467614" cy="166003"/>
            </a:xfrm>
            <a:custGeom>
              <a:avLst/>
              <a:gdLst/>
              <a:ahLst/>
              <a:cxnLst/>
              <a:rect l="l" t="t" r="r" b="b"/>
              <a:pathLst>
                <a:path w="467614" h="166003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5400000">
              <a:off x="-150806" y="150806"/>
              <a:ext cx="467614" cy="166003"/>
            </a:xfrm>
            <a:custGeom>
              <a:avLst/>
              <a:gdLst/>
              <a:ahLst/>
              <a:cxnLst/>
              <a:rect l="l" t="t" r="r" b="b"/>
              <a:pathLst>
                <a:path w="467614" h="166003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4442819" y="3778085"/>
            <a:ext cx="3306362" cy="1687894"/>
            <a:chOff x="0" y="-47625"/>
            <a:chExt cx="6612725" cy="337578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635119"/>
              <a:ext cx="6612725" cy="26930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FDs, SGB, and SCSS (Mother) are considered under liquid assets. The required allocation to liquid assets depends on each individual's goal timelines.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6612725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Liquid Assets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99838" y="3778085"/>
            <a:ext cx="3306362" cy="1687894"/>
            <a:chOff x="0" y="-47625"/>
            <a:chExt cx="6612725" cy="337578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635119"/>
              <a:ext cx="6612725" cy="26930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PF, PPF, and other pure retirement assets are considered here. As you approach retirement age, this allocation should ideally be around 25%.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612725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Retirement Assets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5602217"/>
            <a:ext cx="3306362" cy="681373"/>
            <a:chOff x="0" y="-47625"/>
            <a:chExt cx="6612725" cy="1362746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76513"/>
              <a:ext cx="6612725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sz="1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612725" cy="692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6"/>
                </a:lnSpc>
              </a:pPr>
              <a:r>
                <a:rPr lang="en-US" sz="1933">
                  <a:solidFill>
                    <a:srgbClr val="00C2C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INR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80225" y="5602217"/>
            <a:ext cx="3306362" cy="681373"/>
            <a:chOff x="0" y="-47625"/>
            <a:chExt cx="6612725" cy="1362746"/>
          </a:xfrm>
        </p:grpSpPr>
        <p:sp>
          <p:nvSpPr>
            <p:cNvPr id="24" name="TextBox 24"/>
            <p:cNvSpPr txBox="1"/>
            <p:nvPr/>
          </p:nvSpPr>
          <p:spPr>
            <a:xfrm>
              <a:off x="0" y="776513"/>
              <a:ext cx="6612725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612725" cy="692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6"/>
                </a:lnSpc>
              </a:pPr>
              <a:r>
                <a:rPr lang="en-US" sz="1933">
                  <a:solidFill>
                    <a:srgbClr val="00C2C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INR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03861" y="5602217"/>
            <a:ext cx="3306362" cy="681373"/>
            <a:chOff x="0" y="-47625"/>
            <a:chExt cx="6612725" cy="1362746"/>
          </a:xfrm>
        </p:grpSpPr>
        <p:sp>
          <p:nvSpPr>
            <p:cNvPr id="27" name="TextBox 27"/>
            <p:cNvSpPr txBox="1"/>
            <p:nvPr/>
          </p:nvSpPr>
          <p:spPr>
            <a:xfrm>
              <a:off x="0" y="776513"/>
              <a:ext cx="6612725" cy="538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612725" cy="692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6"/>
                </a:lnSpc>
              </a:pPr>
              <a:r>
                <a:rPr lang="en-US" sz="1933">
                  <a:solidFill>
                    <a:srgbClr val="00C2C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INR 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383389" y="-269441"/>
            <a:ext cx="1821311" cy="1063191"/>
          </a:xfrm>
          <a:custGeom>
            <a:avLst/>
            <a:gdLst/>
            <a:ahLst/>
            <a:cxnLst/>
            <a:rect l="l" t="t" r="r" b="b"/>
            <a:pathLst>
              <a:path w="2731967" h="1594786">
                <a:moveTo>
                  <a:pt x="0" y="0"/>
                </a:moveTo>
                <a:lnTo>
                  <a:pt x="2731967" y="0"/>
                </a:lnTo>
                <a:lnTo>
                  <a:pt x="2731967" y="1594786"/>
                </a:lnTo>
                <a:lnTo>
                  <a:pt x="0" y="1594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1688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240</Words>
  <Application>Microsoft Office PowerPoint</Application>
  <PresentationFormat>Widescreen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League Spartan</vt:lpstr>
      <vt:lpstr>Open Sauce</vt:lpstr>
      <vt:lpstr>Open Sauce Bold</vt:lpstr>
      <vt:lpstr>Open Sauce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ranjitha@armstrong-cap.com</dc:creator>
  <cp:lastModifiedBy>ranjitha@armstrong-cap.com</cp:lastModifiedBy>
  <cp:revision>4</cp:revision>
  <dcterms:created xsi:type="dcterms:W3CDTF">2026-01-06T12:11:33Z</dcterms:created>
  <dcterms:modified xsi:type="dcterms:W3CDTF">2026-01-08T09:42:58Z</dcterms:modified>
</cp:coreProperties>
</file>